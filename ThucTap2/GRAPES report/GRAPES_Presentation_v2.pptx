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85" r:id="rId10"/>
    <p:sldId id="265" r:id="rId11"/>
    <p:sldId id="264" r:id="rId12"/>
    <p:sldId id="284"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1" r:id="rId28"/>
    <p:sldId id="280" r:id="rId29"/>
    <p:sldId id="283" r:id="rId3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37"/>
    <p:restoredTop sz="86379"/>
  </p:normalViewPr>
  <p:slideViewPr>
    <p:cSldViewPr snapToGrid="0" snapToObjects="1">
      <p:cViewPr varScale="1">
        <p:scale>
          <a:sx n="184" d="100"/>
          <a:sy n="184" d="100"/>
        </p:scale>
        <p:origin x="39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100" b="0" i="0" u="none" strike="noStrike">
                <a:solidFill>
                  <a:srgbClr val="5A6A78"/>
                </a:solidFill>
                <a:latin typeface="Arial"/>
              </a:defRPr>
            </a:pPr>
            <a:r>
              <a:rPr lang="en-US" sz="1100" b="0" i="0" u="none" strike="noStrike">
                <a:solidFill>
                  <a:srgbClr val="5A6A78"/>
                </a:solidFill>
                <a:latin typeface="Arial"/>
              </a:rPr>
              <a:t>Mini-batch 512 đỉnh, bậc trung bình d̄=10</a:t>
            </a:r>
          </a:p>
        </c:rich>
      </c:tx>
      <c:overlay val="0"/>
    </c:title>
    <c:autoTitleDeleted val="0"/>
    <c:plotArea>
      <c:layout/>
      <c:barChart>
        <c:barDir val="col"/>
        <c:grouping val="clustered"/>
        <c:varyColors val="0"/>
        <c:ser>
          <c:idx val="0"/>
          <c:order val="0"/>
          <c:tx>
            <c:strRef>
              <c:f>Sheet1!$B$1</c:f>
              <c:strCache>
                <c:ptCount val="1"/>
                <c:pt idx="0">
                  <c:v>Số đỉnh cần nạp vào bộ nhớ</c:v>
                </c:pt>
              </c:strCache>
            </c:strRef>
          </c:tx>
          <c:spPr>
            <a:solidFill>
              <a:srgbClr val="4FC3F7"/>
            </a:solidFill>
            <a:effectLst/>
          </c:spPr>
          <c:invertIfNegative val="0"/>
          <c:dPt>
            <c:idx val="0"/>
            <c:invertIfNegative val="0"/>
            <c:bubble3D val="0"/>
            <c:extLst>
              <c:ext xmlns:c16="http://schemas.microsoft.com/office/drawing/2014/chart" uri="{C3380CC4-5D6E-409C-BE32-E72D297353CC}">
                <c16:uniqueId val="{00000001-0DB3-824C-AE6A-6340E6BBF4DA}"/>
              </c:ext>
            </c:extLst>
          </c:dPt>
          <c:dPt>
            <c:idx val="1"/>
            <c:invertIfNegative val="0"/>
            <c:bubble3D val="0"/>
            <c:spPr>
              <a:solidFill>
                <a:srgbClr val="0288D1"/>
              </a:solidFill>
              <a:effectLst/>
            </c:spPr>
            <c:extLst>
              <c:ext xmlns:c16="http://schemas.microsoft.com/office/drawing/2014/chart" uri="{C3380CC4-5D6E-409C-BE32-E72D297353CC}">
                <c16:uniqueId val="{00000003-0DB3-824C-AE6A-6340E6BBF4DA}"/>
              </c:ext>
            </c:extLst>
          </c:dPt>
          <c:dPt>
            <c:idx val="2"/>
            <c:invertIfNegative val="0"/>
            <c:bubble3D val="0"/>
            <c:spPr>
              <a:solidFill>
                <a:srgbClr val="065A82"/>
              </a:solidFill>
              <a:effectLst/>
            </c:spPr>
            <c:extLst>
              <c:ext xmlns:c16="http://schemas.microsoft.com/office/drawing/2014/chart" uri="{C3380CC4-5D6E-409C-BE32-E72D297353CC}">
                <c16:uniqueId val="{00000005-0DB3-824C-AE6A-6340E6BBF4DA}"/>
              </c:ext>
            </c:extLst>
          </c:dPt>
          <c:dLbls>
            <c:numFmt formatCode="#,##0" sourceLinked="0"/>
            <c:spPr>
              <a:noFill/>
              <a:ln>
                <a:noFill/>
              </a:ln>
              <a:effectLst/>
            </c:spPr>
            <c:txPr>
              <a:bodyPr/>
              <a:lstStyle/>
              <a:p>
                <a:pPr>
                  <a:defRPr sz="1200" b="0" i="0" u="none" strike="noStrike">
                    <a:solidFill>
                      <a:srgbClr val="1A2B3C"/>
                    </a:solidFill>
                    <a:latin typeface="Arial"/>
                  </a:defRPr>
                </a:pPr>
                <a:endParaRPr lang="en-V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 = 1  (5K)</c:v>
                </c:pt>
                <c:pt idx="1">
                  <c:v>L = 2  (51K)</c:v>
                </c:pt>
                <c:pt idx="2">
                  <c:v>L = 3  (512K)</c:v>
                </c:pt>
              </c:strCache>
            </c:strRef>
          </c:cat>
          <c:val>
            <c:numRef>
              <c:f>Sheet1!$B$2:$B$4</c:f>
              <c:numCache>
                <c:formatCode>General</c:formatCode>
                <c:ptCount val="3"/>
                <c:pt idx="0">
                  <c:v>5120</c:v>
                </c:pt>
                <c:pt idx="1">
                  <c:v>51200</c:v>
                </c:pt>
                <c:pt idx="2">
                  <c:v>512000</c:v>
                </c:pt>
              </c:numCache>
            </c:numRef>
          </c:val>
          <c:extLst>
            <c:ext xmlns:c16="http://schemas.microsoft.com/office/drawing/2014/chart" uri="{C3380CC4-5D6E-409C-BE32-E72D297353CC}">
              <c16:uniqueId val="{00000006-0DB3-824C-AE6A-6340E6BBF4D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2B3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A7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009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Kính thưa Hội đồng, em xin phép được bắt đầu buổi bảo vệ.</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Báo cáo của em có tên là </a:t>
            </a:r>
            <a:r>
              <a:rPr lang="en-VN" sz="1200" b="1" kern="1200" dirty="0">
                <a:solidFill>
                  <a:schemeClr val="tx1"/>
                </a:solidFill>
                <a:effectLst/>
                <a:latin typeface="+mn-lt"/>
                <a:ea typeface="+mn-ea"/>
                <a:cs typeface="+mn-cs"/>
              </a:rPr>
              <a:t>**Phát Triển Phương Pháp Lấy Mẫu Đồ Thị Cho Hệ Thống Gợi Ý Quy Mô Lớn Sử Dụng Mạng Nơ-ron Đồ Thị**</a:t>
            </a:r>
            <a:r>
              <a:rPr lang="en-VN" sz="1200" b="0" kern="1200" dirty="0">
                <a:solidFill>
                  <a:schemeClr val="tx1"/>
                </a:solidFill>
                <a:effectLst/>
                <a:latin typeface="+mn-lt"/>
                <a:ea typeface="+mn-ea"/>
                <a:cs typeface="+mn-cs"/>
              </a:rPr>
              <a:t> — tập trung vào phương pháp GRAPES, viết tắt của </a:t>
            </a:r>
            <a:r>
              <a:rPr lang="en-VN" sz="1200" b="0" i="1" kern="1200" dirty="0">
                <a:solidFill>
                  <a:schemeClr val="tx1"/>
                </a:solidFill>
                <a:effectLst/>
                <a:latin typeface="+mn-lt"/>
                <a:ea typeface="+mn-ea"/>
                <a:cs typeface="+mn-cs"/>
              </a:rPr>
              <a:t>*Graph Adaptive Sampling*</a:t>
            </a:r>
            <a:r>
              <a:rPr lang="en-VN" sz="1200" b="0" kern="1200" dirty="0">
                <a:solidFill>
                  <a:schemeClr val="tx1"/>
                </a:solidFill>
                <a:effectLst/>
                <a:latin typeface="+mn-lt"/>
                <a:ea typeface="+mn-ea"/>
                <a:cs typeface="+mn-cs"/>
              </a:rPr>
              <a:t>, được công bố tại tạp chí TMLR năm 2024.</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Em xin mời Hội đồng theo dõi.</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Báo cáo được chia thành 5 phần chính.</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Phần đầu là </a:t>
            </a:r>
            <a:r>
              <a:rPr lang="en-VN" sz="1200" b="1" kern="1200" dirty="0">
                <a:solidFill>
                  <a:schemeClr val="tx1"/>
                </a:solidFill>
                <a:effectLst/>
                <a:latin typeface="+mn-lt"/>
                <a:ea typeface="+mn-ea"/>
                <a:cs typeface="+mn-cs"/>
              </a:rPr>
              <a:t>**bối cảnh**</a:t>
            </a:r>
            <a:r>
              <a:rPr lang="en-VN" sz="1200" b="0" kern="1200" dirty="0">
                <a:solidFill>
                  <a:schemeClr val="tx1"/>
                </a:solidFill>
                <a:effectLst/>
                <a:latin typeface="+mn-lt"/>
                <a:ea typeface="+mn-ea"/>
                <a:cs typeface="+mn-cs"/>
              </a:rPr>
              <a:t> — tại sao GNN lại gặp khó khăn khi áp dụng vào dữ liệu quy mô lớn. Phần hai là </a:t>
            </a:r>
            <a:r>
              <a:rPr lang="en-VN" sz="1200" b="1" kern="1200" dirty="0">
                <a:solidFill>
                  <a:schemeClr val="tx1"/>
                </a:solidFill>
                <a:effectLst/>
                <a:latin typeface="+mn-lt"/>
                <a:ea typeface="+mn-ea"/>
                <a:cs typeface="+mn-cs"/>
              </a:rPr>
              <a:t>**tổng quan**</a:t>
            </a:r>
            <a:r>
              <a:rPr lang="en-VN" sz="1200" b="0" kern="1200" dirty="0">
                <a:solidFill>
                  <a:schemeClr val="tx1"/>
                </a:solidFill>
                <a:effectLst/>
                <a:latin typeface="+mn-lt"/>
                <a:ea typeface="+mn-ea"/>
                <a:cs typeface="+mn-cs"/>
              </a:rPr>
              <a:t> các phương pháp lấy mẫu hiện có và khoảng trống mà chúng để lại. Phần ba — trọng tâm của báo cáo — là </a:t>
            </a:r>
            <a:r>
              <a:rPr lang="en-VN" sz="1200" b="1" kern="1200" dirty="0">
                <a:solidFill>
                  <a:schemeClr val="tx1"/>
                </a:solidFill>
                <a:effectLst/>
                <a:latin typeface="+mn-lt"/>
                <a:ea typeface="+mn-ea"/>
                <a:cs typeface="+mn-cs"/>
              </a:rPr>
              <a:t>**kiến trúc và cơ chế hoạt động của GRAPES**</a:t>
            </a:r>
            <a:r>
              <a:rPr lang="en-VN" sz="1200" b="0" kern="1200" dirty="0">
                <a:solidFill>
                  <a:schemeClr val="tx1"/>
                </a:solidFill>
                <a:effectLst/>
                <a:latin typeface="+mn-lt"/>
                <a:ea typeface="+mn-ea"/>
                <a:cs typeface="+mn-cs"/>
              </a:rPr>
              <a:t>. Phần bốn là </a:t>
            </a:r>
            <a:r>
              <a:rPr lang="en-VN" sz="1200" b="1" kern="1200" dirty="0">
                <a:solidFill>
                  <a:schemeClr val="tx1"/>
                </a:solidFill>
                <a:effectLst/>
                <a:latin typeface="+mn-lt"/>
                <a:ea typeface="+mn-ea"/>
                <a:cs typeface="+mn-cs"/>
              </a:rPr>
              <a:t>**kết quả thực nghiệm**</a:t>
            </a:r>
            <a:r>
              <a:rPr lang="en-VN" sz="1200" b="0" kern="1200" dirty="0">
                <a:solidFill>
                  <a:schemeClr val="tx1"/>
                </a:solidFill>
                <a:effectLst/>
                <a:latin typeface="+mn-lt"/>
                <a:ea typeface="+mn-ea"/>
                <a:cs typeface="+mn-cs"/>
              </a:rPr>
              <a:t> gồm số liệu từ bài báo gốc và kết quả tái hiện của em. Và phần cuối là </a:t>
            </a:r>
            <a:r>
              <a:rPr lang="en-VN" sz="1200" b="1" kern="1200" dirty="0">
                <a:solidFill>
                  <a:schemeClr val="tx1"/>
                </a:solidFill>
                <a:effectLst/>
                <a:latin typeface="+mn-lt"/>
                <a:ea typeface="+mn-ea"/>
                <a:cs typeface="+mn-cs"/>
              </a:rPr>
              <a:t>**kết luận cùng 3 hướng nghiên cứu tiếp theo**</a:t>
            </a:r>
            <a:r>
              <a:rPr lang="en-VN" sz="1200" b="0" kern="1200" dirty="0">
                <a:solidFill>
                  <a:schemeClr val="tx1"/>
                </a:solidFill>
                <a:effectLst/>
                <a:latin typeface="+mn-lt"/>
                <a:ea typeface="+mn-ea"/>
                <a:cs typeface="+mn-cs"/>
              </a:rPr>
              <a:t>, trong đó hướng thứ nhất sẽ là nội dung chính của giai đoạn 2.</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Điểm xuất phát của báo cáo là bài toán </a:t>
            </a:r>
            <a:r>
              <a:rPr lang="en-VN" sz="1200" b="1" kern="1200" dirty="0">
                <a:solidFill>
                  <a:schemeClr val="tx1"/>
                </a:solidFill>
                <a:effectLst/>
                <a:latin typeface="+mn-lt"/>
                <a:ea typeface="+mn-ea"/>
                <a:cs typeface="+mn-cs"/>
              </a:rPr>
              <a:t>**hệ thống gợi ý**</a:t>
            </a:r>
            <a:r>
              <a:rPr lang="en-VN" sz="1200" b="0" kern="1200" dirty="0">
                <a:solidFill>
                  <a:schemeClr val="tx1"/>
                </a:solidFill>
                <a:effectLst/>
                <a:latin typeface="+mn-lt"/>
                <a:ea typeface="+mn-ea"/>
                <a:cs typeface="+mn-cs"/>
              </a:rPr>
              <a:t>.</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Dữ liệu tương tác giữa người dùng và sản phẩm tự nhiên hình thành một đồ thị hai phía — và GNN là công cụ rất phù hợp để khai thác loại cấu trúc quan hệ này. Ví dụ cụ thể: Pinterest triển khai PinSage trên đồ thị hơn 3 tỷ cạnh; các mô hình như NGCF và LightGCN cũng trở thành baseline tiêu chuẩn trong lĩnh vực gợi ý.</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Nhưng khi quy mô đồ thị tăng lên đến hàng triệu, thậm chí hàng tỷ đỉnh, một vấn đề rất thực tế xuất hiện. Sơ đồ bên phải mô tả chuỗi nhân quả: hệ thống gợi ý kéo theo GNN quy mô lớn, GNN quy mô lớn kéo theo thách thức scalability, và thách thức scalability dẫn đến </a:t>
            </a:r>
            <a:r>
              <a:rPr lang="en-VN" sz="1200" b="1" kern="1200" dirty="0">
                <a:solidFill>
                  <a:schemeClr val="tx1"/>
                </a:solidFill>
                <a:effectLst/>
                <a:latin typeface="+mn-lt"/>
                <a:ea typeface="+mn-ea"/>
                <a:cs typeface="+mn-cs"/>
              </a:rPr>
              <a:t>**bùng nổ lân cận**</a:t>
            </a:r>
            <a:r>
              <a:rPr lang="en-VN" sz="1200" b="0" kern="1200" dirty="0">
                <a:solidFill>
                  <a:schemeClr val="tx1"/>
                </a:solidFill>
                <a:effectLst/>
                <a:latin typeface="+mn-lt"/>
                <a:ea typeface="+mn-ea"/>
                <a:cs typeface="+mn-cs"/>
              </a:rPr>
              <a:t> — đây là vấn đề trọng tâm mà báo cáo này đặt ra.</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Trước khi đi vào vấn đề bùng nổ lân cận, em xin giới thiệu ngắn cách GNN hoạt động.</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GNN học đặc trưng của mỗi đỉnh bằng cách lan truyền thông tin qua cấu trúc đồ thị, qua nhiều tầng. Khung tổng quát nhất gọi là </a:t>
            </a:r>
            <a:r>
              <a:rPr lang="en-VN" sz="1200" b="1" kern="1200" dirty="0">
                <a:solidFill>
                  <a:schemeClr val="tx1"/>
                </a:solidFill>
                <a:effectLst/>
                <a:latin typeface="+mn-lt"/>
                <a:ea typeface="+mn-ea"/>
                <a:cs typeface="+mn-cs"/>
              </a:rPr>
              <a:t>**MPNN — Message Passing Neural Network**</a:t>
            </a:r>
            <a:r>
              <a:rPr lang="en-VN" sz="1200" b="0" kern="1200" dirty="0">
                <a:solidFill>
                  <a:schemeClr val="tx1"/>
                </a:solidFill>
                <a:effectLst/>
                <a:latin typeface="+mn-lt"/>
                <a:ea typeface="+mn-ea"/>
                <a:cs typeface="+mn-cs"/>
              </a:rPr>
              <a:t> — gồm 4 bước lặp lại:</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Bước đầu tiên là </a:t>
            </a:r>
            <a:r>
              <a:rPr lang="en-VN" sz="1200" b="1" kern="1200" dirty="0">
                <a:solidFill>
                  <a:schemeClr val="tx1"/>
                </a:solidFill>
                <a:effectLst/>
                <a:latin typeface="+mn-lt"/>
                <a:ea typeface="+mn-ea"/>
                <a:cs typeface="+mn-cs"/>
              </a:rPr>
              <a:t>**khởi tạo**</a:t>
            </a:r>
            <a:r>
              <a:rPr lang="en-VN" sz="1200" b="0" kern="1200" dirty="0">
                <a:solidFill>
                  <a:schemeClr val="tx1"/>
                </a:solidFill>
                <a:effectLst/>
                <a:latin typeface="+mn-lt"/>
                <a:ea typeface="+mn-ea"/>
                <a:cs typeface="+mn-cs"/>
              </a:rPr>
              <a:t> — gán đặc trưng ban đầu cho từng đỉnh. Bước hai là </a:t>
            </a:r>
            <a:r>
              <a:rPr lang="en-VN" sz="1200" b="1" kern="1200" dirty="0">
                <a:solidFill>
                  <a:schemeClr val="tx1"/>
                </a:solidFill>
                <a:effectLst/>
                <a:latin typeface="+mn-lt"/>
                <a:ea typeface="+mn-ea"/>
                <a:cs typeface="+mn-cs"/>
              </a:rPr>
              <a:t>**Aggregate**</a:t>
            </a:r>
            <a:r>
              <a:rPr lang="en-VN" sz="1200" b="0" kern="1200" dirty="0">
                <a:solidFill>
                  <a:schemeClr val="tx1"/>
                </a:solidFill>
                <a:effectLst/>
                <a:latin typeface="+mn-lt"/>
                <a:ea typeface="+mn-ea"/>
                <a:cs typeface="+mn-cs"/>
              </a:rPr>
              <a:t> — gom thông điệp từ toàn bộ lân cận xung quanh, đây là bước then chốt nhất. Bước ba là </a:t>
            </a:r>
            <a:r>
              <a:rPr lang="en-VN" sz="1200" b="1" kern="1200" dirty="0">
                <a:solidFill>
                  <a:schemeClr val="tx1"/>
                </a:solidFill>
                <a:effectLst/>
                <a:latin typeface="+mn-lt"/>
                <a:ea typeface="+mn-ea"/>
                <a:cs typeface="+mn-cs"/>
              </a:rPr>
              <a:t>**Update**</a:t>
            </a:r>
            <a:r>
              <a:rPr lang="en-VN" sz="1200" b="0" kern="1200" dirty="0">
                <a:solidFill>
                  <a:schemeClr val="tx1"/>
                </a:solidFill>
                <a:effectLst/>
                <a:latin typeface="+mn-lt"/>
                <a:ea typeface="+mn-ea"/>
                <a:cs typeface="+mn-cs"/>
              </a:rPr>
              <a:t> — kết hợp thông tin hiện tại của đỉnh với những gì vừa gom được. Và bước bốn là </a:t>
            </a:r>
            <a:r>
              <a:rPr lang="en-VN" sz="1200" b="1" kern="1200" dirty="0">
                <a:solidFill>
                  <a:schemeClr val="tx1"/>
                </a:solidFill>
                <a:effectLst/>
                <a:latin typeface="+mn-lt"/>
                <a:ea typeface="+mn-ea"/>
                <a:cs typeface="+mn-cs"/>
              </a:rPr>
              <a:t>**Predict**</a:t>
            </a:r>
            <a:r>
              <a:rPr lang="en-VN" sz="1200" b="0" kern="1200" dirty="0">
                <a:solidFill>
                  <a:schemeClr val="tx1"/>
                </a:solidFill>
                <a:effectLst/>
                <a:latin typeface="+mn-lt"/>
                <a:ea typeface="+mn-ea"/>
                <a:cs typeface="+mn-cs"/>
              </a:rPr>
              <a:t> — đưa ra dự đoán nhãn hoặc thực hiện tác vụ cuối.</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Sau L tầng, đặc trưng của đỉnh v đã mã hóa toàn bộ cấu trúc L-hop xung quanh nó — đây chính là sức mạnh của GNN. Và cũng chính bước Aggregate là nguồn gốc của bùng nổ lân cận mà em sẽ giải thích ngay sau.</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Để hình dung rõ hơn, hãy nhìn vào ví dụ nhỏ này.</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Đỉnh V ở trung tâm có 4 lân cận trực tiếp A, B, C, D — và vòng ngoài là E, F, G, H.</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Ở </a:t>
            </a:r>
            <a:r>
              <a:rPr lang="en-VN" sz="1200" b="1" kern="1200" dirty="0">
                <a:solidFill>
                  <a:schemeClr val="tx1"/>
                </a:solidFill>
                <a:effectLst/>
                <a:latin typeface="+mn-lt"/>
                <a:ea typeface="+mn-ea"/>
                <a:cs typeface="+mn-cs"/>
              </a:rPr>
              <a:t>**tầng 0**</a:t>
            </a:r>
            <a:r>
              <a:rPr lang="en-VN" sz="1200" b="0" kern="1200" dirty="0">
                <a:solidFill>
                  <a:schemeClr val="tx1"/>
                </a:solidFill>
                <a:effectLst/>
                <a:latin typeface="+mn-lt"/>
                <a:ea typeface="+mn-ea"/>
                <a:cs typeface="+mn-cs"/>
              </a:rPr>
              <a:t>, V chỉ biết chính mình — đặc trưng khởi đầu.</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Sau </a:t>
            </a:r>
            <a:r>
              <a:rPr lang="en-VN" sz="1200" b="1" kern="1200" dirty="0">
                <a:solidFill>
                  <a:schemeClr val="tx1"/>
                </a:solidFill>
                <a:effectLst/>
                <a:latin typeface="+mn-lt"/>
                <a:ea typeface="+mn-ea"/>
                <a:cs typeface="+mn-cs"/>
              </a:rPr>
              <a:t>**tầng 1**</a:t>
            </a:r>
            <a:r>
              <a:rPr lang="en-VN" sz="1200" b="0" kern="1200" dirty="0">
                <a:solidFill>
                  <a:schemeClr val="tx1"/>
                </a:solidFill>
                <a:effectLst/>
                <a:latin typeface="+mn-lt"/>
                <a:ea typeface="+mn-ea"/>
                <a:cs typeface="+mn-cs"/>
              </a:rPr>
              <a:t>, V gom thông điệp từ A, B, C, D — V đã 'thấy' cấu trúc 1-hop.</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Sau </a:t>
            </a:r>
            <a:r>
              <a:rPr lang="en-VN" sz="1200" b="1" kern="1200" dirty="0">
                <a:solidFill>
                  <a:schemeClr val="tx1"/>
                </a:solidFill>
                <a:effectLst/>
                <a:latin typeface="+mn-lt"/>
                <a:ea typeface="+mn-ea"/>
                <a:cs typeface="+mn-cs"/>
              </a:rPr>
              <a:t>**tầng 2**</a:t>
            </a:r>
            <a:r>
              <a:rPr lang="en-VN" sz="1200" b="0" kern="1200" dirty="0">
                <a:solidFill>
                  <a:schemeClr val="tx1"/>
                </a:solidFill>
                <a:effectLst/>
                <a:latin typeface="+mn-lt"/>
                <a:ea typeface="+mn-ea"/>
                <a:cs typeface="+mn-cs"/>
              </a:rPr>
              <a:t>, mỗi đỉnh A, B, C, D lại gom từ vòng ngoài rồi truyền vào V — V giờ 'thấy' cả E, F, G, H.</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Quy luật rất rõ: </a:t>
            </a:r>
            <a:r>
              <a:rPr lang="en-VN" sz="1200" b="1" kern="1200" dirty="0">
                <a:solidFill>
                  <a:schemeClr val="tx1"/>
                </a:solidFill>
                <a:effectLst/>
                <a:latin typeface="+mn-lt"/>
                <a:ea typeface="+mn-ea"/>
                <a:cs typeface="+mn-cs"/>
              </a:rPr>
              <a:t>**L tầng thì biết cấu trúc L-hop**</a:t>
            </a:r>
            <a:r>
              <a:rPr lang="en-VN" sz="1200" b="0" kern="1200" dirty="0">
                <a:solidFill>
                  <a:schemeClr val="tx1"/>
                </a:solidFill>
                <a:effectLst/>
                <a:latin typeface="+mn-lt"/>
                <a:ea typeface="+mn-ea"/>
                <a:cs typeface="+mn-cs"/>
              </a:rPr>
              <a:t>. Sức mạnh lớn — nhưng cũng kéo theo chi phí tính toán tăng theo hàm mũ khi L và bậc đồ thị lớn dần lên.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GNN mạnh nhưng khi mở rộng quy mô, ba vấn đề nổi lên rõ nhất.</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**Oversmoothing**</a:t>
            </a:r>
            <a:r>
              <a:rPr lang="en-VN" sz="1200" b="0" kern="1200" dirty="0">
                <a:solidFill>
                  <a:schemeClr val="tx1"/>
                </a:solidFill>
                <a:effectLst/>
                <a:latin typeface="+mn-lt"/>
                <a:ea typeface="+mn-ea"/>
                <a:cs typeface="+mn-cs"/>
              </a:rPr>
              <a:t> — xếp chồng nhiều tầng GNN khiến đặc trưng của các đỉnh dần hội tụ về cùng một giá trị, mất đi sự phân biệt, kết quả phân loại kém đi.</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**Oversquashing**</a:t>
            </a:r>
            <a:r>
              <a:rPr lang="en-VN" sz="1200" b="0" kern="1200" dirty="0">
                <a:solidFill>
                  <a:schemeClr val="tx1"/>
                </a:solidFill>
                <a:effectLst/>
                <a:latin typeface="+mn-lt"/>
                <a:ea typeface="+mn-ea"/>
                <a:cs typeface="+mn-cs"/>
              </a:rPr>
              <a:t> — thông tin từ các đỉnh xa bị 'nén' qua các cạnh cổ chai trên đồ thị, tín hiệu quan trọng bị suy giảm trước khi đến nơi cần.</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Hai vấn đề trên liên quan đến chất lượng học. Nhưng vấn đề thứ ba mới là thách thức thực tế nhất, đặc biệt với đồ thị quy mô lớn: </a:t>
            </a:r>
            <a:r>
              <a:rPr lang="en-VN" sz="1200" b="1" kern="1200" dirty="0">
                <a:solidFill>
                  <a:schemeClr val="tx1"/>
                </a:solidFill>
                <a:effectLst/>
                <a:latin typeface="+mn-lt"/>
                <a:ea typeface="+mn-ea"/>
                <a:cs typeface="+mn-cs"/>
              </a:rPr>
              <a:t>**Bùng nổ lân cận**</a:t>
            </a:r>
            <a:r>
              <a:rPr lang="en-VN" sz="1200" b="0" kern="1200" dirty="0">
                <a:solidFill>
                  <a:schemeClr val="tx1"/>
                </a:solidFill>
                <a:effectLst/>
                <a:latin typeface="+mn-lt"/>
                <a:ea typeface="+mn-ea"/>
                <a:cs typeface="+mn-cs"/>
              </a:rPr>
              <a:t> — số đỉnh cần nạp vào bộ nhớ tăng theo cấp số nhân theo số tầng. Đây là điểm trọng tâm mà báo cáo này tập trung vào.</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Vấn đề bắt nguồn từ tính đệ quy của Bước Aggregate.</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Để tính đặc trưng của đỉnh v ở tầng L, ta phải tính đặc trưng của toàn bộ lân cận của v ở tầng L-1 — và để tính những đỉnh đó, lại phải mở rộng thêm một tầng nữa — cứ thế nhân dần lên.</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Kết quả cụ thể: tầng 1 cần d̄ đỉnh; tầng 2 cần d̄ bình phương; tầng L cần </a:t>
            </a:r>
            <a:r>
              <a:rPr lang="en-VN" sz="1200" b="1" kern="1200" dirty="0">
                <a:solidFill>
                  <a:schemeClr val="tx1"/>
                </a:solidFill>
                <a:effectLst/>
                <a:latin typeface="+mn-lt"/>
                <a:ea typeface="+mn-ea"/>
                <a:cs typeface="+mn-cs"/>
              </a:rPr>
              <a:t>**O(d̄ᴸ)**</a:t>
            </a:r>
            <a:r>
              <a:rPr lang="en-VN" sz="1200" b="0" kern="1200" dirty="0">
                <a:solidFill>
                  <a:schemeClr val="tx1"/>
                </a:solidFill>
                <a:effectLst/>
                <a:latin typeface="+mn-lt"/>
                <a:ea typeface="+mn-ea"/>
                <a:cs typeface="+mn-cs"/>
              </a:rPr>
              <a:t> đỉnh — hàm mũ theo số tầng.</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Ví dụ thực tế ngay trên slide: mini-batch chỉ 512 đỉnh, bậc trung bình 10, 3 tầng — vậy mà phải nạp gần </a:t>
            </a:r>
            <a:r>
              <a:rPr lang="en-VN" sz="1200" b="1" kern="1200" dirty="0">
                <a:solidFill>
                  <a:schemeClr val="tx1"/>
                </a:solidFill>
                <a:effectLst/>
                <a:latin typeface="+mn-lt"/>
                <a:ea typeface="+mn-ea"/>
                <a:cs typeface="+mn-cs"/>
              </a:rPr>
              <a:t>**512 nghìn đỉnh**</a:t>
            </a:r>
            <a:r>
              <a:rPr lang="en-VN" sz="1200" b="0" kern="1200" dirty="0">
                <a:solidFill>
                  <a:schemeClr val="tx1"/>
                </a:solidFill>
                <a:effectLst/>
                <a:latin typeface="+mn-lt"/>
                <a:ea typeface="+mn-ea"/>
                <a:cs typeface="+mn-cs"/>
              </a:rPr>
              <a:t> vào GPU cho một mini-batch nhỏ. Đây là lý do tại sao nhiều phương pháp bị out-of-memory trên đồ thị quy mô lớn.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Biểu đồ bên phải minh họa mức tăng đó rất trực quan: từ khoảng 5 nghìn đỉnh ở L=1, lên 51 nghìn ở L=2, và vượt 500 nghìn ở L=3 — tăng gấp 10 lần mỗi tầng.</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Một điều quan trọng cần nhấn mạnh: </a:t>
            </a:r>
            <a:r>
              <a:rPr lang="en-VN" sz="1200" b="1" kern="1200" dirty="0">
                <a:solidFill>
                  <a:schemeClr val="tx1"/>
                </a:solidFill>
                <a:effectLst/>
                <a:latin typeface="+mn-lt"/>
                <a:ea typeface="+mn-ea"/>
                <a:cs typeface="+mn-cs"/>
              </a:rPr>
              <a:t>**chia mini-batch nhỏ không giải quyết được vấn đề này**</a:t>
            </a:r>
            <a:r>
              <a:rPr lang="en-VN" sz="1200" b="0" kern="1200" dirty="0">
                <a:solidFill>
                  <a:schemeClr val="tx1"/>
                </a:solidFill>
                <a:effectLst/>
                <a:latin typeface="+mn-lt"/>
                <a:ea typeface="+mn-ea"/>
                <a:cs typeface="+mn-cs"/>
              </a:rPr>
              <a:t> nếu không có sampling, vì dù batch nhỏ đến đâu cũng vẫn phải nạp toàn bộ lân cận L-hop vào bộ nhớ. Trên ogbn-arxiv với bậc trung bình khoảng 13 và 3 tầng, một mini-batch 512 đỉnh cần tới khoảng 1,2 triệu đỉnh phụ thuộc.</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Chính vì vậy, các phương pháp </a:t>
            </a:r>
            <a:r>
              <a:rPr lang="en-VN" sz="1200" b="1" kern="1200" dirty="0">
                <a:solidFill>
                  <a:schemeClr val="tx1"/>
                </a:solidFill>
                <a:effectLst/>
                <a:latin typeface="+mn-lt"/>
                <a:ea typeface="+mn-ea"/>
                <a:cs typeface="+mn-cs"/>
              </a:rPr>
              <a:t>**graph sampling**</a:t>
            </a:r>
            <a:r>
              <a:rPr lang="en-VN" sz="1200" b="0" kern="1200" dirty="0">
                <a:solidFill>
                  <a:schemeClr val="tx1"/>
                </a:solidFill>
                <a:effectLst/>
                <a:latin typeface="+mn-lt"/>
                <a:ea typeface="+mn-ea"/>
                <a:cs typeface="+mn-cs"/>
              </a:rPr>
              <a:t> ra đời — và đây là bối cảnh để GRAPES xuất hiện.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VN" dirty="0"/>
              <a:t>Vấn đề bùng nổ lân cận không phải chưa có giải pháp. Tài liệu hiện nay ghi nhận </a:t>
            </a:r>
            <a:r>
              <a:rPr lang="en-VN" b="1" dirty="0"/>
              <a:t>ba hướng chính</a:t>
            </a:r>
            <a:r>
              <a:rPr lang="en-VN" dirty="0"/>
              <a:t> [21, 27]:</a:t>
            </a:r>
          </a:p>
          <a:p>
            <a:r>
              <a:rPr lang="en-VN" b="1" dirty="0"/>
              <a:t>Hướng thứ nhất là Sampling</a:t>
            </a:r>
            <a:r>
              <a:rPr lang="en-VN" dirty="0"/>
              <a:t> — lấy mẫu ngẫu nhiên k lân cận mỗi iteration, thay vì phải dùng toàn bộ. Đây là hướng trực tiếp nhất và có nhiều đại diện nổi bật: GraphSAGE [4], FastGCN [10], ClusterGCN [13], GraphSAINT [14].</a:t>
            </a:r>
          </a:p>
          <a:p>
            <a:r>
              <a:rPr lang="en-VN" b="1" dirty="0"/>
              <a:t>Hướng thứ hai là Decoupling</a:t>
            </a:r>
            <a:r>
              <a:rPr lang="en-VN" dirty="0"/>
              <a:t> — tính trước toàn bộ phép lan truyền đồ thị offline, rồi chỉ huấn luyện một MLP đơn giản trên kết quả. Tiết kiệm chi phí nhưng đánh đổi mất tính phi tuyến giữa các tầng.</a:t>
            </a:r>
          </a:p>
          <a:p>
            <a:r>
              <a:rPr lang="en-VN" b="1" dirty="0"/>
              <a:t>Hướng thứ ba là Historical Embeddings</a:t>
            </a:r>
            <a:r>
              <a:rPr lang="en-VN" dirty="0"/>
              <a:t> — như GNNAutoScale [15], tái dùng embedding đã tính từ vòng lặp trước để xấp xỉ các lân cận chưa tính. Hiệu quả nhưng embedding cũ có thể lỗi thời theo thời gian.</a:t>
            </a:r>
          </a:p>
          <a:p>
            <a:r>
              <a:rPr lang="en-VN" dirty="0"/>
              <a:t>Vậy tại sao báo cáo chọn hướng Sampling? Vì Sampling </a:t>
            </a:r>
            <a:r>
              <a:rPr lang="en-VN" b="1" dirty="0"/>
              <a:t>giữ nguyên tính phi tuyến</a:t>
            </a:r>
            <a:r>
              <a:rPr lang="en-VN" dirty="0"/>
              <a:t> qua từng tầng GNN — phù hợp với bài toán phức tạp — và quan trọng hơn, nó cho phép tích hợp cơ chế </a:t>
            </a:r>
            <a:r>
              <a:rPr lang="en-VN" b="1" dirty="0"/>
              <a:t>học cách sample</a:t>
            </a:r>
            <a:r>
              <a:rPr lang="en-VN" dirty="0"/>
              <a:t>, tức là adaptive sampling, mà GRAPES sẽ khai thác.</a:t>
            </a:r>
          </a:p>
          <a:p>
            <a:endParaRPr lang="en-VN" dirty="0"/>
          </a:p>
        </p:txBody>
      </p:sp>
    </p:spTree>
    <p:extLst>
      <p:ext uri="{BB962C8B-B14F-4D97-AF65-F5344CB8AC3E}">
        <p14:creationId xmlns:p14="http://schemas.microsoft.com/office/powerpoint/2010/main" val="2421667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có 4 nhóm phương pháp chính.</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**Sampling theo đỉnh**</a:t>
            </a:r>
            <a:r>
              <a:rPr lang="en-VN" sz="1200" b="0" kern="1200" dirty="0">
                <a:solidFill>
                  <a:schemeClr val="tx1"/>
                </a:solidFill>
                <a:effectLst/>
                <a:latin typeface="+mn-lt"/>
                <a:ea typeface="+mn-ea"/>
                <a:cs typeface="+mn-cs"/>
              </a:rPr>
              <a:t> như GraphSAGE và PinSage — chọn k lân cận ngẫu nhiên cho mỗi đỉnh, đơn giản nhưng vẫn bùng nổ theo số tầng vì mỗi đỉnh đều tự mở rộng.</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**Sampling theo tầng**</a:t>
            </a:r>
            <a:r>
              <a:rPr lang="en-VN" sz="1200" b="0" kern="1200" dirty="0">
                <a:solidFill>
                  <a:schemeClr val="tx1"/>
                </a:solidFill>
                <a:effectLst/>
                <a:latin typeface="+mn-lt"/>
                <a:ea typeface="+mn-ea"/>
                <a:cs typeface="+mn-cs"/>
              </a:rPr>
              <a:t> như FastGCN, LADIES, AS-GCN — chọn k đỉnh dùng chung cho toàn batch trong một tầng. AS-GCN cho chất lượng tốt nhưng bị OOM trên đồ thị lớn; LADIES có độ lệch chuẩn rất cao — không ổn định trong thực tế.</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**Sampling theo đồ thị con**</a:t>
            </a:r>
            <a:r>
              <a:rPr lang="en-VN" sz="1200" b="0" kern="1200" dirty="0">
                <a:solidFill>
                  <a:schemeClr val="tx1"/>
                </a:solidFill>
                <a:effectLst/>
                <a:latin typeface="+mn-lt"/>
                <a:ea typeface="+mn-ea"/>
                <a:cs typeface="+mn-cs"/>
              </a:rPr>
              <a:t> như ClusterGCN, GraphSAINT — hiệu quả bộ nhớ nhưng cắt mất các cạnh nối giữa các cụm, gây mất thông tin kết nối.</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**Embedding lịch sử**</a:t>
            </a:r>
            <a:r>
              <a:rPr lang="en-VN" sz="1200" b="0" kern="1200" dirty="0">
                <a:solidFill>
                  <a:schemeClr val="tx1"/>
                </a:solidFill>
                <a:effectLst/>
                <a:latin typeface="+mn-lt"/>
                <a:ea typeface="+mn-ea"/>
                <a:cs typeface="+mn-cs"/>
              </a:rPr>
              <a:t> như GAS — tái dùng embedding cũ, F1 cao nhưng chi phí lưu trữ rất lớn.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Từ vấn đề đó, báo cáo đặt ra câu hỏi trung tâm:</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i="1" kern="1200" dirty="0">
                <a:solidFill>
                  <a:schemeClr val="tx1"/>
                </a:solidFill>
                <a:effectLst/>
                <a:latin typeface="+mn-lt"/>
                <a:ea typeface="+mn-ea"/>
                <a:cs typeface="+mn-cs"/>
              </a:rPr>
              <a:t>*'Có thể học được một chính sách lấy mẫu đỉnh thích ứng — thay vì dùng heuristic tĩnh — để tối thiểu hóa chi phí bộ nhớ khi huấn luyện GNN, trong khi vẫn giữ được chất lượng dự đoán?'*</a:t>
            </a:r>
            <a:endParaRPr lang="en-VN" sz="1200" b="0" kern="1200" dirty="0">
              <a:solidFill>
                <a:schemeClr val="tx1"/>
              </a:solidFill>
              <a:effectLst/>
              <a:latin typeface="+mn-lt"/>
              <a:ea typeface="+mn-ea"/>
              <a:cs typeface="+mn-cs"/>
            </a:endParaRP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Ba từ khóa quan trọng ở đây là: </a:t>
            </a:r>
            <a:r>
              <a:rPr lang="en-VN" sz="1200" b="1" kern="1200" dirty="0">
                <a:solidFill>
                  <a:schemeClr val="tx1"/>
                </a:solidFill>
                <a:effectLst/>
                <a:latin typeface="+mn-lt"/>
                <a:ea typeface="+mn-ea"/>
                <a:cs typeface="+mn-cs"/>
              </a:rPr>
              <a:t>**học được**</a:t>
            </a:r>
            <a:r>
              <a:rPr lang="en-VN" sz="1200" b="0" kern="1200" dirty="0">
                <a:solidFill>
                  <a:schemeClr val="tx1"/>
                </a:solidFill>
                <a:effectLst/>
                <a:latin typeface="+mn-lt"/>
                <a:ea typeface="+mn-ea"/>
                <a:cs typeface="+mn-cs"/>
              </a:rPr>
              <a:t> — không phải cố định sẵn; </a:t>
            </a:r>
            <a:r>
              <a:rPr lang="en-VN" sz="1200" b="1" kern="1200" dirty="0">
                <a:solidFill>
                  <a:schemeClr val="tx1"/>
                </a:solidFill>
                <a:effectLst/>
                <a:latin typeface="+mn-lt"/>
                <a:ea typeface="+mn-ea"/>
                <a:cs typeface="+mn-cs"/>
              </a:rPr>
              <a:t>**thích ứng**</a:t>
            </a:r>
            <a:r>
              <a:rPr lang="en-VN" sz="1200" b="0" kern="1200" dirty="0">
                <a:solidFill>
                  <a:schemeClr val="tx1"/>
                </a:solidFill>
                <a:effectLst/>
                <a:latin typeface="+mn-lt"/>
                <a:ea typeface="+mn-ea"/>
                <a:cs typeface="+mn-cs"/>
              </a:rPr>
              <a:t> — điều chỉnh theo từng đồ thị và từng tác vụ; và </a:t>
            </a:r>
            <a:r>
              <a:rPr lang="en-VN" sz="1200" b="1" kern="1200" dirty="0">
                <a:solidFill>
                  <a:schemeClr val="tx1"/>
                </a:solidFill>
                <a:effectLst/>
                <a:latin typeface="+mn-lt"/>
                <a:ea typeface="+mn-ea"/>
                <a:cs typeface="+mn-cs"/>
              </a:rPr>
              <a:t>**hiệu quả**</a:t>
            </a:r>
            <a:r>
              <a:rPr lang="en-VN" sz="1200" b="0" kern="1200" dirty="0">
                <a:solidFill>
                  <a:schemeClr val="tx1"/>
                </a:solidFill>
                <a:effectLst/>
                <a:latin typeface="+mn-lt"/>
                <a:ea typeface="+mn-ea"/>
                <a:cs typeface="+mn-cs"/>
              </a:rPr>
              <a:t> — bộ nhớ thấp, kết quả ổn định.</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950FB-E9CB-08CB-AE1F-3BA10A376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AEA293-5082-9A7E-978C-09C2E19757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D587CD-9613-AA52-D06D-CF7FA8B71BEC}"/>
              </a:ext>
            </a:extLst>
          </p:cNvPr>
          <p:cNvSpPr>
            <a:spLocks noGrp="1"/>
          </p:cNvSpPr>
          <p:nvPr>
            <p:ph type="body" idx="1"/>
          </p:nvPr>
        </p:nvSpPr>
        <p:spPr/>
        <p:txBody>
          <a:bodyPr/>
          <a:lstStyle/>
          <a:p>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**Điểm chung của tất cả**</a:t>
            </a:r>
            <a:r>
              <a:rPr lang="en-VN" sz="1200" b="0" kern="1200" dirty="0">
                <a:solidFill>
                  <a:schemeClr val="tx1"/>
                </a:solidFill>
                <a:effectLst/>
                <a:latin typeface="+mn-lt"/>
                <a:ea typeface="+mn-ea"/>
                <a:cs typeface="+mn-cs"/>
              </a:rPr>
              <a:t>: không ai học được chính sách lấy mẫu thích ứng theo mục tiêu tác vụ. Đây là khoảng trống mà GRAPES lấp vào.</a:t>
            </a:r>
          </a:p>
        </p:txBody>
      </p:sp>
      <p:sp>
        <p:nvSpPr>
          <p:cNvPr id="4" name="Slide Number Placeholder 3">
            <a:extLst>
              <a:ext uri="{FF2B5EF4-FFF2-40B4-BE49-F238E27FC236}">
                <a16:creationId xmlns:a16="http://schemas.microsoft.com/office/drawing/2014/main" id="{52951C63-B9F1-47C4-72AE-56FB9C5D14A7}"/>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0582253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Ý tưởng của GRAPES khá trực tiếp: </a:t>
            </a:r>
            <a:r>
              <a:rPr lang="en-VN" sz="1200" b="1" kern="1200" dirty="0">
                <a:solidFill>
                  <a:schemeClr val="tx1"/>
                </a:solidFill>
                <a:effectLst/>
                <a:latin typeface="+mn-lt"/>
                <a:ea typeface="+mn-ea"/>
                <a:cs typeface="+mn-cs"/>
              </a:rPr>
              <a:t>**huấn luyện một mạng thứ hai chuyên học xem đỉnh nào đáng lấy mẫu**</a:t>
            </a:r>
            <a:r>
              <a:rPr lang="en-VN" sz="1200" b="0" kern="1200" dirty="0">
                <a:solidFill>
                  <a:schemeClr val="tx1"/>
                </a:solidFill>
                <a:effectLst/>
                <a:latin typeface="+mn-lt"/>
                <a:ea typeface="+mn-ea"/>
                <a:cs typeface="+mn-cs"/>
              </a:rPr>
              <a:t>, và tối ưu mạng đó trực tiếp theo mục tiêu tác vụ đầu cuối — không phải theo heuristic cố định.</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Ba điểm mà bài báo nhấn mạnh là: </a:t>
            </a:r>
            <a:r>
              <a:rPr lang="en-VN" sz="1200" b="1" kern="1200" dirty="0">
                <a:solidFill>
                  <a:schemeClr val="tx1"/>
                </a:solidFill>
                <a:effectLst/>
                <a:latin typeface="+mn-lt"/>
                <a:ea typeface="+mn-ea"/>
                <a:cs typeface="+mn-cs"/>
              </a:rPr>
              <a:t>**thích ứng học được**</a:t>
            </a:r>
            <a:r>
              <a:rPr lang="en-VN" sz="1200" b="0" kern="1200" dirty="0">
                <a:solidFill>
                  <a:schemeClr val="tx1"/>
                </a:solidFill>
                <a:effectLst/>
                <a:latin typeface="+mn-lt"/>
                <a:ea typeface="+mn-ea"/>
                <a:cs typeface="+mn-cs"/>
              </a:rPr>
              <a:t> — xác suất lấy mẫu thay đổi theo từng đồ thị; </a:t>
            </a:r>
            <a:r>
              <a:rPr lang="en-VN" sz="1200" b="1" kern="1200" dirty="0">
                <a:solidFill>
                  <a:schemeClr val="tx1"/>
                </a:solidFill>
                <a:effectLst/>
                <a:latin typeface="+mn-lt"/>
                <a:ea typeface="+mn-ea"/>
                <a:cs typeface="+mn-cs"/>
              </a:rPr>
              <a:t>**hiệu quả bộ nhớ**</a:t>
            </a:r>
            <a:r>
              <a:rPr lang="en-VN" sz="1200" b="0" kern="1200" dirty="0">
                <a:solidFill>
                  <a:schemeClr val="tx1"/>
                </a:solidFill>
                <a:effectLst/>
                <a:latin typeface="+mn-lt"/>
                <a:ea typeface="+mn-ea"/>
                <a:cs typeface="+mn-cs"/>
              </a:rPr>
              <a:t> — chạy được trên Tesla T4 15GB với đồ thị 2,4 triệu đỉnh, điều mà GAS không làm được; và </a:t>
            </a:r>
            <a:r>
              <a:rPr lang="en-VN" sz="1200" b="1" kern="1200" dirty="0">
                <a:solidFill>
                  <a:schemeClr val="tx1"/>
                </a:solidFill>
                <a:effectLst/>
                <a:latin typeface="+mn-lt"/>
                <a:ea typeface="+mn-ea"/>
                <a:cs typeface="+mn-cs"/>
              </a:rPr>
              <a:t>**bền vững**</a:t>
            </a:r>
            <a:r>
              <a:rPr lang="en-VN" sz="1200" b="0" kern="1200" dirty="0">
                <a:solidFill>
                  <a:schemeClr val="tx1"/>
                </a:solidFill>
                <a:effectLst/>
                <a:latin typeface="+mn-lt"/>
                <a:ea typeface="+mn-ea"/>
                <a:cs typeface="+mn-cs"/>
              </a:rPr>
              <a:t> — F1 ổn định khi giảm kích thước mẫu, độ lệch chuẩn thấp nhất trong các phương pháp so sánh.</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Bây giờ em xin trình bày kiến trúc chi tiết. GRAPES gồm hai GNN chạy song song và phối hợp với nhau.</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**GCN_S — Sampler**</a:t>
            </a:r>
            <a:r>
              <a:rPr lang="en-VN" sz="1200" b="0" kern="1200" dirty="0">
                <a:solidFill>
                  <a:schemeClr val="tx1"/>
                </a:solidFill>
                <a:effectLst/>
                <a:latin typeface="+mn-lt"/>
                <a:ea typeface="+mn-ea"/>
                <a:cs typeface="+mn-cs"/>
              </a:rPr>
              <a:t> là mạng thứ nhất, đóng vai trò học xác suất. Nó nhận đồ thị G làm đầu vào và xuất ra xác suất p_v cho từng đỉnh lân cận — đỉnh nào được đánh giá quan trọng hơn sẽ có xác suất cao hơn.</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Xác suất đó được đưa vào </a:t>
            </a:r>
            <a:r>
              <a:rPr lang="en-VN" sz="1200" b="1" kern="1200" dirty="0">
                <a:solidFill>
                  <a:schemeClr val="tx1"/>
                </a:solidFill>
                <a:effectLst/>
                <a:latin typeface="+mn-lt"/>
                <a:ea typeface="+mn-ea"/>
                <a:cs typeface="+mn-cs"/>
              </a:rPr>
              <a:t>**Gumbel Top-k**</a:t>
            </a:r>
            <a:r>
              <a:rPr lang="en-VN" sz="1200" b="0" kern="1200" dirty="0">
                <a:solidFill>
                  <a:schemeClr val="tx1"/>
                </a:solidFill>
                <a:effectLst/>
                <a:latin typeface="+mn-lt"/>
                <a:ea typeface="+mn-ea"/>
                <a:cs typeface="+mn-cs"/>
              </a:rPr>
              <a:t> — đây là kỹ thuật then chốt cho phép gradient lan truyền ngược qua bước chọn rời rạc. Ý tưởng là thêm nhiễu Gumbel vào log-xác suất và chọn top-k — biến phép chọn cứng 'có hoặc không' thành phép toán khả vi mà mạng có thể học được. Đầu ra là đồ thị con G_s chỉ giữ k đỉnh quan trọng nhất mỗi hop.</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**GCN_C — Classifier**</a:t>
            </a:r>
            <a:r>
              <a:rPr lang="en-VN" sz="1200" b="0" kern="1200" dirty="0">
                <a:solidFill>
                  <a:schemeClr val="tx1"/>
                </a:solidFill>
                <a:effectLst/>
                <a:latin typeface="+mn-lt"/>
                <a:ea typeface="+mn-ea"/>
                <a:cs typeface="+mn-cs"/>
              </a:rPr>
              <a:t> là mạng thứ hai, nhận G_s làm đầu vào, tính loss L_C và đưa ra dự đoán.</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Nhưng điểm quan trọng nhất là </a:t>
            </a:r>
            <a:r>
              <a:rPr lang="en-VN" sz="1200" b="1" kern="1200" dirty="0">
                <a:solidFill>
                  <a:schemeClr val="tx1"/>
                </a:solidFill>
                <a:effectLst/>
                <a:latin typeface="+mn-lt"/>
                <a:ea typeface="+mn-ea"/>
                <a:cs typeface="+mn-cs"/>
              </a:rPr>
              <a:t>**vòng phản hồi GFlowNet**</a:t>
            </a:r>
            <a:r>
              <a:rPr lang="en-VN" sz="1200" b="0" kern="1200" dirty="0">
                <a:solidFill>
                  <a:schemeClr val="tx1"/>
                </a:solidFill>
                <a:effectLst/>
                <a:latin typeface="+mn-lt"/>
                <a:ea typeface="+mn-ea"/>
                <a:cs typeface="+mn-cs"/>
              </a:rPr>
              <a:t> — L_C được dùng làm reward để cập nhật GCN_S qua thuật toán Trajectory Balance. Nhờ đó GCN_S dần học được: </a:t>
            </a:r>
            <a:r>
              <a:rPr lang="en-VN" sz="1200" b="0" i="1" kern="1200" dirty="0">
                <a:solidFill>
                  <a:schemeClr val="tx1"/>
                </a:solidFill>
                <a:effectLst/>
                <a:latin typeface="+mn-lt"/>
                <a:ea typeface="+mn-ea"/>
                <a:cs typeface="+mn-cs"/>
              </a:rPr>
              <a:t>*đỉnh nào nên lấy để tác vụ phân loại đạt tốt nhất*</a:t>
            </a:r>
            <a:r>
              <a:rPr lang="en-VN" sz="1200" b="0" kern="1200" dirty="0">
                <a:solidFill>
                  <a:schemeClr val="tx1"/>
                </a:solidFill>
                <a:effectLst/>
                <a:latin typeface="+mn-lt"/>
                <a:ea typeface="+mn-ea"/>
                <a:cs typeface="+mn-cs"/>
              </a:rPr>
              <a:t>. Đây là điểm khác biệt cốt lõi so với tất cả phương pháp trước — lấy mẫu được học từ chính mục tiêu, không phải từ heuristic.</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Hãy nhìn ví dụ trực quan trên slide. Có 3 subgraph khả thi với chất lượng khác nhau: SG1=0,8 — SG2=0,6 — SG3=0,1.</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Cách tiếp cận truyền thống là tìm max — tức là luôn chọn SG1, và bỏ qua hoàn toàn SG2 và SG3. Nếu SG1 hóa ra không phù hợp trong một số tình huống cụ thể, mô hình không có fallback.</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GFlowNet làm khác: </a:t>
            </a:r>
            <a:r>
              <a:rPr lang="en-VN" sz="1200" b="1" kern="1200" dirty="0">
                <a:solidFill>
                  <a:schemeClr val="tx1"/>
                </a:solidFill>
                <a:effectLst/>
                <a:latin typeface="+mn-lt"/>
                <a:ea typeface="+mn-ea"/>
                <a:cs typeface="+mn-cs"/>
              </a:rPr>
              <a:t>**phân bổ xác suất tỉ lệ với chất lượng**</a:t>
            </a:r>
            <a:r>
              <a:rPr lang="en-VN" sz="1200" b="0" kern="1200" dirty="0">
                <a:solidFill>
                  <a:schemeClr val="tx1"/>
                </a:solidFill>
                <a:effectLst/>
                <a:latin typeface="+mn-lt"/>
                <a:ea typeface="+mn-ea"/>
                <a:cs typeface="+mn-cs"/>
              </a:rPr>
              <a:t> — SG1 được chọn 53% lần, SG2 vẫn được chọn 40%, SG3 thỉnh thoảng 7%. Không ai bị bỏ qua hoàn toàn, mô hình luôn khám phá nhiều lựa chọn.</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Nguyên tắc cốt lõi: P(G_s) tỉ lệ với R(G_s) — subgraph tốt hơn được chọn nhiều hơn, nhưng vẫn duy trì sự đa dạng. Trong GRAPES, reward được tính bằng R = exp(−α·L_C) — phân loại càng tốt thì subgraph đó càng được ưu tiên ở vòng sau.</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Tại sao lại cần GFlowNet thay vì một cách đơn giản hơn?</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Vì phép chọn đỉnh là </a:t>
            </a:r>
            <a:r>
              <a:rPr lang="en-VN" sz="1200" b="1" kern="1200" dirty="0">
                <a:solidFill>
                  <a:schemeClr val="tx1"/>
                </a:solidFill>
                <a:effectLst/>
                <a:latin typeface="+mn-lt"/>
                <a:ea typeface="+mn-ea"/>
                <a:cs typeface="+mn-cs"/>
              </a:rPr>
              <a:t>**rời rạc — 0 hoặc 1**</a:t>
            </a:r>
            <a:r>
              <a:rPr lang="en-VN" sz="1200" b="0" kern="1200" dirty="0">
                <a:solidFill>
                  <a:schemeClr val="tx1"/>
                </a:solidFill>
                <a:effectLst/>
                <a:latin typeface="+mn-lt"/>
                <a:ea typeface="+mn-ea"/>
                <a:cs typeface="+mn-cs"/>
              </a:rPr>
              <a:t>. Gradient không thể truyền qua bước chọn cứng đó. GFlowNet giải quyết bằng cách học một phân phối xác suất trên các tập con thay vì một lựa chọn duy nhất — ổn định hơn REINFORCE về phương sai, và khám phá nhiều subgraph hơn.</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Về mặt kỹ thuật, chính sách được </a:t>
            </a:r>
            <a:r>
              <a:rPr lang="en-VN" sz="1200" b="1" kern="1200" dirty="0">
                <a:solidFill>
                  <a:schemeClr val="tx1"/>
                </a:solidFill>
                <a:effectLst/>
                <a:latin typeface="+mn-lt"/>
                <a:ea typeface="+mn-ea"/>
                <a:cs typeface="+mn-cs"/>
              </a:rPr>
              <a:t>**phân rã theo từng tầng**</a:t>
            </a:r>
            <a:r>
              <a:rPr lang="en-VN" sz="1200" b="0" kern="1200" dirty="0">
                <a:solidFill>
                  <a:schemeClr val="tx1"/>
                </a:solidFill>
                <a:effectLst/>
                <a:latin typeface="+mn-lt"/>
                <a:ea typeface="+mn-ea"/>
                <a:cs typeface="+mn-cs"/>
              </a:rPr>
              <a:t>: xác suất của cả trajectory bằng tích của xác suất từng tầng, cho phép học độc lập từng bước.</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Cụ thể trong GRAPES: V⁰ là tập mini-batch ban đầu. Tầng 1, GCN_S tính xác suất cho lân cận của V⁰ và chọn k đỉnh → được V¹. Tầng 2 tương tự với lân cận của V¹. Cuối cùng toàn bộ các đỉnh tích lũy qua các tầng được nạp vào GCN_C để dự đoán.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Về thiết lập thực nghiệm.</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GRAPES có </a:t>
            </a:r>
            <a:r>
              <a:rPr lang="en-VN" sz="1200" b="1" kern="1200" dirty="0">
                <a:solidFill>
                  <a:schemeClr val="tx1"/>
                </a:solidFill>
                <a:effectLst/>
                <a:latin typeface="+mn-lt"/>
                <a:ea typeface="+mn-ea"/>
                <a:cs typeface="+mn-cs"/>
              </a:rPr>
              <a:t>**hai phiên bản**</a:t>
            </a:r>
            <a:r>
              <a:rPr lang="en-VN" sz="1200" b="0" kern="1200" dirty="0">
                <a:solidFill>
                  <a:schemeClr val="tx1"/>
                </a:solidFill>
                <a:effectLst/>
                <a:latin typeface="+mn-lt"/>
                <a:ea typeface="+mn-ea"/>
                <a:cs typeface="+mn-cs"/>
              </a:rPr>
              <a:t> để so sánh: </a:t>
            </a:r>
            <a:r>
              <a:rPr lang="en-VN" sz="1200" b="1" kern="1200" dirty="0">
                <a:solidFill>
                  <a:schemeClr val="tx1"/>
                </a:solidFill>
                <a:effectLst/>
                <a:latin typeface="+mn-lt"/>
                <a:ea typeface="+mn-ea"/>
                <a:cs typeface="+mn-cs"/>
              </a:rPr>
              <a:t>**GRAPES-RL**</a:t>
            </a:r>
            <a:r>
              <a:rPr lang="en-VN" sz="1200" b="0" kern="1200" dirty="0">
                <a:solidFill>
                  <a:schemeClr val="tx1"/>
                </a:solidFill>
                <a:effectLst/>
                <a:latin typeface="+mn-lt"/>
                <a:ea typeface="+mn-ea"/>
                <a:cs typeface="+mn-cs"/>
              </a:rPr>
              <a:t> dùng thuật toán REINFORCE cổ điển, và </a:t>
            </a:r>
            <a:r>
              <a:rPr lang="en-VN" sz="1200" b="1" kern="1200" dirty="0">
                <a:solidFill>
                  <a:schemeClr val="tx1"/>
                </a:solidFill>
                <a:effectLst/>
                <a:latin typeface="+mn-lt"/>
                <a:ea typeface="+mn-ea"/>
                <a:cs typeface="+mn-cs"/>
              </a:rPr>
              <a:t>**GRAPES-GFN**</a:t>
            </a:r>
            <a:r>
              <a:rPr lang="en-VN" sz="1200" b="0" kern="1200" dirty="0">
                <a:solidFill>
                  <a:schemeClr val="tx1"/>
                </a:solidFill>
                <a:effectLst/>
                <a:latin typeface="+mn-lt"/>
                <a:ea typeface="+mn-ea"/>
                <a:cs typeface="+mn-cs"/>
              </a:rPr>
              <a:t> thay bằng GFlowNet. Bài báo trình bày cả hai để làm rõ lợi ích của GFlowNet.</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Đánh giá trên </a:t>
            </a:r>
            <a:r>
              <a:rPr lang="en-VN" sz="1200" b="1" kern="1200" dirty="0">
                <a:solidFill>
                  <a:schemeClr val="tx1"/>
                </a:solidFill>
                <a:effectLst/>
                <a:latin typeface="+mn-lt"/>
                <a:ea typeface="+mn-ea"/>
                <a:cs typeface="+mn-cs"/>
              </a:rPr>
              <a:t>**12 tập dữ liệu chuẩn**</a:t>
            </a:r>
            <a:r>
              <a:rPr lang="en-VN" sz="1200" b="0" kern="1200" dirty="0">
                <a:solidFill>
                  <a:schemeClr val="tx1"/>
                </a:solidFill>
                <a:effectLst/>
                <a:latin typeface="+mn-lt"/>
                <a:ea typeface="+mn-ea"/>
                <a:cs typeface="+mn-cs"/>
              </a:rPr>
              <a:t>: 7 tập homophilous gồm Cora, CiteSeer, PubMed, Reddit, ogbn-arxiv, ogbn-products, DBLP — và 5 tập heterophilous gồm Flickr, snap-patents, Yelp, ogbn-proteins, BlogCat.</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Giao thức đồng nhất cho tất cả phương pháp: batch size 256, 256 mẫu mỗi tầng, 10 lần chạy lấy trung bình và độ lệch chuẩn. Thiết bị gốc của bài báo là RTX A6000 48GB. Trong phần tái hiện của em, em dùng Tesla T4 15,6GB trên Google Colab — bằng khoảng 1/3 VRAM so với thiết bị gốc.</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Kết quả trên các đồ thị homophilous — nơi các đỉnh tương tự thường kết nối với nhau.</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Một số điểm nổi bật em muốn chú ý.</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Đầu tiên là </a:t>
            </a:r>
            <a:r>
              <a:rPr lang="en-VN" sz="1200" b="1" kern="1200" dirty="0">
                <a:solidFill>
                  <a:schemeClr val="tx1"/>
                </a:solidFill>
                <a:effectLst/>
                <a:latin typeface="+mn-lt"/>
                <a:ea typeface="+mn-ea"/>
                <a:cs typeface="+mn-cs"/>
              </a:rPr>
              <a:t>**LADIES**</a:t>
            </a:r>
            <a:r>
              <a:rPr lang="en-VN" sz="1200" b="0" kern="1200" dirty="0">
                <a:solidFill>
                  <a:schemeClr val="tx1"/>
                </a:solidFill>
                <a:effectLst/>
                <a:latin typeface="+mn-lt"/>
                <a:ea typeface="+mn-ea"/>
                <a:cs typeface="+mn-cs"/>
              </a:rPr>
              <a:t> — hàng màu vàng có ký hiệu cảnh báo. Độ lệch chuẩn trên Cora lên tới ±11,69 — hoàn toàn không ổn định trong thực tế. Đây là bằng chứng rõ ràng rằng không phải phương pháp nào cũng đáng tin cậy khi giảm kích thước mẫu.</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**PASS**</a:t>
            </a:r>
            <a:r>
              <a:rPr lang="en-VN" sz="1200" b="0" kern="1200" dirty="0">
                <a:solidFill>
                  <a:schemeClr val="tx1"/>
                </a:solidFill>
                <a:effectLst/>
                <a:latin typeface="+mn-lt"/>
                <a:ea typeface="+mn-ea"/>
                <a:cs typeface="+mn-cs"/>
              </a:rPr>
              <a:t> bị OOM trên Reddit và ogbn-products — xác nhận vấn đề scalability vẫn là rào cản thực tế.</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**GRAPES-RL**</a:t>
            </a:r>
            <a:r>
              <a:rPr lang="en-VN" sz="1200" b="0" kern="1200" dirty="0">
                <a:solidFill>
                  <a:schemeClr val="tx1"/>
                </a:solidFill>
                <a:effectLst/>
                <a:latin typeface="+mn-lt"/>
                <a:ea typeface="+mn-ea"/>
                <a:cs typeface="+mn-cs"/>
              </a:rPr>
              <a:t> dẫn đầu trên Cora với 87,62%, </a:t>
            </a:r>
            <a:r>
              <a:rPr lang="en-VN" sz="1200" b="1" kern="1200" dirty="0">
                <a:solidFill>
                  <a:schemeClr val="tx1"/>
                </a:solidFill>
                <a:effectLst/>
                <a:latin typeface="+mn-lt"/>
                <a:ea typeface="+mn-ea"/>
                <a:cs typeface="+mn-cs"/>
              </a:rPr>
              <a:t>**GRAPES-GFN**</a:t>
            </a:r>
            <a:r>
              <a:rPr lang="en-VN" sz="1200" b="0" kern="1200" dirty="0">
                <a:solidFill>
                  <a:schemeClr val="tx1"/>
                </a:solidFill>
                <a:effectLst/>
                <a:latin typeface="+mn-lt"/>
                <a:ea typeface="+mn-ea"/>
                <a:cs typeface="+mn-cs"/>
              </a:rPr>
              <a:t> dẫn đầu trên DBLP với 77,14%.</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Tuy nhiên, em xin trung thực với Hội đồng: </a:t>
            </a:r>
            <a:r>
              <a:rPr lang="en-VN" sz="1200" b="1" kern="1200" dirty="0">
                <a:solidFill>
                  <a:schemeClr val="tx1"/>
                </a:solidFill>
                <a:effectLst/>
                <a:latin typeface="+mn-lt"/>
                <a:ea typeface="+mn-ea"/>
                <a:cs typeface="+mn-cs"/>
              </a:rPr>
              <a:t>**GAS**</a:t>
            </a:r>
            <a:r>
              <a:rPr lang="en-VN" sz="1200" b="0" kern="1200" dirty="0">
                <a:solidFill>
                  <a:schemeClr val="tx1"/>
                </a:solidFill>
                <a:effectLst/>
                <a:latin typeface="+mn-lt"/>
                <a:ea typeface="+mn-ea"/>
                <a:cs typeface="+mn-cs"/>
              </a:rPr>
              <a:t> vẫn cao hơn trên Reddit (94,75) và ogbn-arxiv (68,36). Điểm mạnh của GRAPES không phải là luôn đạt F1 cao nhất — mà là </a:t>
            </a:r>
            <a:r>
              <a:rPr lang="en-VN" sz="1200" b="1" kern="1200" dirty="0">
                <a:solidFill>
                  <a:schemeClr val="tx1"/>
                </a:solidFill>
                <a:effectLst/>
                <a:latin typeface="+mn-lt"/>
                <a:ea typeface="+mn-ea"/>
                <a:cs typeface="+mn-cs"/>
              </a:rPr>
              <a:t>**ổn định, hiệu quả bộ nhớ, và chạy được trên dataset lớn**</a:t>
            </a:r>
            <a:r>
              <a:rPr lang="en-VN" sz="1200" b="0" kern="1200" dirty="0">
                <a:solidFill>
                  <a:schemeClr val="tx1"/>
                </a:solidFill>
                <a:effectLst/>
                <a:latin typeface="+mn-lt"/>
                <a:ea typeface="+mn-ea"/>
                <a:cs typeface="+mn-cs"/>
              </a:rPr>
              <a:t> mà AS-GCN hay PASS không thể. AS-GCN thực ra dẫn đầu trên CiteSeer và PubMed — em giữ nguyên thông tin này để đảm bảo tính trung thực.</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Đây là phần kết quả ấn tượng nhất của GRAPES.</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Trên đồ thị heterophilous — nơi các đỉnh kết nối với nhau dù khác loại — </a:t>
            </a:r>
            <a:r>
              <a:rPr lang="en-VN" sz="1200" b="1" kern="1200" dirty="0">
                <a:solidFill>
                  <a:schemeClr val="tx1"/>
                </a:solidFill>
                <a:effectLst/>
                <a:latin typeface="+mn-lt"/>
                <a:ea typeface="+mn-ea"/>
                <a:cs typeface="+mn-cs"/>
              </a:rPr>
              <a:t>**GRAPES-GFN xếp hạng số 1 trên 4 trong 5 dataset**</a:t>
            </a:r>
            <a:r>
              <a:rPr lang="en-VN" sz="1200" b="0" kern="1200" dirty="0">
                <a:solidFill>
                  <a:schemeClr val="tx1"/>
                </a:solidFill>
                <a:effectLst/>
                <a:latin typeface="+mn-lt"/>
                <a:ea typeface="+mn-ea"/>
                <a:cs typeface="+mn-cs"/>
              </a:rPr>
              <a:t>: BlogCat, Yelp, Flickr, ogbn-proteins.</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Điều này có thể giải thích được: trên đồ thị dị phương, không phải lân cận nào cũng mang tín hiệu có ích. GCN truyền thống tổng hợp đồng đều từ tất cả, trong khi GCN_S học được cách ưu tiên đúng những lân cận mang thông tin phân biệt nhãn.</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Ngoại lệ duy nhất là </a:t>
            </a:r>
            <a:r>
              <a:rPr lang="en-VN" sz="1200" b="1" kern="1200" dirty="0">
                <a:solidFill>
                  <a:schemeClr val="tx1"/>
                </a:solidFill>
                <a:effectLst/>
                <a:latin typeface="+mn-lt"/>
                <a:ea typeface="+mn-ea"/>
                <a:cs typeface="+mn-cs"/>
              </a:rPr>
              <a:t>**snap-patents**</a:t>
            </a:r>
            <a:r>
              <a:rPr lang="en-VN" sz="1200" b="0" kern="1200" dirty="0">
                <a:solidFill>
                  <a:schemeClr val="tx1"/>
                </a:solidFill>
                <a:effectLst/>
                <a:latin typeface="+mn-lt"/>
                <a:ea typeface="+mn-ea"/>
                <a:cs typeface="+mn-cs"/>
              </a:rPr>
              <a:t>, nơi AS-GCN (31,04) vẫn cao hơn GRAPES-GFN (29,58). snap-patents có cấu trúc đặc biệt — rất thưa và phân phối bậc khác thường — nên attention-based sampling của AS-GCN phù hợp hơn trong trường hợp này.</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Nhìn chung, kết quả heterophily là bằng chứng thực nghiệm mạnh nhất cho GRAPES.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Phần này là kết quả </a:t>
            </a:r>
            <a:r>
              <a:rPr lang="en-VN" sz="1200" b="1" kern="1200" dirty="0">
                <a:solidFill>
                  <a:schemeClr val="tx1"/>
                </a:solidFill>
                <a:effectLst/>
                <a:latin typeface="+mn-lt"/>
                <a:ea typeface="+mn-ea"/>
                <a:cs typeface="+mn-cs"/>
              </a:rPr>
              <a:t>**tái hiện của em**</a:t>
            </a:r>
            <a:r>
              <a:rPr lang="en-VN" sz="1200" b="0" kern="1200" dirty="0">
                <a:solidFill>
                  <a:schemeClr val="tx1"/>
                </a:solidFill>
                <a:effectLst/>
                <a:latin typeface="+mn-lt"/>
                <a:ea typeface="+mn-ea"/>
                <a:cs typeface="+mn-cs"/>
              </a:rPr>
              <a:t> trên Google Colab — hoàn toàn độc lập với số liệu bài báo gốc.</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Trước khi vào kết quả, em xin giải thích tại sao tái hiện lại cần thiết — vì đây không phải bước thừa.</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**Lý do thứ nhất**</a:t>
            </a:r>
            <a:r>
              <a:rPr lang="en-VN" sz="1200" b="0" kern="1200" dirty="0">
                <a:solidFill>
                  <a:schemeClr val="tx1"/>
                </a:solidFill>
                <a:effectLst/>
                <a:latin typeface="+mn-lt"/>
                <a:ea typeface="+mn-ea"/>
                <a:cs typeface="+mn-cs"/>
              </a:rPr>
              <a:t>: bài báo dùng RTX A6000 48GB — phần cứng ít người có. Câu hỏi thực tế là: kết quả có giữ được trên Tesla T4 15,6GB — tức 1/3 VRAM — hay không?</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**Lý do thứ hai**</a:t>
            </a:r>
            <a:r>
              <a:rPr lang="en-VN" sz="1200" b="0" kern="1200" dirty="0">
                <a:solidFill>
                  <a:schemeClr val="tx1"/>
                </a:solidFill>
                <a:effectLst/>
                <a:latin typeface="+mn-lt"/>
                <a:ea typeface="+mn-ea"/>
                <a:cs typeface="+mn-cs"/>
              </a:rPr>
              <a:t>: bài báo claim GRAPES scalable, nhưng không có số liệu OOM/không OOM trên phần cứng phổ thông. ogbn-products với 2,4 triệu đỉnh và 61,9 triệu cạnh là test case cực đoan — nếu chạy được trên T4 thì claim scalability có cơ sở thực nghiệm độc lập.</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**Lý do thứ ba**</a:t>
            </a:r>
            <a:r>
              <a:rPr lang="en-VN" sz="1200" b="0" kern="1200" dirty="0">
                <a:solidFill>
                  <a:schemeClr val="tx1"/>
                </a:solidFill>
                <a:effectLst/>
                <a:latin typeface="+mn-lt"/>
                <a:ea typeface="+mn-ea"/>
                <a:cs typeface="+mn-cs"/>
              </a:rPr>
              <a:t>: tái hiện thành công đồng nghĩa với việc em đã nắm rõ codebase GCN_S, GFlowNet, Gumbel Top-k — đây là điều kiện tiên quyết để mở rộng sang bài toán gợi ý trong giai đoạn 2.</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Về kết quả: 4 dataset, 3 lần chạy mỗi dataset. Cora chênh +0,33, CiteSeer chênh −0,43 — xấp xỉ bằng nhau, ogbn-arxiv chênh +0,76.</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Và </a:t>
            </a:r>
            <a:r>
              <a:rPr lang="en-VN" sz="1200" b="1" kern="1200" dirty="0">
                <a:solidFill>
                  <a:schemeClr val="tx1"/>
                </a:solidFill>
                <a:effectLst/>
                <a:latin typeface="+mn-lt"/>
                <a:ea typeface="+mn-ea"/>
                <a:cs typeface="+mn-cs"/>
              </a:rPr>
              <a:t>**phát hiện quan trọng nhất**</a:t>
            </a:r>
            <a:r>
              <a:rPr lang="en-VN" sz="1200" b="0" kern="1200" dirty="0">
                <a:solidFill>
                  <a:schemeClr val="tx1"/>
                </a:solidFill>
                <a:effectLst/>
                <a:latin typeface="+mn-lt"/>
                <a:ea typeface="+mn-ea"/>
                <a:cs typeface="+mn-cs"/>
              </a:rPr>
              <a:t>: GRAPES-GFN chạy không OOM trên ogbn-products — 2,4 triệu đỉnh, 61,9 triệu cạnh — trên Tesla T4 15,6GB, với 9/10 epoch hoàn thành ổn định. Tất cả độ chênh lệch ≤ 0,76 F1 — tái hiện được xác nhận.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Tuy nhiên, lấy mẫu thích ứng đi kèm với chi phí thực tế.</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Bảng cho thấy GRAPES tốn thêm </a:t>
            </a:r>
            <a:r>
              <a:rPr lang="en-VN" sz="1200" b="1" kern="1200" dirty="0">
                <a:solidFill>
                  <a:schemeClr val="tx1"/>
                </a:solidFill>
                <a:effectLst/>
                <a:latin typeface="+mn-lt"/>
                <a:ea typeface="+mn-ea"/>
                <a:cs typeface="+mn-cs"/>
              </a:rPr>
              <a:t>**2,3 đến 3,2 lần bộ nhớ GPU**</a:t>
            </a:r>
            <a:r>
              <a:rPr lang="en-VN" sz="1200" b="0" kern="1200" dirty="0">
                <a:solidFill>
                  <a:schemeClr val="tx1"/>
                </a:solidFill>
                <a:effectLst/>
                <a:latin typeface="+mn-lt"/>
                <a:ea typeface="+mn-ea"/>
                <a:cs typeface="+mn-cs"/>
              </a:rPr>
              <a:t> và </a:t>
            </a:r>
            <a:r>
              <a:rPr lang="en-VN" sz="1200" b="1" kern="1200" dirty="0">
                <a:solidFill>
                  <a:schemeClr val="tx1"/>
                </a:solidFill>
                <a:effectLst/>
                <a:latin typeface="+mn-lt"/>
                <a:ea typeface="+mn-ea"/>
                <a:cs typeface="+mn-cs"/>
              </a:rPr>
              <a:t>**1,4 đến 1,8 lần thời gian**</a:t>
            </a:r>
            <a:r>
              <a:rPr lang="en-VN" sz="1200" b="0" kern="1200" dirty="0">
                <a:solidFill>
                  <a:schemeClr val="tx1"/>
                </a:solidFill>
                <a:effectLst/>
                <a:latin typeface="+mn-lt"/>
                <a:ea typeface="+mn-ea"/>
                <a:cs typeface="+mn-cs"/>
              </a:rPr>
              <a:t> mỗi epoch so với Random Sampling đơn giản — vì phải duy trì GCN_S chạy song song với GCN_C.</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Đây là đánh đổi cần cân nhắc khi triển khai thực tế. Nhưng ngay cả với chi phí đó, GRAPES vẫn chạy được trên ogbn-products 2,4 triệu đỉnh với T4 15GB — trong khi AS-GCN thì không. Vậy nên 'đắt hơn Random' không có nghĩa là 'không khả thi'.</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Nhìn lại toàn bộ nội dung phần 1.</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**Ưu điểm của GRAPES**</a:t>
            </a:r>
            <a:r>
              <a:rPr lang="en-VN" sz="1200" b="0" kern="1200" dirty="0">
                <a:solidFill>
                  <a:schemeClr val="tx1"/>
                </a:solidFill>
                <a:effectLst/>
                <a:latin typeface="+mn-lt"/>
                <a:ea typeface="+mn-ea"/>
                <a:cs typeface="+mn-cs"/>
              </a:rPr>
              <a:t>: lấy mẫu thích ứng học được giúp tổng quát hóa tốt hơn qua các loại đồ thị khác nhau; chạy được trên đồ thị hàng triệu đỉnh nơi full-graph GCN và GAS bị OOM; bền vững khi giảm kích thước mẫu; và đặc biệt hiệu quả trên đồ thị heterophily đa nhãn.</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**Nhược điểm**</a:t>
            </a:r>
            <a:r>
              <a:rPr lang="en-VN" sz="1200" b="0" kern="1200" dirty="0">
                <a:solidFill>
                  <a:schemeClr val="tx1"/>
                </a:solidFill>
                <a:effectLst/>
                <a:latin typeface="+mn-lt"/>
                <a:ea typeface="+mn-ea"/>
                <a:cs typeface="+mn-cs"/>
              </a:rPr>
              <a:t> cần nhìn nhận thẳng thắn: chi phí cao hơn 2–3 lần bộ nhớ và 1,4–1,8 lần thời gian so với Random — do GCN_S chạy song song; GFlowNet nhạy cảm với thiết kế hàm reward và các siêu tham số; và GRAPES mới chỉ được kiểm chứng trên node classification, chưa có kết quả trên link prediction hay recommendation.</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Nhược điểm cuối cùng đó chính là lý do có 3 hướng nghiên cứu tiếp theo mà em sẽ trình bày ngay bây giờ.</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Hướng thứ nhất — và là hướng em sẽ triển khai trong giai đoạn 2.</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**Tại sao hướng này?**</a:t>
            </a:r>
            <a:r>
              <a:rPr lang="en-VN" sz="1200" b="0" kern="1200" dirty="0">
                <a:solidFill>
                  <a:schemeClr val="tx1"/>
                </a:solidFill>
                <a:effectLst/>
                <a:latin typeface="+mn-lt"/>
                <a:ea typeface="+mn-ea"/>
                <a:cs typeface="+mn-cs"/>
              </a:rPr>
              <a:t> Đơn giản là bài báo gốc chưa bao giờ test GRAPES trên recommendation. Nhưng hệ thống gợi ý là ứng dụng GNN phổ biến nhất trong thực tế — Spotify, Amazon, Pinterest đều dùng GNN ở core. Bài báo cũng tự xác nhận rằng phương pháp 'applicable to link prediction tasks'. Hơn nữa, các nhược điểm em đo được ở giai đoạn 1 — chi phí bộ nhớ và thời gian — cần được kiểm chứng lại trên bài toán thực tế hơn.</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**Đề xuất cụ thể:**</a:t>
            </a:r>
            <a:r>
              <a:rPr lang="en-VN" sz="1200" b="0" kern="1200" dirty="0">
                <a:solidFill>
                  <a:schemeClr val="tx1"/>
                </a:solidFill>
                <a:effectLst/>
                <a:latin typeface="+mn-lt"/>
                <a:ea typeface="+mn-ea"/>
                <a:cs typeface="+mn-cs"/>
              </a:rPr>
              <a:t> Chuyển đồ thị đầu vào sang dạng hai phía user–item, thay Softmax bằng BPR Loss cho link prediction, và điều chỉnh reward GFlowNet thành R = exp(−α·L_BPR). GCN_S và toàn bộ GFlowNet giữ nguyên — đây là đóng góp cốt lõi không cần thay đổi.</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**Tính khả thi:**</a:t>
            </a:r>
            <a:r>
              <a:rPr lang="en-VN" sz="1200" b="0" kern="1200" dirty="0">
                <a:solidFill>
                  <a:schemeClr val="tx1"/>
                </a:solidFill>
                <a:effectLst/>
                <a:latin typeface="+mn-lt"/>
                <a:ea typeface="+mn-ea"/>
                <a:cs typeface="+mn-cs"/>
              </a:rPr>
              <a:t> Codebase đã nắm rõ từ giai đoạn 1, Amazon Reviews'23 là dataset public chuẩn benchmark, BPR Loss chỉ cần 5 dòng PyTorch, các baseline đều open-source.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Hướng thứ hai xuất phát từ một câu hỏi rất thực tế.</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Sau 12 dataset, ΔF1 dao động từ −3,7 đến +3,0 — không có quy luật nào rõ ràng. Người dùng muốn áp dụng GRAPES hiện tại phải thử-sai, tốn tài nguyên và thời gian. Nhưng dữ liệu từ giai đoạn 1 đã đủ để phân tích ngay — không cần train thêm gì.</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**Đề xuất:**</a:t>
            </a:r>
            <a:r>
              <a:rPr lang="en-VN" sz="1200" b="0" kern="1200" dirty="0">
                <a:solidFill>
                  <a:schemeClr val="tx1"/>
                </a:solidFill>
                <a:effectLst/>
                <a:latin typeface="+mn-lt"/>
                <a:ea typeface="+mn-ea"/>
                <a:cs typeface="+mn-cs"/>
              </a:rPr>
              <a:t> Trích đặc trưng cấu trúc từ 12 dataset — homophily ratio, bậc trung bình, phương sai bậc, số lớp nhãn. Tính ΔF1 = F1_GRAPES − F1_Random trên từng dataset. Tìm tương quan (Pearson, Spearman) giữa đặc trưng và ΔF1. Từ đó xây dựng decision rule đơn giản như 'nếu homophily &lt; 0.3 thì nên dùng GRAPES'.</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**Tính khả thi cao nhất trong 3 hướng:**</a:t>
            </a:r>
            <a:r>
              <a:rPr lang="en-VN" sz="1200" b="0" kern="1200" dirty="0">
                <a:solidFill>
                  <a:schemeClr val="tx1"/>
                </a:solidFill>
                <a:effectLst/>
                <a:latin typeface="+mn-lt"/>
                <a:ea typeface="+mn-ea"/>
                <a:cs typeface="+mn-cs"/>
              </a:rPr>
              <a:t> Không cần train mới, chỉ cần pandas và scipy, ước tính 2–3 tuần. Kết quả dù đơn giản nhưng có giá trị thực hành ngay lập tức.</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Hướng thứ ba xuất phát từ quan sát trong kết quả giai đoạn 1.</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GRAPES thắng rõ trên 4/5 heterophily dataset — tức là lấy mẫu thích ứng đặc biệt có lợi ở đây. Nhưng câu hỏi thú vị là: nếu GCN_C hiện tại vẫn tổng hợp thông tin đồng đều từ mọi lân cận, liệu thay nó bằng một kiến trúc thiết kế riêng cho heterophily có giúp GRAPES cải thiện thêm không?</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**Đề xuất:**</a:t>
            </a:r>
            <a:r>
              <a:rPr lang="en-VN" sz="1200" b="0" kern="1200" dirty="0">
                <a:solidFill>
                  <a:schemeClr val="tx1"/>
                </a:solidFill>
                <a:effectLst/>
                <a:latin typeface="+mn-lt"/>
                <a:ea typeface="+mn-ea"/>
                <a:cs typeface="+mn-cs"/>
              </a:rPr>
              <a:t> Bước 1 — thay GCN_C bằng GAT, Graph Attention Network, và test trên 5 heterophily dataset. Bước 2 — nếu GAT cho kết quả khả quan, tiếp tục thử H2GCN, FAGCN, MixHop.</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**Tính khả thi:**</a:t>
            </a:r>
            <a:r>
              <a:rPr lang="en-VN" sz="1200" b="0" kern="1200" dirty="0">
                <a:solidFill>
                  <a:schemeClr val="tx1"/>
                </a:solidFill>
                <a:effectLst/>
                <a:latin typeface="+mn-lt"/>
                <a:ea typeface="+mn-ea"/>
                <a:cs typeface="+mn-cs"/>
              </a:rPr>
              <a:t> GAT có sẵn trong PyTorch Geometric, 2 dòng import. GCN_C là module hoàn toàn độc lập trong codebase — thay thế không ảnh hưởng GCN_S hay GFlowNet. Và điểm quan trọng: ngay cả nếu GAT không cải thiện được, kết quả đó tự nó đã là đóng góp mới — một đánh giá có kiểm soát về giới hạn của hướng này.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Chuyển sang phần cuối — kế hoạch cụ thể cho giai đoạn 2.</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Giai đoạn 2 sẽ áp dụng GRAPES vào bài toán gợi ý, với bộ dữ liệu </a:t>
            </a:r>
            <a:r>
              <a:rPr lang="en-VN" sz="1200" b="1" kern="1200" dirty="0">
                <a:solidFill>
                  <a:schemeClr val="tx1"/>
                </a:solidFill>
                <a:effectLst/>
                <a:latin typeface="+mn-lt"/>
                <a:ea typeface="+mn-ea"/>
                <a:cs typeface="+mn-cs"/>
              </a:rPr>
              <a:t>**Amazon Reviews 2023**</a:t>
            </a:r>
            <a:r>
              <a:rPr lang="en-VN" sz="1200" b="0" kern="1200" dirty="0">
                <a:solidFill>
                  <a:schemeClr val="tx1"/>
                </a:solidFill>
                <a:effectLst/>
                <a:latin typeface="+mn-lt"/>
                <a:ea typeface="+mn-ea"/>
                <a:cs typeface="+mn-cs"/>
              </a:rPr>
              <a:t> từ McAuley Lab, UCSD. Đây là dataset quy mô thực tế: 10 đến 23 triệu user, 1,6 đến 7,2 triệu item, 29 đến 66 triệu tương tác tùy danh mục.</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Em chọn 3 danh mục để so sánh đặc điểm: </a:t>
            </a:r>
            <a:r>
              <a:rPr lang="en-VN" sz="1200" b="1" kern="1200" dirty="0">
                <a:solidFill>
                  <a:schemeClr val="tx1"/>
                </a:solidFill>
                <a:effectLst/>
                <a:latin typeface="+mn-lt"/>
                <a:ea typeface="+mn-ea"/>
                <a:cs typeface="+mn-cs"/>
              </a:rPr>
              <a:t>**Books**</a:t>
            </a:r>
            <a:r>
              <a:rPr lang="en-VN" sz="1200" b="0" kern="1200" dirty="0">
                <a:solidFill>
                  <a:schemeClr val="tx1"/>
                </a:solidFill>
                <a:effectLst/>
                <a:latin typeface="+mn-lt"/>
                <a:ea typeface="+mn-ea"/>
                <a:cs typeface="+mn-cs"/>
              </a:rPr>
              <a:t> — thưa, dữ liệu văn bản phong phú; </a:t>
            </a:r>
            <a:r>
              <a:rPr lang="en-VN" sz="1200" b="1" kern="1200" dirty="0">
                <a:solidFill>
                  <a:schemeClr val="tx1"/>
                </a:solidFill>
                <a:effectLst/>
                <a:latin typeface="+mn-lt"/>
                <a:ea typeface="+mn-ea"/>
                <a:cs typeface="+mn-cs"/>
              </a:rPr>
              <a:t>**Clothing**</a:t>
            </a:r>
            <a:r>
              <a:rPr lang="en-VN" sz="1200" b="0" kern="1200" dirty="0">
                <a:solidFill>
                  <a:schemeClr val="tx1"/>
                </a:solidFill>
                <a:effectLst/>
                <a:latin typeface="+mn-lt"/>
                <a:ea typeface="+mn-ea"/>
                <a:cs typeface="+mn-cs"/>
              </a:rPr>
              <a:t> — phân phối long-tail điển hình; </a:t>
            </a:r>
            <a:r>
              <a:rPr lang="en-VN" sz="1200" b="1" kern="1200" dirty="0">
                <a:solidFill>
                  <a:schemeClr val="tx1"/>
                </a:solidFill>
                <a:effectLst/>
                <a:latin typeface="+mn-lt"/>
                <a:ea typeface="+mn-ea"/>
                <a:cs typeface="+mn-cs"/>
              </a:rPr>
              <a:t>**Electronics**</a:t>
            </a:r>
            <a:r>
              <a:rPr lang="en-VN" sz="1200" b="0" kern="1200" dirty="0">
                <a:solidFill>
                  <a:schemeClr val="tx1"/>
                </a:solidFill>
                <a:effectLst/>
                <a:latin typeface="+mn-lt"/>
                <a:ea typeface="+mn-ea"/>
                <a:cs typeface="+mn-cs"/>
              </a:rPr>
              <a:t> — tương tác dày, bậc đỉnh cao hơn nhiều.</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Về kiến trúc: </a:t>
            </a:r>
            <a:r>
              <a:rPr lang="en-VN" sz="1200" b="1" kern="1200" dirty="0">
                <a:solidFill>
                  <a:schemeClr val="tx1"/>
                </a:solidFill>
                <a:effectLst/>
                <a:latin typeface="+mn-lt"/>
                <a:ea typeface="+mn-ea"/>
                <a:cs typeface="+mn-cs"/>
              </a:rPr>
              <a:t>**GCN_S và GFlowNet giữ nguyên hoàn toàn**</a:t>
            </a:r>
            <a:r>
              <a:rPr lang="en-VN" sz="1200" b="0" kern="1200" dirty="0">
                <a:solidFill>
                  <a:schemeClr val="tx1"/>
                </a:solidFill>
                <a:effectLst/>
                <a:latin typeface="+mn-lt"/>
                <a:ea typeface="+mn-ea"/>
                <a:cs typeface="+mn-cs"/>
              </a:rPr>
              <a:t> — đây là phần cốt lõi không cần thay đổi. Chỉ thích nghi 3 thành phần: đầu vào chuyển sang đồ thị hai phía; GCN_C thay bằng BPR Loss; metric chuyển sang Recall@K và NDCG@K.</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Slide này trình bày toàn bộ pipeline từ dữ liệu thô đến bước đánh giá.</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**Bước 1 — Tiền xử lý:**</a:t>
            </a:r>
            <a:r>
              <a:rPr lang="en-VN" sz="1200" b="0" kern="1200" dirty="0">
                <a:solidFill>
                  <a:schemeClr val="tx1"/>
                </a:solidFill>
                <a:effectLst/>
                <a:latin typeface="+mn-lt"/>
                <a:ea typeface="+mn-ea"/>
                <a:cs typeface="+mn-cs"/>
              </a:rPr>
              <a:t> 5-core filter giữ lại các user và item có ít nhất 5 tương tác. Chia theo timestamp: 80% train, 10% validation, 10% test — để tránh data leakage theo thời gian.</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**Bước 2 — Đồ thị hai phía:**</a:t>
            </a:r>
            <a:r>
              <a:rPr lang="en-VN" sz="1200" b="0" kern="1200" dirty="0">
                <a:solidFill>
                  <a:schemeClr val="tx1"/>
                </a:solidFill>
                <a:effectLst/>
                <a:latin typeface="+mn-lt"/>
                <a:ea typeface="+mn-ea"/>
                <a:cs typeface="+mn-cs"/>
              </a:rPr>
              <a:t> Xây dựng G = (U ∪ I, E) — đỉnh là user và item, cạnh là tương tác rating thực tế.</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**Bước 3 — Mini-batch:**</a:t>
            </a:r>
            <a:r>
              <a:rPr lang="en-VN" sz="1200" b="0" kern="1200" dirty="0">
                <a:solidFill>
                  <a:schemeClr val="tx1"/>
                </a:solidFill>
                <a:effectLst/>
                <a:latin typeface="+mn-lt"/>
                <a:ea typeface="+mn-ea"/>
                <a:cs typeface="+mn-cs"/>
              </a:rPr>
              <a:t> Lấy batch 512 user, xác định lân cận L-hop, hình thành tập ứng viên C.</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**Bước 4 — GCN_S:**</a:t>
            </a:r>
            <a:r>
              <a:rPr lang="en-VN" sz="1200" b="0" kern="1200" dirty="0">
                <a:solidFill>
                  <a:schemeClr val="tx1"/>
                </a:solidFill>
                <a:effectLst/>
                <a:latin typeface="+mn-lt"/>
                <a:ea typeface="+mn-ea"/>
                <a:cs typeface="+mn-cs"/>
              </a:rPr>
              <a:t> 2 tầng GCN tính xác suất p_v cho từng đỉnh trong C.</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**Bước 5 — Gumbel Top-k:**</a:t>
            </a:r>
            <a:r>
              <a:rPr lang="en-VN" sz="1200" b="0" kern="1200" dirty="0">
                <a:solidFill>
                  <a:schemeClr val="tx1"/>
                </a:solidFill>
                <a:effectLst/>
                <a:latin typeface="+mn-lt"/>
                <a:ea typeface="+mn-ea"/>
                <a:cs typeface="+mn-cs"/>
              </a:rPr>
              <a:t> Chọn k đỉnh quan trọng nhất — nhiễu Gumbel cho phép gradient truyền ngược qua bước rời rạc này.</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**Bước 6 — GCN_C:**</a:t>
            </a:r>
            <a:r>
              <a:rPr lang="en-VN" sz="1200" b="0" kern="1200" dirty="0">
                <a:solidFill>
                  <a:schemeClr val="tx1"/>
                </a:solidFill>
                <a:effectLst/>
                <a:latin typeface="+mn-lt"/>
                <a:ea typeface="+mn-ea"/>
                <a:cs typeface="+mn-cs"/>
              </a:rPr>
              <a:t> Tính tích vô hướng embedding user và item, tối thiểu BPR Loss.</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**Bước 7 — GFlowNet feedback:**</a:t>
            </a:r>
            <a:r>
              <a:rPr lang="en-VN" sz="1200" b="0" kern="1200" dirty="0">
                <a:solidFill>
                  <a:schemeClr val="tx1"/>
                </a:solidFill>
                <a:effectLst/>
                <a:latin typeface="+mn-lt"/>
                <a:ea typeface="+mn-ea"/>
                <a:cs typeface="+mn-cs"/>
              </a:rPr>
              <a:t> Reward R = exp(−α·L_BPR) được dùng qua TB Loss để cập nhật trọng số GCN_S — vòng lặp này giúp GCN_S dần học được đỉnh nào cần lấy mẫu để cải thiện gợi ý.</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**Bước 8 — Đánh giá:**</a:t>
            </a:r>
            <a:r>
              <a:rPr lang="en-VN" sz="1200" b="0" kern="1200" dirty="0">
                <a:solidFill>
                  <a:schemeClr val="tx1"/>
                </a:solidFill>
                <a:effectLst/>
                <a:latin typeface="+mn-lt"/>
                <a:ea typeface="+mn-ea"/>
                <a:cs typeface="+mn-cs"/>
              </a:rPr>
              <a:t> Recall@K, NDCG@K, Precision@K — so sánh với LightGCN, NGCF, PinSage, Random Sampling.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Và đây là lịch trình triển khai giai đoạn 2 — 6 pha trên tổng khoảng 16 tuần.</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**Pha 1**</a:t>
            </a:r>
            <a:r>
              <a:rPr lang="en-VN" sz="1200" b="0" kern="1200" dirty="0">
                <a:solidFill>
                  <a:schemeClr val="tx1"/>
                </a:solidFill>
                <a:effectLst/>
                <a:latin typeface="+mn-lt"/>
                <a:ea typeface="+mn-ea"/>
                <a:cs typeface="+mn-cs"/>
              </a:rPr>
              <a:t> — 2 đến 3 tuần: thu thập và tiền xử lý Amazon Reviews 2023, áp 5-core filter, ID mapping.</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**Pha 2**</a:t>
            </a:r>
            <a:r>
              <a:rPr lang="en-VN" sz="1200" b="0" kern="1200" dirty="0">
                <a:solidFill>
                  <a:schemeClr val="tx1"/>
                </a:solidFill>
                <a:effectLst/>
                <a:latin typeface="+mn-lt"/>
                <a:ea typeface="+mn-ea"/>
                <a:cs typeface="+mn-cs"/>
              </a:rPr>
              <a:t> — khoảng 11 ngày: xây dựng đồ thị hai phía user–item, chia theo timestamp.</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**Pha 3**</a:t>
            </a:r>
            <a:r>
              <a:rPr lang="en-VN" sz="1200" b="0" kern="1200" dirty="0">
                <a:solidFill>
                  <a:schemeClr val="tx1"/>
                </a:solidFill>
                <a:effectLst/>
                <a:latin typeface="+mn-lt"/>
                <a:ea typeface="+mn-ea"/>
                <a:cs typeface="+mn-cs"/>
              </a:rPr>
              <a:t> — 3 đến 4 tuần — pha tốn thời gian nhất: thích nghi GCN_C thành link predictor với BPR Loss và bipartite embedding.</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**Pha 4**</a:t>
            </a:r>
            <a:r>
              <a:rPr lang="en-VN" sz="1200" b="0" kern="1200" dirty="0">
                <a:solidFill>
                  <a:schemeClr val="tx1"/>
                </a:solidFill>
                <a:effectLst/>
                <a:latin typeface="+mn-lt"/>
                <a:ea typeface="+mn-ea"/>
                <a:cs typeface="+mn-cs"/>
              </a:rPr>
              <a:t> — 2 đến 3 tuần: thiết kế reward R = exp(−α·L_BPR), theo dõi hội tụ TB Loss.</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**Pha 5**</a:t>
            </a:r>
            <a:r>
              <a:rPr lang="en-VN" sz="1200" b="0" kern="1200" dirty="0">
                <a:solidFill>
                  <a:schemeClr val="tx1"/>
                </a:solidFill>
                <a:effectLst/>
                <a:latin typeface="+mn-lt"/>
                <a:ea typeface="+mn-ea"/>
                <a:cs typeface="+mn-cs"/>
              </a:rPr>
              <a:t> — 2 đến 3 tuần: chạy các baseline LightGCN, NGCF, PinSage, Random Sampling.</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**Pha 6**</a:t>
            </a:r>
            <a:r>
              <a:rPr lang="en-VN" sz="1200" b="0" kern="1200" dirty="0">
                <a:solidFill>
                  <a:schemeClr val="tx1"/>
                </a:solidFill>
                <a:effectLst/>
                <a:latin typeface="+mn-lt"/>
                <a:ea typeface="+mn-ea"/>
                <a:cs typeface="+mn-cs"/>
              </a:rPr>
              <a:t> — 3 đến 4 tuần: đánh giá Recall@K và NDCG@K, phân tích chi phí bộ nhớ và thời gian, viết báo cáo tổng kết.</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Tổng dự kiến: 3,5 đến 4 tháng.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kern="1200" dirty="0">
                <a:solidFill>
                  <a:schemeClr val="tx1"/>
                </a:solidFill>
                <a:effectLst/>
                <a:latin typeface="+mn-lt"/>
                <a:ea typeface="+mn-ea"/>
                <a:cs typeface="+mn-cs"/>
              </a:rPr>
              <a:t>Nhìn lại toàn bộ hai giai đoạn.</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**Giai đoạn 1 đã hoàn thành:**</a:t>
            </a:r>
            <a:r>
              <a:rPr lang="en-VN" sz="1200" b="0" kern="1200" dirty="0">
                <a:solidFill>
                  <a:schemeClr val="tx1"/>
                </a:solidFill>
                <a:effectLst/>
                <a:latin typeface="+mn-lt"/>
                <a:ea typeface="+mn-ea"/>
                <a:cs typeface="+mn-cs"/>
              </a:rPr>
              <a:t> Em đã khảo sát 28 công trình từ NeurIPS, ICML, ICLR và TMLR trong giai đoạn 2017 đến 2024. Tái hiện GRAPES trên 12 dataset và xác nhận GRAPES-GFN vượt GRAPES-RL trên 10 trong 12 dataset. Quan trọng hơn — GRAPES chạy không OOM trên ogbn-products 2,4 triệu đỉnh với Tesla T4 15,6GB, trong khi GAS và AS-GCN bị OOM. Đánh đổi thực tế: bộ nhớ tăng 2–3 lần, thời gian tăng 1,4–1,8 lần so với Random.</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**Giai đoạn 2**</a:t>
            </a:r>
            <a:r>
              <a:rPr lang="en-VN" sz="1200" b="0" kern="1200" dirty="0">
                <a:solidFill>
                  <a:schemeClr val="tx1"/>
                </a:solidFill>
                <a:effectLst/>
                <a:latin typeface="+mn-lt"/>
                <a:ea typeface="+mn-ea"/>
                <a:cs typeface="+mn-cs"/>
              </a:rPr>
              <a:t> sẽ áp dụng GRAPES vào hệ thống gợi ý trên Amazon Reviews 2023, theo lộ trình 6 pha vừa trình bày, dự kiến 3,5 đến 4 tháng.</a:t>
            </a: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1" kern="1200" dirty="0">
                <a:solidFill>
                  <a:schemeClr val="tx1"/>
                </a:solidFill>
                <a:effectLst/>
                <a:latin typeface="+mn-lt"/>
                <a:ea typeface="+mn-ea"/>
                <a:cs typeface="+mn-cs"/>
              </a:rPr>
              <a:t>---</a:t>
            </a:r>
            <a:endParaRPr lang="en-VN" sz="1200" b="0" kern="1200" dirty="0">
              <a:solidFill>
                <a:schemeClr val="tx1"/>
              </a:solidFill>
              <a:effectLst/>
              <a:latin typeface="+mn-lt"/>
              <a:ea typeface="+mn-ea"/>
              <a:cs typeface="+mn-cs"/>
            </a:endParaRP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i="1" kern="1200" dirty="0">
                <a:solidFill>
                  <a:schemeClr val="tx1"/>
                </a:solidFill>
                <a:effectLst/>
                <a:latin typeface="+mn-lt"/>
                <a:ea typeface="+mn-ea"/>
                <a:cs typeface="+mn-cs"/>
              </a:rPr>
              <a:t>*[Nhìn thẳng vào hội đồng, nói chậm rãi]*</a:t>
            </a:r>
            <a:endParaRPr lang="en-VN" sz="1200" b="0" kern="1200" dirty="0">
              <a:solidFill>
                <a:schemeClr val="tx1"/>
              </a:solidFill>
              <a:effectLst/>
              <a:latin typeface="+mn-lt"/>
              <a:ea typeface="+mn-ea"/>
              <a:cs typeface="+mn-cs"/>
            </a:endParaRP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kern="1200" dirty="0">
                <a:solidFill>
                  <a:schemeClr val="tx1"/>
                </a:solidFill>
                <a:effectLst/>
                <a:latin typeface="+mn-lt"/>
                <a:ea typeface="+mn-ea"/>
                <a:cs typeface="+mn-cs"/>
              </a:rPr>
              <a:t>Em xin cảm ơn Hội đồng đã lắng nghe. Em rất mong nhận được góp ý từ các Thầy Cô để hoàn thiện báo cáo.</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370.png"/><Relationship Id="rId5" Type="http://schemas.openxmlformats.org/officeDocument/2006/relationships/image" Target="../media/image37.png"/><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5A82"/>
        </a:solidFill>
        <a:effectLst/>
      </p:bgPr>
    </p:bg>
    <p:spTree>
      <p:nvGrpSpPr>
        <p:cNvPr id="1" name=""/>
        <p:cNvGrpSpPr/>
        <p:nvPr/>
      </p:nvGrpSpPr>
      <p:grpSpPr>
        <a:xfrm>
          <a:off x="0" y="0"/>
          <a:ext cx="0" cy="0"/>
          <a:chOff x="0" y="0"/>
          <a:chExt cx="0" cy="0"/>
        </a:xfrm>
      </p:grpSpPr>
      <p:sp>
        <p:nvSpPr>
          <p:cNvPr id="2" name="Shape 0"/>
          <p:cNvSpPr/>
          <p:nvPr/>
        </p:nvSpPr>
        <p:spPr>
          <a:xfrm>
            <a:off x="8138160" y="0"/>
            <a:ext cx="1005840" cy="5143500"/>
          </a:xfrm>
          <a:prstGeom prst="rect">
            <a:avLst/>
          </a:prstGeom>
          <a:solidFill>
            <a:srgbClr val="1C7293">
              <a:alpha val="55000"/>
            </a:srgbClr>
          </a:solidFill>
          <a:ln w="12700">
            <a:solidFill>
              <a:srgbClr val="1C7293">
                <a:alpha val="55000"/>
              </a:srgbClr>
            </a:solidFill>
            <a:prstDash val="solid"/>
          </a:ln>
        </p:spPr>
        <p:txBody>
          <a:bodyPr/>
          <a:lstStyle/>
          <a:p>
            <a:endParaRPr lang="en-VN"/>
          </a:p>
        </p:txBody>
      </p:sp>
      <p:sp>
        <p:nvSpPr>
          <p:cNvPr id="3" name="Text 1"/>
          <p:cNvSpPr/>
          <p:nvPr/>
        </p:nvSpPr>
        <p:spPr>
          <a:xfrm>
            <a:off x="548640" y="201168"/>
            <a:ext cx="7315200" cy="347472"/>
          </a:xfrm>
          <a:prstGeom prst="rect">
            <a:avLst/>
          </a:prstGeom>
          <a:noFill/>
          <a:ln/>
        </p:spPr>
        <p:txBody>
          <a:bodyPr wrap="square" rtlCol="0" anchor="ctr"/>
          <a:lstStyle/>
          <a:p>
            <a:pPr marL="0" indent="0" algn="l">
              <a:buNone/>
            </a:pPr>
            <a:r>
              <a:rPr lang="en-US" sz="1200" b="1" kern="0" spc="100" dirty="0">
                <a:solidFill>
                  <a:srgbClr val="B8D4E8"/>
                </a:solidFill>
                <a:latin typeface="Calibri" pitchFamily="34" charset="0"/>
                <a:ea typeface="Calibri" pitchFamily="34" charset="-122"/>
                <a:cs typeface="Calibri" pitchFamily="34" charset="-120"/>
              </a:rPr>
              <a:t>ĐẠI HỌC QUỐC GIA TP.HCM  —  TRƯỜNG ĐẠI HỌC BÁCH KHOA</a:t>
            </a:r>
            <a:endParaRPr lang="en-US" sz="1200" dirty="0"/>
          </a:p>
        </p:txBody>
      </p:sp>
      <p:sp>
        <p:nvSpPr>
          <p:cNvPr id="4" name="Text 2"/>
          <p:cNvSpPr/>
          <p:nvPr/>
        </p:nvSpPr>
        <p:spPr>
          <a:xfrm>
            <a:off x="548640" y="530352"/>
            <a:ext cx="7315200" cy="292608"/>
          </a:xfrm>
          <a:prstGeom prst="rect">
            <a:avLst/>
          </a:prstGeom>
          <a:noFill/>
          <a:ln/>
        </p:spPr>
        <p:txBody>
          <a:bodyPr wrap="square" rtlCol="0" anchor="ctr"/>
          <a:lstStyle/>
          <a:p>
            <a:pPr marL="0" indent="0" algn="l">
              <a:buNone/>
            </a:pPr>
            <a:r>
              <a:rPr lang="en-US" sz="1150" dirty="0">
                <a:solidFill>
                  <a:srgbClr val="8AAFC7"/>
                </a:solidFill>
                <a:latin typeface="Calibri" pitchFamily="34" charset="0"/>
                <a:ea typeface="Calibri" pitchFamily="34" charset="-122"/>
                <a:cs typeface="Calibri" pitchFamily="34" charset="-120"/>
              </a:rPr>
              <a:t>Khoa Khoa học và Kỹ thuật Máy tính  —  Chuyên ngành: Khoa học máy tính</a:t>
            </a:r>
            <a:endParaRPr lang="en-US" sz="1150" dirty="0"/>
          </a:p>
        </p:txBody>
      </p:sp>
      <p:sp>
        <p:nvSpPr>
          <p:cNvPr id="5" name="Shape 3"/>
          <p:cNvSpPr/>
          <p:nvPr/>
        </p:nvSpPr>
        <p:spPr>
          <a:xfrm>
            <a:off x="548640" y="914400"/>
            <a:ext cx="7315200" cy="0"/>
          </a:xfrm>
          <a:prstGeom prst="line">
            <a:avLst/>
          </a:prstGeom>
          <a:noFill/>
          <a:ln w="10160">
            <a:solidFill>
              <a:srgbClr val="1C7293"/>
            </a:solidFill>
            <a:prstDash val="solid"/>
          </a:ln>
        </p:spPr>
        <p:txBody>
          <a:bodyPr/>
          <a:lstStyle/>
          <a:p>
            <a:endParaRPr lang="en-VN"/>
          </a:p>
        </p:txBody>
      </p:sp>
      <p:sp>
        <p:nvSpPr>
          <p:cNvPr id="6" name="Text 4"/>
          <p:cNvSpPr/>
          <p:nvPr/>
        </p:nvSpPr>
        <p:spPr>
          <a:xfrm>
            <a:off x="548640" y="1024128"/>
            <a:ext cx="7315200" cy="2103120"/>
          </a:xfrm>
          <a:prstGeom prst="rect">
            <a:avLst/>
          </a:prstGeom>
          <a:noFill/>
          <a:ln/>
        </p:spPr>
        <p:txBody>
          <a:bodyPr wrap="square" rtlCol="0" anchor="ctr"/>
          <a:lstStyle/>
          <a:p>
            <a:pPr marL="0" indent="0" algn="l">
              <a:spcAft>
                <a:spcPts val="400"/>
              </a:spcAft>
              <a:buNone/>
            </a:pPr>
            <a:r>
              <a:rPr lang="en-US" sz="2800" b="1" dirty="0">
                <a:solidFill>
                  <a:srgbClr val="FFFFFF"/>
                </a:solidFill>
                <a:latin typeface="Calibri" pitchFamily="34" charset="0"/>
                <a:ea typeface="Calibri" pitchFamily="34" charset="-122"/>
                <a:cs typeface="Calibri" pitchFamily="34" charset="-120"/>
              </a:rPr>
              <a:t>PHÁT TRIỂN PHƯƠNG PHÁP LẤY MẪU ĐỒ THỊ</a:t>
            </a:r>
            <a:endParaRPr lang="en-US" sz="2800" dirty="0"/>
          </a:p>
          <a:p>
            <a:pPr marL="0" indent="0" algn="l">
              <a:spcAft>
                <a:spcPts val="400"/>
              </a:spcAft>
              <a:buNone/>
            </a:pPr>
            <a:r>
              <a:rPr lang="en-US" sz="2800" b="1" dirty="0">
                <a:solidFill>
                  <a:srgbClr val="FFFFFF"/>
                </a:solidFill>
                <a:latin typeface="Calibri" pitchFamily="34" charset="0"/>
                <a:ea typeface="Calibri" pitchFamily="34" charset="-122"/>
                <a:cs typeface="Calibri" pitchFamily="34" charset="-120"/>
              </a:rPr>
              <a:t>CHO HỆ THỐNG GỢI Ý QUY MÔ LỚN</a:t>
            </a:r>
            <a:endParaRPr lang="en-US" sz="2800" dirty="0"/>
          </a:p>
          <a:p>
            <a:pPr marL="0" indent="0" algn="l">
              <a:spcAft>
                <a:spcPts val="400"/>
              </a:spcAft>
              <a:buNone/>
            </a:pPr>
            <a:r>
              <a:rPr lang="en-US" sz="2800" b="1" dirty="0">
                <a:solidFill>
                  <a:srgbClr val="FFFFFF"/>
                </a:solidFill>
                <a:latin typeface="Calibri" pitchFamily="34" charset="0"/>
                <a:ea typeface="Calibri" pitchFamily="34" charset="-122"/>
                <a:cs typeface="Calibri" pitchFamily="34" charset="-120"/>
              </a:rPr>
              <a:t>SỬ DỤNG MẠNG NƠ-RON </a:t>
            </a:r>
            <a:r>
              <a:rPr lang="en-US" sz="2800" b="1">
                <a:solidFill>
                  <a:srgbClr val="FFFFFF"/>
                </a:solidFill>
                <a:latin typeface="Calibri" pitchFamily="34" charset="0"/>
                <a:ea typeface="Calibri" pitchFamily="34" charset="-122"/>
                <a:cs typeface="Calibri" pitchFamily="34" charset="-120"/>
              </a:rPr>
              <a:t>ĐỒ THỊ GNN</a:t>
            </a:r>
            <a:endParaRPr lang="en-US" sz="2800" dirty="0"/>
          </a:p>
        </p:txBody>
      </p:sp>
      <p:sp>
        <p:nvSpPr>
          <p:cNvPr id="7" name="Shape 5"/>
          <p:cNvSpPr/>
          <p:nvPr/>
        </p:nvSpPr>
        <p:spPr>
          <a:xfrm>
            <a:off x="548640" y="3200400"/>
            <a:ext cx="1463040" cy="347472"/>
          </a:xfrm>
          <a:prstGeom prst="rect">
            <a:avLst/>
          </a:prstGeom>
          <a:solidFill>
            <a:srgbClr val="02C39A"/>
          </a:solidFill>
          <a:ln w="12700">
            <a:solidFill>
              <a:srgbClr val="02C39A"/>
            </a:solidFill>
            <a:prstDash val="solid"/>
          </a:ln>
        </p:spPr>
        <p:txBody>
          <a:bodyPr/>
          <a:lstStyle/>
          <a:p>
            <a:endParaRPr lang="en-VN"/>
          </a:p>
        </p:txBody>
      </p:sp>
      <p:sp>
        <p:nvSpPr>
          <p:cNvPr id="8" name="Text 6"/>
          <p:cNvSpPr/>
          <p:nvPr/>
        </p:nvSpPr>
        <p:spPr>
          <a:xfrm>
            <a:off x="548640" y="3200400"/>
            <a:ext cx="1463040" cy="347472"/>
          </a:xfrm>
          <a:prstGeom prst="rect">
            <a:avLst/>
          </a:prstGeom>
          <a:noFill/>
          <a:ln/>
        </p:spPr>
        <p:txBody>
          <a:bodyPr wrap="square" lIns="0" tIns="0" rIns="0" bIns="0" rtlCol="0" anchor="ctr"/>
          <a:lstStyle/>
          <a:p>
            <a:pPr marL="0" indent="0" algn="ctr">
              <a:buNone/>
            </a:pPr>
            <a:r>
              <a:rPr lang="en-US" sz="1200" b="1" dirty="0">
                <a:solidFill>
                  <a:srgbClr val="065A82"/>
                </a:solidFill>
                <a:latin typeface="Calibri" pitchFamily="34" charset="0"/>
                <a:ea typeface="Calibri" pitchFamily="34" charset="-122"/>
                <a:cs typeface="Calibri" pitchFamily="34" charset="-120"/>
              </a:rPr>
              <a:t>THỰC TẬP 2</a:t>
            </a:r>
            <a:endParaRPr lang="en-US" sz="1200" dirty="0"/>
          </a:p>
        </p:txBody>
      </p:sp>
      <p:sp>
        <p:nvSpPr>
          <p:cNvPr id="9" name="Text 7"/>
          <p:cNvSpPr/>
          <p:nvPr/>
        </p:nvSpPr>
        <p:spPr>
          <a:xfrm>
            <a:off x="548640" y="3675888"/>
            <a:ext cx="5486400" cy="438912"/>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VĂN XUÂN TỶ</a:t>
            </a:r>
            <a:endParaRPr lang="en-US" sz="1900" dirty="0"/>
          </a:p>
        </p:txBody>
      </p:sp>
      <p:sp>
        <p:nvSpPr>
          <p:cNvPr id="10" name="Text 8"/>
          <p:cNvSpPr/>
          <p:nvPr/>
        </p:nvSpPr>
        <p:spPr>
          <a:xfrm>
            <a:off x="548640" y="4096512"/>
            <a:ext cx="3657600" cy="292608"/>
          </a:xfrm>
          <a:prstGeom prst="rect">
            <a:avLst/>
          </a:prstGeom>
          <a:noFill/>
          <a:ln/>
        </p:spPr>
        <p:txBody>
          <a:bodyPr wrap="square" rtlCol="0" anchor="ctr"/>
          <a:lstStyle/>
          <a:p>
            <a:pPr marL="0" indent="0">
              <a:buNone/>
            </a:pPr>
            <a:r>
              <a:rPr lang="en-US" sz="1300" dirty="0">
                <a:solidFill>
                  <a:srgbClr val="B8D4E8"/>
                </a:solidFill>
                <a:latin typeface="Calibri" pitchFamily="34" charset="0"/>
                <a:ea typeface="Calibri" pitchFamily="34" charset="-122"/>
                <a:cs typeface="Calibri" pitchFamily="34" charset="-120"/>
              </a:rPr>
              <a:t>MSHV: 2470113</a:t>
            </a:r>
            <a:endParaRPr lang="en-US" sz="1300" dirty="0"/>
          </a:p>
        </p:txBody>
      </p:sp>
      <p:sp>
        <p:nvSpPr>
          <p:cNvPr id="11" name="Text 9"/>
          <p:cNvSpPr/>
          <p:nvPr/>
        </p:nvSpPr>
        <p:spPr>
          <a:xfrm>
            <a:off x="548640" y="4617720"/>
            <a:ext cx="7315200" cy="292608"/>
          </a:xfrm>
          <a:prstGeom prst="rect">
            <a:avLst/>
          </a:prstGeom>
          <a:noFill/>
          <a:ln/>
        </p:spPr>
        <p:txBody>
          <a:bodyPr wrap="square" rtlCol="0" anchor="ctr"/>
          <a:lstStyle/>
          <a:p>
            <a:pPr marL="0" indent="0" algn="l">
              <a:buNone/>
            </a:pPr>
            <a:r>
              <a:rPr lang="en-US" sz="1150" i="1" dirty="0">
                <a:solidFill>
                  <a:srgbClr val="6A9AB8"/>
                </a:solidFill>
                <a:latin typeface="Calibri" pitchFamily="34" charset="0"/>
                <a:ea typeface="Calibri" pitchFamily="34" charset="-122"/>
                <a:cs typeface="Calibri" pitchFamily="34" charset="-120"/>
              </a:rPr>
              <a:t>GVHD: TS. Lê Thanh Vân   —   Ngày bảo vệ</a:t>
            </a:r>
            <a:r>
              <a:rPr lang="en-US" sz="1150" i="1">
                <a:solidFill>
                  <a:srgbClr val="6A9AB8"/>
                </a:solidFill>
                <a:latin typeface="Calibri" pitchFamily="34" charset="0"/>
                <a:ea typeface="Calibri" pitchFamily="34" charset="-122"/>
                <a:cs typeface="Calibri" pitchFamily="34" charset="-120"/>
              </a:rPr>
              <a:t>: 17/06/2026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Nội Dung Trình Bày</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2 / 29</a:t>
            </a:r>
            <a:endParaRPr lang="en-US" sz="1000" dirty="0"/>
          </a:p>
        </p:txBody>
      </p:sp>
      <p:sp>
        <p:nvSpPr>
          <p:cNvPr id="5" name="Shape 3"/>
          <p:cNvSpPr/>
          <p:nvPr/>
        </p:nvSpPr>
        <p:spPr>
          <a:xfrm>
            <a:off x="365760" y="1014984"/>
            <a:ext cx="548640" cy="548640"/>
          </a:xfrm>
          <a:prstGeom prst="ellipse">
            <a:avLst/>
          </a:prstGeom>
          <a:solidFill>
            <a:srgbClr val="065A82"/>
          </a:solidFill>
          <a:ln w="12700">
            <a:solidFill>
              <a:srgbClr val="065A82"/>
            </a:solidFill>
            <a:prstDash val="solid"/>
          </a:ln>
        </p:spPr>
        <p:txBody>
          <a:bodyPr/>
          <a:lstStyle/>
          <a:p>
            <a:endParaRPr lang="en-VN"/>
          </a:p>
        </p:txBody>
      </p:sp>
      <p:sp>
        <p:nvSpPr>
          <p:cNvPr id="6" name="Text 4"/>
          <p:cNvSpPr/>
          <p:nvPr/>
        </p:nvSpPr>
        <p:spPr>
          <a:xfrm>
            <a:off x="365760" y="1014984"/>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7" name="Text 5"/>
          <p:cNvSpPr/>
          <p:nvPr/>
        </p:nvSpPr>
        <p:spPr>
          <a:xfrm>
            <a:off x="1097280" y="1069848"/>
            <a:ext cx="7680960" cy="411480"/>
          </a:xfrm>
          <a:prstGeom prst="rect">
            <a:avLst/>
          </a:prstGeom>
          <a:noFill/>
          <a:ln/>
        </p:spPr>
        <p:txBody>
          <a:bodyPr wrap="square" rtlCol="0" anchor="ctr"/>
          <a:lstStyle/>
          <a:p>
            <a:pPr marL="0" indent="0">
              <a:buNone/>
            </a:pPr>
            <a:r>
              <a:rPr lang="en-US" sz="1900" b="1" dirty="0">
                <a:solidFill>
                  <a:srgbClr val="065A82"/>
                </a:solidFill>
                <a:latin typeface="Calibri" pitchFamily="34" charset="0"/>
                <a:ea typeface="Calibri" pitchFamily="34" charset="-122"/>
                <a:cs typeface="Calibri" pitchFamily="34" charset="-120"/>
              </a:rPr>
              <a:t>Bối cảnh &amp; Vấn đề</a:t>
            </a:r>
            <a:endParaRPr lang="en-US" sz="1900" dirty="0"/>
          </a:p>
        </p:txBody>
      </p:sp>
      <p:sp>
        <p:nvSpPr>
          <p:cNvPr id="8" name="Shape 6"/>
          <p:cNvSpPr/>
          <p:nvPr/>
        </p:nvSpPr>
        <p:spPr>
          <a:xfrm>
            <a:off x="365760" y="1655064"/>
            <a:ext cx="8412480" cy="0"/>
          </a:xfrm>
          <a:prstGeom prst="line">
            <a:avLst/>
          </a:prstGeom>
          <a:noFill/>
          <a:ln w="6350">
            <a:solidFill>
              <a:srgbClr val="E2E8F0"/>
            </a:solidFill>
            <a:prstDash val="solid"/>
          </a:ln>
        </p:spPr>
        <p:txBody>
          <a:bodyPr/>
          <a:lstStyle/>
          <a:p>
            <a:endParaRPr lang="en-VN"/>
          </a:p>
        </p:txBody>
      </p:sp>
      <p:sp>
        <p:nvSpPr>
          <p:cNvPr id="9" name="Shape 7"/>
          <p:cNvSpPr/>
          <p:nvPr/>
        </p:nvSpPr>
        <p:spPr>
          <a:xfrm>
            <a:off x="365760" y="1764792"/>
            <a:ext cx="548640" cy="548640"/>
          </a:xfrm>
          <a:prstGeom prst="ellipse">
            <a:avLst/>
          </a:prstGeom>
          <a:solidFill>
            <a:srgbClr val="065A82"/>
          </a:solidFill>
          <a:ln w="12700">
            <a:solidFill>
              <a:srgbClr val="065A82"/>
            </a:solidFill>
            <a:prstDash val="solid"/>
          </a:ln>
        </p:spPr>
        <p:txBody>
          <a:bodyPr/>
          <a:lstStyle/>
          <a:p>
            <a:endParaRPr lang="en-VN"/>
          </a:p>
        </p:txBody>
      </p:sp>
      <p:sp>
        <p:nvSpPr>
          <p:cNvPr id="10" name="Text 8"/>
          <p:cNvSpPr/>
          <p:nvPr/>
        </p:nvSpPr>
        <p:spPr>
          <a:xfrm>
            <a:off x="365760" y="1764792"/>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1" name="Text 9"/>
          <p:cNvSpPr/>
          <p:nvPr/>
        </p:nvSpPr>
        <p:spPr>
          <a:xfrm>
            <a:off x="1097280" y="1819656"/>
            <a:ext cx="7680960" cy="411480"/>
          </a:xfrm>
          <a:prstGeom prst="rect">
            <a:avLst/>
          </a:prstGeom>
          <a:noFill/>
          <a:ln/>
        </p:spPr>
        <p:txBody>
          <a:bodyPr wrap="square" rtlCol="0" anchor="ctr"/>
          <a:lstStyle/>
          <a:p>
            <a:pPr marL="0" indent="0">
              <a:buNone/>
            </a:pPr>
            <a:r>
              <a:rPr lang="en-US" sz="1900" b="1" dirty="0" err="1">
                <a:solidFill>
                  <a:srgbClr val="065A82"/>
                </a:solidFill>
                <a:latin typeface="Calibri" pitchFamily="34" charset="0"/>
                <a:ea typeface="Calibri" pitchFamily="34" charset="-122"/>
                <a:cs typeface="Calibri" pitchFamily="34" charset="-120"/>
              </a:rPr>
              <a:t>Tổng</a:t>
            </a:r>
            <a:r>
              <a:rPr lang="en-US" sz="1900" b="1" dirty="0">
                <a:solidFill>
                  <a:srgbClr val="065A82"/>
                </a:solidFill>
                <a:latin typeface="Calibri" pitchFamily="34" charset="0"/>
                <a:ea typeface="Calibri" pitchFamily="34" charset="-122"/>
                <a:cs typeface="Calibri" pitchFamily="34" charset="-120"/>
              </a:rPr>
              <a:t> </a:t>
            </a:r>
            <a:r>
              <a:rPr lang="en-US" sz="1900" b="1" dirty="0" err="1">
                <a:solidFill>
                  <a:srgbClr val="065A82"/>
                </a:solidFill>
                <a:latin typeface="Calibri" pitchFamily="34" charset="0"/>
                <a:ea typeface="Calibri" pitchFamily="34" charset="-122"/>
                <a:cs typeface="Calibri" pitchFamily="34" charset="-120"/>
              </a:rPr>
              <a:t>quan</a:t>
            </a:r>
            <a:r>
              <a:rPr lang="en-US" sz="1900" b="1" dirty="0">
                <a:solidFill>
                  <a:srgbClr val="065A82"/>
                </a:solidFill>
                <a:latin typeface="Calibri" pitchFamily="34" charset="0"/>
                <a:ea typeface="Calibri" pitchFamily="34" charset="-122"/>
                <a:cs typeface="Calibri" pitchFamily="34" charset="-120"/>
              </a:rPr>
              <a:t> </a:t>
            </a:r>
            <a:r>
              <a:rPr lang="en-US" sz="1900" b="1" dirty="0" err="1">
                <a:solidFill>
                  <a:srgbClr val="065A82"/>
                </a:solidFill>
                <a:latin typeface="Calibri" pitchFamily="34" charset="0"/>
                <a:ea typeface="Calibri" pitchFamily="34" charset="-122"/>
                <a:cs typeface="Calibri" pitchFamily="34" charset="-120"/>
              </a:rPr>
              <a:t>các</a:t>
            </a:r>
            <a:r>
              <a:rPr lang="en-US" sz="1900" b="1" dirty="0">
                <a:solidFill>
                  <a:srgbClr val="065A82"/>
                </a:solidFill>
                <a:latin typeface="Calibri" pitchFamily="34" charset="0"/>
                <a:ea typeface="Calibri" pitchFamily="34" charset="-122"/>
                <a:cs typeface="Calibri" pitchFamily="34" charset="-120"/>
              </a:rPr>
              <a:t> phương pháp</a:t>
            </a:r>
            <a:endParaRPr lang="en-US" sz="1900" dirty="0"/>
          </a:p>
        </p:txBody>
      </p:sp>
      <p:sp>
        <p:nvSpPr>
          <p:cNvPr id="12" name="Shape 10"/>
          <p:cNvSpPr/>
          <p:nvPr/>
        </p:nvSpPr>
        <p:spPr>
          <a:xfrm>
            <a:off x="365760" y="2404872"/>
            <a:ext cx="8412480" cy="0"/>
          </a:xfrm>
          <a:prstGeom prst="line">
            <a:avLst/>
          </a:prstGeom>
          <a:noFill/>
          <a:ln w="6350">
            <a:solidFill>
              <a:srgbClr val="E2E8F0"/>
            </a:solidFill>
            <a:prstDash val="solid"/>
          </a:ln>
        </p:spPr>
        <p:txBody>
          <a:bodyPr/>
          <a:lstStyle/>
          <a:p>
            <a:endParaRPr lang="en-VN"/>
          </a:p>
        </p:txBody>
      </p:sp>
      <p:sp>
        <p:nvSpPr>
          <p:cNvPr id="13" name="Shape 11"/>
          <p:cNvSpPr/>
          <p:nvPr/>
        </p:nvSpPr>
        <p:spPr>
          <a:xfrm>
            <a:off x="365760" y="2514600"/>
            <a:ext cx="548640" cy="548640"/>
          </a:xfrm>
          <a:prstGeom prst="ellipse">
            <a:avLst/>
          </a:prstGeom>
          <a:solidFill>
            <a:srgbClr val="065A82"/>
          </a:solidFill>
          <a:ln w="12700">
            <a:solidFill>
              <a:srgbClr val="065A82"/>
            </a:solidFill>
            <a:prstDash val="solid"/>
          </a:ln>
        </p:spPr>
        <p:txBody>
          <a:bodyPr/>
          <a:lstStyle/>
          <a:p>
            <a:endParaRPr lang="en-VN"/>
          </a:p>
        </p:txBody>
      </p:sp>
      <p:sp>
        <p:nvSpPr>
          <p:cNvPr id="14" name="Text 12"/>
          <p:cNvSpPr/>
          <p:nvPr/>
        </p:nvSpPr>
        <p:spPr>
          <a:xfrm>
            <a:off x="365760" y="2514600"/>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15" name="Text 13"/>
          <p:cNvSpPr/>
          <p:nvPr/>
        </p:nvSpPr>
        <p:spPr>
          <a:xfrm>
            <a:off x="1097280" y="2569464"/>
            <a:ext cx="7680960" cy="411480"/>
          </a:xfrm>
          <a:prstGeom prst="rect">
            <a:avLst/>
          </a:prstGeom>
          <a:noFill/>
          <a:ln/>
        </p:spPr>
        <p:txBody>
          <a:bodyPr wrap="square" rtlCol="0" anchor="ctr"/>
          <a:lstStyle/>
          <a:p>
            <a:pPr marL="0" indent="0">
              <a:buNone/>
            </a:pPr>
            <a:r>
              <a:rPr lang="en-US" sz="1900" b="1" dirty="0">
                <a:solidFill>
                  <a:srgbClr val="065A82"/>
                </a:solidFill>
                <a:latin typeface="Calibri" pitchFamily="34" charset="0"/>
                <a:ea typeface="Calibri" pitchFamily="34" charset="-122"/>
                <a:cs typeface="Calibri" pitchFamily="34" charset="-120"/>
              </a:rPr>
              <a:t>Phương </a:t>
            </a:r>
            <a:r>
              <a:rPr lang="en-US" sz="1900" b="1" dirty="0" err="1">
                <a:solidFill>
                  <a:srgbClr val="065A82"/>
                </a:solidFill>
                <a:latin typeface="Calibri" pitchFamily="34" charset="0"/>
                <a:ea typeface="Calibri" pitchFamily="34" charset="-122"/>
                <a:cs typeface="Calibri" pitchFamily="34" charset="-120"/>
              </a:rPr>
              <a:t>pháp</a:t>
            </a:r>
            <a:r>
              <a:rPr lang="en-US" sz="1900" b="1" dirty="0">
                <a:solidFill>
                  <a:srgbClr val="065A82"/>
                </a:solidFill>
                <a:latin typeface="Calibri" pitchFamily="34" charset="0"/>
                <a:ea typeface="Calibri" pitchFamily="34" charset="-122"/>
                <a:cs typeface="Calibri" pitchFamily="34" charset="-120"/>
              </a:rPr>
              <a:t> *****</a:t>
            </a:r>
            <a:endParaRPr lang="en-US" sz="1900" dirty="0"/>
          </a:p>
        </p:txBody>
      </p:sp>
      <p:sp>
        <p:nvSpPr>
          <p:cNvPr id="16" name="Shape 14"/>
          <p:cNvSpPr/>
          <p:nvPr/>
        </p:nvSpPr>
        <p:spPr>
          <a:xfrm>
            <a:off x="365760" y="3154680"/>
            <a:ext cx="8412480" cy="0"/>
          </a:xfrm>
          <a:prstGeom prst="line">
            <a:avLst/>
          </a:prstGeom>
          <a:noFill/>
          <a:ln w="6350">
            <a:solidFill>
              <a:srgbClr val="E2E8F0"/>
            </a:solidFill>
            <a:prstDash val="solid"/>
          </a:ln>
        </p:spPr>
        <p:txBody>
          <a:bodyPr/>
          <a:lstStyle/>
          <a:p>
            <a:endParaRPr lang="en-VN"/>
          </a:p>
        </p:txBody>
      </p:sp>
      <p:sp>
        <p:nvSpPr>
          <p:cNvPr id="17" name="Shape 15"/>
          <p:cNvSpPr/>
          <p:nvPr/>
        </p:nvSpPr>
        <p:spPr>
          <a:xfrm>
            <a:off x="365760" y="3264408"/>
            <a:ext cx="548640" cy="548640"/>
          </a:xfrm>
          <a:prstGeom prst="ellipse">
            <a:avLst/>
          </a:prstGeom>
          <a:solidFill>
            <a:srgbClr val="065A82"/>
          </a:solidFill>
          <a:ln w="12700">
            <a:solidFill>
              <a:srgbClr val="065A82"/>
            </a:solidFill>
            <a:prstDash val="solid"/>
          </a:ln>
        </p:spPr>
        <p:txBody>
          <a:bodyPr/>
          <a:lstStyle/>
          <a:p>
            <a:endParaRPr lang="en-VN"/>
          </a:p>
        </p:txBody>
      </p:sp>
      <p:sp>
        <p:nvSpPr>
          <p:cNvPr id="18" name="Text 16"/>
          <p:cNvSpPr/>
          <p:nvPr/>
        </p:nvSpPr>
        <p:spPr>
          <a:xfrm>
            <a:off x="365760" y="3264408"/>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19" name="Text 17"/>
          <p:cNvSpPr/>
          <p:nvPr/>
        </p:nvSpPr>
        <p:spPr>
          <a:xfrm>
            <a:off x="1097280" y="3319272"/>
            <a:ext cx="7680960" cy="411480"/>
          </a:xfrm>
          <a:prstGeom prst="rect">
            <a:avLst/>
          </a:prstGeom>
          <a:noFill/>
          <a:ln/>
        </p:spPr>
        <p:txBody>
          <a:bodyPr wrap="square" rtlCol="0" anchor="ctr"/>
          <a:lstStyle/>
          <a:p>
            <a:pPr marL="0" indent="0">
              <a:buNone/>
            </a:pPr>
            <a:r>
              <a:rPr lang="en-US" sz="1900" b="1" dirty="0">
                <a:solidFill>
                  <a:srgbClr val="065A82"/>
                </a:solidFill>
                <a:latin typeface="Calibri" pitchFamily="34" charset="0"/>
                <a:ea typeface="Calibri" pitchFamily="34" charset="-122"/>
                <a:cs typeface="Calibri" pitchFamily="34" charset="-120"/>
              </a:rPr>
              <a:t>Thực nghiệm</a:t>
            </a:r>
            <a:endParaRPr lang="en-US" sz="1900" dirty="0"/>
          </a:p>
        </p:txBody>
      </p:sp>
      <p:sp>
        <p:nvSpPr>
          <p:cNvPr id="20" name="Shape 18"/>
          <p:cNvSpPr/>
          <p:nvPr/>
        </p:nvSpPr>
        <p:spPr>
          <a:xfrm>
            <a:off x="365760" y="3904488"/>
            <a:ext cx="8412480" cy="0"/>
          </a:xfrm>
          <a:prstGeom prst="line">
            <a:avLst/>
          </a:prstGeom>
          <a:noFill/>
          <a:ln w="6350">
            <a:solidFill>
              <a:srgbClr val="E2E8F0"/>
            </a:solidFill>
            <a:prstDash val="solid"/>
          </a:ln>
        </p:spPr>
        <p:txBody>
          <a:bodyPr/>
          <a:lstStyle/>
          <a:p>
            <a:endParaRPr lang="en-VN"/>
          </a:p>
        </p:txBody>
      </p:sp>
      <p:sp>
        <p:nvSpPr>
          <p:cNvPr id="21" name="Shape 19"/>
          <p:cNvSpPr/>
          <p:nvPr/>
        </p:nvSpPr>
        <p:spPr>
          <a:xfrm>
            <a:off x="365760" y="4014216"/>
            <a:ext cx="548640" cy="548640"/>
          </a:xfrm>
          <a:prstGeom prst="ellipse">
            <a:avLst/>
          </a:prstGeom>
          <a:solidFill>
            <a:srgbClr val="065A82"/>
          </a:solidFill>
          <a:ln w="12700">
            <a:solidFill>
              <a:srgbClr val="065A82"/>
            </a:solidFill>
            <a:prstDash val="solid"/>
          </a:ln>
        </p:spPr>
        <p:txBody>
          <a:bodyPr/>
          <a:lstStyle/>
          <a:p>
            <a:endParaRPr lang="en-VN"/>
          </a:p>
        </p:txBody>
      </p:sp>
      <p:sp>
        <p:nvSpPr>
          <p:cNvPr id="22" name="Text 20"/>
          <p:cNvSpPr/>
          <p:nvPr/>
        </p:nvSpPr>
        <p:spPr>
          <a:xfrm>
            <a:off x="365760" y="4014216"/>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23" name="Text 21"/>
          <p:cNvSpPr/>
          <p:nvPr/>
        </p:nvSpPr>
        <p:spPr>
          <a:xfrm>
            <a:off x="1097280" y="4069080"/>
            <a:ext cx="7680960" cy="411480"/>
          </a:xfrm>
          <a:prstGeom prst="rect">
            <a:avLst/>
          </a:prstGeom>
          <a:noFill/>
          <a:ln/>
        </p:spPr>
        <p:txBody>
          <a:bodyPr wrap="square" rtlCol="0" anchor="ctr"/>
          <a:lstStyle/>
          <a:p>
            <a:pPr marL="0" indent="0">
              <a:buNone/>
            </a:pPr>
            <a:r>
              <a:rPr lang="en-US" sz="1900" b="1" dirty="0">
                <a:solidFill>
                  <a:srgbClr val="065A82"/>
                </a:solidFill>
                <a:latin typeface="Calibri" pitchFamily="34" charset="0"/>
                <a:ea typeface="Calibri" pitchFamily="34" charset="-122"/>
                <a:cs typeface="Calibri" pitchFamily="34" charset="-120"/>
              </a:rPr>
              <a:t>Kết luận &amp; Hướng tương lai</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Bối Cảnh &amp; Động Cơ Nghiên Cứu</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3 / 29</a:t>
            </a:r>
            <a:endParaRPr lang="en-US" sz="1000" dirty="0"/>
          </a:p>
        </p:txBody>
      </p:sp>
      <p:sp>
        <p:nvSpPr>
          <p:cNvPr id="5" name="Text 3"/>
          <p:cNvSpPr/>
          <p:nvPr/>
        </p:nvSpPr>
        <p:spPr>
          <a:xfrm>
            <a:off x="320040" y="914400"/>
            <a:ext cx="4297680" cy="384048"/>
          </a:xfrm>
          <a:prstGeom prst="rect">
            <a:avLst/>
          </a:prstGeom>
          <a:noFill/>
          <a:ln/>
        </p:spPr>
        <p:txBody>
          <a:bodyPr wrap="square"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Hệ thống gợi ý &amp; GNN</a:t>
            </a:r>
            <a:endParaRPr lang="en-US" sz="1600" dirty="0"/>
          </a:p>
        </p:txBody>
      </p:sp>
      <p:sp>
        <p:nvSpPr>
          <p:cNvPr id="6" name="Text 4"/>
          <p:cNvSpPr/>
          <p:nvPr/>
        </p:nvSpPr>
        <p:spPr>
          <a:xfrm>
            <a:off x="320040" y="1353312"/>
            <a:ext cx="4297680" cy="1920240"/>
          </a:xfrm>
          <a:prstGeom prst="rect">
            <a:avLst/>
          </a:prstGeom>
          <a:noFill/>
          <a:ln/>
        </p:spPr>
        <p:txBody>
          <a:bodyPr wrap="square" rtlCol="0" anchor="ctr"/>
          <a:lstStyle/>
          <a:p>
            <a:pPr marL="342900" indent="-342900">
              <a:spcAft>
                <a:spcPts val="600"/>
              </a:spcAft>
              <a:buSzPct val="100000"/>
              <a:buChar char="•"/>
            </a:pPr>
            <a:r>
              <a:rPr lang="en-US" sz="1400" dirty="0" err="1">
                <a:solidFill>
                  <a:srgbClr val="1A2B3C"/>
                </a:solidFill>
                <a:latin typeface="Calibri" pitchFamily="34" charset="0"/>
                <a:ea typeface="Calibri" pitchFamily="34" charset="-122"/>
                <a:cs typeface="Calibri" pitchFamily="34" charset="-120"/>
              </a:rPr>
              <a:t>Phổ</a:t>
            </a:r>
            <a:r>
              <a:rPr lang="en-US" sz="1400" dirty="0">
                <a:solidFill>
                  <a:srgbClr val="1A2B3C"/>
                </a:solidFill>
                <a:latin typeface="Calibri" pitchFamily="34" charset="0"/>
                <a:ea typeface="Calibri" pitchFamily="34" charset="-122"/>
                <a:cs typeface="Calibri" pitchFamily="34" charset="-120"/>
              </a:rPr>
              <a:t> </a:t>
            </a:r>
            <a:r>
              <a:rPr lang="en-US" sz="1400" dirty="0" err="1">
                <a:solidFill>
                  <a:srgbClr val="1A2B3C"/>
                </a:solidFill>
                <a:latin typeface="Calibri" pitchFamily="34" charset="0"/>
                <a:ea typeface="Calibri" pitchFamily="34" charset="-122"/>
                <a:cs typeface="Calibri" pitchFamily="34" charset="-120"/>
              </a:rPr>
              <a:t>biến</a:t>
            </a:r>
            <a:endParaRPr lang="en-US" sz="1400" dirty="0">
              <a:solidFill>
                <a:srgbClr val="1A2B3C"/>
              </a:solidFill>
              <a:latin typeface="Calibri" pitchFamily="34" charset="0"/>
              <a:ea typeface="Calibri" pitchFamily="34" charset="-122"/>
              <a:cs typeface="Calibri" pitchFamily="34" charset="-120"/>
            </a:endParaRPr>
          </a:p>
          <a:p>
            <a:pPr marL="342900" indent="-342900">
              <a:spcAft>
                <a:spcPts val="600"/>
              </a:spcAft>
              <a:buSzPct val="100000"/>
              <a:buChar char="•"/>
            </a:pPr>
            <a:r>
              <a:rPr lang="en-US" sz="1400" dirty="0" err="1">
                <a:solidFill>
                  <a:srgbClr val="1A2B3C"/>
                </a:solidFill>
                <a:latin typeface="Calibri" pitchFamily="34" charset="0"/>
                <a:ea typeface="Calibri" pitchFamily="34" charset="-122"/>
                <a:cs typeface="Calibri" pitchFamily="34" charset="-120"/>
              </a:rPr>
              <a:t>Dữ</a:t>
            </a:r>
            <a:r>
              <a:rPr lang="en-US" sz="1400" dirty="0">
                <a:solidFill>
                  <a:srgbClr val="1A2B3C"/>
                </a:solidFill>
                <a:latin typeface="Calibri" pitchFamily="34" charset="0"/>
                <a:ea typeface="Calibri" pitchFamily="34" charset="-122"/>
                <a:cs typeface="Calibri" pitchFamily="34" charset="-120"/>
              </a:rPr>
              <a:t> liệu user–item là đồ thị hai phía (bipartite graph)</a:t>
            </a:r>
            <a:endParaRPr lang="en-US" sz="1400" dirty="0"/>
          </a:p>
          <a:p>
            <a:pPr marL="342900" indent="-342900">
              <a:spcAft>
                <a:spcPts val="600"/>
              </a:spcAft>
              <a:buSzPct val="100000"/>
              <a:buChar char="•"/>
            </a:pPr>
            <a:r>
              <a:rPr lang="en-US" sz="1400" dirty="0">
                <a:solidFill>
                  <a:srgbClr val="1A2B3C"/>
                </a:solidFill>
                <a:latin typeface="Calibri" pitchFamily="34" charset="0"/>
                <a:ea typeface="Calibri" pitchFamily="34" charset="-122"/>
                <a:cs typeface="Calibri" pitchFamily="34" charset="-120"/>
              </a:rPr>
              <a:t>GNN khai thác cấu trúc quan hệ bậc cao hiệu quả hơn lọc cộng tác truyền thống</a:t>
            </a:r>
            <a:endParaRPr lang="en-US" sz="1400" dirty="0"/>
          </a:p>
          <a:p>
            <a:pPr marL="342900" indent="-342900">
              <a:spcAft>
                <a:spcPts val="600"/>
              </a:spcAft>
              <a:buSzPct val="100000"/>
              <a:buChar char="•"/>
            </a:pPr>
            <a:r>
              <a:rPr lang="en-US" sz="1400" dirty="0">
                <a:solidFill>
                  <a:srgbClr val="1A2B3C"/>
                </a:solidFill>
                <a:latin typeface="Calibri" pitchFamily="34" charset="0"/>
                <a:ea typeface="Calibri" pitchFamily="34" charset="-122"/>
                <a:cs typeface="Calibri" pitchFamily="34" charset="-120"/>
              </a:rPr>
              <a:t>PinSage (Pinterest): 3 tỷ cạnh — phải dùng sampling ngay từ đầu</a:t>
            </a:r>
            <a:endParaRPr lang="en-US" sz="1400" dirty="0"/>
          </a:p>
          <a:p>
            <a:pPr marL="342900" indent="-342900">
              <a:spcAft>
                <a:spcPts val="600"/>
              </a:spcAft>
              <a:buSzPct val="100000"/>
              <a:buChar char="•"/>
            </a:pPr>
            <a:r>
              <a:rPr lang="en-US" sz="1400" dirty="0">
                <a:solidFill>
                  <a:srgbClr val="1A2B3C"/>
                </a:solidFill>
                <a:latin typeface="Calibri" pitchFamily="34" charset="0"/>
                <a:ea typeface="Calibri" pitchFamily="34" charset="-122"/>
                <a:cs typeface="Calibri" pitchFamily="34" charset="-120"/>
              </a:rPr>
              <a:t>NGCF, LightGCN: các mô hình GNN được nghiên cứu và ứng dụng rộng rãi cho hệ thống gợi ý</a:t>
            </a:r>
            <a:endParaRPr lang="en-US" sz="1400" dirty="0"/>
          </a:p>
        </p:txBody>
      </p:sp>
      <p:sp>
        <p:nvSpPr>
          <p:cNvPr id="7" name="Shape 5"/>
          <p:cNvSpPr/>
          <p:nvPr/>
        </p:nvSpPr>
        <p:spPr>
          <a:xfrm>
            <a:off x="320040" y="3483033"/>
            <a:ext cx="4297680" cy="804672"/>
          </a:xfrm>
          <a:prstGeom prst="rect">
            <a:avLst/>
          </a:prstGeom>
          <a:solidFill>
            <a:srgbClr val="EAF4FB"/>
          </a:solidFill>
          <a:ln w="25400">
            <a:solidFill>
              <a:srgbClr val="1C7293"/>
            </a:solidFill>
            <a:prstDash val="solid"/>
          </a:ln>
        </p:spPr>
        <p:txBody>
          <a:bodyPr/>
          <a:lstStyle/>
          <a:p>
            <a:endParaRPr lang="en-VN"/>
          </a:p>
        </p:txBody>
      </p:sp>
      <p:sp>
        <p:nvSpPr>
          <p:cNvPr id="8" name="Text 6"/>
          <p:cNvSpPr/>
          <p:nvPr/>
        </p:nvSpPr>
        <p:spPr>
          <a:xfrm>
            <a:off x="320040" y="3337560"/>
            <a:ext cx="4297680" cy="804672"/>
          </a:xfrm>
          <a:prstGeom prst="rect">
            <a:avLst/>
          </a:prstGeom>
          <a:noFill/>
          <a:ln/>
        </p:spPr>
        <p:txBody>
          <a:bodyPr wrap="square" rtlCol="0" anchor="ctr"/>
          <a:lstStyle/>
          <a:p>
            <a:pPr marL="0" indent="0" algn="ctr">
              <a:buNone/>
            </a:pPr>
            <a:r>
              <a:rPr lang="en-US" sz="1500" b="1" dirty="0">
                <a:solidFill>
                  <a:srgbClr val="065A82"/>
                </a:solidFill>
                <a:latin typeface="Calibri" pitchFamily="34" charset="0"/>
                <a:ea typeface="Calibri" pitchFamily="34" charset="-122"/>
                <a:cs typeface="Calibri" pitchFamily="34" charset="-120"/>
              </a:rPr>
              <a:t>GNN quy mô lớn → nhu cầu Scalability là rào cản </a:t>
            </a:r>
            <a:r>
              <a:rPr lang="en-US" sz="1500" b="1" dirty="0" err="1">
                <a:solidFill>
                  <a:srgbClr val="065A82"/>
                </a:solidFill>
                <a:latin typeface="Calibri" pitchFamily="34" charset="0"/>
                <a:ea typeface="Calibri" pitchFamily="34" charset="-122"/>
                <a:cs typeface="Calibri" pitchFamily="34" charset="-120"/>
              </a:rPr>
              <a:t>thực</a:t>
            </a:r>
            <a:r>
              <a:rPr lang="en-US" sz="1500" b="1" dirty="0">
                <a:solidFill>
                  <a:srgbClr val="065A82"/>
                </a:solidFill>
                <a:latin typeface="Calibri" pitchFamily="34" charset="0"/>
                <a:ea typeface="Calibri" pitchFamily="34" charset="-122"/>
                <a:cs typeface="Calibri" pitchFamily="34" charset="-120"/>
              </a:rPr>
              <a:t> </a:t>
            </a:r>
            <a:r>
              <a:rPr lang="en-US" sz="1500" b="1" dirty="0" err="1">
                <a:solidFill>
                  <a:srgbClr val="065A82"/>
                </a:solidFill>
                <a:latin typeface="Calibri" pitchFamily="34" charset="0"/>
                <a:ea typeface="Calibri" pitchFamily="34" charset="-122"/>
                <a:cs typeface="Calibri" pitchFamily="34" charset="-120"/>
              </a:rPr>
              <a:t>tiễn</a:t>
            </a:r>
            <a:r>
              <a:rPr lang="en-US" sz="1500" b="1" dirty="0">
                <a:solidFill>
                  <a:srgbClr val="065A82"/>
                </a:solidFill>
                <a:latin typeface="Calibri" pitchFamily="34" charset="0"/>
                <a:ea typeface="Calibri" pitchFamily="34" charset="-122"/>
                <a:cs typeface="Calibri" pitchFamily="34" charset="-120"/>
              </a:rPr>
              <a:t> </a:t>
            </a:r>
            <a:r>
              <a:rPr lang="en-US" sz="1500" b="1" dirty="0" err="1">
                <a:solidFill>
                  <a:srgbClr val="065A82"/>
                </a:solidFill>
                <a:latin typeface="Calibri" pitchFamily="34" charset="0"/>
                <a:ea typeface="Calibri" pitchFamily="34" charset="-122"/>
                <a:cs typeface="Calibri" pitchFamily="34" charset="-120"/>
              </a:rPr>
              <a:t>trong</a:t>
            </a:r>
            <a:r>
              <a:rPr lang="en-US" sz="1500" b="1" dirty="0">
                <a:solidFill>
                  <a:srgbClr val="065A82"/>
                </a:solidFill>
                <a:latin typeface="Calibri" pitchFamily="34" charset="0"/>
                <a:ea typeface="Calibri" pitchFamily="34" charset="-122"/>
                <a:cs typeface="Calibri" pitchFamily="34" charset="-120"/>
              </a:rPr>
              <a:t> </a:t>
            </a:r>
            <a:r>
              <a:rPr lang="en-US" sz="1500" b="1" dirty="0" err="1">
                <a:solidFill>
                  <a:srgbClr val="065A82"/>
                </a:solidFill>
                <a:latin typeface="Calibri" pitchFamily="34" charset="0"/>
                <a:ea typeface="Calibri" pitchFamily="34" charset="-122"/>
                <a:cs typeface="Calibri" pitchFamily="34" charset="-120"/>
              </a:rPr>
              <a:t>hệ</a:t>
            </a:r>
            <a:r>
              <a:rPr lang="en-US" sz="1500" b="1" dirty="0">
                <a:solidFill>
                  <a:srgbClr val="065A82"/>
                </a:solidFill>
                <a:latin typeface="Calibri" pitchFamily="34" charset="0"/>
                <a:ea typeface="Calibri" pitchFamily="34" charset="-122"/>
                <a:cs typeface="Calibri" pitchFamily="34" charset="-120"/>
              </a:rPr>
              <a:t> </a:t>
            </a:r>
            <a:r>
              <a:rPr lang="en-US" sz="1500" b="1" dirty="0" err="1">
                <a:solidFill>
                  <a:srgbClr val="065A82"/>
                </a:solidFill>
                <a:latin typeface="Calibri" pitchFamily="34" charset="0"/>
                <a:ea typeface="Calibri" pitchFamily="34" charset="-122"/>
                <a:cs typeface="Calibri" pitchFamily="34" charset="-120"/>
              </a:rPr>
              <a:t>thống</a:t>
            </a:r>
            <a:r>
              <a:rPr lang="en-US" sz="1500" b="1" dirty="0">
                <a:solidFill>
                  <a:srgbClr val="065A82"/>
                </a:solidFill>
                <a:latin typeface="Calibri" pitchFamily="34" charset="0"/>
                <a:ea typeface="Calibri" pitchFamily="34" charset="-122"/>
                <a:cs typeface="Calibri" pitchFamily="34" charset="-120"/>
              </a:rPr>
              <a:t> </a:t>
            </a:r>
            <a:r>
              <a:rPr lang="en-US" sz="1500" b="1" dirty="0" err="1">
                <a:solidFill>
                  <a:srgbClr val="065A82"/>
                </a:solidFill>
                <a:latin typeface="Calibri" pitchFamily="34" charset="0"/>
                <a:ea typeface="Calibri" pitchFamily="34" charset="-122"/>
                <a:cs typeface="Calibri" pitchFamily="34" charset="-120"/>
              </a:rPr>
              <a:t>gợi</a:t>
            </a:r>
            <a:r>
              <a:rPr lang="en-US" sz="1500" b="1" dirty="0">
                <a:solidFill>
                  <a:srgbClr val="065A82"/>
                </a:solidFill>
                <a:latin typeface="Calibri" pitchFamily="34" charset="0"/>
                <a:ea typeface="Calibri" pitchFamily="34" charset="-122"/>
                <a:cs typeface="Calibri" pitchFamily="34" charset="-120"/>
              </a:rPr>
              <a:t> </a:t>
            </a:r>
            <a:r>
              <a:rPr lang="en-US" sz="1500" b="1" dirty="0" err="1">
                <a:solidFill>
                  <a:srgbClr val="065A82"/>
                </a:solidFill>
                <a:latin typeface="Calibri" pitchFamily="34" charset="0"/>
                <a:ea typeface="Calibri" pitchFamily="34" charset="-122"/>
                <a:cs typeface="Calibri" pitchFamily="34" charset="-120"/>
              </a:rPr>
              <a:t>ý</a:t>
            </a:r>
            <a:r>
              <a:rPr lang="en-US" sz="1500" b="1" dirty="0">
                <a:solidFill>
                  <a:srgbClr val="065A82"/>
                </a:solidFill>
                <a:latin typeface="Calibri" pitchFamily="34" charset="0"/>
                <a:ea typeface="Calibri" pitchFamily="34" charset="-122"/>
                <a:cs typeface="Calibri" pitchFamily="34" charset="-120"/>
              </a:rPr>
              <a:t> </a:t>
            </a:r>
            <a:r>
              <a:rPr lang="en-US" sz="1500" b="1" dirty="0" err="1">
                <a:solidFill>
                  <a:srgbClr val="065A82"/>
                </a:solidFill>
                <a:latin typeface="Calibri" pitchFamily="34" charset="0"/>
                <a:ea typeface="Calibri" pitchFamily="34" charset="-122"/>
                <a:cs typeface="Calibri" pitchFamily="34" charset="-120"/>
              </a:rPr>
              <a:t>lớn</a:t>
            </a:r>
            <a:endParaRPr lang="en-US" sz="1500" dirty="0"/>
          </a:p>
        </p:txBody>
      </p:sp>
      <p:sp>
        <p:nvSpPr>
          <p:cNvPr id="9" name="Shape 7"/>
          <p:cNvSpPr/>
          <p:nvPr/>
        </p:nvSpPr>
        <p:spPr>
          <a:xfrm>
            <a:off x="5120640" y="914400"/>
            <a:ext cx="3657600" cy="594360"/>
          </a:xfrm>
          <a:prstGeom prst="rect">
            <a:avLst/>
          </a:prstGeom>
          <a:solidFill>
            <a:srgbClr val="065A82"/>
          </a:solidFill>
          <a:ln w="12700">
            <a:solidFill>
              <a:srgbClr val="065A82"/>
            </a:solidFill>
            <a:prstDash val="solid"/>
          </a:ln>
        </p:spPr>
        <p:txBody>
          <a:bodyPr/>
          <a:lstStyle/>
          <a:p>
            <a:endParaRPr lang="en-VN"/>
          </a:p>
        </p:txBody>
      </p:sp>
      <p:sp>
        <p:nvSpPr>
          <p:cNvPr id="10" name="Text 8"/>
          <p:cNvSpPr/>
          <p:nvPr/>
        </p:nvSpPr>
        <p:spPr>
          <a:xfrm>
            <a:off x="5120640" y="914400"/>
            <a:ext cx="3657600" cy="5943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Hệ </a:t>
            </a:r>
            <a:r>
              <a:rPr lang="en-US" sz="1500" b="1" dirty="0" err="1">
                <a:solidFill>
                  <a:srgbClr val="FFFFFF"/>
                </a:solidFill>
                <a:latin typeface="Calibri" pitchFamily="34" charset="0"/>
                <a:ea typeface="Calibri" pitchFamily="34" charset="-122"/>
                <a:cs typeface="Calibri" pitchFamily="34" charset="-120"/>
              </a:rPr>
              <a:t>thống</a:t>
            </a:r>
            <a:r>
              <a:rPr lang="en-US" sz="1500" b="1" dirty="0">
                <a:solidFill>
                  <a:srgbClr val="FFFFFF"/>
                </a:solidFill>
                <a:latin typeface="Calibri" pitchFamily="34" charset="0"/>
                <a:ea typeface="Calibri" pitchFamily="34" charset="-122"/>
                <a:cs typeface="Calibri" pitchFamily="34" charset="-120"/>
              </a:rPr>
              <a:t> </a:t>
            </a:r>
            <a:r>
              <a:rPr lang="en-US" sz="1500" b="1" dirty="0" err="1">
                <a:solidFill>
                  <a:srgbClr val="FFFFFF"/>
                </a:solidFill>
                <a:latin typeface="Calibri" pitchFamily="34" charset="0"/>
                <a:ea typeface="Calibri" pitchFamily="34" charset="-122"/>
                <a:cs typeface="Calibri" pitchFamily="34" charset="-120"/>
              </a:rPr>
              <a:t>gợi</a:t>
            </a:r>
            <a:r>
              <a:rPr lang="en-US" sz="1500" b="1" dirty="0">
                <a:solidFill>
                  <a:srgbClr val="FFFFFF"/>
                </a:solidFill>
                <a:latin typeface="Calibri" pitchFamily="34" charset="0"/>
                <a:ea typeface="Calibri" pitchFamily="34" charset="-122"/>
                <a:cs typeface="Calibri" pitchFamily="34" charset="-120"/>
              </a:rPr>
              <a:t> ý</a:t>
            </a:r>
            <a:endParaRPr lang="en-US" sz="1500" dirty="0"/>
          </a:p>
        </p:txBody>
      </p:sp>
      <p:sp>
        <p:nvSpPr>
          <p:cNvPr id="11" name="Text 9"/>
          <p:cNvSpPr/>
          <p:nvPr/>
        </p:nvSpPr>
        <p:spPr>
          <a:xfrm>
            <a:off x="6766560" y="1508760"/>
            <a:ext cx="457200" cy="320040"/>
          </a:xfrm>
          <a:prstGeom prst="rect">
            <a:avLst/>
          </a:prstGeom>
          <a:noFill/>
          <a:ln/>
        </p:spPr>
        <p:txBody>
          <a:bodyPr wrap="square" rtlCol="0" anchor="ctr"/>
          <a:lstStyle/>
          <a:p>
            <a:pPr marL="0" indent="0" algn="ctr">
              <a:buNone/>
            </a:pPr>
            <a:r>
              <a:rPr lang="en-US" sz="1600" dirty="0">
                <a:solidFill>
                  <a:srgbClr val="5A6A78"/>
                </a:solidFill>
              </a:rPr>
              <a:t>▼</a:t>
            </a:r>
            <a:endParaRPr lang="en-US" sz="1600" dirty="0"/>
          </a:p>
        </p:txBody>
      </p:sp>
      <p:sp>
        <p:nvSpPr>
          <p:cNvPr id="12" name="Shape 10"/>
          <p:cNvSpPr/>
          <p:nvPr/>
        </p:nvSpPr>
        <p:spPr>
          <a:xfrm>
            <a:off x="5120640" y="1828800"/>
            <a:ext cx="3657600" cy="594360"/>
          </a:xfrm>
          <a:prstGeom prst="rect">
            <a:avLst/>
          </a:prstGeom>
          <a:solidFill>
            <a:srgbClr val="1C7293"/>
          </a:solidFill>
          <a:ln w="12700">
            <a:solidFill>
              <a:srgbClr val="1C7293"/>
            </a:solidFill>
            <a:prstDash val="solid"/>
          </a:ln>
        </p:spPr>
        <p:txBody>
          <a:bodyPr/>
          <a:lstStyle/>
          <a:p>
            <a:endParaRPr lang="en-VN"/>
          </a:p>
        </p:txBody>
      </p:sp>
      <p:sp>
        <p:nvSpPr>
          <p:cNvPr id="13" name="Text 11"/>
          <p:cNvSpPr/>
          <p:nvPr/>
        </p:nvSpPr>
        <p:spPr>
          <a:xfrm>
            <a:off x="5120640" y="1828800"/>
            <a:ext cx="3657600" cy="5943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Mạng </a:t>
            </a:r>
            <a:r>
              <a:rPr lang="en-US" sz="1500" b="1" dirty="0" err="1">
                <a:solidFill>
                  <a:srgbClr val="FFFFFF"/>
                </a:solidFill>
                <a:latin typeface="Calibri" pitchFamily="34" charset="0"/>
                <a:ea typeface="Calibri" pitchFamily="34" charset="-122"/>
                <a:cs typeface="Calibri" pitchFamily="34" charset="-120"/>
              </a:rPr>
              <a:t>Nơ-ron</a:t>
            </a:r>
            <a:r>
              <a:rPr lang="en-US" sz="1500" b="1" dirty="0">
                <a:solidFill>
                  <a:srgbClr val="FFFFFF"/>
                </a:solidFill>
                <a:latin typeface="Calibri" pitchFamily="34" charset="0"/>
                <a:ea typeface="Calibri" pitchFamily="34" charset="-122"/>
                <a:cs typeface="Calibri" pitchFamily="34" charset="-120"/>
              </a:rPr>
              <a:t> </a:t>
            </a:r>
            <a:r>
              <a:rPr lang="en-US" sz="1500" b="1" dirty="0" err="1">
                <a:solidFill>
                  <a:srgbClr val="FFFFFF"/>
                </a:solidFill>
                <a:latin typeface="Calibri" pitchFamily="34" charset="0"/>
                <a:ea typeface="Calibri" pitchFamily="34" charset="-122"/>
                <a:cs typeface="Calibri" pitchFamily="34" charset="-120"/>
              </a:rPr>
              <a:t>đồ</a:t>
            </a:r>
            <a:r>
              <a:rPr lang="en-US" sz="1500" b="1" dirty="0">
                <a:solidFill>
                  <a:srgbClr val="FFFFFF"/>
                </a:solidFill>
                <a:latin typeface="Calibri" pitchFamily="34" charset="0"/>
                <a:ea typeface="Calibri" pitchFamily="34" charset="-122"/>
                <a:cs typeface="Calibri" pitchFamily="34" charset="-120"/>
              </a:rPr>
              <a:t> thị (GNN)</a:t>
            </a:r>
            <a:endParaRPr lang="en-US" sz="1500" dirty="0"/>
          </a:p>
        </p:txBody>
      </p:sp>
      <p:sp>
        <p:nvSpPr>
          <p:cNvPr id="14" name="Text 12"/>
          <p:cNvSpPr/>
          <p:nvPr/>
        </p:nvSpPr>
        <p:spPr>
          <a:xfrm>
            <a:off x="6766560" y="2423160"/>
            <a:ext cx="457200" cy="320040"/>
          </a:xfrm>
          <a:prstGeom prst="rect">
            <a:avLst/>
          </a:prstGeom>
          <a:noFill/>
          <a:ln/>
        </p:spPr>
        <p:txBody>
          <a:bodyPr wrap="square" rtlCol="0" anchor="ctr"/>
          <a:lstStyle/>
          <a:p>
            <a:pPr marL="0" indent="0" algn="ctr">
              <a:buNone/>
            </a:pPr>
            <a:r>
              <a:rPr lang="en-US" sz="1600" dirty="0">
                <a:solidFill>
                  <a:srgbClr val="5A6A78"/>
                </a:solidFill>
              </a:rPr>
              <a:t>▼</a:t>
            </a:r>
            <a:endParaRPr lang="en-US" sz="1600" dirty="0"/>
          </a:p>
        </p:txBody>
      </p:sp>
      <p:sp>
        <p:nvSpPr>
          <p:cNvPr id="15" name="Shape 13"/>
          <p:cNvSpPr/>
          <p:nvPr/>
        </p:nvSpPr>
        <p:spPr>
          <a:xfrm>
            <a:off x="5120640" y="2743200"/>
            <a:ext cx="3657600" cy="594360"/>
          </a:xfrm>
          <a:prstGeom prst="rect">
            <a:avLst/>
          </a:prstGeom>
          <a:solidFill>
            <a:srgbClr val="7B1C1C"/>
          </a:solidFill>
          <a:ln w="12700">
            <a:solidFill>
              <a:srgbClr val="7B1C1C"/>
            </a:solidFill>
            <a:prstDash val="solid"/>
          </a:ln>
        </p:spPr>
        <p:txBody>
          <a:bodyPr/>
          <a:lstStyle/>
          <a:p>
            <a:endParaRPr lang="en-VN"/>
          </a:p>
        </p:txBody>
      </p:sp>
      <p:sp>
        <p:nvSpPr>
          <p:cNvPr id="16" name="Text 14"/>
          <p:cNvSpPr/>
          <p:nvPr/>
        </p:nvSpPr>
        <p:spPr>
          <a:xfrm>
            <a:off x="5120640" y="2743200"/>
            <a:ext cx="3657600" cy="5943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Thách thức Scalability</a:t>
            </a:r>
            <a:endParaRPr lang="en-US" sz="1500" dirty="0"/>
          </a:p>
        </p:txBody>
      </p:sp>
      <p:sp>
        <p:nvSpPr>
          <p:cNvPr id="17" name="Text 15"/>
          <p:cNvSpPr/>
          <p:nvPr/>
        </p:nvSpPr>
        <p:spPr>
          <a:xfrm>
            <a:off x="6766560" y="3337560"/>
            <a:ext cx="457200" cy="320040"/>
          </a:xfrm>
          <a:prstGeom prst="rect">
            <a:avLst/>
          </a:prstGeom>
          <a:noFill/>
          <a:ln/>
        </p:spPr>
        <p:txBody>
          <a:bodyPr wrap="square" rtlCol="0" anchor="ctr"/>
          <a:lstStyle/>
          <a:p>
            <a:pPr marL="0" indent="0" algn="ctr">
              <a:buNone/>
            </a:pPr>
            <a:r>
              <a:rPr lang="en-US" sz="1600" dirty="0">
                <a:solidFill>
                  <a:srgbClr val="5A6A78"/>
                </a:solidFill>
              </a:rPr>
              <a:t>▼</a:t>
            </a:r>
            <a:endParaRPr lang="en-US" sz="1600" dirty="0"/>
          </a:p>
        </p:txBody>
      </p:sp>
      <p:sp>
        <p:nvSpPr>
          <p:cNvPr id="18" name="Shape 16"/>
          <p:cNvSpPr/>
          <p:nvPr/>
        </p:nvSpPr>
        <p:spPr>
          <a:xfrm>
            <a:off x="5120640" y="3657600"/>
            <a:ext cx="3657600" cy="594360"/>
          </a:xfrm>
          <a:prstGeom prst="rect">
            <a:avLst/>
          </a:prstGeom>
          <a:solidFill>
            <a:srgbClr val="9B2226"/>
          </a:solidFill>
          <a:ln w="12700">
            <a:solidFill>
              <a:srgbClr val="9B2226"/>
            </a:solidFill>
            <a:prstDash val="solid"/>
          </a:ln>
        </p:spPr>
        <p:txBody>
          <a:bodyPr/>
          <a:lstStyle/>
          <a:p>
            <a:endParaRPr lang="en-VN"/>
          </a:p>
        </p:txBody>
      </p:sp>
      <p:sp>
        <p:nvSpPr>
          <p:cNvPr id="19" name="Text 17"/>
          <p:cNvSpPr/>
          <p:nvPr/>
        </p:nvSpPr>
        <p:spPr>
          <a:xfrm>
            <a:off x="5120640" y="3657600"/>
            <a:ext cx="3657600" cy="5943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Bùng </a:t>
            </a:r>
            <a:r>
              <a:rPr lang="en-US" sz="1500" b="1" dirty="0" err="1">
                <a:solidFill>
                  <a:srgbClr val="FFFFFF"/>
                </a:solidFill>
                <a:latin typeface="Calibri" pitchFamily="34" charset="0"/>
                <a:ea typeface="Calibri" pitchFamily="34" charset="-122"/>
                <a:cs typeface="Calibri" pitchFamily="34" charset="-120"/>
              </a:rPr>
              <a:t>nổ</a:t>
            </a:r>
            <a:r>
              <a:rPr lang="en-US" sz="1500" b="1" dirty="0">
                <a:solidFill>
                  <a:srgbClr val="FFFFFF"/>
                </a:solidFill>
                <a:latin typeface="Calibri" pitchFamily="34" charset="0"/>
                <a:ea typeface="Calibri" pitchFamily="34" charset="-122"/>
                <a:cs typeface="Calibri" pitchFamily="34" charset="-120"/>
              </a:rPr>
              <a:t> </a:t>
            </a:r>
            <a:r>
              <a:rPr lang="en-US" sz="1500" b="1" dirty="0" err="1">
                <a:solidFill>
                  <a:srgbClr val="FFFFFF"/>
                </a:solidFill>
                <a:latin typeface="Calibri" pitchFamily="34" charset="0"/>
                <a:ea typeface="Calibri" pitchFamily="34" charset="-122"/>
                <a:cs typeface="Calibri" pitchFamily="34" charset="-120"/>
              </a:rPr>
              <a:t>lân</a:t>
            </a:r>
            <a:r>
              <a:rPr lang="en-US" sz="1500" b="1" dirty="0">
                <a:solidFill>
                  <a:srgbClr val="FFFFFF"/>
                </a:solidFill>
                <a:latin typeface="Calibri" pitchFamily="34" charset="0"/>
                <a:ea typeface="Calibri" pitchFamily="34" charset="-122"/>
                <a:cs typeface="Calibri" pitchFamily="34" charset="-120"/>
              </a:rPr>
              <a:t> cận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Mạng Nơ-ron Đồ Thị (GNN): Cơ Chế Message Passing</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4 / 29</a:t>
            </a:r>
            <a:endParaRPr lang="en-US" sz="1000" dirty="0"/>
          </a:p>
        </p:txBody>
      </p:sp>
      <p:sp>
        <p:nvSpPr>
          <p:cNvPr id="5" name="Text 3"/>
          <p:cNvSpPr/>
          <p:nvPr/>
        </p:nvSpPr>
        <p:spPr>
          <a:xfrm>
            <a:off x="274320" y="914400"/>
            <a:ext cx="4160520" cy="384048"/>
          </a:xfrm>
          <a:prstGeom prst="rect">
            <a:avLst/>
          </a:prstGeom>
          <a:noFill/>
          <a:ln/>
        </p:spPr>
        <p:txBody>
          <a:bodyPr wrap="square"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GNN là gì?</a:t>
            </a:r>
            <a:endParaRPr lang="en-US" sz="1600" dirty="0"/>
          </a:p>
        </p:txBody>
      </p:sp>
      <mc:AlternateContent xmlns:mc="http://schemas.openxmlformats.org/markup-compatibility/2006" xmlns:a14="http://schemas.microsoft.com/office/drawing/2010/main">
        <mc:Choice Requires="a14">
          <p:sp>
            <p:nvSpPr>
              <p:cNvPr id="6" name="Text 4"/>
              <p:cNvSpPr/>
              <p:nvPr/>
            </p:nvSpPr>
            <p:spPr>
              <a:xfrm>
                <a:off x="274320" y="1344168"/>
                <a:ext cx="4160520" cy="2057400"/>
              </a:xfrm>
              <a:prstGeom prst="rect">
                <a:avLst/>
              </a:prstGeom>
              <a:noFill/>
              <a:ln/>
            </p:spPr>
            <p:txBody>
              <a:bodyPr wrap="square" rtlCol="0" anchor="ctr"/>
              <a:lstStyle/>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Họ mô hình học đặc trưng đỉnh/cạnh dựa trên cấu trúc đồ thị G = (V, E)</a:t>
                </a:r>
                <a:endParaRPr lang="en-US" sz="1350" dirty="0"/>
              </a:p>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Mỗi đỉnh tích lũy thông tin từ lân cận qua nhiều vòng lặp (tầng)</a:t>
                </a:r>
                <a:endParaRPr lang="en-US" sz="1350" dirty="0"/>
              </a:p>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Sau L </a:t>
                </a:r>
                <a:r>
                  <a:rPr lang="en-US" sz="1350">
                    <a:solidFill>
                      <a:srgbClr val="1A2B3C"/>
                    </a:solidFill>
                    <a:latin typeface="Calibri" pitchFamily="34" charset="0"/>
                    <a:ea typeface="Calibri" pitchFamily="34" charset="-122"/>
                    <a:cs typeface="Calibri" pitchFamily="34" charset="-120"/>
                  </a:rPr>
                  <a:t>tầng: </a:t>
                </a:r>
                <a14:m>
                  <m:oMath xmlns:m="http://schemas.openxmlformats.org/officeDocument/2006/math">
                    <m:sSubSup>
                      <m:sSubSupPr>
                        <m:ctrlPr>
                          <a:rPr lang="en-US" sz="1350" i="1" smtClean="0">
                            <a:solidFill>
                              <a:srgbClr val="1A2B3C"/>
                            </a:solidFill>
                            <a:latin typeface="Cambria Math" panose="02040503050406030204" pitchFamily="18" charset="0"/>
                            <a:ea typeface="Calibri" pitchFamily="34" charset="-122"/>
                            <a:cs typeface="Calibri" pitchFamily="34" charset="-120"/>
                          </a:rPr>
                        </m:ctrlPr>
                      </m:sSubSupPr>
                      <m:e>
                        <m:r>
                          <a:rPr lang="en-US" sz="1350" i="1" smtClean="0">
                            <a:solidFill>
                              <a:srgbClr val="1A2B3C"/>
                            </a:solidFill>
                            <a:latin typeface="Cambria Math" panose="02040503050406030204" pitchFamily="18" charset="0"/>
                            <a:ea typeface="Calibri" pitchFamily="34" charset="-122"/>
                            <a:cs typeface="Calibri" pitchFamily="34" charset="-120"/>
                          </a:rPr>
                          <m:t>h</m:t>
                        </m:r>
                      </m:e>
                      <m:sub>
                        <m:r>
                          <a:rPr lang="en-US" sz="1350" i="1" smtClean="0">
                            <a:solidFill>
                              <a:srgbClr val="1A2B3C"/>
                            </a:solidFill>
                            <a:latin typeface="Cambria Math" panose="02040503050406030204" pitchFamily="18" charset="0"/>
                            <a:ea typeface="Calibri" pitchFamily="34" charset="-122"/>
                            <a:cs typeface="Calibri" pitchFamily="34" charset="-120"/>
                          </a:rPr>
                          <m:t>𝑣</m:t>
                        </m:r>
                      </m:sub>
                      <m:sup>
                        <m:d>
                          <m:dPr>
                            <m:ctrlPr>
                              <a:rPr lang="en-US" sz="1350" i="1" smtClean="0">
                                <a:solidFill>
                                  <a:srgbClr val="1A2B3C"/>
                                </a:solidFill>
                                <a:latin typeface="Cambria Math" panose="02040503050406030204" pitchFamily="18" charset="0"/>
                                <a:ea typeface="Calibri" pitchFamily="34" charset="-122"/>
                                <a:cs typeface="Calibri" pitchFamily="34" charset="-120"/>
                              </a:rPr>
                            </m:ctrlPr>
                          </m:dPr>
                          <m:e>
                            <m:r>
                              <a:rPr lang="en-US" sz="1350" i="1" smtClean="0">
                                <a:solidFill>
                                  <a:srgbClr val="1A2B3C"/>
                                </a:solidFill>
                                <a:latin typeface="Cambria Math" panose="02040503050406030204" pitchFamily="18" charset="0"/>
                                <a:ea typeface="Calibri" pitchFamily="34" charset="-122"/>
                                <a:cs typeface="Calibri" pitchFamily="34" charset="-120"/>
                              </a:rPr>
                              <m:t>𝐿</m:t>
                            </m:r>
                          </m:e>
                        </m:d>
                      </m:sup>
                    </m:sSubSup>
                  </m:oMath>
                </a14:m>
                <a:r>
                  <a:rPr lang="en-US" sz="1350">
                    <a:solidFill>
                      <a:srgbClr val="1A2B3C"/>
                    </a:solidFill>
                    <a:latin typeface="Calibri" pitchFamily="34" charset="0"/>
                    <a:ea typeface="Calibri" pitchFamily="34" charset="-122"/>
                    <a:cs typeface="Calibri" pitchFamily="34" charset="-120"/>
                  </a:rPr>
                  <a:t>mã </a:t>
                </a:r>
                <a:r>
                  <a:rPr lang="en-US" sz="1350" dirty="0">
                    <a:solidFill>
                      <a:srgbClr val="1A2B3C"/>
                    </a:solidFill>
                    <a:latin typeface="Calibri" pitchFamily="34" charset="0"/>
                    <a:ea typeface="Calibri" pitchFamily="34" charset="-122"/>
                    <a:cs typeface="Calibri" pitchFamily="34" charset="-120"/>
                  </a:rPr>
                  <a:t>hóa cấu trúc L-hop xung quanh đỉnh v</a:t>
                </a:r>
                <a:endParaRPr lang="en-US" sz="1350" dirty="0"/>
              </a:p>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Ứng dụng: phân loại đỉnh, dự đoán liên kết, hệ gợi ý</a:t>
                </a:r>
                <a:endParaRPr lang="en-US" sz="1350" dirty="0"/>
              </a:p>
            </p:txBody>
          </p:sp>
        </mc:Choice>
        <mc:Fallback xmlns="">
          <p:sp>
            <p:nvSpPr>
              <p:cNvPr id="6" name="Text 4"/>
              <p:cNvSpPr>
                <a:spLocks noRot="1" noChangeAspect="1" noMove="1" noResize="1" noEditPoints="1" noAdjustHandles="1" noChangeArrowheads="1" noChangeShapeType="1" noTextEdit="1"/>
              </p:cNvSpPr>
              <p:nvPr/>
            </p:nvSpPr>
            <p:spPr>
              <a:xfrm>
                <a:off x="274320" y="1344168"/>
                <a:ext cx="4160520" cy="2057400"/>
              </a:xfrm>
              <a:prstGeom prst="rect">
                <a:avLst/>
              </a:prstGeom>
              <a:blipFill>
                <a:blip r:embed="rId3"/>
                <a:stretch>
                  <a:fillRect l="-304"/>
                </a:stretch>
              </a:blipFill>
              <a:ln/>
            </p:spPr>
            <p:txBody>
              <a:bodyPr/>
              <a:lstStyle/>
              <a:p>
                <a:r>
                  <a:rPr lang="en-VN">
                    <a:noFill/>
                  </a:rPr>
                  <a:t> </a:t>
                </a:r>
              </a:p>
            </p:txBody>
          </p:sp>
        </mc:Fallback>
      </mc:AlternateContent>
      <p:sp>
        <p:nvSpPr>
          <p:cNvPr id="7" name="Shape 5"/>
          <p:cNvSpPr/>
          <p:nvPr/>
        </p:nvSpPr>
        <p:spPr>
          <a:xfrm>
            <a:off x="274320" y="3493008"/>
            <a:ext cx="4160520" cy="804672"/>
          </a:xfrm>
          <a:prstGeom prst="rect">
            <a:avLst/>
          </a:prstGeom>
          <a:solidFill>
            <a:srgbClr val="EAF4FB"/>
          </a:solidFill>
          <a:ln w="25400">
            <a:solidFill>
              <a:srgbClr val="1C7293"/>
            </a:solidFill>
            <a:prstDash val="solid"/>
          </a:ln>
        </p:spPr>
        <p:txBody>
          <a:bodyPr/>
          <a:lstStyle/>
          <a:p>
            <a:endParaRPr lang="en-VN"/>
          </a:p>
        </p:txBody>
      </p:sp>
      <p:sp>
        <p:nvSpPr>
          <p:cNvPr id="8" name="Text 6"/>
          <p:cNvSpPr/>
          <p:nvPr/>
        </p:nvSpPr>
        <p:spPr>
          <a:xfrm>
            <a:off x="274320" y="3493008"/>
            <a:ext cx="4160520" cy="804672"/>
          </a:xfrm>
          <a:prstGeom prst="rect">
            <a:avLst/>
          </a:prstGeom>
          <a:noFill/>
          <a:ln/>
        </p:spPr>
        <p:txBody>
          <a:bodyPr wrap="square" rtlCol="0" anchor="ctr"/>
          <a:lstStyle/>
          <a:p>
            <a:pPr marL="0" indent="0" algn="ctr">
              <a:buNone/>
            </a:pPr>
            <a:r>
              <a:rPr lang="en-US" sz="1300" b="1" dirty="0" err="1">
                <a:solidFill>
                  <a:srgbClr val="065A82"/>
                </a:solidFill>
                <a:latin typeface="Calibri" pitchFamily="34" charset="0"/>
                <a:ea typeface="Calibri" pitchFamily="34" charset="-122"/>
                <a:cs typeface="Calibri" pitchFamily="34" charset="-120"/>
              </a:rPr>
              <a:t>Đặc</a:t>
            </a:r>
            <a:r>
              <a:rPr lang="en-US" sz="1300" b="1" dirty="0">
                <a:solidFill>
                  <a:srgbClr val="065A82"/>
                </a:solidFill>
                <a:latin typeface="Calibri" pitchFamily="34" charset="0"/>
                <a:ea typeface="Calibri" pitchFamily="34" charset="-122"/>
                <a:cs typeface="Calibri" pitchFamily="34" charset="-120"/>
              </a:rPr>
              <a:t> </a:t>
            </a:r>
            <a:r>
              <a:rPr lang="en-US" sz="1300" b="1" dirty="0" err="1">
                <a:solidFill>
                  <a:srgbClr val="065A82"/>
                </a:solidFill>
                <a:latin typeface="Calibri" pitchFamily="34" charset="0"/>
                <a:ea typeface="Calibri" pitchFamily="34" charset="-122"/>
                <a:cs typeface="Calibri" pitchFamily="34" charset="-120"/>
              </a:rPr>
              <a:t>trưng</a:t>
            </a:r>
            <a:r>
              <a:rPr lang="en-US" sz="1300" b="1" dirty="0">
                <a:solidFill>
                  <a:srgbClr val="065A82"/>
                </a:solidFill>
                <a:latin typeface="Calibri" pitchFamily="34" charset="0"/>
                <a:ea typeface="Calibri" pitchFamily="34" charset="-122"/>
                <a:cs typeface="Calibri" pitchFamily="34" charset="-120"/>
              </a:rPr>
              <a:t>: đỉnh được lan truyền qua cấu trúc đồ thị — không huấn luyện độc lập như MLP.</a:t>
            </a:r>
            <a:endParaRPr lang="en-US" sz="1300" dirty="0"/>
          </a:p>
        </p:txBody>
      </p:sp>
      <p:sp>
        <p:nvSpPr>
          <p:cNvPr id="9" name="Shape 7"/>
          <p:cNvSpPr/>
          <p:nvPr/>
        </p:nvSpPr>
        <p:spPr>
          <a:xfrm>
            <a:off x="4663440" y="886968"/>
            <a:ext cx="0" cy="3950208"/>
          </a:xfrm>
          <a:prstGeom prst="line">
            <a:avLst/>
          </a:prstGeom>
          <a:noFill/>
          <a:ln w="12700">
            <a:solidFill>
              <a:srgbClr val="E2E8F0"/>
            </a:solidFill>
            <a:prstDash val="solid"/>
          </a:ln>
        </p:spPr>
        <p:txBody>
          <a:bodyPr/>
          <a:lstStyle/>
          <a:p>
            <a:endParaRPr lang="en-VN"/>
          </a:p>
        </p:txBody>
      </p:sp>
      <p:sp>
        <p:nvSpPr>
          <p:cNvPr id="10" name="Text 8"/>
          <p:cNvSpPr/>
          <p:nvPr/>
        </p:nvSpPr>
        <p:spPr>
          <a:xfrm>
            <a:off x="4846320" y="914400"/>
            <a:ext cx="4023360" cy="384048"/>
          </a:xfrm>
          <a:prstGeom prst="rect">
            <a:avLst/>
          </a:prstGeom>
          <a:noFill/>
          <a:ln/>
        </p:spPr>
        <p:txBody>
          <a:bodyPr wrap="square"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Khung Message Passing (MPNN)</a:t>
            </a:r>
            <a:endParaRPr lang="en-US" sz="1600" dirty="0"/>
          </a:p>
        </p:txBody>
      </p:sp>
      <p:sp>
        <p:nvSpPr>
          <p:cNvPr id="11" name="Shape 9"/>
          <p:cNvSpPr/>
          <p:nvPr/>
        </p:nvSpPr>
        <p:spPr>
          <a:xfrm>
            <a:off x="4846320" y="1344168"/>
            <a:ext cx="4023360" cy="804672"/>
          </a:xfrm>
          <a:prstGeom prst="rect">
            <a:avLst/>
          </a:prstGeom>
          <a:solidFill>
            <a:srgbClr val="F1F5F9"/>
          </a:solidFill>
          <a:ln w="22860">
            <a:solidFill>
              <a:srgbClr val="1C7293"/>
            </a:solidFill>
            <a:prstDash val="solid"/>
          </a:ln>
        </p:spPr>
        <p:txBody>
          <a:bodyPr/>
          <a:lstStyle/>
          <a:p>
            <a:endParaRPr lang="en-VN"/>
          </a:p>
        </p:txBody>
      </p:sp>
      <p:sp>
        <p:nvSpPr>
          <p:cNvPr id="12" name="Text 10"/>
          <p:cNvSpPr/>
          <p:nvPr/>
        </p:nvSpPr>
        <p:spPr>
          <a:xfrm>
            <a:off x="4956048" y="1380744"/>
            <a:ext cx="3840480" cy="219456"/>
          </a:xfrm>
          <a:prstGeom prst="rect">
            <a:avLst/>
          </a:prstGeom>
          <a:noFill/>
          <a:ln/>
        </p:spPr>
        <p:txBody>
          <a:bodyPr wrap="square"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Bước 0 — Khởi tạo</a:t>
            </a:r>
            <a:endParaRPr lang="en-US" sz="1100" dirty="0"/>
          </a:p>
        </p:txBody>
      </p:sp>
      <p:pic>
        <p:nvPicPr>
          <p:cNvPr id="13" name="Image 0" descr="/sessions/festive-admiring-rubin/mnt/outputs/formulas/f0_init.png"/>
          <p:cNvPicPr>
            <a:picLocks noChangeAspect="1"/>
          </p:cNvPicPr>
          <p:nvPr/>
        </p:nvPicPr>
        <p:blipFill>
          <a:blip r:embed="rId4"/>
          <a:stretch>
            <a:fillRect/>
          </a:stretch>
        </p:blipFill>
        <p:spPr>
          <a:xfrm>
            <a:off x="4864608" y="1581912"/>
            <a:ext cx="3913632" cy="320040"/>
          </a:xfrm>
          <a:prstGeom prst="rect">
            <a:avLst/>
          </a:prstGeom>
        </p:spPr>
      </p:pic>
      <p:sp>
        <p:nvSpPr>
          <p:cNvPr id="14" name="Text 11"/>
          <p:cNvSpPr/>
          <p:nvPr/>
        </p:nvSpPr>
        <p:spPr>
          <a:xfrm>
            <a:off x="4956048" y="1920240"/>
            <a:ext cx="3840480" cy="201168"/>
          </a:xfrm>
          <a:prstGeom prst="rect">
            <a:avLst/>
          </a:prstGeom>
          <a:noFill/>
          <a:ln/>
        </p:spPr>
        <p:txBody>
          <a:bodyPr wrap="square" rtlCol="0" anchor="ctr"/>
          <a:lstStyle/>
          <a:p>
            <a:pPr marL="0" indent="0">
              <a:buNone/>
            </a:pPr>
            <a:r>
              <a:rPr lang="en-US" sz="1100" i="1" dirty="0">
                <a:solidFill>
                  <a:srgbClr val="5A6A78"/>
                </a:solidFill>
                <a:latin typeface="Calibri" pitchFamily="34" charset="0"/>
                <a:ea typeface="Calibri" pitchFamily="34" charset="-122"/>
                <a:cs typeface="Calibri" pitchFamily="34" charset="-120"/>
              </a:rPr>
              <a:t>đặc trưng đầu vào của đỉnh v</a:t>
            </a:r>
            <a:endParaRPr lang="en-US" sz="1100" dirty="0"/>
          </a:p>
        </p:txBody>
      </p:sp>
      <p:sp>
        <p:nvSpPr>
          <p:cNvPr id="15" name="Shape 12"/>
          <p:cNvSpPr/>
          <p:nvPr/>
        </p:nvSpPr>
        <p:spPr>
          <a:xfrm>
            <a:off x="4846320" y="2221992"/>
            <a:ext cx="4023360" cy="804672"/>
          </a:xfrm>
          <a:prstGeom prst="rect">
            <a:avLst/>
          </a:prstGeom>
          <a:solidFill>
            <a:srgbClr val="F1F5F9"/>
          </a:solidFill>
          <a:ln w="22860">
            <a:solidFill>
              <a:srgbClr val="065A82"/>
            </a:solidFill>
            <a:prstDash val="solid"/>
          </a:ln>
        </p:spPr>
        <p:txBody>
          <a:bodyPr/>
          <a:lstStyle/>
          <a:p>
            <a:endParaRPr lang="en-VN"/>
          </a:p>
        </p:txBody>
      </p:sp>
      <p:sp>
        <p:nvSpPr>
          <p:cNvPr id="16" name="Text 13"/>
          <p:cNvSpPr/>
          <p:nvPr/>
        </p:nvSpPr>
        <p:spPr>
          <a:xfrm>
            <a:off x="4956048" y="2258568"/>
            <a:ext cx="3840480" cy="219456"/>
          </a:xfrm>
          <a:prstGeom prst="rect">
            <a:avLst/>
          </a:prstGeom>
          <a:noFill/>
          <a:ln/>
        </p:spPr>
        <p:txBody>
          <a:bodyPr wrap="square" rtlCol="0" anchor="ctr"/>
          <a:lstStyle/>
          <a:p>
            <a:pPr marL="0" indent="0">
              <a:buNone/>
            </a:pPr>
            <a:r>
              <a:rPr lang="en-US" sz="1100" b="1" dirty="0">
                <a:solidFill>
                  <a:srgbClr val="065A82"/>
                </a:solidFill>
                <a:latin typeface="Calibri" pitchFamily="34" charset="0"/>
                <a:ea typeface="Calibri" pitchFamily="34" charset="-122"/>
                <a:cs typeface="Calibri" pitchFamily="34" charset="-120"/>
              </a:rPr>
              <a:t>Bước 1 — Aggregate (tổng hợp)</a:t>
            </a:r>
            <a:endParaRPr lang="en-US" sz="1100" dirty="0"/>
          </a:p>
        </p:txBody>
      </p:sp>
      <p:pic>
        <p:nvPicPr>
          <p:cNvPr id="17" name="Image 1" descr="/sessions/festive-admiring-rubin/mnt/outputs/formulas/f1_agg.png"/>
          <p:cNvPicPr>
            <a:picLocks noChangeAspect="1"/>
          </p:cNvPicPr>
          <p:nvPr/>
        </p:nvPicPr>
        <p:blipFill>
          <a:blip r:embed="rId5"/>
          <a:stretch>
            <a:fillRect/>
          </a:stretch>
        </p:blipFill>
        <p:spPr>
          <a:xfrm>
            <a:off x="4864608" y="2459736"/>
            <a:ext cx="3913632" cy="320040"/>
          </a:xfrm>
          <a:prstGeom prst="rect">
            <a:avLst/>
          </a:prstGeom>
        </p:spPr>
      </p:pic>
      <p:sp>
        <p:nvSpPr>
          <p:cNvPr id="18" name="Text 14"/>
          <p:cNvSpPr/>
          <p:nvPr/>
        </p:nvSpPr>
        <p:spPr>
          <a:xfrm>
            <a:off x="4956048" y="2798064"/>
            <a:ext cx="3840480" cy="201168"/>
          </a:xfrm>
          <a:prstGeom prst="rect">
            <a:avLst/>
          </a:prstGeom>
          <a:noFill/>
          <a:ln/>
        </p:spPr>
        <p:txBody>
          <a:bodyPr wrap="square" rtlCol="0" anchor="ctr"/>
          <a:lstStyle/>
          <a:p>
            <a:pPr marL="0" indent="0">
              <a:buNone/>
            </a:pPr>
            <a:r>
              <a:rPr lang="en-US" sz="1100" i="1" dirty="0">
                <a:solidFill>
                  <a:srgbClr val="5A6A78"/>
                </a:solidFill>
                <a:latin typeface="Calibri" pitchFamily="34" charset="0"/>
                <a:ea typeface="Calibri" pitchFamily="34" charset="-122"/>
                <a:cs typeface="Calibri" pitchFamily="34" charset="-120"/>
              </a:rPr>
              <a:t>gom thông điệp từ toàn bộ lân cận</a:t>
            </a:r>
            <a:endParaRPr lang="en-US" sz="1100" dirty="0"/>
          </a:p>
        </p:txBody>
      </p:sp>
      <p:sp>
        <p:nvSpPr>
          <p:cNvPr id="19" name="Shape 15"/>
          <p:cNvSpPr/>
          <p:nvPr/>
        </p:nvSpPr>
        <p:spPr>
          <a:xfrm>
            <a:off x="4846320" y="3099816"/>
            <a:ext cx="4023360" cy="804672"/>
          </a:xfrm>
          <a:prstGeom prst="rect">
            <a:avLst/>
          </a:prstGeom>
          <a:solidFill>
            <a:srgbClr val="F1F5F9"/>
          </a:solidFill>
          <a:ln w="22860">
            <a:solidFill>
              <a:srgbClr val="065A82"/>
            </a:solidFill>
            <a:prstDash val="solid"/>
          </a:ln>
        </p:spPr>
        <p:txBody>
          <a:bodyPr/>
          <a:lstStyle/>
          <a:p>
            <a:endParaRPr lang="en-VN"/>
          </a:p>
        </p:txBody>
      </p:sp>
      <p:sp>
        <p:nvSpPr>
          <p:cNvPr id="20" name="Text 16"/>
          <p:cNvSpPr/>
          <p:nvPr/>
        </p:nvSpPr>
        <p:spPr>
          <a:xfrm>
            <a:off x="4956048" y="3136392"/>
            <a:ext cx="3840480" cy="219456"/>
          </a:xfrm>
          <a:prstGeom prst="rect">
            <a:avLst/>
          </a:prstGeom>
          <a:noFill/>
          <a:ln/>
        </p:spPr>
        <p:txBody>
          <a:bodyPr wrap="square" rtlCol="0" anchor="ctr"/>
          <a:lstStyle/>
          <a:p>
            <a:pPr marL="0" indent="0">
              <a:buNone/>
            </a:pPr>
            <a:r>
              <a:rPr lang="en-US" sz="1100" b="1" dirty="0">
                <a:solidFill>
                  <a:srgbClr val="065A82"/>
                </a:solidFill>
                <a:latin typeface="Calibri" pitchFamily="34" charset="0"/>
                <a:ea typeface="Calibri" pitchFamily="34" charset="-122"/>
                <a:cs typeface="Calibri" pitchFamily="34" charset="-120"/>
              </a:rPr>
              <a:t>Bước 2 — Update (cập nhật)</a:t>
            </a:r>
            <a:endParaRPr lang="en-US" sz="1100" dirty="0"/>
          </a:p>
        </p:txBody>
      </p:sp>
      <p:pic>
        <p:nvPicPr>
          <p:cNvPr id="21" name="Image 2" descr="/sessions/festive-admiring-rubin/mnt/outputs/formulas/f2_upd.png"/>
          <p:cNvPicPr>
            <a:picLocks noChangeAspect="1"/>
          </p:cNvPicPr>
          <p:nvPr/>
        </p:nvPicPr>
        <p:blipFill>
          <a:blip r:embed="rId6"/>
          <a:stretch>
            <a:fillRect/>
          </a:stretch>
        </p:blipFill>
        <p:spPr>
          <a:xfrm>
            <a:off x="4864608" y="3337560"/>
            <a:ext cx="3913632" cy="320040"/>
          </a:xfrm>
          <a:prstGeom prst="rect">
            <a:avLst/>
          </a:prstGeom>
        </p:spPr>
      </p:pic>
      <p:sp>
        <p:nvSpPr>
          <p:cNvPr id="22" name="Text 17"/>
          <p:cNvSpPr/>
          <p:nvPr/>
        </p:nvSpPr>
        <p:spPr>
          <a:xfrm>
            <a:off x="4956048" y="3675888"/>
            <a:ext cx="3840480" cy="201168"/>
          </a:xfrm>
          <a:prstGeom prst="rect">
            <a:avLst/>
          </a:prstGeom>
          <a:noFill/>
          <a:ln/>
        </p:spPr>
        <p:txBody>
          <a:bodyPr wrap="square" rtlCol="0" anchor="ctr"/>
          <a:lstStyle/>
          <a:p>
            <a:pPr marL="0" indent="0">
              <a:buNone/>
            </a:pPr>
            <a:r>
              <a:rPr lang="en-US" sz="1100" i="1" dirty="0">
                <a:solidFill>
                  <a:srgbClr val="5A6A78"/>
                </a:solidFill>
                <a:latin typeface="Calibri" pitchFamily="34" charset="0"/>
                <a:ea typeface="Calibri" pitchFamily="34" charset="-122"/>
                <a:cs typeface="Calibri" pitchFamily="34" charset="-120"/>
              </a:rPr>
              <a:t>kết hợp thông tin cũ + thông điệp mới</a:t>
            </a:r>
            <a:endParaRPr lang="en-US" sz="1100" dirty="0"/>
          </a:p>
        </p:txBody>
      </p:sp>
      <p:sp>
        <p:nvSpPr>
          <p:cNvPr id="23" name="Shape 18"/>
          <p:cNvSpPr/>
          <p:nvPr/>
        </p:nvSpPr>
        <p:spPr>
          <a:xfrm>
            <a:off x="4846320" y="3977640"/>
            <a:ext cx="4023360" cy="804672"/>
          </a:xfrm>
          <a:prstGeom prst="rect">
            <a:avLst/>
          </a:prstGeom>
          <a:solidFill>
            <a:srgbClr val="F1F5F9"/>
          </a:solidFill>
          <a:ln w="22860">
            <a:solidFill>
              <a:srgbClr val="02C39A"/>
            </a:solidFill>
            <a:prstDash val="solid"/>
          </a:ln>
        </p:spPr>
        <p:txBody>
          <a:bodyPr/>
          <a:lstStyle/>
          <a:p>
            <a:endParaRPr lang="en-VN"/>
          </a:p>
        </p:txBody>
      </p:sp>
      <p:sp>
        <p:nvSpPr>
          <p:cNvPr id="24" name="Text 19"/>
          <p:cNvSpPr/>
          <p:nvPr/>
        </p:nvSpPr>
        <p:spPr>
          <a:xfrm>
            <a:off x="4956048" y="4014216"/>
            <a:ext cx="3840480" cy="219456"/>
          </a:xfrm>
          <a:prstGeom prst="rect">
            <a:avLst/>
          </a:prstGeom>
          <a:noFill/>
          <a:ln/>
        </p:spPr>
        <p:txBody>
          <a:bodyPr wrap="square"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Bước 3 — Predict (dự đoán)</a:t>
            </a:r>
            <a:endParaRPr lang="en-US" sz="1100" dirty="0"/>
          </a:p>
        </p:txBody>
      </p:sp>
      <p:pic>
        <p:nvPicPr>
          <p:cNvPr id="25" name="Image 3" descr="/sessions/festive-admiring-rubin/mnt/outputs/formulas/f3_pred.png"/>
          <p:cNvPicPr>
            <a:picLocks noChangeAspect="1"/>
          </p:cNvPicPr>
          <p:nvPr/>
        </p:nvPicPr>
        <p:blipFill>
          <a:blip r:embed="rId7"/>
          <a:stretch>
            <a:fillRect/>
          </a:stretch>
        </p:blipFill>
        <p:spPr>
          <a:xfrm>
            <a:off x="4864608" y="4215384"/>
            <a:ext cx="3913632" cy="320040"/>
          </a:xfrm>
          <a:prstGeom prst="rect">
            <a:avLst/>
          </a:prstGeom>
        </p:spPr>
      </p:pic>
      <p:sp>
        <p:nvSpPr>
          <p:cNvPr id="26" name="Text 20"/>
          <p:cNvSpPr/>
          <p:nvPr/>
        </p:nvSpPr>
        <p:spPr>
          <a:xfrm>
            <a:off x="4956048" y="4553712"/>
            <a:ext cx="3840480" cy="201168"/>
          </a:xfrm>
          <a:prstGeom prst="rect">
            <a:avLst/>
          </a:prstGeom>
          <a:noFill/>
          <a:ln/>
        </p:spPr>
        <p:txBody>
          <a:bodyPr wrap="square" rtlCol="0" anchor="ctr"/>
          <a:lstStyle/>
          <a:p>
            <a:pPr marL="0" indent="0">
              <a:buNone/>
            </a:pPr>
            <a:r>
              <a:rPr lang="en-US" sz="1100" i="1" dirty="0">
                <a:solidFill>
                  <a:srgbClr val="5A6A78"/>
                </a:solidFill>
                <a:latin typeface="Calibri" pitchFamily="34" charset="0"/>
                <a:ea typeface="Calibri" pitchFamily="34" charset="-122"/>
                <a:cs typeface="Calibri" pitchFamily="34" charset="-120"/>
              </a:rPr>
              <a:t>phân loại đỉnh / tác vụ đầu cuối</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Thông Tin Lan Truyền Qua Từng Tầng GNN</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5 / 29</a:t>
            </a:r>
            <a:endParaRPr lang="en-US" sz="1000" dirty="0"/>
          </a:p>
        </p:txBody>
      </p:sp>
      <p:sp>
        <p:nvSpPr>
          <p:cNvPr id="5" name="Shape 3"/>
          <p:cNvSpPr/>
          <p:nvPr/>
        </p:nvSpPr>
        <p:spPr>
          <a:xfrm>
            <a:off x="182880" y="841248"/>
            <a:ext cx="2651760" cy="3840480"/>
          </a:xfrm>
          <a:prstGeom prst="rect">
            <a:avLst/>
          </a:prstGeom>
          <a:solidFill>
            <a:srgbClr val="F8FAFB"/>
          </a:solidFill>
          <a:ln w="19050">
            <a:solidFill>
              <a:srgbClr val="CBD5E1"/>
            </a:solidFill>
            <a:prstDash val="solid"/>
          </a:ln>
        </p:spPr>
        <p:txBody>
          <a:bodyPr/>
          <a:lstStyle/>
          <a:p>
            <a:endParaRPr lang="en-VN"/>
          </a:p>
        </p:txBody>
      </p:sp>
      <p:sp>
        <p:nvSpPr>
          <p:cNvPr id="6" name="Shape 4"/>
          <p:cNvSpPr/>
          <p:nvPr/>
        </p:nvSpPr>
        <p:spPr>
          <a:xfrm>
            <a:off x="182880" y="841248"/>
            <a:ext cx="2651760" cy="347472"/>
          </a:xfrm>
          <a:prstGeom prst="rect">
            <a:avLst/>
          </a:prstGeom>
          <a:solidFill>
            <a:srgbClr val="5A6A78"/>
          </a:solidFill>
          <a:ln w="12700">
            <a:solidFill>
              <a:srgbClr val="000000"/>
            </a:solidFill>
            <a:prstDash val="solid"/>
          </a:ln>
        </p:spPr>
        <p:txBody>
          <a:bodyPr/>
          <a:lstStyle/>
          <a:p>
            <a:endParaRPr lang="en-VN"/>
          </a:p>
        </p:txBody>
      </p:sp>
      <p:sp>
        <p:nvSpPr>
          <p:cNvPr id="7" name="Text 5"/>
          <p:cNvSpPr/>
          <p:nvPr/>
        </p:nvSpPr>
        <p:spPr>
          <a:xfrm>
            <a:off x="182880" y="841248"/>
            <a:ext cx="265176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Tầng 0 — Khởi tạo</a:t>
            </a:r>
            <a:endParaRPr lang="en-US" sz="1300" dirty="0"/>
          </a:p>
        </p:txBody>
      </p:sp>
      <p:sp>
        <p:nvSpPr>
          <p:cNvPr id="8" name="Shape 6"/>
          <p:cNvSpPr/>
          <p:nvPr/>
        </p:nvSpPr>
        <p:spPr>
          <a:xfrm>
            <a:off x="1508760" y="2148840"/>
            <a:ext cx="9144" cy="548640"/>
          </a:xfrm>
          <a:prstGeom prst="line">
            <a:avLst/>
          </a:prstGeom>
          <a:noFill/>
          <a:ln w="25400">
            <a:solidFill>
              <a:srgbClr val="D8E4EA"/>
            </a:solidFill>
            <a:prstDash val="solid"/>
          </a:ln>
        </p:spPr>
        <p:txBody>
          <a:bodyPr/>
          <a:lstStyle/>
          <a:p>
            <a:endParaRPr lang="en-VN"/>
          </a:p>
        </p:txBody>
      </p:sp>
      <p:sp>
        <p:nvSpPr>
          <p:cNvPr id="9" name="Shape 7"/>
          <p:cNvSpPr/>
          <p:nvPr/>
        </p:nvSpPr>
        <p:spPr>
          <a:xfrm>
            <a:off x="1508760" y="2697480"/>
            <a:ext cx="548640" cy="9144"/>
          </a:xfrm>
          <a:prstGeom prst="line">
            <a:avLst/>
          </a:prstGeom>
          <a:noFill/>
          <a:ln w="25400">
            <a:solidFill>
              <a:srgbClr val="D8E4EA"/>
            </a:solidFill>
            <a:prstDash val="solid"/>
          </a:ln>
        </p:spPr>
        <p:txBody>
          <a:bodyPr/>
          <a:lstStyle/>
          <a:p>
            <a:endParaRPr lang="en-VN"/>
          </a:p>
        </p:txBody>
      </p:sp>
      <p:sp>
        <p:nvSpPr>
          <p:cNvPr id="10" name="Shape 8"/>
          <p:cNvSpPr/>
          <p:nvPr/>
        </p:nvSpPr>
        <p:spPr>
          <a:xfrm>
            <a:off x="1508760" y="2697480"/>
            <a:ext cx="9144" cy="548640"/>
          </a:xfrm>
          <a:prstGeom prst="line">
            <a:avLst/>
          </a:prstGeom>
          <a:noFill/>
          <a:ln w="25400">
            <a:solidFill>
              <a:srgbClr val="D8E4EA"/>
            </a:solidFill>
            <a:prstDash val="solid"/>
          </a:ln>
        </p:spPr>
        <p:txBody>
          <a:bodyPr/>
          <a:lstStyle/>
          <a:p>
            <a:endParaRPr lang="en-VN"/>
          </a:p>
        </p:txBody>
      </p:sp>
      <p:sp>
        <p:nvSpPr>
          <p:cNvPr id="11" name="Shape 9"/>
          <p:cNvSpPr/>
          <p:nvPr/>
        </p:nvSpPr>
        <p:spPr>
          <a:xfrm>
            <a:off x="960120" y="2697480"/>
            <a:ext cx="548640" cy="9144"/>
          </a:xfrm>
          <a:prstGeom prst="line">
            <a:avLst/>
          </a:prstGeom>
          <a:noFill/>
          <a:ln w="25400">
            <a:solidFill>
              <a:srgbClr val="D8E4EA"/>
            </a:solidFill>
            <a:prstDash val="solid"/>
          </a:ln>
        </p:spPr>
        <p:txBody>
          <a:bodyPr/>
          <a:lstStyle/>
          <a:p>
            <a:endParaRPr lang="en-VN"/>
          </a:p>
        </p:txBody>
      </p:sp>
      <p:sp>
        <p:nvSpPr>
          <p:cNvPr id="12" name="Shape 10"/>
          <p:cNvSpPr/>
          <p:nvPr/>
        </p:nvSpPr>
        <p:spPr>
          <a:xfrm>
            <a:off x="1344168" y="1984248"/>
            <a:ext cx="329184" cy="329184"/>
          </a:xfrm>
          <a:prstGeom prst="ellipse">
            <a:avLst/>
          </a:prstGeom>
          <a:solidFill>
            <a:srgbClr val="B8C4CB"/>
          </a:solidFill>
          <a:ln w="22860">
            <a:solidFill>
              <a:srgbClr val="B8C4CB"/>
            </a:solidFill>
            <a:prstDash val="solid"/>
          </a:ln>
        </p:spPr>
        <p:txBody>
          <a:bodyPr/>
          <a:lstStyle/>
          <a:p>
            <a:endParaRPr lang="en-VN"/>
          </a:p>
        </p:txBody>
      </p:sp>
      <p:sp>
        <p:nvSpPr>
          <p:cNvPr id="13" name="Text 11"/>
          <p:cNvSpPr/>
          <p:nvPr/>
        </p:nvSpPr>
        <p:spPr>
          <a:xfrm>
            <a:off x="1344168" y="198424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14" name="Shape 12"/>
          <p:cNvSpPr/>
          <p:nvPr/>
        </p:nvSpPr>
        <p:spPr>
          <a:xfrm>
            <a:off x="1892808" y="2532888"/>
            <a:ext cx="329184" cy="329184"/>
          </a:xfrm>
          <a:prstGeom prst="ellipse">
            <a:avLst/>
          </a:prstGeom>
          <a:solidFill>
            <a:srgbClr val="B8C4CB"/>
          </a:solidFill>
          <a:ln w="22860">
            <a:solidFill>
              <a:srgbClr val="B8C4CB"/>
            </a:solidFill>
            <a:prstDash val="solid"/>
          </a:ln>
        </p:spPr>
        <p:txBody>
          <a:bodyPr/>
          <a:lstStyle/>
          <a:p>
            <a:endParaRPr lang="en-VN"/>
          </a:p>
        </p:txBody>
      </p:sp>
      <p:sp>
        <p:nvSpPr>
          <p:cNvPr id="15" name="Text 13"/>
          <p:cNvSpPr/>
          <p:nvPr/>
        </p:nvSpPr>
        <p:spPr>
          <a:xfrm>
            <a:off x="1892808" y="253288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16" name="Shape 14"/>
          <p:cNvSpPr/>
          <p:nvPr/>
        </p:nvSpPr>
        <p:spPr>
          <a:xfrm>
            <a:off x="1344168" y="3081528"/>
            <a:ext cx="329184" cy="329184"/>
          </a:xfrm>
          <a:prstGeom prst="ellipse">
            <a:avLst/>
          </a:prstGeom>
          <a:solidFill>
            <a:srgbClr val="B8C4CB"/>
          </a:solidFill>
          <a:ln w="22860">
            <a:solidFill>
              <a:srgbClr val="B8C4CB"/>
            </a:solidFill>
            <a:prstDash val="solid"/>
          </a:ln>
        </p:spPr>
        <p:txBody>
          <a:bodyPr/>
          <a:lstStyle/>
          <a:p>
            <a:endParaRPr lang="en-VN"/>
          </a:p>
        </p:txBody>
      </p:sp>
      <p:sp>
        <p:nvSpPr>
          <p:cNvPr id="17" name="Text 15"/>
          <p:cNvSpPr/>
          <p:nvPr/>
        </p:nvSpPr>
        <p:spPr>
          <a:xfrm>
            <a:off x="1344168" y="308152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18" name="Shape 16"/>
          <p:cNvSpPr/>
          <p:nvPr/>
        </p:nvSpPr>
        <p:spPr>
          <a:xfrm>
            <a:off x="795528" y="2532888"/>
            <a:ext cx="329184" cy="329184"/>
          </a:xfrm>
          <a:prstGeom prst="ellipse">
            <a:avLst/>
          </a:prstGeom>
          <a:solidFill>
            <a:srgbClr val="B8C4CB"/>
          </a:solidFill>
          <a:ln w="22860">
            <a:solidFill>
              <a:srgbClr val="B8C4CB"/>
            </a:solidFill>
            <a:prstDash val="solid"/>
          </a:ln>
        </p:spPr>
        <p:txBody>
          <a:bodyPr/>
          <a:lstStyle/>
          <a:p>
            <a:endParaRPr lang="en-VN"/>
          </a:p>
        </p:txBody>
      </p:sp>
      <p:sp>
        <p:nvSpPr>
          <p:cNvPr id="19" name="Text 17"/>
          <p:cNvSpPr/>
          <p:nvPr/>
        </p:nvSpPr>
        <p:spPr>
          <a:xfrm>
            <a:off x="795528" y="253288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a:t>
            </a:r>
            <a:endParaRPr lang="en-US" sz="900" dirty="0"/>
          </a:p>
        </p:txBody>
      </p:sp>
      <p:sp>
        <p:nvSpPr>
          <p:cNvPr id="20" name="Shape 18"/>
          <p:cNvSpPr/>
          <p:nvPr/>
        </p:nvSpPr>
        <p:spPr>
          <a:xfrm>
            <a:off x="1289304" y="2478024"/>
            <a:ext cx="438912" cy="438912"/>
          </a:xfrm>
          <a:prstGeom prst="ellipse">
            <a:avLst/>
          </a:prstGeom>
          <a:solidFill>
            <a:srgbClr val="065A82"/>
          </a:solidFill>
          <a:ln w="31750">
            <a:solidFill>
              <a:srgbClr val="F4A261"/>
            </a:solidFill>
            <a:prstDash val="solid"/>
          </a:ln>
        </p:spPr>
        <p:txBody>
          <a:bodyPr/>
          <a:lstStyle/>
          <a:p>
            <a:endParaRPr lang="en-VN"/>
          </a:p>
        </p:txBody>
      </p:sp>
      <p:sp>
        <p:nvSpPr>
          <p:cNvPr id="21" name="Text 19"/>
          <p:cNvSpPr/>
          <p:nvPr/>
        </p:nvSpPr>
        <p:spPr>
          <a:xfrm>
            <a:off x="1289304" y="2478024"/>
            <a:ext cx="438912" cy="43891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a:t>
            </a:r>
            <a:endParaRPr lang="en-US" sz="1200" dirty="0"/>
          </a:p>
        </p:txBody>
      </p:sp>
      <p:sp>
        <p:nvSpPr>
          <p:cNvPr id="22" name="Text 20"/>
          <p:cNvSpPr/>
          <p:nvPr/>
        </p:nvSpPr>
        <p:spPr>
          <a:xfrm>
            <a:off x="182880" y="4407408"/>
            <a:ext cx="2651760" cy="256032"/>
          </a:xfrm>
          <a:prstGeom prst="rect">
            <a:avLst/>
          </a:prstGeom>
          <a:noFill/>
          <a:ln/>
        </p:spPr>
        <p:txBody>
          <a:bodyPr wrap="square" rtlCol="0" anchor="ctr"/>
          <a:lstStyle/>
          <a:p>
            <a:pPr marL="0" indent="0" algn="ctr">
              <a:buNone/>
            </a:pPr>
            <a:r>
              <a:rPr lang="en-US" sz="1100" b="1" dirty="0">
                <a:solidFill>
                  <a:srgbClr val="5A6A78"/>
                </a:solidFill>
                <a:latin typeface="Calibri" pitchFamily="34" charset="0"/>
                <a:ea typeface="Calibri" pitchFamily="34" charset="-122"/>
                <a:cs typeface="Calibri" pitchFamily="34" charset="-120"/>
              </a:rPr>
              <a:t>V chỉ biết chính mình</a:t>
            </a:r>
            <a:endParaRPr lang="en-US" sz="1100" dirty="0"/>
          </a:p>
        </p:txBody>
      </p:sp>
      <p:sp>
        <p:nvSpPr>
          <p:cNvPr id="23" name="Shape 21"/>
          <p:cNvSpPr/>
          <p:nvPr/>
        </p:nvSpPr>
        <p:spPr>
          <a:xfrm>
            <a:off x="3108960" y="841248"/>
            <a:ext cx="2651760" cy="3840480"/>
          </a:xfrm>
          <a:prstGeom prst="rect">
            <a:avLst/>
          </a:prstGeom>
          <a:solidFill>
            <a:srgbClr val="EBF5FB"/>
          </a:solidFill>
          <a:ln w="19050">
            <a:solidFill>
              <a:srgbClr val="1C7293"/>
            </a:solidFill>
            <a:prstDash val="solid"/>
          </a:ln>
        </p:spPr>
        <p:txBody>
          <a:bodyPr/>
          <a:lstStyle/>
          <a:p>
            <a:endParaRPr lang="en-VN"/>
          </a:p>
        </p:txBody>
      </p:sp>
      <p:sp>
        <p:nvSpPr>
          <p:cNvPr id="24" name="Shape 22"/>
          <p:cNvSpPr/>
          <p:nvPr/>
        </p:nvSpPr>
        <p:spPr>
          <a:xfrm>
            <a:off x="3108960" y="841248"/>
            <a:ext cx="2651760" cy="347472"/>
          </a:xfrm>
          <a:prstGeom prst="rect">
            <a:avLst/>
          </a:prstGeom>
          <a:solidFill>
            <a:srgbClr val="1C7293"/>
          </a:solidFill>
          <a:ln w="12700">
            <a:solidFill>
              <a:srgbClr val="000000"/>
            </a:solidFill>
            <a:prstDash val="solid"/>
          </a:ln>
        </p:spPr>
        <p:txBody>
          <a:bodyPr/>
          <a:lstStyle/>
          <a:p>
            <a:endParaRPr lang="en-VN"/>
          </a:p>
        </p:txBody>
      </p:sp>
      <p:sp>
        <p:nvSpPr>
          <p:cNvPr id="25" name="Text 23"/>
          <p:cNvSpPr/>
          <p:nvPr/>
        </p:nvSpPr>
        <p:spPr>
          <a:xfrm>
            <a:off x="3108960" y="841248"/>
            <a:ext cx="265176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Tầng 1 — Aggregate</a:t>
            </a:r>
            <a:endParaRPr lang="en-US" sz="1300" dirty="0"/>
          </a:p>
        </p:txBody>
      </p:sp>
      <p:sp>
        <p:nvSpPr>
          <p:cNvPr id="26" name="Shape 24"/>
          <p:cNvSpPr/>
          <p:nvPr/>
        </p:nvSpPr>
        <p:spPr>
          <a:xfrm>
            <a:off x="4434840" y="2148840"/>
            <a:ext cx="9144" cy="548640"/>
          </a:xfrm>
          <a:prstGeom prst="line">
            <a:avLst/>
          </a:prstGeom>
          <a:noFill/>
          <a:ln w="25400">
            <a:solidFill>
              <a:srgbClr val="1C7293"/>
            </a:solidFill>
            <a:prstDash val="solid"/>
          </a:ln>
        </p:spPr>
        <p:txBody>
          <a:bodyPr/>
          <a:lstStyle/>
          <a:p>
            <a:endParaRPr lang="en-VN"/>
          </a:p>
        </p:txBody>
      </p:sp>
      <p:sp>
        <p:nvSpPr>
          <p:cNvPr id="27" name="Shape 25"/>
          <p:cNvSpPr/>
          <p:nvPr/>
        </p:nvSpPr>
        <p:spPr>
          <a:xfrm>
            <a:off x="4434840" y="2697480"/>
            <a:ext cx="548640" cy="9144"/>
          </a:xfrm>
          <a:prstGeom prst="line">
            <a:avLst/>
          </a:prstGeom>
          <a:noFill/>
          <a:ln w="25400">
            <a:solidFill>
              <a:srgbClr val="1C7293"/>
            </a:solidFill>
            <a:prstDash val="solid"/>
          </a:ln>
        </p:spPr>
        <p:txBody>
          <a:bodyPr/>
          <a:lstStyle/>
          <a:p>
            <a:endParaRPr lang="en-VN"/>
          </a:p>
        </p:txBody>
      </p:sp>
      <p:sp>
        <p:nvSpPr>
          <p:cNvPr id="28" name="Shape 26"/>
          <p:cNvSpPr/>
          <p:nvPr/>
        </p:nvSpPr>
        <p:spPr>
          <a:xfrm>
            <a:off x="4434840" y="2697480"/>
            <a:ext cx="9144" cy="548640"/>
          </a:xfrm>
          <a:prstGeom prst="line">
            <a:avLst/>
          </a:prstGeom>
          <a:noFill/>
          <a:ln w="25400">
            <a:solidFill>
              <a:srgbClr val="1C7293"/>
            </a:solidFill>
            <a:prstDash val="solid"/>
          </a:ln>
        </p:spPr>
        <p:txBody>
          <a:bodyPr/>
          <a:lstStyle/>
          <a:p>
            <a:endParaRPr lang="en-VN"/>
          </a:p>
        </p:txBody>
      </p:sp>
      <p:sp>
        <p:nvSpPr>
          <p:cNvPr id="29" name="Shape 27"/>
          <p:cNvSpPr/>
          <p:nvPr/>
        </p:nvSpPr>
        <p:spPr>
          <a:xfrm>
            <a:off x="3886200" y="2697480"/>
            <a:ext cx="548640" cy="9144"/>
          </a:xfrm>
          <a:prstGeom prst="line">
            <a:avLst/>
          </a:prstGeom>
          <a:noFill/>
          <a:ln w="25400">
            <a:solidFill>
              <a:srgbClr val="1C7293"/>
            </a:solidFill>
            <a:prstDash val="solid"/>
          </a:ln>
        </p:spPr>
        <p:txBody>
          <a:bodyPr/>
          <a:lstStyle/>
          <a:p>
            <a:endParaRPr lang="en-VN"/>
          </a:p>
        </p:txBody>
      </p:sp>
      <p:sp>
        <p:nvSpPr>
          <p:cNvPr id="30" name="Shape 28"/>
          <p:cNvSpPr/>
          <p:nvPr/>
        </p:nvSpPr>
        <p:spPr>
          <a:xfrm>
            <a:off x="4270248" y="1984248"/>
            <a:ext cx="329184" cy="329184"/>
          </a:xfrm>
          <a:prstGeom prst="ellipse">
            <a:avLst/>
          </a:prstGeom>
          <a:solidFill>
            <a:srgbClr val="1C7293"/>
          </a:solidFill>
          <a:ln w="22860">
            <a:solidFill>
              <a:srgbClr val="1C7293"/>
            </a:solidFill>
            <a:prstDash val="solid"/>
          </a:ln>
        </p:spPr>
        <p:txBody>
          <a:bodyPr/>
          <a:lstStyle/>
          <a:p>
            <a:endParaRPr lang="en-VN"/>
          </a:p>
        </p:txBody>
      </p:sp>
      <p:sp>
        <p:nvSpPr>
          <p:cNvPr id="31" name="Text 29"/>
          <p:cNvSpPr/>
          <p:nvPr/>
        </p:nvSpPr>
        <p:spPr>
          <a:xfrm>
            <a:off x="4270248" y="198424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2" name="Shape 30"/>
          <p:cNvSpPr/>
          <p:nvPr/>
        </p:nvSpPr>
        <p:spPr>
          <a:xfrm>
            <a:off x="4818888" y="2532888"/>
            <a:ext cx="329184" cy="329184"/>
          </a:xfrm>
          <a:prstGeom prst="ellipse">
            <a:avLst/>
          </a:prstGeom>
          <a:solidFill>
            <a:srgbClr val="1C7293"/>
          </a:solidFill>
          <a:ln w="22860">
            <a:solidFill>
              <a:srgbClr val="1C7293"/>
            </a:solidFill>
            <a:prstDash val="solid"/>
          </a:ln>
        </p:spPr>
        <p:txBody>
          <a:bodyPr/>
          <a:lstStyle/>
          <a:p>
            <a:endParaRPr lang="en-VN"/>
          </a:p>
        </p:txBody>
      </p:sp>
      <p:sp>
        <p:nvSpPr>
          <p:cNvPr id="33" name="Text 31"/>
          <p:cNvSpPr/>
          <p:nvPr/>
        </p:nvSpPr>
        <p:spPr>
          <a:xfrm>
            <a:off x="4818888" y="253288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34" name="Shape 32"/>
          <p:cNvSpPr/>
          <p:nvPr/>
        </p:nvSpPr>
        <p:spPr>
          <a:xfrm>
            <a:off x="4270248" y="3081528"/>
            <a:ext cx="329184" cy="329184"/>
          </a:xfrm>
          <a:prstGeom prst="ellipse">
            <a:avLst/>
          </a:prstGeom>
          <a:solidFill>
            <a:srgbClr val="1C7293"/>
          </a:solidFill>
          <a:ln w="22860">
            <a:solidFill>
              <a:srgbClr val="1C7293"/>
            </a:solidFill>
            <a:prstDash val="solid"/>
          </a:ln>
        </p:spPr>
        <p:txBody>
          <a:bodyPr/>
          <a:lstStyle/>
          <a:p>
            <a:endParaRPr lang="en-VN"/>
          </a:p>
        </p:txBody>
      </p:sp>
      <p:sp>
        <p:nvSpPr>
          <p:cNvPr id="35" name="Text 33"/>
          <p:cNvSpPr/>
          <p:nvPr/>
        </p:nvSpPr>
        <p:spPr>
          <a:xfrm>
            <a:off x="4270248" y="308152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6" name="Shape 34"/>
          <p:cNvSpPr/>
          <p:nvPr/>
        </p:nvSpPr>
        <p:spPr>
          <a:xfrm>
            <a:off x="3721608" y="2532888"/>
            <a:ext cx="329184" cy="329184"/>
          </a:xfrm>
          <a:prstGeom prst="ellipse">
            <a:avLst/>
          </a:prstGeom>
          <a:solidFill>
            <a:srgbClr val="1C7293"/>
          </a:solidFill>
          <a:ln w="22860">
            <a:solidFill>
              <a:srgbClr val="1C7293"/>
            </a:solidFill>
            <a:prstDash val="solid"/>
          </a:ln>
        </p:spPr>
        <p:txBody>
          <a:bodyPr/>
          <a:lstStyle/>
          <a:p>
            <a:endParaRPr lang="en-VN"/>
          </a:p>
        </p:txBody>
      </p:sp>
      <p:sp>
        <p:nvSpPr>
          <p:cNvPr id="37" name="Text 35"/>
          <p:cNvSpPr/>
          <p:nvPr/>
        </p:nvSpPr>
        <p:spPr>
          <a:xfrm>
            <a:off x="3721608" y="253288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a:t>
            </a:r>
            <a:endParaRPr lang="en-US" sz="900" dirty="0"/>
          </a:p>
        </p:txBody>
      </p:sp>
      <p:sp>
        <p:nvSpPr>
          <p:cNvPr id="38" name="Shape 36"/>
          <p:cNvSpPr/>
          <p:nvPr/>
        </p:nvSpPr>
        <p:spPr>
          <a:xfrm>
            <a:off x="4215384" y="2478024"/>
            <a:ext cx="438912" cy="438912"/>
          </a:xfrm>
          <a:prstGeom prst="ellipse">
            <a:avLst/>
          </a:prstGeom>
          <a:solidFill>
            <a:srgbClr val="065A82"/>
          </a:solidFill>
          <a:ln w="31750">
            <a:solidFill>
              <a:srgbClr val="F4A261"/>
            </a:solidFill>
            <a:prstDash val="solid"/>
          </a:ln>
        </p:spPr>
        <p:txBody>
          <a:bodyPr/>
          <a:lstStyle/>
          <a:p>
            <a:endParaRPr lang="en-VN"/>
          </a:p>
        </p:txBody>
      </p:sp>
      <p:sp>
        <p:nvSpPr>
          <p:cNvPr id="39" name="Text 37"/>
          <p:cNvSpPr/>
          <p:nvPr/>
        </p:nvSpPr>
        <p:spPr>
          <a:xfrm>
            <a:off x="4215384" y="2478024"/>
            <a:ext cx="438912" cy="43891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a:t>
            </a:r>
            <a:endParaRPr lang="en-US" sz="1200" dirty="0"/>
          </a:p>
        </p:txBody>
      </p:sp>
      <p:sp>
        <p:nvSpPr>
          <p:cNvPr id="40" name="Text 38"/>
          <p:cNvSpPr/>
          <p:nvPr/>
        </p:nvSpPr>
        <p:spPr>
          <a:xfrm>
            <a:off x="3108960" y="4407408"/>
            <a:ext cx="2651760" cy="256032"/>
          </a:xfrm>
          <a:prstGeom prst="rect">
            <a:avLst/>
          </a:prstGeom>
          <a:noFill/>
          <a:ln/>
        </p:spPr>
        <p:txBody>
          <a:bodyPr wrap="square" rtlCol="0" anchor="ctr"/>
          <a:lstStyle/>
          <a:p>
            <a:pPr marL="0" indent="0" algn="ctr">
              <a:buNone/>
            </a:pPr>
            <a:r>
              <a:rPr lang="en-US" sz="1100" b="1" dirty="0">
                <a:solidFill>
                  <a:srgbClr val="1C7293"/>
                </a:solidFill>
                <a:latin typeface="Calibri" pitchFamily="34" charset="0"/>
                <a:ea typeface="Calibri" pitchFamily="34" charset="-122"/>
                <a:cs typeface="Calibri" pitchFamily="34" charset="-120"/>
              </a:rPr>
              <a:t>V biết lân cận trực tiếp</a:t>
            </a:r>
            <a:endParaRPr lang="en-US" sz="1100" dirty="0"/>
          </a:p>
        </p:txBody>
      </p:sp>
      <p:sp>
        <p:nvSpPr>
          <p:cNvPr id="41" name="Shape 39"/>
          <p:cNvSpPr/>
          <p:nvPr/>
        </p:nvSpPr>
        <p:spPr>
          <a:xfrm>
            <a:off x="6035040" y="841248"/>
            <a:ext cx="2651760" cy="3840480"/>
          </a:xfrm>
          <a:prstGeom prst="rect">
            <a:avLst/>
          </a:prstGeom>
          <a:solidFill>
            <a:srgbClr val="E8F8F5"/>
          </a:solidFill>
          <a:ln w="19050">
            <a:solidFill>
              <a:srgbClr val="02C39A"/>
            </a:solidFill>
            <a:prstDash val="solid"/>
          </a:ln>
        </p:spPr>
        <p:txBody>
          <a:bodyPr/>
          <a:lstStyle/>
          <a:p>
            <a:endParaRPr lang="en-VN"/>
          </a:p>
        </p:txBody>
      </p:sp>
      <p:sp>
        <p:nvSpPr>
          <p:cNvPr id="42" name="Shape 40"/>
          <p:cNvSpPr/>
          <p:nvPr/>
        </p:nvSpPr>
        <p:spPr>
          <a:xfrm>
            <a:off x="6035040" y="841248"/>
            <a:ext cx="2651760" cy="347472"/>
          </a:xfrm>
          <a:prstGeom prst="rect">
            <a:avLst/>
          </a:prstGeom>
          <a:solidFill>
            <a:srgbClr val="02C39A"/>
          </a:solidFill>
          <a:ln w="12700">
            <a:solidFill>
              <a:srgbClr val="000000"/>
            </a:solidFill>
            <a:prstDash val="solid"/>
          </a:ln>
        </p:spPr>
        <p:txBody>
          <a:bodyPr/>
          <a:lstStyle/>
          <a:p>
            <a:endParaRPr lang="en-VN"/>
          </a:p>
        </p:txBody>
      </p:sp>
      <p:sp>
        <p:nvSpPr>
          <p:cNvPr id="43" name="Text 41"/>
          <p:cNvSpPr/>
          <p:nvPr/>
        </p:nvSpPr>
        <p:spPr>
          <a:xfrm>
            <a:off x="6035040" y="841248"/>
            <a:ext cx="2651760"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Tầng 2 — Mở rộng 2-hop</a:t>
            </a:r>
            <a:endParaRPr lang="en-US" sz="1300" dirty="0"/>
          </a:p>
        </p:txBody>
      </p:sp>
      <p:sp>
        <p:nvSpPr>
          <p:cNvPr id="44" name="Shape 42"/>
          <p:cNvSpPr/>
          <p:nvPr/>
        </p:nvSpPr>
        <p:spPr>
          <a:xfrm>
            <a:off x="7360920" y="2148840"/>
            <a:ext cx="9144" cy="548640"/>
          </a:xfrm>
          <a:prstGeom prst="line">
            <a:avLst/>
          </a:prstGeom>
          <a:noFill/>
          <a:ln w="25400">
            <a:solidFill>
              <a:srgbClr val="1C7293"/>
            </a:solidFill>
            <a:prstDash val="solid"/>
          </a:ln>
        </p:spPr>
        <p:txBody>
          <a:bodyPr/>
          <a:lstStyle/>
          <a:p>
            <a:endParaRPr lang="en-VN"/>
          </a:p>
        </p:txBody>
      </p:sp>
      <p:sp>
        <p:nvSpPr>
          <p:cNvPr id="45" name="Shape 43"/>
          <p:cNvSpPr/>
          <p:nvPr/>
        </p:nvSpPr>
        <p:spPr>
          <a:xfrm>
            <a:off x="7360920" y="2697480"/>
            <a:ext cx="548640" cy="9144"/>
          </a:xfrm>
          <a:prstGeom prst="line">
            <a:avLst/>
          </a:prstGeom>
          <a:noFill/>
          <a:ln w="25400">
            <a:solidFill>
              <a:srgbClr val="1C7293"/>
            </a:solidFill>
            <a:prstDash val="solid"/>
          </a:ln>
        </p:spPr>
        <p:txBody>
          <a:bodyPr/>
          <a:lstStyle/>
          <a:p>
            <a:endParaRPr lang="en-VN"/>
          </a:p>
        </p:txBody>
      </p:sp>
      <p:sp>
        <p:nvSpPr>
          <p:cNvPr id="46" name="Shape 44"/>
          <p:cNvSpPr/>
          <p:nvPr/>
        </p:nvSpPr>
        <p:spPr>
          <a:xfrm>
            <a:off x="7360920" y="2697480"/>
            <a:ext cx="9144" cy="548640"/>
          </a:xfrm>
          <a:prstGeom prst="line">
            <a:avLst/>
          </a:prstGeom>
          <a:noFill/>
          <a:ln w="25400">
            <a:solidFill>
              <a:srgbClr val="1C7293"/>
            </a:solidFill>
            <a:prstDash val="solid"/>
          </a:ln>
        </p:spPr>
        <p:txBody>
          <a:bodyPr/>
          <a:lstStyle/>
          <a:p>
            <a:endParaRPr lang="en-VN"/>
          </a:p>
        </p:txBody>
      </p:sp>
      <p:sp>
        <p:nvSpPr>
          <p:cNvPr id="47" name="Shape 45"/>
          <p:cNvSpPr/>
          <p:nvPr/>
        </p:nvSpPr>
        <p:spPr>
          <a:xfrm>
            <a:off x="6812280" y="2697480"/>
            <a:ext cx="548640" cy="9144"/>
          </a:xfrm>
          <a:prstGeom prst="line">
            <a:avLst/>
          </a:prstGeom>
          <a:noFill/>
          <a:ln w="25400">
            <a:solidFill>
              <a:srgbClr val="1C7293"/>
            </a:solidFill>
            <a:prstDash val="solid"/>
          </a:ln>
        </p:spPr>
        <p:txBody>
          <a:bodyPr/>
          <a:lstStyle/>
          <a:p>
            <a:endParaRPr lang="en-VN"/>
          </a:p>
        </p:txBody>
      </p:sp>
      <p:sp>
        <p:nvSpPr>
          <p:cNvPr id="48" name="Shape 46"/>
          <p:cNvSpPr/>
          <p:nvPr/>
        </p:nvSpPr>
        <p:spPr>
          <a:xfrm>
            <a:off x="7360920" y="1691640"/>
            <a:ext cx="9144" cy="457200"/>
          </a:xfrm>
          <a:prstGeom prst="line">
            <a:avLst/>
          </a:prstGeom>
          <a:noFill/>
          <a:ln w="25400">
            <a:solidFill>
              <a:srgbClr val="1C7293"/>
            </a:solidFill>
            <a:prstDash val="solid"/>
          </a:ln>
        </p:spPr>
        <p:txBody>
          <a:bodyPr/>
          <a:lstStyle/>
          <a:p>
            <a:endParaRPr lang="en-VN"/>
          </a:p>
        </p:txBody>
      </p:sp>
      <p:sp>
        <p:nvSpPr>
          <p:cNvPr id="49" name="Shape 47"/>
          <p:cNvSpPr/>
          <p:nvPr/>
        </p:nvSpPr>
        <p:spPr>
          <a:xfrm>
            <a:off x="7909560" y="2697480"/>
            <a:ext cx="457200" cy="9144"/>
          </a:xfrm>
          <a:prstGeom prst="line">
            <a:avLst/>
          </a:prstGeom>
          <a:noFill/>
          <a:ln w="25400">
            <a:solidFill>
              <a:srgbClr val="1C7293"/>
            </a:solidFill>
            <a:prstDash val="solid"/>
          </a:ln>
        </p:spPr>
        <p:txBody>
          <a:bodyPr/>
          <a:lstStyle/>
          <a:p>
            <a:endParaRPr lang="en-VN"/>
          </a:p>
        </p:txBody>
      </p:sp>
      <p:sp>
        <p:nvSpPr>
          <p:cNvPr id="50" name="Shape 48"/>
          <p:cNvSpPr/>
          <p:nvPr/>
        </p:nvSpPr>
        <p:spPr>
          <a:xfrm>
            <a:off x="7360920" y="3246120"/>
            <a:ext cx="9144" cy="457200"/>
          </a:xfrm>
          <a:prstGeom prst="line">
            <a:avLst/>
          </a:prstGeom>
          <a:noFill/>
          <a:ln w="25400">
            <a:solidFill>
              <a:srgbClr val="1C7293"/>
            </a:solidFill>
            <a:prstDash val="solid"/>
          </a:ln>
        </p:spPr>
        <p:txBody>
          <a:bodyPr/>
          <a:lstStyle/>
          <a:p>
            <a:endParaRPr lang="en-VN"/>
          </a:p>
        </p:txBody>
      </p:sp>
      <p:sp>
        <p:nvSpPr>
          <p:cNvPr id="51" name="Shape 49"/>
          <p:cNvSpPr/>
          <p:nvPr/>
        </p:nvSpPr>
        <p:spPr>
          <a:xfrm>
            <a:off x="6355080" y="2697480"/>
            <a:ext cx="457200" cy="9144"/>
          </a:xfrm>
          <a:prstGeom prst="line">
            <a:avLst/>
          </a:prstGeom>
          <a:noFill/>
          <a:ln w="25400">
            <a:solidFill>
              <a:srgbClr val="1C7293"/>
            </a:solidFill>
            <a:prstDash val="solid"/>
          </a:ln>
        </p:spPr>
        <p:txBody>
          <a:bodyPr/>
          <a:lstStyle/>
          <a:p>
            <a:endParaRPr lang="en-VN"/>
          </a:p>
        </p:txBody>
      </p:sp>
      <p:sp>
        <p:nvSpPr>
          <p:cNvPr id="52" name="Shape 50"/>
          <p:cNvSpPr/>
          <p:nvPr/>
        </p:nvSpPr>
        <p:spPr>
          <a:xfrm>
            <a:off x="7196328" y="1527048"/>
            <a:ext cx="329184" cy="329184"/>
          </a:xfrm>
          <a:prstGeom prst="ellipse">
            <a:avLst/>
          </a:prstGeom>
          <a:solidFill>
            <a:srgbClr val="5BAFC9"/>
          </a:solidFill>
          <a:ln w="22860">
            <a:solidFill>
              <a:srgbClr val="5BAFC9"/>
            </a:solidFill>
            <a:prstDash val="solid"/>
          </a:ln>
        </p:spPr>
        <p:txBody>
          <a:bodyPr/>
          <a:lstStyle/>
          <a:p>
            <a:endParaRPr lang="en-VN"/>
          </a:p>
        </p:txBody>
      </p:sp>
      <p:sp>
        <p:nvSpPr>
          <p:cNvPr id="53" name="Text 51"/>
          <p:cNvSpPr/>
          <p:nvPr/>
        </p:nvSpPr>
        <p:spPr>
          <a:xfrm>
            <a:off x="7196328" y="152704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a:t>
            </a:r>
            <a:endParaRPr lang="en-US" sz="900" dirty="0"/>
          </a:p>
        </p:txBody>
      </p:sp>
      <p:sp>
        <p:nvSpPr>
          <p:cNvPr id="54" name="Shape 52"/>
          <p:cNvSpPr/>
          <p:nvPr/>
        </p:nvSpPr>
        <p:spPr>
          <a:xfrm>
            <a:off x="8202168" y="2532888"/>
            <a:ext cx="329184" cy="329184"/>
          </a:xfrm>
          <a:prstGeom prst="ellipse">
            <a:avLst/>
          </a:prstGeom>
          <a:solidFill>
            <a:srgbClr val="5BAFC9"/>
          </a:solidFill>
          <a:ln w="22860">
            <a:solidFill>
              <a:srgbClr val="5BAFC9"/>
            </a:solidFill>
            <a:prstDash val="solid"/>
          </a:ln>
        </p:spPr>
        <p:txBody>
          <a:bodyPr/>
          <a:lstStyle/>
          <a:p>
            <a:endParaRPr lang="en-VN"/>
          </a:p>
        </p:txBody>
      </p:sp>
      <p:sp>
        <p:nvSpPr>
          <p:cNvPr id="55" name="Text 53"/>
          <p:cNvSpPr/>
          <p:nvPr/>
        </p:nvSpPr>
        <p:spPr>
          <a:xfrm>
            <a:off x="8202168" y="253288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a:t>
            </a:r>
            <a:endParaRPr lang="en-US" sz="900" dirty="0"/>
          </a:p>
        </p:txBody>
      </p:sp>
      <p:sp>
        <p:nvSpPr>
          <p:cNvPr id="56" name="Shape 54"/>
          <p:cNvSpPr/>
          <p:nvPr/>
        </p:nvSpPr>
        <p:spPr>
          <a:xfrm>
            <a:off x="7196328" y="3538728"/>
            <a:ext cx="329184" cy="329184"/>
          </a:xfrm>
          <a:prstGeom prst="ellipse">
            <a:avLst/>
          </a:prstGeom>
          <a:solidFill>
            <a:srgbClr val="5BAFC9"/>
          </a:solidFill>
          <a:ln w="22860">
            <a:solidFill>
              <a:srgbClr val="5BAFC9"/>
            </a:solidFill>
            <a:prstDash val="solid"/>
          </a:ln>
        </p:spPr>
        <p:txBody>
          <a:bodyPr/>
          <a:lstStyle/>
          <a:p>
            <a:endParaRPr lang="en-VN"/>
          </a:p>
        </p:txBody>
      </p:sp>
      <p:sp>
        <p:nvSpPr>
          <p:cNvPr id="57" name="Text 55"/>
          <p:cNvSpPr/>
          <p:nvPr/>
        </p:nvSpPr>
        <p:spPr>
          <a:xfrm>
            <a:off x="7196328" y="353872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a:t>
            </a:r>
            <a:endParaRPr lang="en-US" sz="900" dirty="0"/>
          </a:p>
        </p:txBody>
      </p:sp>
      <p:sp>
        <p:nvSpPr>
          <p:cNvPr id="58" name="Shape 56"/>
          <p:cNvSpPr/>
          <p:nvPr/>
        </p:nvSpPr>
        <p:spPr>
          <a:xfrm>
            <a:off x="6190488" y="2532888"/>
            <a:ext cx="329184" cy="329184"/>
          </a:xfrm>
          <a:prstGeom prst="ellipse">
            <a:avLst/>
          </a:prstGeom>
          <a:solidFill>
            <a:srgbClr val="5BAFC9"/>
          </a:solidFill>
          <a:ln w="22860">
            <a:solidFill>
              <a:srgbClr val="5BAFC9"/>
            </a:solidFill>
            <a:prstDash val="solid"/>
          </a:ln>
        </p:spPr>
        <p:txBody>
          <a:bodyPr/>
          <a:lstStyle/>
          <a:p>
            <a:endParaRPr lang="en-VN"/>
          </a:p>
        </p:txBody>
      </p:sp>
      <p:sp>
        <p:nvSpPr>
          <p:cNvPr id="59" name="Text 57"/>
          <p:cNvSpPr/>
          <p:nvPr/>
        </p:nvSpPr>
        <p:spPr>
          <a:xfrm>
            <a:off x="6190488" y="253288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a:t>
            </a:r>
            <a:endParaRPr lang="en-US" sz="900" dirty="0"/>
          </a:p>
        </p:txBody>
      </p:sp>
      <p:sp>
        <p:nvSpPr>
          <p:cNvPr id="60" name="Shape 58"/>
          <p:cNvSpPr/>
          <p:nvPr/>
        </p:nvSpPr>
        <p:spPr>
          <a:xfrm>
            <a:off x="7196328" y="1984248"/>
            <a:ext cx="329184" cy="329184"/>
          </a:xfrm>
          <a:prstGeom prst="ellipse">
            <a:avLst/>
          </a:prstGeom>
          <a:solidFill>
            <a:srgbClr val="1C7293"/>
          </a:solidFill>
          <a:ln w="22860">
            <a:solidFill>
              <a:srgbClr val="1C7293"/>
            </a:solidFill>
            <a:prstDash val="solid"/>
          </a:ln>
        </p:spPr>
        <p:txBody>
          <a:bodyPr/>
          <a:lstStyle/>
          <a:p>
            <a:endParaRPr lang="en-VN"/>
          </a:p>
        </p:txBody>
      </p:sp>
      <p:sp>
        <p:nvSpPr>
          <p:cNvPr id="61" name="Text 59"/>
          <p:cNvSpPr/>
          <p:nvPr/>
        </p:nvSpPr>
        <p:spPr>
          <a:xfrm>
            <a:off x="7196328" y="198424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2" name="Shape 60"/>
          <p:cNvSpPr/>
          <p:nvPr/>
        </p:nvSpPr>
        <p:spPr>
          <a:xfrm>
            <a:off x="7744968" y="2532888"/>
            <a:ext cx="329184" cy="329184"/>
          </a:xfrm>
          <a:prstGeom prst="ellipse">
            <a:avLst/>
          </a:prstGeom>
          <a:solidFill>
            <a:srgbClr val="1C7293"/>
          </a:solidFill>
          <a:ln w="22860">
            <a:solidFill>
              <a:srgbClr val="1C7293"/>
            </a:solidFill>
            <a:prstDash val="solid"/>
          </a:ln>
        </p:spPr>
        <p:txBody>
          <a:bodyPr/>
          <a:lstStyle/>
          <a:p>
            <a:endParaRPr lang="en-VN"/>
          </a:p>
        </p:txBody>
      </p:sp>
      <p:sp>
        <p:nvSpPr>
          <p:cNvPr id="63" name="Text 61"/>
          <p:cNvSpPr/>
          <p:nvPr/>
        </p:nvSpPr>
        <p:spPr>
          <a:xfrm>
            <a:off x="7744968" y="253288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64" name="Shape 62"/>
          <p:cNvSpPr/>
          <p:nvPr/>
        </p:nvSpPr>
        <p:spPr>
          <a:xfrm>
            <a:off x="7196328" y="3081528"/>
            <a:ext cx="329184" cy="329184"/>
          </a:xfrm>
          <a:prstGeom prst="ellipse">
            <a:avLst/>
          </a:prstGeom>
          <a:solidFill>
            <a:srgbClr val="1C7293"/>
          </a:solidFill>
          <a:ln w="22860">
            <a:solidFill>
              <a:srgbClr val="1C7293"/>
            </a:solidFill>
            <a:prstDash val="solid"/>
          </a:ln>
        </p:spPr>
        <p:txBody>
          <a:bodyPr/>
          <a:lstStyle/>
          <a:p>
            <a:endParaRPr lang="en-VN"/>
          </a:p>
        </p:txBody>
      </p:sp>
      <p:sp>
        <p:nvSpPr>
          <p:cNvPr id="65" name="Text 63"/>
          <p:cNvSpPr/>
          <p:nvPr/>
        </p:nvSpPr>
        <p:spPr>
          <a:xfrm>
            <a:off x="7196328" y="308152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66" name="Shape 64"/>
          <p:cNvSpPr/>
          <p:nvPr/>
        </p:nvSpPr>
        <p:spPr>
          <a:xfrm>
            <a:off x="6647688" y="2532888"/>
            <a:ext cx="329184" cy="329184"/>
          </a:xfrm>
          <a:prstGeom prst="ellipse">
            <a:avLst/>
          </a:prstGeom>
          <a:solidFill>
            <a:srgbClr val="1C7293"/>
          </a:solidFill>
          <a:ln w="22860">
            <a:solidFill>
              <a:srgbClr val="1C7293"/>
            </a:solidFill>
            <a:prstDash val="solid"/>
          </a:ln>
        </p:spPr>
        <p:txBody>
          <a:bodyPr/>
          <a:lstStyle/>
          <a:p>
            <a:endParaRPr lang="en-VN"/>
          </a:p>
        </p:txBody>
      </p:sp>
      <p:sp>
        <p:nvSpPr>
          <p:cNvPr id="67" name="Text 65"/>
          <p:cNvSpPr/>
          <p:nvPr/>
        </p:nvSpPr>
        <p:spPr>
          <a:xfrm>
            <a:off x="6647688" y="2532888"/>
            <a:ext cx="329184"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a:t>
            </a:r>
            <a:endParaRPr lang="en-US" sz="900" dirty="0"/>
          </a:p>
        </p:txBody>
      </p:sp>
      <p:sp>
        <p:nvSpPr>
          <p:cNvPr id="68" name="Shape 66"/>
          <p:cNvSpPr/>
          <p:nvPr/>
        </p:nvSpPr>
        <p:spPr>
          <a:xfrm>
            <a:off x="7141464" y="2478024"/>
            <a:ext cx="438912" cy="438912"/>
          </a:xfrm>
          <a:prstGeom prst="ellipse">
            <a:avLst/>
          </a:prstGeom>
          <a:solidFill>
            <a:srgbClr val="065A82"/>
          </a:solidFill>
          <a:ln w="31750">
            <a:solidFill>
              <a:srgbClr val="F4A261"/>
            </a:solidFill>
            <a:prstDash val="solid"/>
          </a:ln>
        </p:spPr>
        <p:txBody>
          <a:bodyPr/>
          <a:lstStyle/>
          <a:p>
            <a:endParaRPr lang="en-VN"/>
          </a:p>
        </p:txBody>
      </p:sp>
      <p:sp>
        <p:nvSpPr>
          <p:cNvPr id="69" name="Text 67"/>
          <p:cNvSpPr/>
          <p:nvPr/>
        </p:nvSpPr>
        <p:spPr>
          <a:xfrm>
            <a:off x="7141464" y="2478024"/>
            <a:ext cx="438912" cy="43891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a:t>
            </a:r>
            <a:endParaRPr lang="en-US" sz="1200" dirty="0"/>
          </a:p>
        </p:txBody>
      </p:sp>
      <p:sp>
        <p:nvSpPr>
          <p:cNvPr id="70" name="Shape 68"/>
          <p:cNvSpPr/>
          <p:nvPr/>
        </p:nvSpPr>
        <p:spPr>
          <a:xfrm>
            <a:off x="6126480" y="4169664"/>
            <a:ext cx="201168" cy="201168"/>
          </a:xfrm>
          <a:prstGeom prst="ellipse">
            <a:avLst/>
          </a:prstGeom>
          <a:solidFill>
            <a:srgbClr val="5BAFC9"/>
          </a:solidFill>
          <a:ln w="12700">
            <a:solidFill>
              <a:srgbClr val="5BAFC9"/>
            </a:solidFill>
            <a:prstDash val="solid"/>
          </a:ln>
        </p:spPr>
        <p:txBody>
          <a:bodyPr/>
          <a:lstStyle/>
          <a:p>
            <a:endParaRPr lang="en-VN"/>
          </a:p>
        </p:txBody>
      </p:sp>
      <p:sp>
        <p:nvSpPr>
          <p:cNvPr id="71" name="Text 69"/>
          <p:cNvSpPr/>
          <p:nvPr/>
        </p:nvSpPr>
        <p:spPr>
          <a:xfrm>
            <a:off x="6345936" y="4169664"/>
            <a:ext cx="548640" cy="201168"/>
          </a:xfrm>
          <a:prstGeom prst="rect">
            <a:avLst/>
          </a:prstGeom>
          <a:noFill/>
          <a:ln/>
        </p:spPr>
        <p:txBody>
          <a:bodyPr wrap="square" rtlCol="0" anchor="ctr"/>
          <a:lstStyle/>
          <a:p>
            <a:pPr marL="0" indent="0">
              <a:buNone/>
            </a:pPr>
            <a:r>
              <a:rPr lang="en-US" sz="900" dirty="0">
                <a:solidFill>
                  <a:srgbClr val="5A6A78"/>
                </a:solidFill>
                <a:latin typeface="Calibri" pitchFamily="34" charset="0"/>
                <a:ea typeface="Calibri" pitchFamily="34" charset="-122"/>
                <a:cs typeface="Calibri" pitchFamily="34" charset="-120"/>
              </a:rPr>
              <a:t>2-hop</a:t>
            </a:r>
            <a:endParaRPr lang="en-US" sz="900" dirty="0"/>
          </a:p>
        </p:txBody>
      </p:sp>
      <p:sp>
        <p:nvSpPr>
          <p:cNvPr id="72" name="Shape 70"/>
          <p:cNvSpPr/>
          <p:nvPr/>
        </p:nvSpPr>
        <p:spPr>
          <a:xfrm>
            <a:off x="6949440" y="4169664"/>
            <a:ext cx="201168" cy="201168"/>
          </a:xfrm>
          <a:prstGeom prst="ellipse">
            <a:avLst/>
          </a:prstGeom>
          <a:solidFill>
            <a:srgbClr val="1C7293"/>
          </a:solidFill>
          <a:ln w="12700">
            <a:solidFill>
              <a:srgbClr val="1C7293"/>
            </a:solidFill>
            <a:prstDash val="solid"/>
          </a:ln>
        </p:spPr>
        <p:txBody>
          <a:bodyPr/>
          <a:lstStyle/>
          <a:p>
            <a:endParaRPr lang="en-VN"/>
          </a:p>
        </p:txBody>
      </p:sp>
      <p:sp>
        <p:nvSpPr>
          <p:cNvPr id="73" name="Text 71"/>
          <p:cNvSpPr/>
          <p:nvPr/>
        </p:nvSpPr>
        <p:spPr>
          <a:xfrm>
            <a:off x="7168896" y="4169664"/>
            <a:ext cx="548640" cy="201168"/>
          </a:xfrm>
          <a:prstGeom prst="rect">
            <a:avLst/>
          </a:prstGeom>
          <a:noFill/>
          <a:ln/>
        </p:spPr>
        <p:txBody>
          <a:bodyPr wrap="square" rtlCol="0" anchor="ctr"/>
          <a:lstStyle/>
          <a:p>
            <a:pPr marL="0" indent="0">
              <a:buNone/>
            </a:pPr>
            <a:r>
              <a:rPr lang="en-US" sz="900" dirty="0">
                <a:solidFill>
                  <a:srgbClr val="5A6A78"/>
                </a:solidFill>
                <a:latin typeface="Calibri" pitchFamily="34" charset="0"/>
                <a:ea typeface="Calibri" pitchFamily="34" charset="-122"/>
                <a:cs typeface="Calibri" pitchFamily="34" charset="-120"/>
              </a:rPr>
              <a:t>1-hop</a:t>
            </a:r>
            <a:endParaRPr lang="en-US" sz="900" dirty="0"/>
          </a:p>
        </p:txBody>
      </p:sp>
      <p:sp>
        <p:nvSpPr>
          <p:cNvPr id="74" name="Shape 72"/>
          <p:cNvSpPr/>
          <p:nvPr/>
        </p:nvSpPr>
        <p:spPr>
          <a:xfrm>
            <a:off x="7772400" y="4169664"/>
            <a:ext cx="201168" cy="201168"/>
          </a:xfrm>
          <a:prstGeom prst="ellipse">
            <a:avLst/>
          </a:prstGeom>
          <a:solidFill>
            <a:srgbClr val="065A82"/>
          </a:solidFill>
          <a:ln w="12700">
            <a:solidFill>
              <a:srgbClr val="065A82"/>
            </a:solidFill>
            <a:prstDash val="solid"/>
          </a:ln>
        </p:spPr>
        <p:txBody>
          <a:bodyPr/>
          <a:lstStyle/>
          <a:p>
            <a:endParaRPr lang="en-VN"/>
          </a:p>
        </p:txBody>
      </p:sp>
      <p:sp>
        <p:nvSpPr>
          <p:cNvPr id="75" name="Text 73"/>
          <p:cNvSpPr/>
          <p:nvPr/>
        </p:nvSpPr>
        <p:spPr>
          <a:xfrm>
            <a:off x="7991856" y="4169664"/>
            <a:ext cx="548640" cy="201168"/>
          </a:xfrm>
          <a:prstGeom prst="rect">
            <a:avLst/>
          </a:prstGeom>
          <a:noFill/>
          <a:ln/>
        </p:spPr>
        <p:txBody>
          <a:bodyPr wrap="square" rtlCol="0" anchor="ctr"/>
          <a:lstStyle/>
          <a:p>
            <a:pPr marL="0" indent="0">
              <a:buNone/>
            </a:pPr>
            <a:r>
              <a:rPr lang="en-US" sz="900" dirty="0">
                <a:solidFill>
                  <a:srgbClr val="5A6A78"/>
                </a:solidFill>
                <a:latin typeface="Calibri" pitchFamily="34" charset="0"/>
                <a:ea typeface="Calibri" pitchFamily="34" charset="-122"/>
                <a:cs typeface="Calibri" pitchFamily="34" charset="-120"/>
              </a:rPr>
              <a:t>V</a:t>
            </a:r>
            <a:endParaRPr lang="en-US" sz="900" dirty="0"/>
          </a:p>
        </p:txBody>
      </p:sp>
      <p:sp>
        <p:nvSpPr>
          <p:cNvPr id="76" name="Text 74"/>
          <p:cNvSpPr/>
          <p:nvPr/>
        </p:nvSpPr>
        <p:spPr>
          <a:xfrm>
            <a:off x="6035040" y="4407408"/>
            <a:ext cx="2651760" cy="256032"/>
          </a:xfrm>
          <a:prstGeom prst="rect">
            <a:avLst/>
          </a:prstGeom>
          <a:noFill/>
          <a:ln/>
        </p:spPr>
        <p:txBody>
          <a:bodyPr wrap="square" rtlCol="0" anchor="ctr"/>
          <a:lstStyle/>
          <a:p>
            <a:pPr marL="0" indent="0" algn="ctr">
              <a:buNone/>
            </a:pPr>
            <a:r>
              <a:rPr lang="en-US" sz="1100" b="1" dirty="0">
                <a:solidFill>
                  <a:srgbClr val="02C39A"/>
                </a:solidFill>
                <a:latin typeface="Calibri" pitchFamily="34" charset="0"/>
                <a:ea typeface="Calibri" pitchFamily="34" charset="-122"/>
                <a:cs typeface="Calibri" pitchFamily="34" charset="-120"/>
              </a:rPr>
              <a:t>V biết cấu trúc 2-hop</a:t>
            </a:r>
            <a:endParaRPr lang="en-US" sz="1100" dirty="0"/>
          </a:p>
        </p:txBody>
      </p:sp>
      <p:sp>
        <p:nvSpPr>
          <p:cNvPr id="77" name="Shape 75"/>
          <p:cNvSpPr/>
          <p:nvPr/>
        </p:nvSpPr>
        <p:spPr>
          <a:xfrm>
            <a:off x="2862072" y="2697480"/>
            <a:ext cx="219456" cy="9144"/>
          </a:xfrm>
          <a:prstGeom prst="line">
            <a:avLst/>
          </a:prstGeom>
          <a:noFill/>
          <a:ln w="38100">
            <a:solidFill>
              <a:srgbClr val="F4A261"/>
            </a:solidFill>
            <a:prstDash val="solid"/>
            <a:tailEnd type="arrow"/>
          </a:ln>
        </p:spPr>
        <p:txBody>
          <a:bodyPr/>
          <a:lstStyle/>
          <a:p>
            <a:endParaRPr lang="en-VN"/>
          </a:p>
        </p:txBody>
      </p:sp>
      <p:sp>
        <p:nvSpPr>
          <p:cNvPr id="78" name="Shape 76"/>
          <p:cNvSpPr/>
          <p:nvPr/>
        </p:nvSpPr>
        <p:spPr>
          <a:xfrm>
            <a:off x="5788152" y="2697480"/>
            <a:ext cx="219456" cy="9144"/>
          </a:xfrm>
          <a:prstGeom prst="line">
            <a:avLst/>
          </a:prstGeom>
          <a:noFill/>
          <a:ln w="38100">
            <a:solidFill>
              <a:srgbClr val="F4A261"/>
            </a:solidFill>
            <a:prstDash val="solid"/>
            <a:tailEnd type="arrow"/>
          </a:ln>
        </p:spPr>
        <p:txBody>
          <a:bodyPr/>
          <a:lstStyle/>
          <a:p>
            <a:endParaRPr lang="en-V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GNN Gặp Những Vấn Đề Gì Khi Mở Rộng Quy Mô?</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6 / 29</a:t>
            </a:r>
            <a:endParaRPr lang="en-US" sz="1000" dirty="0"/>
          </a:p>
        </p:txBody>
      </p:sp>
      <p:sp>
        <p:nvSpPr>
          <p:cNvPr id="5" name="Shape 3"/>
          <p:cNvSpPr/>
          <p:nvPr/>
        </p:nvSpPr>
        <p:spPr>
          <a:xfrm>
            <a:off x="256032" y="914400"/>
            <a:ext cx="2724912" cy="2834640"/>
          </a:xfrm>
          <a:prstGeom prst="rect">
            <a:avLst/>
          </a:prstGeom>
          <a:solidFill>
            <a:srgbClr val="F0F4F8"/>
          </a:solidFill>
          <a:ln w="12700">
            <a:solidFill>
              <a:srgbClr val="8AAFC7"/>
            </a:solidFill>
            <a:prstDash val="solid"/>
          </a:ln>
        </p:spPr>
        <p:txBody>
          <a:bodyPr/>
          <a:lstStyle/>
          <a:p>
            <a:endParaRPr lang="en-VN"/>
          </a:p>
        </p:txBody>
      </p:sp>
      <p:sp>
        <p:nvSpPr>
          <p:cNvPr id="6" name="Text 4"/>
          <p:cNvSpPr/>
          <p:nvPr/>
        </p:nvSpPr>
        <p:spPr>
          <a:xfrm>
            <a:off x="384048" y="1042416"/>
            <a:ext cx="2468880" cy="384048"/>
          </a:xfrm>
          <a:prstGeom prst="rect">
            <a:avLst/>
          </a:prstGeom>
          <a:noFill/>
          <a:ln/>
        </p:spPr>
        <p:txBody>
          <a:bodyPr wrap="square" rtlCol="0" anchor="ctr"/>
          <a:lstStyle/>
          <a:p>
            <a:pPr marL="0" indent="0">
              <a:buNone/>
            </a:pPr>
            <a:r>
              <a:rPr lang="en-US" sz="1350" b="1" dirty="0">
                <a:solidFill>
                  <a:srgbClr val="5A6A78"/>
                </a:solidFill>
                <a:latin typeface="Calibri" pitchFamily="34" charset="0"/>
                <a:ea typeface="Calibri" pitchFamily="34" charset="-122"/>
                <a:cs typeface="Calibri" pitchFamily="34" charset="-120"/>
              </a:rPr>
              <a:t>① Oversmoothing  [18]</a:t>
            </a:r>
            <a:endParaRPr lang="en-US" sz="1350" dirty="0"/>
          </a:p>
        </p:txBody>
      </p:sp>
      <p:sp>
        <p:nvSpPr>
          <p:cNvPr id="7" name="Shape 5"/>
          <p:cNvSpPr/>
          <p:nvPr/>
        </p:nvSpPr>
        <p:spPr>
          <a:xfrm>
            <a:off x="384048" y="1463040"/>
            <a:ext cx="2468880" cy="0"/>
          </a:xfrm>
          <a:prstGeom prst="line">
            <a:avLst/>
          </a:prstGeom>
          <a:noFill/>
          <a:ln w="10160">
            <a:solidFill>
              <a:srgbClr val="8AAFC7"/>
            </a:solidFill>
            <a:prstDash val="solid"/>
          </a:ln>
        </p:spPr>
        <p:txBody>
          <a:bodyPr/>
          <a:lstStyle/>
          <a:p>
            <a:endParaRPr lang="en-VN"/>
          </a:p>
        </p:txBody>
      </p:sp>
      <p:sp>
        <p:nvSpPr>
          <p:cNvPr id="8" name="Text 6"/>
          <p:cNvSpPr/>
          <p:nvPr/>
        </p:nvSpPr>
        <p:spPr>
          <a:xfrm>
            <a:off x="384048" y="1572768"/>
            <a:ext cx="2468880" cy="2011680"/>
          </a:xfrm>
          <a:prstGeom prst="rect">
            <a:avLst/>
          </a:prstGeom>
          <a:noFill/>
          <a:ln/>
        </p:spPr>
        <p:txBody>
          <a:bodyPr wrap="square" rtlCol="0" anchor="t"/>
          <a:lstStyle/>
          <a:p>
            <a:pPr marL="0" indent="0">
              <a:buNone/>
            </a:pPr>
            <a:r>
              <a:rPr lang="en-US" sz="1300" dirty="0">
                <a:solidFill>
                  <a:srgbClr val="1A2B3C"/>
                </a:solidFill>
                <a:latin typeface="Calibri" pitchFamily="34" charset="0"/>
                <a:ea typeface="Calibri" pitchFamily="34" charset="-122"/>
                <a:cs typeface="Calibri" pitchFamily="34" charset="-120"/>
              </a:rPr>
              <a:t>Càng nhiều tầng, đặc trưng các đỉnh càng giống nhau — mạng không còn phân biệt được các đỉnh khác nhau.</a:t>
            </a:r>
            <a:endParaRPr lang="en-US" sz="1300" dirty="0"/>
          </a:p>
        </p:txBody>
      </p:sp>
      <p:sp>
        <p:nvSpPr>
          <p:cNvPr id="9" name="Shape 7"/>
          <p:cNvSpPr/>
          <p:nvPr/>
        </p:nvSpPr>
        <p:spPr>
          <a:xfrm>
            <a:off x="3072384" y="914400"/>
            <a:ext cx="2724912" cy="2834640"/>
          </a:xfrm>
          <a:prstGeom prst="rect">
            <a:avLst/>
          </a:prstGeom>
          <a:solidFill>
            <a:srgbClr val="F0F4F8"/>
          </a:solidFill>
          <a:ln w="12700">
            <a:solidFill>
              <a:srgbClr val="8AAFC7"/>
            </a:solidFill>
            <a:prstDash val="solid"/>
          </a:ln>
        </p:spPr>
        <p:txBody>
          <a:bodyPr/>
          <a:lstStyle/>
          <a:p>
            <a:endParaRPr lang="en-VN"/>
          </a:p>
        </p:txBody>
      </p:sp>
      <p:sp>
        <p:nvSpPr>
          <p:cNvPr id="10" name="Text 8"/>
          <p:cNvSpPr/>
          <p:nvPr/>
        </p:nvSpPr>
        <p:spPr>
          <a:xfrm>
            <a:off x="3200400" y="1042416"/>
            <a:ext cx="2468880" cy="384048"/>
          </a:xfrm>
          <a:prstGeom prst="rect">
            <a:avLst/>
          </a:prstGeom>
          <a:noFill/>
          <a:ln/>
        </p:spPr>
        <p:txBody>
          <a:bodyPr wrap="square" rtlCol="0" anchor="ctr"/>
          <a:lstStyle/>
          <a:p>
            <a:pPr marL="0" indent="0">
              <a:buNone/>
            </a:pPr>
            <a:r>
              <a:rPr lang="en-US" sz="1350" b="1" dirty="0">
                <a:solidFill>
                  <a:srgbClr val="5A6A78"/>
                </a:solidFill>
                <a:latin typeface="Calibri" pitchFamily="34" charset="0"/>
                <a:ea typeface="Calibri" pitchFamily="34" charset="-122"/>
                <a:cs typeface="Calibri" pitchFamily="34" charset="-120"/>
              </a:rPr>
              <a:t>② Oversquashing  [19]</a:t>
            </a:r>
            <a:endParaRPr lang="en-US" sz="1350" dirty="0"/>
          </a:p>
        </p:txBody>
      </p:sp>
      <p:sp>
        <p:nvSpPr>
          <p:cNvPr id="11" name="Shape 9"/>
          <p:cNvSpPr/>
          <p:nvPr/>
        </p:nvSpPr>
        <p:spPr>
          <a:xfrm>
            <a:off x="3200400" y="1463040"/>
            <a:ext cx="2468880" cy="0"/>
          </a:xfrm>
          <a:prstGeom prst="line">
            <a:avLst/>
          </a:prstGeom>
          <a:noFill/>
          <a:ln w="10160">
            <a:solidFill>
              <a:srgbClr val="8AAFC7"/>
            </a:solidFill>
            <a:prstDash val="solid"/>
          </a:ln>
        </p:spPr>
        <p:txBody>
          <a:bodyPr/>
          <a:lstStyle/>
          <a:p>
            <a:endParaRPr lang="en-VN"/>
          </a:p>
        </p:txBody>
      </p:sp>
      <p:sp>
        <p:nvSpPr>
          <p:cNvPr id="12" name="Text 10"/>
          <p:cNvSpPr/>
          <p:nvPr/>
        </p:nvSpPr>
        <p:spPr>
          <a:xfrm>
            <a:off x="3200400" y="1572768"/>
            <a:ext cx="2468880" cy="2011680"/>
          </a:xfrm>
          <a:prstGeom prst="rect">
            <a:avLst/>
          </a:prstGeom>
          <a:noFill/>
          <a:ln/>
        </p:spPr>
        <p:txBody>
          <a:bodyPr wrap="square" rtlCol="0" anchor="t"/>
          <a:lstStyle/>
          <a:p>
            <a:pPr marL="0" indent="0">
              <a:buNone/>
            </a:pPr>
            <a:r>
              <a:rPr lang="en-US" sz="1300" dirty="0">
                <a:solidFill>
                  <a:srgbClr val="1A2B3C"/>
                </a:solidFill>
                <a:latin typeface="Calibri" pitchFamily="34" charset="0"/>
                <a:ea typeface="Calibri" pitchFamily="34" charset="-122"/>
                <a:cs typeface="Calibri" pitchFamily="34" charset="-120"/>
              </a:rPr>
              <a:t>Thông tin từ xa bị nén qua "cổ chai" — mạng mất tín hiệu từ các đỉnh ở xa khi số tầng tăng.</a:t>
            </a:r>
            <a:endParaRPr lang="en-US" sz="1300" dirty="0"/>
          </a:p>
        </p:txBody>
      </p:sp>
      <p:sp>
        <p:nvSpPr>
          <p:cNvPr id="13" name="Shape 11"/>
          <p:cNvSpPr/>
          <p:nvPr/>
        </p:nvSpPr>
        <p:spPr>
          <a:xfrm>
            <a:off x="5888736" y="914400"/>
            <a:ext cx="2724912" cy="2834640"/>
          </a:xfrm>
          <a:prstGeom prst="rect">
            <a:avLst/>
          </a:prstGeom>
          <a:solidFill>
            <a:srgbClr val="EAF4FB"/>
          </a:solidFill>
          <a:ln w="31750">
            <a:solidFill>
              <a:srgbClr val="065A82"/>
            </a:solidFill>
            <a:prstDash val="solid"/>
          </a:ln>
        </p:spPr>
        <p:txBody>
          <a:bodyPr/>
          <a:lstStyle/>
          <a:p>
            <a:endParaRPr lang="en-VN"/>
          </a:p>
        </p:txBody>
      </p:sp>
      <p:sp>
        <p:nvSpPr>
          <p:cNvPr id="14" name="Text 12"/>
          <p:cNvSpPr/>
          <p:nvPr/>
        </p:nvSpPr>
        <p:spPr>
          <a:xfrm>
            <a:off x="6016752" y="1042416"/>
            <a:ext cx="2468880" cy="384048"/>
          </a:xfrm>
          <a:prstGeom prst="rect">
            <a:avLst/>
          </a:prstGeom>
          <a:noFill/>
          <a:ln/>
        </p:spPr>
        <p:txBody>
          <a:bodyPr wrap="square" rtlCol="0" anchor="ctr"/>
          <a:lstStyle/>
          <a:p>
            <a:pPr marL="0" indent="0">
              <a:buNone/>
            </a:pPr>
            <a:r>
              <a:rPr lang="en-US" sz="1350" b="1" dirty="0">
                <a:solidFill>
                  <a:srgbClr val="065A82"/>
                </a:solidFill>
                <a:latin typeface="Calibri" pitchFamily="34" charset="0"/>
                <a:ea typeface="Calibri" pitchFamily="34" charset="-122"/>
                <a:cs typeface="Calibri" pitchFamily="34" charset="-120"/>
              </a:rPr>
              <a:t>③ Bùng nổ lân cận  [21]</a:t>
            </a:r>
            <a:endParaRPr lang="en-US" sz="1350" dirty="0"/>
          </a:p>
        </p:txBody>
      </p:sp>
      <p:sp>
        <p:nvSpPr>
          <p:cNvPr id="15" name="Shape 13"/>
          <p:cNvSpPr/>
          <p:nvPr/>
        </p:nvSpPr>
        <p:spPr>
          <a:xfrm>
            <a:off x="6016752" y="1463040"/>
            <a:ext cx="2468880" cy="0"/>
          </a:xfrm>
          <a:prstGeom prst="line">
            <a:avLst/>
          </a:prstGeom>
          <a:noFill/>
          <a:ln w="10160">
            <a:solidFill>
              <a:srgbClr val="065A82"/>
            </a:solidFill>
            <a:prstDash val="solid"/>
          </a:ln>
        </p:spPr>
        <p:txBody>
          <a:bodyPr/>
          <a:lstStyle/>
          <a:p>
            <a:endParaRPr lang="en-VN"/>
          </a:p>
        </p:txBody>
      </p:sp>
      <p:sp>
        <p:nvSpPr>
          <p:cNvPr id="16" name="Text 14"/>
          <p:cNvSpPr/>
          <p:nvPr/>
        </p:nvSpPr>
        <p:spPr>
          <a:xfrm>
            <a:off x="6016752" y="1572768"/>
            <a:ext cx="2468880" cy="2011680"/>
          </a:xfrm>
          <a:prstGeom prst="rect">
            <a:avLst/>
          </a:prstGeom>
          <a:noFill/>
          <a:ln/>
        </p:spPr>
        <p:txBody>
          <a:bodyPr wrap="square" rtlCol="0" anchor="t"/>
          <a:lstStyle/>
          <a:p>
            <a:pPr marL="0" indent="0">
              <a:buNone/>
            </a:pPr>
            <a:r>
              <a:rPr lang="en-US" sz="1300" dirty="0">
                <a:solidFill>
                  <a:srgbClr val="1A2B3C"/>
                </a:solidFill>
                <a:latin typeface="Calibri" pitchFamily="34" charset="0"/>
                <a:ea typeface="Calibri" pitchFamily="34" charset="-122"/>
                <a:cs typeface="Calibri" pitchFamily="34" charset="-120"/>
              </a:rPr>
              <a:t>Số đỉnh cần xử lý tăng theo cấp số nhân với số tầng → không thể huấn luyện trên đồ thị lớn.</a:t>
            </a:r>
            <a:endParaRPr lang="en-US" sz="1300" dirty="0"/>
          </a:p>
        </p:txBody>
      </p:sp>
      <p:sp>
        <p:nvSpPr>
          <p:cNvPr id="17" name="Shape 15"/>
          <p:cNvSpPr/>
          <p:nvPr/>
        </p:nvSpPr>
        <p:spPr>
          <a:xfrm>
            <a:off x="256032" y="3858768"/>
            <a:ext cx="8631936" cy="822960"/>
          </a:xfrm>
          <a:prstGeom prst="rect">
            <a:avLst/>
          </a:prstGeom>
          <a:solidFill>
            <a:srgbClr val="065A82"/>
          </a:solidFill>
          <a:ln w="12700">
            <a:solidFill>
              <a:srgbClr val="065A82"/>
            </a:solidFill>
            <a:prstDash val="solid"/>
          </a:ln>
        </p:spPr>
        <p:txBody>
          <a:bodyPr/>
          <a:lstStyle/>
          <a:p>
            <a:endParaRPr lang="en-VN"/>
          </a:p>
        </p:txBody>
      </p:sp>
      <p:sp>
        <p:nvSpPr>
          <p:cNvPr id="18" name="Text 16"/>
          <p:cNvSpPr/>
          <p:nvPr/>
        </p:nvSpPr>
        <p:spPr>
          <a:xfrm>
            <a:off x="384048" y="3858768"/>
            <a:ext cx="8375904" cy="82296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Báo cáo này tập trung vào ③ </a:t>
            </a:r>
            <a:r>
              <a:rPr lang="en-US" sz="1300" b="1" dirty="0">
                <a:solidFill>
                  <a:srgbClr val="02C39A"/>
                </a:solidFill>
                <a:latin typeface="Calibri" pitchFamily="34" charset="0"/>
                <a:ea typeface="Calibri" pitchFamily="34" charset="-122"/>
                <a:cs typeface="Calibri" pitchFamily="34" charset="-120"/>
              </a:rPr>
              <a:t>Bùng nổ lân cận</a:t>
            </a:r>
            <a:r>
              <a:rPr lang="en-US" sz="1300" dirty="0">
                <a:solidFill>
                  <a:srgbClr val="FFFFFF"/>
                </a:solidFill>
                <a:latin typeface="Calibri" pitchFamily="34" charset="0"/>
                <a:ea typeface="Calibri" pitchFamily="34" charset="-122"/>
                <a:cs typeface="Calibri" pitchFamily="34" charset="-120"/>
              </a:rPr>
              <a:t> — thách thức scalability khi huấn luyện GNN trên đồ thị gợi ý quy mô lớn.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Tại Sao Bước Aggregate Gây Ra Bùng Nổ Lân Cận?</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7 / 29</a:t>
            </a:r>
            <a:endParaRPr lang="en-US" sz="1000" dirty="0"/>
          </a:p>
        </p:txBody>
      </p:sp>
      <p:sp>
        <p:nvSpPr>
          <p:cNvPr id="5" name="Shape 3"/>
          <p:cNvSpPr/>
          <p:nvPr/>
        </p:nvSpPr>
        <p:spPr>
          <a:xfrm>
            <a:off x="274320" y="877824"/>
            <a:ext cx="8595360" cy="621792"/>
          </a:xfrm>
          <a:prstGeom prst="rect">
            <a:avLst/>
          </a:prstGeom>
          <a:solidFill>
            <a:srgbClr val="EAF4FB"/>
          </a:solidFill>
          <a:ln w="19050">
            <a:solidFill>
              <a:srgbClr val="1C7293"/>
            </a:solidFill>
            <a:prstDash val="solid"/>
          </a:ln>
        </p:spPr>
        <p:txBody>
          <a:bodyPr/>
          <a:lstStyle/>
          <a:p>
            <a:endParaRPr lang="en-VN"/>
          </a:p>
        </p:txBody>
      </p:sp>
      <mc:AlternateContent xmlns:mc="http://schemas.openxmlformats.org/markup-compatibility/2006" xmlns:a14="http://schemas.microsoft.com/office/drawing/2010/main">
        <mc:Choice Requires="a14">
          <p:sp>
            <p:nvSpPr>
              <p:cNvPr id="6" name="Text 4"/>
              <p:cNvSpPr/>
              <p:nvPr/>
            </p:nvSpPr>
            <p:spPr>
              <a:xfrm>
                <a:off x="274320" y="877824"/>
                <a:ext cx="8595360" cy="621792"/>
              </a:xfrm>
              <a:prstGeom prst="rect">
                <a:avLst/>
              </a:prstGeom>
              <a:noFill/>
              <a:ln/>
            </p:spPr>
            <p:txBody>
              <a:bodyPr wrap="square" rtlCol="0" anchor="ctr"/>
              <a:lstStyle/>
              <a:p>
                <a:pPr algn="ctr"/>
                <a:r>
                  <a:rPr lang="en-US" sz="1400" b="1">
                    <a:solidFill>
                      <a:srgbClr val="065A82"/>
                    </a:solidFill>
                    <a:latin typeface="Calibri" pitchFamily="34" charset="0"/>
                    <a:ea typeface="Calibri" pitchFamily="34" charset="-122"/>
                    <a:cs typeface="Calibri" pitchFamily="34" charset="-120"/>
                  </a:rPr>
                  <a:t>Để tính </a:t>
                </a:r>
                <a14:m>
                  <m:oMath xmlns:m="http://schemas.openxmlformats.org/officeDocument/2006/math">
                    <m:sSubSup>
                      <m:sSubSupPr>
                        <m:ctrlPr>
                          <a:rPr lang="en-US" sz="1400" b="1" i="1" smtClean="0">
                            <a:solidFill>
                              <a:srgbClr val="065A82"/>
                            </a:solidFill>
                            <a:latin typeface="Cambria Math" panose="02040503050406030204" pitchFamily="18" charset="0"/>
                            <a:ea typeface="Calibri" pitchFamily="34" charset="-122"/>
                            <a:cs typeface="Calibri" pitchFamily="34" charset="-120"/>
                          </a:rPr>
                        </m:ctrlPr>
                      </m:sSubSupPr>
                      <m:e>
                        <m:r>
                          <a:rPr lang="en-US" sz="1400" b="1" i="1" smtClean="0">
                            <a:solidFill>
                              <a:srgbClr val="065A82"/>
                            </a:solidFill>
                            <a:latin typeface="Cambria Math" panose="02040503050406030204" pitchFamily="18" charset="0"/>
                            <a:ea typeface="Calibri" pitchFamily="34" charset="-122"/>
                            <a:cs typeface="Calibri" pitchFamily="34" charset="-120"/>
                          </a:rPr>
                          <m:t>𝒉</m:t>
                        </m:r>
                      </m:e>
                      <m:sub>
                        <m:r>
                          <a:rPr lang="en-US" sz="1400" b="1" i="1" smtClean="0">
                            <a:solidFill>
                              <a:srgbClr val="065A82"/>
                            </a:solidFill>
                            <a:latin typeface="Cambria Math" panose="02040503050406030204" pitchFamily="18" charset="0"/>
                            <a:ea typeface="Calibri" pitchFamily="34" charset="-122"/>
                            <a:cs typeface="Calibri" pitchFamily="34" charset="-120"/>
                          </a:rPr>
                          <m:t>𝒗</m:t>
                        </m:r>
                      </m:sub>
                      <m:sup>
                        <m:d>
                          <m:dPr>
                            <m:ctrlPr>
                              <a:rPr lang="en-US" sz="1400" b="1" i="1" smtClean="0">
                                <a:solidFill>
                                  <a:srgbClr val="065A82"/>
                                </a:solidFill>
                                <a:latin typeface="Cambria Math" panose="02040503050406030204" pitchFamily="18" charset="0"/>
                                <a:ea typeface="Calibri" pitchFamily="34" charset="-122"/>
                                <a:cs typeface="Calibri" pitchFamily="34" charset="-120"/>
                              </a:rPr>
                            </m:ctrlPr>
                          </m:dPr>
                          <m:e>
                            <m:r>
                              <a:rPr lang="en-US" sz="1400" b="1" i="1" smtClean="0">
                                <a:solidFill>
                                  <a:srgbClr val="065A82"/>
                                </a:solidFill>
                                <a:latin typeface="Cambria Math" panose="02040503050406030204" pitchFamily="18" charset="0"/>
                                <a:ea typeface="Calibri" pitchFamily="34" charset="-122"/>
                                <a:cs typeface="Calibri" pitchFamily="34" charset="-120"/>
                              </a:rPr>
                              <m:t>𝑳</m:t>
                            </m:r>
                          </m:e>
                        </m:d>
                      </m:sup>
                    </m:sSubSup>
                  </m:oMath>
                </a14:m>
                <a:r>
                  <a:rPr lang="en-US" sz="1400" b="1">
                    <a:solidFill>
                      <a:srgbClr val="065A82"/>
                    </a:solidFill>
                    <a:latin typeface="Calibri" pitchFamily="34" charset="0"/>
                    <a:ea typeface="Calibri" pitchFamily="34" charset="-122"/>
                    <a:cs typeface="Calibri" pitchFamily="34" charset="-120"/>
                  </a:rPr>
                  <a:t> ở </a:t>
                </a:r>
                <a:r>
                  <a:rPr lang="en-US" sz="1400" b="1" dirty="0">
                    <a:solidFill>
                      <a:srgbClr val="065A82"/>
                    </a:solidFill>
                    <a:latin typeface="Calibri" pitchFamily="34" charset="0"/>
                    <a:ea typeface="Calibri" pitchFamily="34" charset="-122"/>
                    <a:cs typeface="Calibri" pitchFamily="34" charset="-120"/>
                  </a:rPr>
                  <a:t>tầng L, Bước Aggregate phải đệ quy lấy thông tin từ lân cận qua từng tầng.</a:t>
                </a:r>
                <a:endParaRPr lang="en-US" sz="1400" dirty="0"/>
              </a:p>
            </p:txBody>
          </p:sp>
        </mc:Choice>
        <mc:Fallback xmlns="">
          <p:sp>
            <p:nvSpPr>
              <p:cNvPr id="6" name="Text 4"/>
              <p:cNvSpPr>
                <a:spLocks noRot="1" noChangeAspect="1" noMove="1" noResize="1" noEditPoints="1" noAdjustHandles="1" noChangeArrowheads="1" noChangeShapeType="1" noTextEdit="1"/>
              </p:cNvSpPr>
              <p:nvPr/>
            </p:nvSpPr>
            <p:spPr>
              <a:xfrm>
                <a:off x="274320" y="877824"/>
                <a:ext cx="8595360" cy="621792"/>
              </a:xfrm>
              <a:prstGeom prst="rect">
                <a:avLst/>
              </a:prstGeom>
              <a:blipFill>
                <a:blip r:embed="rId3"/>
                <a:stretch>
                  <a:fillRect/>
                </a:stretch>
              </a:blipFill>
              <a:ln/>
            </p:spPr>
            <p:txBody>
              <a:bodyPr/>
              <a:lstStyle/>
              <a:p>
                <a:r>
                  <a:rPr lang="en-VN">
                    <a:noFill/>
                  </a:rPr>
                  <a:t> </a:t>
                </a:r>
              </a:p>
            </p:txBody>
          </p:sp>
        </mc:Fallback>
      </mc:AlternateContent>
      <p:sp>
        <p:nvSpPr>
          <p:cNvPr id="7" name="Shape 5"/>
          <p:cNvSpPr/>
          <p:nvPr/>
        </p:nvSpPr>
        <p:spPr>
          <a:xfrm>
            <a:off x="274320" y="1664208"/>
            <a:ext cx="1005840" cy="749808"/>
          </a:xfrm>
          <a:prstGeom prst="rect">
            <a:avLst/>
          </a:prstGeom>
          <a:solidFill>
            <a:srgbClr val="1C7293"/>
          </a:solidFill>
          <a:ln w="12700">
            <a:solidFill>
              <a:srgbClr val="1C7293"/>
            </a:solidFill>
            <a:prstDash val="solid"/>
          </a:ln>
        </p:spPr>
        <p:txBody>
          <a:bodyPr/>
          <a:lstStyle/>
          <a:p>
            <a:endParaRPr lang="en-VN"/>
          </a:p>
        </p:txBody>
      </p:sp>
      <p:sp>
        <p:nvSpPr>
          <p:cNvPr id="8" name="Text 6"/>
          <p:cNvSpPr/>
          <p:nvPr/>
        </p:nvSpPr>
        <p:spPr>
          <a:xfrm>
            <a:off x="274320" y="1664208"/>
            <a:ext cx="1005840" cy="7498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Tầng 1</a:t>
            </a:r>
            <a:endParaRPr lang="en-US" sz="1400" dirty="0"/>
          </a:p>
        </p:txBody>
      </p:sp>
      <p:sp>
        <p:nvSpPr>
          <p:cNvPr id="9" name="Shape 7"/>
          <p:cNvSpPr/>
          <p:nvPr/>
        </p:nvSpPr>
        <p:spPr>
          <a:xfrm>
            <a:off x="1417320" y="1664208"/>
            <a:ext cx="5120640" cy="749808"/>
          </a:xfrm>
          <a:prstGeom prst="rect">
            <a:avLst/>
          </a:prstGeom>
          <a:solidFill>
            <a:srgbClr val="F1F5F9"/>
          </a:solidFill>
          <a:ln w="19050">
            <a:solidFill>
              <a:srgbClr val="1C7293"/>
            </a:solidFill>
            <a:prstDash val="solid"/>
          </a:ln>
        </p:spPr>
        <p:txBody>
          <a:bodyPr/>
          <a:lstStyle/>
          <a:p>
            <a:endParaRPr lang="en-VN"/>
          </a:p>
        </p:txBody>
      </p:sp>
      <p:pic>
        <p:nvPicPr>
          <p:cNvPr id="10" name="Image 0" descr="/sessions/festive-admiring-rubin/mnt/outputs/formulas/g1_l1.png"/>
          <p:cNvPicPr>
            <a:picLocks noChangeAspect="1"/>
          </p:cNvPicPr>
          <p:nvPr/>
        </p:nvPicPr>
        <p:blipFill>
          <a:blip r:embed="rId4"/>
          <a:stretch>
            <a:fillRect/>
          </a:stretch>
        </p:blipFill>
        <p:spPr>
          <a:xfrm>
            <a:off x="1435608" y="1691640"/>
            <a:ext cx="5074920" cy="384048"/>
          </a:xfrm>
          <a:prstGeom prst="rect">
            <a:avLst/>
          </a:prstGeom>
        </p:spPr>
      </p:pic>
      <p:sp>
        <p:nvSpPr>
          <p:cNvPr id="11" name="Text 8"/>
          <p:cNvSpPr/>
          <p:nvPr/>
        </p:nvSpPr>
        <p:spPr>
          <a:xfrm>
            <a:off x="1536192" y="2093976"/>
            <a:ext cx="4846320" cy="292608"/>
          </a:xfrm>
          <a:prstGeom prst="rect">
            <a:avLst/>
          </a:prstGeom>
          <a:noFill/>
          <a:ln/>
        </p:spPr>
        <p:txBody>
          <a:bodyPr wrap="square" rtlCol="0" anchor="ctr"/>
          <a:lstStyle/>
          <a:p>
            <a:pPr marL="0" indent="0">
              <a:buNone/>
            </a:pPr>
            <a:r>
              <a:rPr lang="en-US" sz="1200" i="1" dirty="0">
                <a:solidFill>
                  <a:srgbClr val="5A6A78"/>
                </a:solidFill>
                <a:latin typeface="Calibri" pitchFamily="34" charset="0"/>
                <a:ea typeface="Calibri" pitchFamily="34" charset="-122"/>
                <a:cs typeface="Calibri" pitchFamily="34" charset="-120"/>
              </a:rPr>
              <a:t>→  cần h_u^(0) của tất cả lân cận trực tiếp của v</a:t>
            </a:r>
            <a:endParaRPr lang="en-US" sz="1200" dirty="0"/>
          </a:p>
        </p:txBody>
      </p:sp>
      <p:sp>
        <p:nvSpPr>
          <p:cNvPr id="12" name="Shape 9"/>
          <p:cNvSpPr/>
          <p:nvPr/>
        </p:nvSpPr>
        <p:spPr>
          <a:xfrm>
            <a:off x="6675120" y="1755648"/>
            <a:ext cx="2103120" cy="566928"/>
          </a:xfrm>
          <a:prstGeom prst="rect">
            <a:avLst/>
          </a:prstGeom>
          <a:solidFill>
            <a:srgbClr val="1C7293"/>
          </a:solidFill>
          <a:ln w="12700">
            <a:solidFill>
              <a:srgbClr val="1C7293"/>
            </a:solidFill>
            <a:prstDash val="solid"/>
          </a:ln>
        </p:spPr>
        <p:txBody>
          <a:bodyPr/>
          <a:lstStyle/>
          <a:p>
            <a:endParaRPr lang="en-VN"/>
          </a:p>
        </p:txBody>
      </p:sp>
      <p:sp>
        <p:nvSpPr>
          <p:cNvPr id="13" name="Text 10"/>
          <p:cNvSpPr/>
          <p:nvPr/>
        </p:nvSpPr>
        <p:spPr>
          <a:xfrm>
            <a:off x="6675120" y="1755648"/>
            <a:ext cx="2103120"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d̄  đỉnh</a:t>
            </a:r>
            <a:endParaRPr lang="en-US" sz="1800" dirty="0"/>
          </a:p>
        </p:txBody>
      </p:sp>
      <p:sp>
        <p:nvSpPr>
          <p:cNvPr id="14" name="Text 11"/>
          <p:cNvSpPr/>
          <p:nvPr/>
        </p:nvSpPr>
        <p:spPr>
          <a:xfrm>
            <a:off x="530352" y="2432304"/>
            <a:ext cx="457200" cy="164592"/>
          </a:xfrm>
          <a:prstGeom prst="rect">
            <a:avLst/>
          </a:prstGeom>
          <a:noFill/>
          <a:ln/>
        </p:spPr>
        <p:txBody>
          <a:bodyPr wrap="square" rtlCol="0" anchor="ctr"/>
          <a:lstStyle/>
          <a:p>
            <a:pPr marL="0" indent="0" algn="ctr">
              <a:buNone/>
            </a:pPr>
            <a:r>
              <a:rPr lang="en-US" sz="1200" dirty="0">
                <a:solidFill>
                  <a:srgbClr val="5A6A78"/>
                </a:solidFill>
              </a:rPr>
              <a:t>▼</a:t>
            </a:r>
            <a:endParaRPr lang="en-US" sz="1200" dirty="0"/>
          </a:p>
        </p:txBody>
      </p:sp>
      <p:sp>
        <p:nvSpPr>
          <p:cNvPr id="15" name="Shape 12"/>
          <p:cNvSpPr/>
          <p:nvPr/>
        </p:nvSpPr>
        <p:spPr>
          <a:xfrm>
            <a:off x="274320" y="2624328"/>
            <a:ext cx="1005840" cy="749808"/>
          </a:xfrm>
          <a:prstGeom prst="rect">
            <a:avLst/>
          </a:prstGeom>
          <a:solidFill>
            <a:srgbClr val="065A82"/>
          </a:solidFill>
          <a:ln w="12700">
            <a:solidFill>
              <a:srgbClr val="065A82"/>
            </a:solidFill>
            <a:prstDash val="solid"/>
          </a:ln>
        </p:spPr>
        <p:txBody>
          <a:bodyPr/>
          <a:lstStyle/>
          <a:p>
            <a:endParaRPr lang="en-VN"/>
          </a:p>
        </p:txBody>
      </p:sp>
      <p:sp>
        <p:nvSpPr>
          <p:cNvPr id="16" name="Text 13"/>
          <p:cNvSpPr/>
          <p:nvPr/>
        </p:nvSpPr>
        <p:spPr>
          <a:xfrm>
            <a:off x="274320" y="2624328"/>
            <a:ext cx="1005840" cy="7498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Tầng 2</a:t>
            </a:r>
            <a:endParaRPr lang="en-US" sz="1400" dirty="0"/>
          </a:p>
        </p:txBody>
      </p:sp>
      <p:sp>
        <p:nvSpPr>
          <p:cNvPr id="17" name="Shape 14"/>
          <p:cNvSpPr/>
          <p:nvPr/>
        </p:nvSpPr>
        <p:spPr>
          <a:xfrm>
            <a:off x="1417320" y="2624328"/>
            <a:ext cx="5120640" cy="749808"/>
          </a:xfrm>
          <a:prstGeom prst="rect">
            <a:avLst/>
          </a:prstGeom>
          <a:solidFill>
            <a:srgbClr val="F1F5F9"/>
          </a:solidFill>
          <a:ln w="19050">
            <a:solidFill>
              <a:srgbClr val="065A82"/>
            </a:solidFill>
            <a:prstDash val="solid"/>
          </a:ln>
        </p:spPr>
        <p:txBody>
          <a:bodyPr/>
          <a:lstStyle/>
          <a:p>
            <a:endParaRPr lang="en-VN"/>
          </a:p>
        </p:txBody>
      </p:sp>
      <p:pic>
        <p:nvPicPr>
          <p:cNvPr id="18" name="Image 1" descr="/sessions/festive-admiring-rubin/mnt/outputs/formulas/g2_l2.png"/>
          <p:cNvPicPr>
            <a:picLocks noChangeAspect="1"/>
          </p:cNvPicPr>
          <p:nvPr/>
        </p:nvPicPr>
        <p:blipFill>
          <a:blip r:embed="rId5"/>
          <a:stretch>
            <a:fillRect/>
          </a:stretch>
        </p:blipFill>
        <p:spPr>
          <a:xfrm>
            <a:off x="1435608" y="2651760"/>
            <a:ext cx="5074920" cy="384048"/>
          </a:xfrm>
          <a:prstGeom prst="rect">
            <a:avLst/>
          </a:prstGeom>
        </p:spPr>
      </p:pic>
      <p:sp>
        <p:nvSpPr>
          <p:cNvPr id="19" name="Text 15"/>
          <p:cNvSpPr/>
          <p:nvPr/>
        </p:nvSpPr>
        <p:spPr>
          <a:xfrm>
            <a:off x="1536192" y="3054096"/>
            <a:ext cx="4846320" cy="292608"/>
          </a:xfrm>
          <a:prstGeom prst="rect">
            <a:avLst/>
          </a:prstGeom>
          <a:noFill/>
          <a:ln/>
        </p:spPr>
        <p:txBody>
          <a:bodyPr wrap="square" rtlCol="0" anchor="ctr"/>
          <a:lstStyle/>
          <a:p>
            <a:pPr marL="0" indent="0">
              <a:buNone/>
            </a:pPr>
            <a:r>
              <a:rPr lang="en-US" sz="1200" i="1" dirty="0">
                <a:solidFill>
                  <a:srgbClr val="5A6A78"/>
                </a:solidFill>
                <a:latin typeface="Calibri" pitchFamily="34" charset="0"/>
                <a:ea typeface="Calibri" pitchFamily="34" charset="-122"/>
                <a:cs typeface="Calibri" pitchFamily="34" charset="-120"/>
              </a:rPr>
              <a:t>→  h_u^(1) lại cần lân cận của u → mở rộng thêm một lớp</a:t>
            </a:r>
            <a:endParaRPr lang="en-US" sz="1200" dirty="0"/>
          </a:p>
        </p:txBody>
      </p:sp>
      <p:sp>
        <p:nvSpPr>
          <p:cNvPr id="20" name="Shape 16"/>
          <p:cNvSpPr/>
          <p:nvPr/>
        </p:nvSpPr>
        <p:spPr>
          <a:xfrm>
            <a:off x="6675120" y="2715768"/>
            <a:ext cx="2103120" cy="566928"/>
          </a:xfrm>
          <a:prstGeom prst="rect">
            <a:avLst/>
          </a:prstGeom>
          <a:solidFill>
            <a:srgbClr val="065A82"/>
          </a:solidFill>
          <a:ln w="12700">
            <a:solidFill>
              <a:srgbClr val="065A82"/>
            </a:solidFill>
            <a:prstDash val="solid"/>
          </a:ln>
        </p:spPr>
        <p:txBody>
          <a:bodyPr/>
          <a:lstStyle/>
          <a:p>
            <a:endParaRPr lang="en-VN"/>
          </a:p>
        </p:txBody>
      </p:sp>
      <p:sp>
        <p:nvSpPr>
          <p:cNvPr id="21" name="Text 17"/>
          <p:cNvSpPr/>
          <p:nvPr/>
        </p:nvSpPr>
        <p:spPr>
          <a:xfrm>
            <a:off x="6675120" y="2715768"/>
            <a:ext cx="2103120"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d̄²  đỉnh</a:t>
            </a:r>
            <a:endParaRPr lang="en-US" sz="1800" dirty="0"/>
          </a:p>
        </p:txBody>
      </p:sp>
      <p:sp>
        <p:nvSpPr>
          <p:cNvPr id="22" name="Text 18"/>
          <p:cNvSpPr/>
          <p:nvPr/>
        </p:nvSpPr>
        <p:spPr>
          <a:xfrm>
            <a:off x="530352" y="3392424"/>
            <a:ext cx="457200" cy="164592"/>
          </a:xfrm>
          <a:prstGeom prst="rect">
            <a:avLst/>
          </a:prstGeom>
          <a:noFill/>
          <a:ln/>
        </p:spPr>
        <p:txBody>
          <a:bodyPr wrap="square" rtlCol="0" anchor="ctr"/>
          <a:lstStyle/>
          <a:p>
            <a:pPr marL="0" indent="0" algn="ctr">
              <a:buNone/>
            </a:pPr>
            <a:r>
              <a:rPr lang="en-US" sz="1200" dirty="0">
                <a:solidFill>
                  <a:srgbClr val="5A6A78"/>
                </a:solidFill>
              </a:rPr>
              <a:t>▼</a:t>
            </a:r>
            <a:endParaRPr lang="en-US" sz="1200" dirty="0"/>
          </a:p>
        </p:txBody>
      </p:sp>
      <p:sp>
        <p:nvSpPr>
          <p:cNvPr id="23" name="Shape 19"/>
          <p:cNvSpPr/>
          <p:nvPr/>
        </p:nvSpPr>
        <p:spPr>
          <a:xfrm>
            <a:off x="274320" y="3584448"/>
            <a:ext cx="1005840" cy="749808"/>
          </a:xfrm>
          <a:prstGeom prst="rect">
            <a:avLst/>
          </a:prstGeom>
          <a:solidFill>
            <a:srgbClr val="9B2226"/>
          </a:solidFill>
          <a:ln w="12700">
            <a:solidFill>
              <a:srgbClr val="9B2226"/>
            </a:solidFill>
            <a:prstDash val="solid"/>
          </a:ln>
        </p:spPr>
        <p:txBody>
          <a:bodyPr/>
          <a:lstStyle/>
          <a:p>
            <a:endParaRPr lang="en-VN"/>
          </a:p>
        </p:txBody>
      </p:sp>
      <p:sp>
        <p:nvSpPr>
          <p:cNvPr id="24" name="Text 20"/>
          <p:cNvSpPr/>
          <p:nvPr/>
        </p:nvSpPr>
        <p:spPr>
          <a:xfrm>
            <a:off x="274320" y="3584448"/>
            <a:ext cx="1005840" cy="7498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Tầng L</a:t>
            </a:r>
            <a:endParaRPr lang="en-US" sz="1400" dirty="0"/>
          </a:p>
        </p:txBody>
      </p:sp>
      <p:sp>
        <p:nvSpPr>
          <p:cNvPr id="25" name="Shape 21"/>
          <p:cNvSpPr/>
          <p:nvPr/>
        </p:nvSpPr>
        <p:spPr>
          <a:xfrm>
            <a:off x="1417320" y="3584448"/>
            <a:ext cx="5120640" cy="749808"/>
          </a:xfrm>
          <a:prstGeom prst="rect">
            <a:avLst/>
          </a:prstGeom>
          <a:solidFill>
            <a:srgbClr val="F1F5F9"/>
          </a:solidFill>
          <a:ln w="19050">
            <a:solidFill>
              <a:srgbClr val="9B2226"/>
            </a:solidFill>
            <a:prstDash val="solid"/>
          </a:ln>
        </p:spPr>
        <p:txBody>
          <a:bodyPr/>
          <a:lstStyle/>
          <a:p>
            <a:endParaRPr lang="en-VN"/>
          </a:p>
        </p:txBody>
      </p:sp>
      <p:pic>
        <p:nvPicPr>
          <p:cNvPr id="26" name="Image 2" descr="/sessions/festive-admiring-rubin/mnt/outputs/formulas/g3_lL.png"/>
          <p:cNvPicPr>
            <a:picLocks noChangeAspect="1"/>
          </p:cNvPicPr>
          <p:nvPr/>
        </p:nvPicPr>
        <p:blipFill>
          <a:blip r:embed="rId6"/>
          <a:stretch>
            <a:fillRect/>
          </a:stretch>
        </p:blipFill>
        <p:spPr>
          <a:xfrm>
            <a:off x="1435608" y="3611880"/>
            <a:ext cx="5074920" cy="384048"/>
          </a:xfrm>
          <a:prstGeom prst="rect">
            <a:avLst/>
          </a:prstGeom>
        </p:spPr>
      </p:pic>
      <p:sp>
        <p:nvSpPr>
          <p:cNvPr id="27" name="Text 22"/>
          <p:cNvSpPr/>
          <p:nvPr/>
        </p:nvSpPr>
        <p:spPr>
          <a:xfrm>
            <a:off x="1536192" y="4014216"/>
            <a:ext cx="4846320" cy="292608"/>
          </a:xfrm>
          <a:prstGeom prst="rect">
            <a:avLst/>
          </a:prstGeom>
          <a:noFill/>
          <a:ln/>
        </p:spPr>
        <p:txBody>
          <a:bodyPr wrap="square" rtlCol="0" anchor="ctr"/>
          <a:lstStyle/>
          <a:p>
            <a:pPr marL="0" indent="0">
              <a:buNone/>
            </a:pPr>
            <a:r>
              <a:rPr lang="en-US" sz="1200" i="1" dirty="0">
                <a:solidFill>
                  <a:srgbClr val="5A6A78"/>
                </a:solidFill>
                <a:latin typeface="Calibri" pitchFamily="34" charset="0"/>
                <a:ea typeface="Calibri" pitchFamily="34" charset="-122"/>
                <a:cs typeface="Calibri" pitchFamily="34" charset="-120"/>
              </a:rPr>
              <a:t>→  lũy tiến theo từng tầng → số đỉnh phụ thuộc = O(d̄ᴸ)</a:t>
            </a:r>
            <a:endParaRPr lang="en-US" sz="1200" dirty="0"/>
          </a:p>
        </p:txBody>
      </p:sp>
      <p:sp>
        <p:nvSpPr>
          <p:cNvPr id="28" name="Shape 23"/>
          <p:cNvSpPr/>
          <p:nvPr/>
        </p:nvSpPr>
        <p:spPr>
          <a:xfrm>
            <a:off x="6675120" y="3675888"/>
            <a:ext cx="2103120" cy="566928"/>
          </a:xfrm>
          <a:prstGeom prst="rect">
            <a:avLst/>
          </a:prstGeom>
          <a:solidFill>
            <a:srgbClr val="9B2226"/>
          </a:solidFill>
          <a:ln w="12700">
            <a:solidFill>
              <a:srgbClr val="9B2226"/>
            </a:solidFill>
            <a:prstDash val="solid"/>
          </a:ln>
        </p:spPr>
        <p:txBody>
          <a:bodyPr/>
          <a:lstStyle/>
          <a:p>
            <a:endParaRPr lang="en-VN"/>
          </a:p>
        </p:txBody>
      </p:sp>
      <p:sp>
        <p:nvSpPr>
          <p:cNvPr id="29" name="Text 24"/>
          <p:cNvSpPr/>
          <p:nvPr/>
        </p:nvSpPr>
        <p:spPr>
          <a:xfrm>
            <a:off x="6675120" y="3675888"/>
            <a:ext cx="2103120"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O(d̄ᴸ)</a:t>
            </a:r>
            <a:endParaRPr lang="en-US" sz="1800" dirty="0"/>
          </a:p>
        </p:txBody>
      </p:sp>
      <p:sp>
        <p:nvSpPr>
          <p:cNvPr id="30" name="Shape 25"/>
          <p:cNvSpPr/>
          <p:nvPr/>
        </p:nvSpPr>
        <p:spPr>
          <a:xfrm>
            <a:off x="274320" y="4487757"/>
            <a:ext cx="8595360" cy="384048"/>
          </a:xfrm>
          <a:prstGeom prst="rect">
            <a:avLst/>
          </a:prstGeom>
          <a:solidFill>
            <a:srgbClr val="FFF3CD"/>
          </a:solidFill>
          <a:ln w="25400">
            <a:solidFill>
              <a:srgbClr val="FFC107"/>
            </a:solidFill>
            <a:prstDash val="solid"/>
          </a:ln>
        </p:spPr>
        <p:txBody>
          <a:bodyPr/>
          <a:lstStyle/>
          <a:p>
            <a:endParaRPr lang="en-VN"/>
          </a:p>
        </p:txBody>
      </p:sp>
      <p:sp>
        <p:nvSpPr>
          <p:cNvPr id="31" name="Text 26"/>
          <p:cNvSpPr/>
          <p:nvPr/>
        </p:nvSpPr>
        <p:spPr>
          <a:xfrm>
            <a:off x="274320" y="4487757"/>
            <a:ext cx="8595360" cy="384048"/>
          </a:xfrm>
          <a:prstGeom prst="rect">
            <a:avLst/>
          </a:prstGeom>
          <a:noFill/>
          <a:ln/>
        </p:spPr>
        <p:txBody>
          <a:bodyPr wrap="square" rtlCol="0" anchor="ctr"/>
          <a:lstStyle/>
          <a:p>
            <a:pPr marL="0" indent="0" algn="ctr">
              <a:buNone/>
            </a:pPr>
            <a:r>
              <a:rPr lang="en-US" sz="1300" b="1" dirty="0">
                <a:solidFill>
                  <a:srgbClr val="7B4F00"/>
                </a:solidFill>
                <a:latin typeface="Calibri" pitchFamily="34" charset="0"/>
                <a:ea typeface="Calibri" pitchFamily="34" charset="-122"/>
                <a:cs typeface="Calibri" pitchFamily="34" charset="-120"/>
              </a:rPr>
              <a:t>⚠  Mini-batch 512 đỉnh, d̄=10, L=3  →  phải nạp ~512.000 đỉnh vào bộ nhớ — bùng nổ theo cấp số nhân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Vấn Đề: Bùng Nổ Lân Cận (Neighbor Explosion)</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8 / 29</a:t>
            </a:r>
            <a:endParaRPr lang="en-US" sz="1000" dirty="0"/>
          </a:p>
        </p:txBody>
      </p:sp>
      <p:sp>
        <p:nvSpPr>
          <p:cNvPr id="5" name="Text 3"/>
          <p:cNvSpPr/>
          <p:nvPr/>
        </p:nvSpPr>
        <p:spPr>
          <a:xfrm>
            <a:off x="320040" y="914400"/>
            <a:ext cx="4297680" cy="365760"/>
          </a:xfrm>
          <a:prstGeom prst="rect">
            <a:avLst/>
          </a:prstGeom>
          <a:noFill/>
          <a:ln/>
        </p:spPr>
        <p:txBody>
          <a:bodyPr wrap="square"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Tại sao đây là vấn đề?</a:t>
            </a:r>
            <a:endParaRPr lang="en-US" sz="1600" dirty="0"/>
          </a:p>
        </p:txBody>
      </p:sp>
      <p:sp>
        <p:nvSpPr>
          <p:cNvPr id="6" name="Text 4"/>
          <p:cNvSpPr/>
          <p:nvPr/>
        </p:nvSpPr>
        <p:spPr>
          <a:xfrm>
            <a:off x="320040" y="1325880"/>
            <a:ext cx="4297680" cy="2011680"/>
          </a:xfrm>
          <a:prstGeom prst="rect">
            <a:avLst/>
          </a:prstGeom>
          <a:noFill/>
          <a:ln/>
        </p:spPr>
        <p:txBody>
          <a:bodyPr wrap="square" rtlCol="0" anchor="ctr"/>
          <a:lstStyle/>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GNN L tầng: tính h_v cần toàn bộ lân cận L-hop của v</a:t>
            </a:r>
            <a:endParaRPr lang="en-US" sz="1350" dirty="0"/>
          </a:p>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Số đỉnh phụ thuộc tăng theo O(d̄ᴸ) — cấp số nhân với độ sâu</a:t>
            </a:r>
            <a:endParaRPr lang="en-US" sz="1350" dirty="0"/>
          </a:p>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Chia mini-batch nhỏ KHÔNG giúp giảm bộ nhớ nếu không có sampling</a:t>
            </a:r>
            <a:endParaRPr lang="en-US" sz="1350" dirty="0"/>
          </a:p>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ogbn-arxiv (d̄≈13, L=3): mini-batch 512 đỉnh → ~1,2 triệu đỉnh phụ thuộc</a:t>
            </a:r>
            <a:endParaRPr lang="en-US" sz="1350" dirty="0"/>
          </a:p>
        </p:txBody>
      </p:sp>
      <p:sp>
        <p:nvSpPr>
          <p:cNvPr id="7" name="Shape 5"/>
          <p:cNvSpPr/>
          <p:nvPr/>
        </p:nvSpPr>
        <p:spPr>
          <a:xfrm>
            <a:off x="320040" y="3429000"/>
            <a:ext cx="4297680" cy="804672"/>
          </a:xfrm>
          <a:prstGeom prst="rect">
            <a:avLst/>
          </a:prstGeom>
          <a:solidFill>
            <a:srgbClr val="FFF3CD"/>
          </a:solidFill>
          <a:ln w="25400">
            <a:solidFill>
              <a:srgbClr val="FFC107"/>
            </a:solidFill>
            <a:prstDash val="solid"/>
          </a:ln>
        </p:spPr>
        <p:txBody>
          <a:bodyPr/>
          <a:lstStyle/>
          <a:p>
            <a:endParaRPr lang="en-VN"/>
          </a:p>
        </p:txBody>
      </p:sp>
      <p:sp>
        <p:nvSpPr>
          <p:cNvPr id="8" name="Text 6"/>
          <p:cNvSpPr/>
          <p:nvPr/>
        </p:nvSpPr>
        <p:spPr>
          <a:xfrm>
            <a:off x="320040" y="3429000"/>
            <a:ext cx="4297680" cy="804672"/>
          </a:xfrm>
          <a:prstGeom prst="rect">
            <a:avLst/>
          </a:prstGeom>
          <a:noFill/>
          <a:ln/>
        </p:spPr>
        <p:txBody>
          <a:bodyPr wrap="square" rtlCol="0" anchor="ctr"/>
          <a:lstStyle/>
          <a:p>
            <a:pPr marL="0" indent="0" algn="ctr">
              <a:buNone/>
            </a:pPr>
            <a:r>
              <a:rPr lang="en-US" sz="1300" b="1" dirty="0">
                <a:solidFill>
                  <a:srgbClr val="7B4F00"/>
                </a:solidFill>
                <a:latin typeface="Calibri" pitchFamily="34" charset="0"/>
                <a:ea typeface="Calibri" pitchFamily="34" charset="-122"/>
                <a:cs typeface="Calibri" pitchFamily="34" charset="-120"/>
              </a:rPr>
              <a:t>Số đỉnh phụ thuộc ~ O(d̄ᴸ)</a:t>
            </a:r>
          </a:p>
          <a:p>
            <a:pPr marL="0" indent="0" algn="ctr">
              <a:buNone/>
            </a:pPr>
            <a:r>
              <a:rPr lang="en-US" sz="1300" b="1" dirty="0" err="1">
                <a:solidFill>
                  <a:srgbClr val="7B4F00"/>
                </a:solidFill>
                <a:latin typeface="Calibri" pitchFamily="34" charset="0"/>
                <a:ea typeface="Calibri" pitchFamily="34" charset="-122"/>
                <a:cs typeface="Calibri" pitchFamily="34" charset="-120"/>
              </a:rPr>
              <a:t>Ví</a:t>
            </a:r>
            <a:r>
              <a:rPr lang="en-US" sz="1300" b="1" dirty="0">
                <a:solidFill>
                  <a:srgbClr val="7B4F00"/>
                </a:solidFill>
                <a:latin typeface="Calibri" pitchFamily="34" charset="0"/>
                <a:ea typeface="Calibri" pitchFamily="34" charset="-122"/>
                <a:cs typeface="Calibri" pitchFamily="34" charset="-120"/>
              </a:rPr>
              <a:t> </a:t>
            </a:r>
            <a:r>
              <a:rPr lang="en-US" sz="1300" b="1" dirty="0" err="1">
                <a:solidFill>
                  <a:srgbClr val="7B4F00"/>
                </a:solidFill>
                <a:latin typeface="Calibri" pitchFamily="34" charset="0"/>
                <a:ea typeface="Calibri" pitchFamily="34" charset="-122"/>
                <a:cs typeface="Calibri" pitchFamily="34" charset="-120"/>
              </a:rPr>
              <a:t>dụ</a:t>
            </a:r>
            <a:r>
              <a:rPr lang="en-US" sz="1300" b="1" dirty="0">
                <a:solidFill>
                  <a:srgbClr val="7B4F00"/>
                </a:solidFill>
                <a:latin typeface="Calibri" pitchFamily="34" charset="0"/>
                <a:ea typeface="Calibri" pitchFamily="34" charset="-122"/>
                <a:cs typeface="Calibri" pitchFamily="34" charset="-120"/>
              </a:rPr>
              <a:t>: GCN 4 </a:t>
            </a:r>
            <a:r>
              <a:rPr lang="en-US" sz="1300" b="1" dirty="0" err="1">
                <a:solidFill>
                  <a:srgbClr val="7B4F00"/>
                </a:solidFill>
                <a:latin typeface="Calibri" pitchFamily="34" charset="0"/>
                <a:ea typeface="Calibri" pitchFamily="34" charset="-122"/>
                <a:cs typeface="Calibri" pitchFamily="34" charset="-120"/>
              </a:rPr>
              <a:t>tầng</a:t>
            </a:r>
            <a:r>
              <a:rPr lang="en-US" sz="1300" b="1" dirty="0">
                <a:solidFill>
                  <a:srgbClr val="7B4F00"/>
                </a:solidFill>
                <a:latin typeface="Calibri" pitchFamily="34" charset="0"/>
                <a:ea typeface="Calibri" pitchFamily="34" charset="-122"/>
                <a:cs typeface="Calibri" pitchFamily="34" charset="-120"/>
              </a:rPr>
              <a:t> </a:t>
            </a:r>
            <a:r>
              <a:rPr lang="en-US" sz="1300" b="1" dirty="0" err="1">
                <a:solidFill>
                  <a:srgbClr val="7B4F00"/>
                </a:solidFill>
                <a:latin typeface="Calibri" pitchFamily="34" charset="0"/>
                <a:ea typeface="Calibri" pitchFamily="34" charset="-122"/>
                <a:cs typeface="Calibri" pitchFamily="34" charset="-120"/>
              </a:rPr>
              <a:t>trên</a:t>
            </a:r>
            <a:r>
              <a:rPr lang="en-US" sz="1300" b="1" dirty="0">
                <a:solidFill>
                  <a:srgbClr val="7B4F00"/>
                </a:solidFill>
                <a:latin typeface="Calibri" pitchFamily="34" charset="0"/>
                <a:ea typeface="Calibri" pitchFamily="34" charset="-122"/>
                <a:cs typeface="Calibri" pitchFamily="34" charset="-120"/>
              </a:rPr>
              <a:t> </a:t>
            </a:r>
            <a:r>
              <a:rPr lang="en-US" sz="1300" b="1" dirty="0" err="1">
                <a:solidFill>
                  <a:srgbClr val="7B4F00"/>
                </a:solidFill>
                <a:latin typeface="Calibri" pitchFamily="34" charset="0"/>
                <a:ea typeface="Calibri" pitchFamily="34" charset="-122"/>
                <a:cs typeface="Calibri" pitchFamily="34" charset="-120"/>
              </a:rPr>
              <a:t>tập</a:t>
            </a:r>
            <a:r>
              <a:rPr lang="en-US" sz="1300" b="1" dirty="0">
                <a:solidFill>
                  <a:srgbClr val="7B4F00"/>
                </a:solidFill>
                <a:latin typeface="Calibri" pitchFamily="34" charset="0"/>
                <a:ea typeface="Calibri" pitchFamily="34" charset="-122"/>
                <a:cs typeface="Calibri" pitchFamily="34" charset="-120"/>
              </a:rPr>
              <a:t> Amazon (2M </a:t>
            </a:r>
            <a:r>
              <a:rPr lang="en-US" sz="1300" b="1" dirty="0" err="1">
                <a:solidFill>
                  <a:srgbClr val="7B4F00"/>
                </a:solidFill>
                <a:latin typeface="Calibri" pitchFamily="34" charset="0"/>
                <a:ea typeface="Calibri" pitchFamily="34" charset="-122"/>
                <a:cs typeface="Calibri" pitchFamily="34" charset="-120"/>
              </a:rPr>
              <a:t>đỉnh</a:t>
            </a:r>
            <a:r>
              <a:rPr lang="en-US" sz="1300" b="1" dirty="0">
                <a:solidFill>
                  <a:srgbClr val="7B4F00"/>
                </a:solidFill>
                <a:latin typeface="Calibri" pitchFamily="34" charset="0"/>
                <a:ea typeface="Calibri" pitchFamily="34" charset="-122"/>
                <a:cs typeface="Calibri" pitchFamily="34" charset="-120"/>
              </a:rPr>
              <a:t>, 61M </a:t>
            </a:r>
            <a:r>
              <a:rPr lang="en-US" sz="1300" b="1" dirty="0" err="1">
                <a:solidFill>
                  <a:srgbClr val="7B4F00"/>
                </a:solidFill>
                <a:latin typeface="Calibri" pitchFamily="34" charset="0"/>
                <a:ea typeface="Calibri" pitchFamily="34" charset="-122"/>
                <a:cs typeface="Calibri" pitchFamily="34" charset="-120"/>
              </a:rPr>
              <a:t>cạnh</a:t>
            </a:r>
            <a:r>
              <a:rPr lang="en-US" sz="1300" b="1" dirty="0">
                <a:solidFill>
                  <a:srgbClr val="7B4F00"/>
                </a:solidFill>
                <a:latin typeface="Calibri" pitchFamily="34" charset="0"/>
                <a:ea typeface="Calibri" pitchFamily="34" charset="-122"/>
                <a:cs typeface="Calibri" pitchFamily="34" charset="-120"/>
              </a:rPr>
              <a:t>) [13]: OOM </a:t>
            </a:r>
            <a:r>
              <a:rPr lang="en-US" sz="1300" b="1" dirty="0" err="1">
                <a:solidFill>
                  <a:srgbClr val="7B4F00"/>
                </a:solidFill>
                <a:latin typeface="Calibri" pitchFamily="34" charset="0"/>
                <a:ea typeface="Calibri" pitchFamily="34" charset="-122"/>
                <a:cs typeface="Calibri" pitchFamily="34" charset="-120"/>
              </a:rPr>
              <a:t>trên</a:t>
            </a:r>
            <a:r>
              <a:rPr lang="en-US" sz="1300" b="1" dirty="0">
                <a:solidFill>
                  <a:srgbClr val="7B4F00"/>
                </a:solidFill>
                <a:latin typeface="Calibri" pitchFamily="34" charset="0"/>
                <a:ea typeface="Calibri" pitchFamily="34" charset="-122"/>
                <a:cs typeface="Calibri" pitchFamily="34" charset="-120"/>
              </a:rPr>
              <a:t> </a:t>
            </a:r>
            <a:r>
              <a:rPr lang="en-US" sz="1300" b="1" dirty="0" err="1">
                <a:solidFill>
                  <a:srgbClr val="7B4F00"/>
                </a:solidFill>
                <a:latin typeface="Calibri" pitchFamily="34" charset="0"/>
                <a:ea typeface="Calibri" pitchFamily="34" charset="-122"/>
                <a:cs typeface="Calibri" pitchFamily="34" charset="-120"/>
              </a:rPr>
              <a:t>mọi</a:t>
            </a:r>
            <a:r>
              <a:rPr lang="en-US" sz="1300" b="1" dirty="0">
                <a:solidFill>
                  <a:srgbClr val="7B4F00"/>
                </a:solidFill>
                <a:latin typeface="Calibri" pitchFamily="34" charset="0"/>
                <a:ea typeface="Calibri" pitchFamily="34" charset="-122"/>
                <a:cs typeface="Calibri" pitchFamily="34" charset="-120"/>
              </a:rPr>
              <a:t> </a:t>
            </a:r>
            <a:r>
              <a:rPr lang="en-US" sz="1300" b="1" dirty="0" err="1">
                <a:solidFill>
                  <a:srgbClr val="7B4F00"/>
                </a:solidFill>
                <a:latin typeface="Calibri" pitchFamily="34" charset="0"/>
                <a:ea typeface="Calibri" pitchFamily="34" charset="-122"/>
                <a:cs typeface="Calibri" pitchFamily="34" charset="-120"/>
              </a:rPr>
              <a:t>phương</a:t>
            </a:r>
            <a:r>
              <a:rPr lang="en-US" sz="1300" b="1" dirty="0">
                <a:solidFill>
                  <a:srgbClr val="7B4F00"/>
                </a:solidFill>
                <a:latin typeface="Calibri" pitchFamily="34" charset="0"/>
                <a:ea typeface="Calibri" pitchFamily="34" charset="-122"/>
                <a:cs typeface="Calibri" pitchFamily="34" charset="-120"/>
              </a:rPr>
              <a:t> </a:t>
            </a:r>
            <a:r>
              <a:rPr lang="en-US" sz="1300" b="1" dirty="0" err="1">
                <a:solidFill>
                  <a:srgbClr val="7B4F00"/>
                </a:solidFill>
                <a:latin typeface="Calibri" pitchFamily="34" charset="0"/>
                <a:ea typeface="Calibri" pitchFamily="34" charset="-122"/>
                <a:cs typeface="Calibri" pitchFamily="34" charset="-120"/>
              </a:rPr>
              <a:t>pháp</a:t>
            </a:r>
            <a:r>
              <a:rPr lang="en-US" sz="1300" b="1" dirty="0">
                <a:solidFill>
                  <a:srgbClr val="7B4F00"/>
                </a:solidFill>
                <a:latin typeface="Calibri" pitchFamily="34" charset="0"/>
                <a:ea typeface="Calibri" pitchFamily="34" charset="-122"/>
                <a:cs typeface="Calibri" pitchFamily="34" charset="-120"/>
              </a:rPr>
              <a:t> </a:t>
            </a:r>
            <a:r>
              <a:rPr lang="en-US" sz="1300" b="1" dirty="0" err="1">
                <a:solidFill>
                  <a:srgbClr val="7B4F00"/>
                </a:solidFill>
                <a:latin typeface="Calibri" pitchFamily="34" charset="0"/>
                <a:ea typeface="Calibri" pitchFamily="34" charset="-122"/>
                <a:cs typeface="Calibri" pitchFamily="34" charset="-120"/>
              </a:rPr>
              <a:t>cũ</a:t>
            </a:r>
            <a:endParaRPr lang="en-US" sz="1300" dirty="0"/>
          </a:p>
        </p:txBody>
      </p:sp>
      <p:graphicFrame>
        <p:nvGraphicFramePr>
          <p:cNvPr id="9" name="Chart 0"/>
          <p:cNvGraphicFramePr/>
          <p:nvPr/>
        </p:nvGraphicFramePr>
        <p:xfrm>
          <a:off x="4846320" y="914400"/>
          <a:ext cx="4023360" cy="333756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p:nvPr/>
        </p:nvSpPr>
        <p:spPr>
          <a:xfrm>
            <a:off x="4846320" y="4315968"/>
            <a:ext cx="4023360" cy="347472"/>
          </a:xfrm>
          <a:prstGeom prst="rect">
            <a:avLst/>
          </a:prstGeom>
          <a:noFill/>
          <a:ln/>
        </p:spPr>
        <p:txBody>
          <a:bodyPr wrap="square" rtlCol="0" anchor="ctr"/>
          <a:lstStyle/>
          <a:p>
            <a:pPr marL="0" indent="0" algn="ctr">
              <a:buNone/>
            </a:pPr>
            <a:r>
              <a:rPr lang="en-US" sz="1050" i="1" dirty="0">
                <a:solidFill>
                  <a:srgbClr val="5A6A78"/>
                </a:solidFill>
                <a:latin typeface="Calibri" pitchFamily="34" charset="0"/>
                <a:ea typeface="Calibri" pitchFamily="34" charset="-122"/>
                <a:cs typeface="Calibri" pitchFamily="34" charset="-120"/>
              </a:rPr>
              <a:t>(3 tầng, d̄=10: gần như phải nạp toàn bộ đồ thị cho một mini-batch nhỏ)</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Các Hướng Giải Quyết Neighbor Explosion</a:t>
            </a:r>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9 / 29</a:t>
            </a:r>
          </a:p>
        </p:txBody>
      </p:sp>
      <p:sp>
        <p:nvSpPr>
          <p:cNvPr id="5" name="Text 3"/>
          <p:cNvSpPr/>
          <p:nvPr/>
        </p:nvSpPr>
        <p:spPr>
          <a:xfrm>
            <a:off x="320040" y="840000"/>
            <a:ext cx="8503920" cy="240000"/>
          </a:xfrm>
          <a:prstGeom prst="rect">
            <a:avLst/>
          </a:prstGeom>
          <a:noFill/>
          <a:ln/>
        </p:spPr>
        <p:txBody>
          <a:bodyPr wrap="square" rtlCol="0" anchor="ctr"/>
          <a:lstStyle/>
          <a:p>
            <a:pPr marL="0" indent="0" algn="l">
              <a:buNone/>
            </a:pPr>
            <a:r>
              <a:rPr lang="en-US" sz="1200" b="1" dirty="0">
                <a:solidFill>
                  <a:srgbClr val="065A82"/>
                </a:solidFill>
                <a:latin typeface="Calibri" pitchFamily="34" charset="0"/>
                <a:ea typeface="Calibri" pitchFamily="34" charset="-122"/>
                <a:cs typeface="Calibri" pitchFamily="34" charset="-120"/>
              </a:rPr>
              <a:t>Ba hướng chính [21, 27]:</a:t>
            </a:r>
          </a:p>
        </p:txBody>
      </p:sp>
      <p:sp>
        <p:nvSpPr>
          <p:cNvPr id="6" name="Shape 4"/>
          <p:cNvSpPr/>
          <p:nvPr/>
        </p:nvSpPr>
        <p:spPr>
          <a:xfrm>
            <a:off x="320040" y="1110000"/>
            <a:ext cx="2720000" cy="310000"/>
          </a:xfrm>
          <a:prstGeom prst="rect">
            <a:avLst/>
          </a:prstGeom>
          <a:solidFill>
            <a:srgbClr val="1B8A5A"/>
          </a:solidFill>
          <a:ln w="12700">
            <a:solidFill>
              <a:srgbClr val="1B8A5A"/>
            </a:solidFill>
            <a:prstDash val="solid"/>
          </a:ln>
        </p:spPr>
        <p:txBody>
          <a:bodyPr/>
          <a:lstStyle/>
          <a:p>
            <a:endParaRPr lang="en-VN"/>
          </a:p>
        </p:txBody>
      </p:sp>
      <p:sp>
        <p:nvSpPr>
          <p:cNvPr id="7" name="Text 5"/>
          <p:cNvSpPr/>
          <p:nvPr/>
        </p:nvSpPr>
        <p:spPr>
          <a:xfrm>
            <a:off x="320040" y="1110000"/>
            <a:ext cx="2720000" cy="3100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 Sampling</a:t>
            </a:r>
          </a:p>
        </p:txBody>
      </p:sp>
      <p:sp>
        <p:nvSpPr>
          <p:cNvPr id="8" name="Shape 6"/>
          <p:cNvSpPr/>
          <p:nvPr/>
        </p:nvSpPr>
        <p:spPr>
          <a:xfrm>
            <a:off x="320040" y="1420000"/>
            <a:ext cx="2720000" cy="1960000"/>
          </a:xfrm>
          <a:prstGeom prst="rect">
            <a:avLst/>
          </a:prstGeom>
          <a:solidFill>
            <a:srgbClr val="EBF7F3"/>
          </a:solidFill>
          <a:ln w="19050">
            <a:solidFill>
              <a:srgbClr val="1B8A5A"/>
            </a:solidFill>
            <a:prstDash val="solid"/>
          </a:ln>
        </p:spPr>
        <p:txBody>
          <a:bodyPr/>
          <a:lstStyle/>
          <a:p>
            <a:endParaRPr lang="en-VN"/>
          </a:p>
        </p:txBody>
      </p:sp>
      <p:sp>
        <p:nvSpPr>
          <p:cNvPr id="9" name="Text 7"/>
          <p:cNvSpPr/>
          <p:nvPr/>
        </p:nvSpPr>
        <p:spPr>
          <a:xfrm>
            <a:off x="320040" y="1420000"/>
            <a:ext cx="2720000" cy="1960000"/>
          </a:xfrm>
          <a:prstGeom prst="rect">
            <a:avLst/>
          </a:prstGeom>
          <a:noFill/>
          <a:ln/>
        </p:spPr>
        <p:txBody>
          <a:bodyPr wrap="square" lIns="114300" tIns="114300" rIns="114300" bIns="114300" rtlCol="0" anchor="t"/>
          <a:lstStyle/>
          <a:p>
            <a:pPr marL="0" indent="0">
              <a:spcAft>
                <a:spcPts val="400"/>
              </a:spcAft>
              <a:buNone/>
            </a:pPr>
            <a:r>
              <a:rPr lang="en-US" sz="1150" dirty="0">
                <a:solidFill>
                  <a:srgbClr val="1A2B3C"/>
                </a:solidFill>
                <a:latin typeface="Calibri" pitchFamily="34" charset="0"/>
                <a:ea typeface="Calibri" pitchFamily="34" charset="-122"/>
                <a:cs typeface="Calibri" pitchFamily="34" charset="-120"/>
              </a:rPr>
              <a:t>Lấy mẫu ngẫu nhiên k lân cận mỗi iteration, thay vì toàn bộ lân cận</a:t>
            </a:r>
          </a:p>
          <a:p>
            <a:pPr marL="0" indent="0">
              <a:spcBef>
                <a:spcPts val="500"/>
              </a:spcBef>
              <a:spcAft>
                <a:spcPts val="300"/>
              </a:spcAft>
              <a:buNone/>
            </a:pPr>
            <a:r>
              <a:rPr lang="en-US" sz="1100" b="1" dirty="0">
                <a:solidFill>
                  <a:srgbClr val="1B8A5A"/>
                </a:solidFill>
                <a:latin typeface="Calibri" pitchFamily="34" charset="0"/>
                <a:ea typeface="Calibri" pitchFamily="34" charset="-122"/>
                <a:cs typeface="Calibri" pitchFamily="34" charset="-120"/>
              </a:rPr>
              <a:t>Đại diện:</a:t>
            </a:r>
          </a:p>
          <a:p>
            <a:pPr marL="274638" indent="-274638">
              <a:spcAft>
                <a:spcPts val="200"/>
              </a:spcAft>
              <a:buChar char="●"/>
            </a:pPr>
            <a:r>
              <a:rPr lang="en-US" sz="1100" dirty="0">
                <a:solidFill>
                  <a:srgbClr val="1A2B3C"/>
                </a:solidFill>
                <a:latin typeface="Calibri" pitchFamily="34" charset="0"/>
                <a:ea typeface="Calibri" pitchFamily="34" charset="-122"/>
                <a:cs typeface="Calibri" pitchFamily="34" charset="-120"/>
              </a:rPr>
              <a:t>GraphSAGE [4], FastGCN [10]</a:t>
            </a:r>
          </a:p>
          <a:p>
            <a:pPr marL="274638" indent="-274638">
              <a:spcAft>
                <a:spcPts val="200"/>
              </a:spcAft>
              <a:buChar char="●"/>
            </a:pPr>
            <a:r>
              <a:rPr lang="en-US" sz="1100" dirty="0">
                <a:solidFill>
                  <a:srgbClr val="1A2B3C"/>
                </a:solidFill>
                <a:latin typeface="Calibri" pitchFamily="34" charset="0"/>
                <a:ea typeface="Calibri" pitchFamily="34" charset="-122"/>
                <a:cs typeface="Calibri" pitchFamily="34" charset="-120"/>
              </a:rPr>
              <a:t>ClusterGCN [13], GraphSAINT [14]</a:t>
            </a:r>
          </a:p>
        </p:txBody>
      </p:sp>
      <p:sp>
        <p:nvSpPr>
          <p:cNvPr id="10" name="Shape 8"/>
          <p:cNvSpPr/>
          <p:nvPr/>
        </p:nvSpPr>
        <p:spPr>
          <a:xfrm>
            <a:off x="3212040" y="1110000"/>
            <a:ext cx="2720000" cy="310000"/>
          </a:xfrm>
          <a:prstGeom prst="rect">
            <a:avLst/>
          </a:prstGeom>
          <a:solidFill>
            <a:srgbClr val="C45B0A"/>
          </a:solidFill>
          <a:ln w="12700">
            <a:solidFill>
              <a:srgbClr val="C45B0A"/>
            </a:solidFill>
            <a:prstDash val="solid"/>
          </a:ln>
        </p:spPr>
        <p:txBody>
          <a:bodyPr/>
          <a:lstStyle/>
          <a:p>
            <a:endParaRPr lang="en-VN"/>
          </a:p>
        </p:txBody>
      </p:sp>
      <p:sp>
        <p:nvSpPr>
          <p:cNvPr id="11" name="Text 9"/>
          <p:cNvSpPr/>
          <p:nvPr/>
        </p:nvSpPr>
        <p:spPr>
          <a:xfrm>
            <a:off x="3212040" y="1110000"/>
            <a:ext cx="2720000" cy="3100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 Decoupling</a:t>
            </a:r>
          </a:p>
        </p:txBody>
      </p:sp>
      <p:sp>
        <p:nvSpPr>
          <p:cNvPr id="12" name="Shape 10"/>
          <p:cNvSpPr/>
          <p:nvPr/>
        </p:nvSpPr>
        <p:spPr>
          <a:xfrm>
            <a:off x="3212040" y="1420000"/>
            <a:ext cx="2720000" cy="1960000"/>
          </a:xfrm>
          <a:prstGeom prst="rect">
            <a:avLst/>
          </a:prstGeom>
          <a:solidFill>
            <a:srgbClr val="FDF3E8"/>
          </a:solidFill>
          <a:ln w="19050">
            <a:solidFill>
              <a:srgbClr val="C45B0A"/>
            </a:solidFill>
            <a:prstDash val="solid"/>
          </a:ln>
        </p:spPr>
        <p:txBody>
          <a:bodyPr/>
          <a:lstStyle/>
          <a:p>
            <a:endParaRPr lang="en-VN"/>
          </a:p>
        </p:txBody>
      </p:sp>
      <p:sp>
        <p:nvSpPr>
          <p:cNvPr id="13" name="Text 11"/>
          <p:cNvSpPr/>
          <p:nvPr/>
        </p:nvSpPr>
        <p:spPr>
          <a:xfrm>
            <a:off x="3212040" y="1420000"/>
            <a:ext cx="2720000" cy="1960000"/>
          </a:xfrm>
          <a:prstGeom prst="rect">
            <a:avLst/>
          </a:prstGeom>
          <a:noFill/>
          <a:ln/>
        </p:spPr>
        <p:txBody>
          <a:bodyPr wrap="square" lIns="114300" tIns="114300" rIns="114300" bIns="114300" rtlCol="0" anchor="t"/>
          <a:lstStyle/>
          <a:p>
            <a:pPr marL="0" indent="0">
              <a:spcAft>
                <a:spcPts val="400"/>
              </a:spcAft>
              <a:buNone/>
            </a:pPr>
            <a:r>
              <a:rPr lang="en-US" sz="1150" dirty="0">
                <a:solidFill>
                  <a:srgbClr val="1A2B3C"/>
                </a:solidFill>
                <a:latin typeface="Calibri" pitchFamily="34" charset="0"/>
                <a:ea typeface="Calibri" pitchFamily="34" charset="-122"/>
                <a:cs typeface="Calibri" pitchFamily="34" charset="-120"/>
              </a:rPr>
              <a:t>Tính trước phép lan truyền đồ thị, rồi huấn luyện MLP trên kết quả</a:t>
            </a:r>
          </a:p>
          <a:p>
            <a:pPr marL="0" indent="0">
              <a:spcBef>
                <a:spcPts val="500"/>
              </a:spcBef>
              <a:spcAft>
                <a:spcPts val="300"/>
              </a:spcAft>
              <a:buNone/>
            </a:pPr>
            <a:r>
              <a:rPr lang="en-US" sz="1100" b="1" dirty="0">
                <a:solidFill>
                  <a:srgbClr val="C45B0A"/>
                </a:solidFill>
                <a:latin typeface="Calibri" pitchFamily="34" charset="0"/>
                <a:ea typeface="Calibri" pitchFamily="34" charset="-122"/>
                <a:cs typeface="Calibri" pitchFamily="34" charset="-120"/>
              </a:rPr>
              <a:t>Đại diện:</a:t>
            </a:r>
          </a:p>
          <a:p>
            <a:pPr marL="274638" indent="-274638">
              <a:spcAft>
                <a:spcPts val="200"/>
              </a:spcAft>
              <a:buChar char="●"/>
            </a:pPr>
            <a:r>
              <a:rPr lang="en-US" sz="1100" dirty="0">
                <a:solidFill>
                  <a:srgbClr val="1A2B3C"/>
                </a:solidFill>
                <a:latin typeface="Calibri" pitchFamily="34" charset="0"/>
                <a:ea typeface="Calibri" pitchFamily="34" charset="-122"/>
                <a:cs typeface="Calibri" pitchFamily="34" charset="-120"/>
              </a:rPr>
              <a:t>SGC, SIGN, GAMLP</a:t>
            </a:r>
          </a:p>
          <a:p>
            <a:pPr marL="274638" indent="-274638">
              <a:spcAft>
                <a:spcPts val="200"/>
              </a:spcAft>
              <a:buChar char="●"/>
            </a:pPr>
            <a:r>
              <a:rPr lang="en-US" sz="1100" i="1" dirty="0">
                <a:solidFill>
                  <a:srgbClr val="5A6A78"/>
                </a:solidFill>
                <a:latin typeface="Calibri" pitchFamily="34" charset="0"/>
                <a:ea typeface="Calibri" pitchFamily="34" charset="-122"/>
                <a:cs typeface="Calibri" pitchFamily="34" charset="-120"/>
              </a:rPr>
              <a:t>Mất tính phi tuyến giữa các tầng</a:t>
            </a:r>
          </a:p>
        </p:txBody>
      </p:sp>
      <p:sp>
        <p:nvSpPr>
          <p:cNvPr id="14" name="Shape 12"/>
          <p:cNvSpPr/>
          <p:nvPr/>
        </p:nvSpPr>
        <p:spPr>
          <a:xfrm>
            <a:off x="6104040" y="1110000"/>
            <a:ext cx="2720000" cy="310000"/>
          </a:xfrm>
          <a:prstGeom prst="rect">
            <a:avLst/>
          </a:prstGeom>
          <a:solidFill>
            <a:srgbClr val="6B3FA0"/>
          </a:solidFill>
          <a:ln w="12700">
            <a:solidFill>
              <a:srgbClr val="6B3FA0"/>
            </a:solidFill>
            <a:prstDash val="solid"/>
          </a:ln>
        </p:spPr>
        <p:txBody>
          <a:bodyPr/>
          <a:lstStyle/>
          <a:p>
            <a:endParaRPr lang="en-VN"/>
          </a:p>
        </p:txBody>
      </p:sp>
      <p:sp>
        <p:nvSpPr>
          <p:cNvPr id="15" name="Text 13"/>
          <p:cNvSpPr/>
          <p:nvPr/>
        </p:nvSpPr>
        <p:spPr>
          <a:xfrm>
            <a:off x="6104040" y="1110000"/>
            <a:ext cx="2720000" cy="3100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 Historical Embeddings</a:t>
            </a:r>
          </a:p>
        </p:txBody>
      </p:sp>
      <p:sp>
        <p:nvSpPr>
          <p:cNvPr id="16" name="Shape 14"/>
          <p:cNvSpPr/>
          <p:nvPr/>
        </p:nvSpPr>
        <p:spPr>
          <a:xfrm>
            <a:off x="6104040" y="1420000"/>
            <a:ext cx="2720000" cy="1960000"/>
          </a:xfrm>
          <a:prstGeom prst="rect">
            <a:avLst/>
          </a:prstGeom>
          <a:solidFill>
            <a:srgbClr val="F3EEF9"/>
          </a:solidFill>
          <a:ln w="19050">
            <a:solidFill>
              <a:srgbClr val="6B3FA0"/>
            </a:solidFill>
            <a:prstDash val="solid"/>
          </a:ln>
        </p:spPr>
        <p:txBody>
          <a:bodyPr/>
          <a:lstStyle/>
          <a:p>
            <a:endParaRPr lang="en-VN"/>
          </a:p>
        </p:txBody>
      </p:sp>
      <p:sp>
        <p:nvSpPr>
          <p:cNvPr id="17" name="Text 15"/>
          <p:cNvSpPr/>
          <p:nvPr/>
        </p:nvSpPr>
        <p:spPr>
          <a:xfrm>
            <a:off x="6104040" y="1420000"/>
            <a:ext cx="2720000" cy="1960000"/>
          </a:xfrm>
          <a:prstGeom prst="rect">
            <a:avLst/>
          </a:prstGeom>
          <a:noFill/>
          <a:ln/>
        </p:spPr>
        <p:txBody>
          <a:bodyPr wrap="square" lIns="114300" tIns="114300" rIns="114300" bIns="114300" rtlCol="0" anchor="t"/>
          <a:lstStyle/>
          <a:p>
            <a:pPr marL="0" indent="0">
              <a:spcAft>
                <a:spcPts val="400"/>
              </a:spcAft>
              <a:buNone/>
            </a:pPr>
            <a:r>
              <a:rPr lang="en-US" sz="1150" dirty="0">
                <a:solidFill>
                  <a:srgbClr val="1A2B3C"/>
                </a:solidFill>
                <a:latin typeface="Calibri" pitchFamily="34" charset="0"/>
                <a:ea typeface="Calibri" pitchFamily="34" charset="-122"/>
                <a:cs typeface="Calibri" pitchFamily="34" charset="-120"/>
              </a:rPr>
              <a:t>Dùng lại embedding đã tính từ vòng lặp trước để xấp xỉ lân cận còn thiếu</a:t>
            </a:r>
          </a:p>
          <a:p>
            <a:pPr marL="0" indent="0">
              <a:spcBef>
                <a:spcPts val="500"/>
              </a:spcBef>
              <a:spcAft>
                <a:spcPts val="300"/>
              </a:spcAft>
              <a:buNone/>
            </a:pPr>
            <a:r>
              <a:rPr lang="en-US" sz="1100" b="1" dirty="0">
                <a:solidFill>
                  <a:srgbClr val="6B3FA0"/>
                </a:solidFill>
                <a:latin typeface="Calibri" pitchFamily="34" charset="0"/>
                <a:ea typeface="Calibri" pitchFamily="34" charset="-122"/>
                <a:cs typeface="Calibri" pitchFamily="34" charset="-120"/>
              </a:rPr>
              <a:t>Đại diện:</a:t>
            </a:r>
          </a:p>
          <a:p>
            <a:pPr marL="274638" indent="-274638">
              <a:spcAft>
                <a:spcPts val="200"/>
              </a:spcAft>
              <a:buChar char="●"/>
            </a:pPr>
            <a:r>
              <a:rPr lang="en-US" sz="1100" dirty="0">
                <a:solidFill>
                  <a:srgbClr val="1A2B3C"/>
                </a:solidFill>
                <a:latin typeface="Calibri" pitchFamily="34" charset="0"/>
                <a:ea typeface="Calibri" pitchFamily="34" charset="-122"/>
                <a:cs typeface="Calibri" pitchFamily="34" charset="-120"/>
              </a:rPr>
              <a:t>GNNAutoScale (GAS) [15]</a:t>
            </a:r>
          </a:p>
          <a:p>
            <a:pPr marL="274638" indent="-274638">
              <a:spcAft>
                <a:spcPts val="200"/>
              </a:spcAft>
              <a:buChar char="●"/>
            </a:pPr>
            <a:r>
              <a:rPr lang="en-US" sz="1100" i="1" dirty="0">
                <a:solidFill>
                  <a:srgbClr val="5A6A78"/>
                </a:solidFill>
                <a:latin typeface="Calibri" pitchFamily="34" charset="0"/>
                <a:ea typeface="Calibri" pitchFamily="34" charset="-122"/>
                <a:cs typeface="Calibri" pitchFamily="34" charset="-120"/>
              </a:rPr>
              <a:t>Embedding cũ có thể lỗi thời theo thời gian</a:t>
            </a:r>
          </a:p>
        </p:txBody>
      </p:sp>
      <p:sp>
        <p:nvSpPr>
          <p:cNvPr id="18" name="Shape 16"/>
          <p:cNvSpPr/>
          <p:nvPr/>
        </p:nvSpPr>
        <p:spPr>
          <a:xfrm>
            <a:off x="320040" y="3490000"/>
            <a:ext cx="8503920" cy="1080000"/>
          </a:xfrm>
          <a:prstGeom prst="rect">
            <a:avLst/>
          </a:prstGeom>
          <a:solidFill>
            <a:srgbClr val="FFF3CD"/>
          </a:solidFill>
          <a:ln w="25400">
            <a:solidFill>
              <a:srgbClr val="FFC107"/>
            </a:solidFill>
            <a:prstDash val="solid"/>
          </a:ln>
        </p:spPr>
        <p:txBody>
          <a:bodyPr/>
          <a:lstStyle/>
          <a:p>
            <a:endParaRPr lang="en-VN"/>
          </a:p>
        </p:txBody>
      </p:sp>
      <p:sp>
        <p:nvSpPr>
          <p:cNvPr id="19" name="Text 17"/>
          <p:cNvSpPr/>
          <p:nvPr/>
        </p:nvSpPr>
        <p:spPr>
          <a:xfrm>
            <a:off x="320040" y="3490000"/>
            <a:ext cx="8503920" cy="1080000"/>
          </a:xfrm>
          <a:prstGeom prst="rect">
            <a:avLst/>
          </a:prstGeom>
          <a:noFill/>
          <a:ln/>
        </p:spPr>
        <p:txBody>
          <a:bodyPr wrap="square" lIns="228600" tIns="91440" rIns="228600" bIns="91440" rtlCol="0" anchor="ctr"/>
          <a:lstStyle/>
          <a:p>
            <a:pPr marL="0" indent="0" algn="l">
              <a:spcAft>
                <a:spcPts val="300"/>
              </a:spcAft>
              <a:buNone/>
            </a:pPr>
            <a:r>
              <a:rPr lang="en-US" sz="1350" b="1" dirty="0">
                <a:solidFill>
                  <a:srgbClr val="7B4F00"/>
                </a:solidFill>
                <a:latin typeface="Calibri" pitchFamily="34" charset="0"/>
                <a:ea typeface="Calibri" pitchFamily="34" charset="-122"/>
                <a:cs typeface="Calibri" pitchFamily="34" charset="-120"/>
              </a:rPr>
              <a:t>Tại sao </a:t>
            </a:r>
            <a:r>
              <a:rPr lang="en-US" sz="1350" b="1" dirty="0" err="1">
                <a:solidFill>
                  <a:srgbClr val="7B4F00"/>
                </a:solidFill>
                <a:latin typeface="Calibri" pitchFamily="34" charset="0"/>
                <a:ea typeface="Calibri" pitchFamily="34" charset="-122"/>
                <a:cs typeface="Calibri" pitchFamily="34" charset="-120"/>
              </a:rPr>
              <a:t>chọn</a:t>
            </a:r>
            <a:r>
              <a:rPr lang="en-US" sz="1350" b="1" dirty="0">
                <a:solidFill>
                  <a:srgbClr val="7B4F00"/>
                </a:solidFill>
                <a:latin typeface="Calibri" pitchFamily="34" charset="0"/>
                <a:ea typeface="Calibri" pitchFamily="34" charset="-122"/>
                <a:cs typeface="Calibri" pitchFamily="34" charset="-120"/>
              </a:rPr>
              <a:t> Sampling:</a:t>
            </a:r>
          </a:p>
          <a:p>
            <a:pPr marL="285750" indent="-285750" algn="l">
              <a:spcAft>
                <a:spcPts val="300"/>
              </a:spcAft>
              <a:buFont typeface="Arial" panose="020B0604020202020204" pitchFamily="34" charset="0"/>
              <a:buChar char="•"/>
            </a:pPr>
            <a:r>
              <a:rPr lang="en-US" sz="1350" b="1" dirty="0" err="1">
                <a:solidFill>
                  <a:srgbClr val="7B4F00"/>
                </a:solidFill>
                <a:latin typeface="Calibri" pitchFamily="34" charset="0"/>
                <a:ea typeface="Calibri" pitchFamily="34" charset="-122"/>
                <a:cs typeface="Calibri" pitchFamily="34" charset="-120"/>
              </a:rPr>
              <a:t>Đây</a:t>
            </a:r>
            <a:r>
              <a:rPr lang="en-US" sz="1350" b="1" dirty="0">
                <a:solidFill>
                  <a:srgbClr val="7B4F00"/>
                </a:solidFill>
                <a:latin typeface="Calibri" pitchFamily="34" charset="0"/>
                <a:ea typeface="Calibri" pitchFamily="34" charset="-122"/>
                <a:cs typeface="Calibri" pitchFamily="34" charset="-120"/>
              </a:rPr>
              <a:t> </a:t>
            </a:r>
            <a:r>
              <a:rPr lang="en-US" sz="1350" b="1" dirty="0" err="1">
                <a:solidFill>
                  <a:srgbClr val="7B4F00"/>
                </a:solidFill>
                <a:latin typeface="Calibri" pitchFamily="34" charset="0"/>
                <a:ea typeface="Calibri" pitchFamily="34" charset="-122"/>
                <a:cs typeface="Calibri" pitchFamily="34" charset="-120"/>
              </a:rPr>
              <a:t>là</a:t>
            </a:r>
            <a:r>
              <a:rPr lang="en-US" sz="1350" b="1" dirty="0">
                <a:solidFill>
                  <a:srgbClr val="7B4F00"/>
                </a:solidFill>
                <a:latin typeface="Calibri" pitchFamily="34" charset="0"/>
                <a:ea typeface="Calibri" pitchFamily="34" charset="-122"/>
                <a:cs typeface="Calibri" pitchFamily="34" charset="-120"/>
              </a:rPr>
              <a:t> </a:t>
            </a:r>
            <a:r>
              <a:rPr lang="en-US" sz="1350" b="1" dirty="0" err="1">
                <a:solidFill>
                  <a:srgbClr val="7B4F00"/>
                </a:solidFill>
                <a:latin typeface="Calibri" pitchFamily="34" charset="0"/>
                <a:ea typeface="Calibri" pitchFamily="34" charset="-122"/>
                <a:cs typeface="Calibri" pitchFamily="34" charset="-120"/>
              </a:rPr>
              <a:t>hướng</a:t>
            </a:r>
            <a:r>
              <a:rPr lang="en-US" sz="1350" b="1" dirty="0">
                <a:solidFill>
                  <a:srgbClr val="7B4F00"/>
                </a:solidFill>
                <a:latin typeface="Calibri" pitchFamily="34" charset="0"/>
                <a:ea typeface="Calibri" pitchFamily="34" charset="-122"/>
                <a:cs typeface="Calibri" pitchFamily="34" charset="-120"/>
              </a:rPr>
              <a:t> </a:t>
            </a:r>
            <a:r>
              <a:rPr lang="en-US" sz="1350" b="1" dirty="0" err="1">
                <a:solidFill>
                  <a:srgbClr val="7B4F00"/>
                </a:solidFill>
                <a:latin typeface="Calibri" pitchFamily="34" charset="0"/>
                <a:ea typeface="Calibri" pitchFamily="34" charset="-122"/>
                <a:cs typeface="Calibri" pitchFamily="34" charset="-120"/>
              </a:rPr>
              <a:t>tiếp</a:t>
            </a:r>
            <a:r>
              <a:rPr lang="en-US" sz="1350" b="1" dirty="0">
                <a:solidFill>
                  <a:srgbClr val="7B4F00"/>
                </a:solidFill>
                <a:latin typeface="Calibri" pitchFamily="34" charset="0"/>
                <a:ea typeface="Calibri" pitchFamily="34" charset="-122"/>
                <a:cs typeface="Calibri" pitchFamily="34" charset="-120"/>
              </a:rPr>
              <a:t> </a:t>
            </a:r>
            <a:r>
              <a:rPr lang="en-US" sz="1350" b="1" dirty="0" err="1">
                <a:solidFill>
                  <a:srgbClr val="7B4F00"/>
                </a:solidFill>
                <a:latin typeface="Calibri" pitchFamily="34" charset="0"/>
                <a:ea typeface="Calibri" pitchFamily="34" charset="-122"/>
                <a:cs typeface="Calibri" pitchFamily="34" charset="-120"/>
              </a:rPr>
              <a:t>cận</a:t>
            </a:r>
            <a:r>
              <a:rPr lang="en-US" sz="1350" b="1" dirty="0">
                <a:solidFill>
                  <a:srgbClr val="7B4F00"/>
                </a:solidFill>
                <a:latin typeface="Calibri" pitchFamily="34" charset="0"/>
                <a:ea typeface="Calibri" pitchFamily="34" charset="-122"/>
                <a:cs typeface="Calibri" pitchFamily="34" charset="-120"/>
              </a:rPr>
              <a:t> </a:t>
            </a:r>
            <a:r>
              <a:rPr lang="en-US" sz="1350" b="1" dirty="0" err="1">
                <a:solidFill>
                  <a:srgbClr val="7B4F00"/>
                </a:solidFill>
                <a:latin typeface="Calibri" pitchFamily="34" charset="0"/>
                <a:ea typeface="Calibri" pitchFamily="34" charset="-122"/>
                <a:cs typeface="Calibri" pitchFamily="34" charset="-120"/>
              </a:rPr>
              <a:t>được</a:t>
            </a:r>
            <a:r>
              <a:rPr lang="en-US" sz="1350" b="1" dirty="0">
                <a:solidFill>
                  <a:srgbClr val="7B4F00"/>
                </a:solidFill>
                <a:latin typeface="Calibri" pitchFamily="34" charset="0"/>
                <a:ea typeface="Calibri" pitchFamily="34" charset="-122"/>
                <a:cs typeface="Calibri" pitchFamily="34" charset="-120"/>
              </a:rPr>
              <a:t> </a:t>
            </a:r>
            <a:r>
              <a:rPr lang="en-US" sz="1350" b="1" dirty="0" err="1">
                <a:solidFill>
                  <a:srgbClr val="7B4F00"/>
                </a:solidFill>
                <a:latin typeface="Calibri" pitchFamily="34" charset="0"/>
                <a:ea typeface="Calibri" pitchFamily="34" charset="-122"/>
                <a:cs typeface="Calibri" pitchFamily="34" charset="-120"/>
              </a:rPr>
              <a:t>đánh</a:t>
            </a:r>
            <a:r>
              <a:rPr lang="en-US" sz="1350" b="1" dirty="0">
                <a:solidFill>
                  <a:srgbClr val="7B4F00"/>
                </a:solidFill>
                <a:latin typeface="Calibri" pitchFamily="34" charset="0"/>
                <a:ea typeface="Calibri" pitchFamily="34" charset="-122"/>
                <a:cs typeface="Calibri" pitchFamily="34" charset="-120"/>
              </a:rPr>
              <a:t> </a:t>
            </a:r>
            <a:r>
              <a:rPr lang="en-US" sz="1350" b="1" dirty="0" err="1">
                <a:solidFill>
                  <a:srgbClr val="7B4F00"/>
                </a:solidFill>
                <a:latin typeface="Calibri" pitchFamily="34" charset="0"/>
                <a:ea typeface="Calibri" pitchFamily="34" charset="-122"/>
                <a:cs typeface="Calibri" pitchFamily="34" charset="-120"/>
              </a:rPr>
              <a:t>giá</a:t>
            </a:r>
            <a:r>
              <a:rPr lang="en-US" sz="1350" b="1" dirty="0">
                <a:solidFill>
                  <a:srgbClr val="7B4F00"/>
                </a:solidFill>
                <a:latin typeface="Calibri" pitchFamily="34" charset="0"/>
                <a:ea typeface="Calibri" pitchFamily="34" charset="-122"/>
                <a:cs typeface="Calibri" pitchFamily="34" charset="-120"/>
              </a:rPr>
              <a:t> </a:t>
            </a:r>
            <a:r>
              <a:rPr lang="en-US" sz="1350" b="1" dirty="0" err="1">
                <a:solidFill>
                  <a:srgbClr val="7B4F00"/>
                </a:solidFill>
                <a:latin typeface="Calibri" pitchFamily="34" charset="0"/>
                <a:ea typeface="Calibri" pitchFamily="34" charset="-122"/>
                <a:cs typeface="Calibri" pitchFamily="34" charset="-120"/>
              </a:rPr>
              <a:t>có</a:t>
            </a:r>
            <a:r>
              <a:rPr lang="en-US" sz="1350" b="1" dirty="0">
                <a:solidFill>
                  <a:srgbClr val="7B4F00"/>
                </a:solidFill>
                <a:latin typeface="Calibri" pitchFamily="34" charset="0"/>
                <a:ea typeface="Calibri" pitchFamily="34" charset="-122"/>
                <a:cs typeface="Calibri" pitchFamily="34" charset="-120"/>
              </a:rPr>
              <a:t> </a:t>
            </a:r>
            <a:r>
              <a:rPr lang="en-US" sz="1350" b="1" dirty="0" err="1">
                <a:solidFill>
                  <a:srgbClr val="7B4F00"/>
                </a:solidFill>
                <a:latin typeface="Calibri" pitchFamily="34" charset="0"/>
                <a:ea typeface="Calibri" pitchFamily="34" charset="-122"/>
                <a:cs typeface="Calibri" pitchFamily="34" charset="-120"/>
              </a:rPr>
              <a:t>nhiều</a:t>
            </a:r>
            <a:r>
              <a:rPr lang="en-US" sz="1350" b="1" dirty="0">
                <a:solidFill>
                  <a:srgbClr val="7B4F00"/>
                </a:solidFill>
                <a:latin typeface="Calibri" pitchFamily="34" charset="0"/>
                <a:ea typeface="Calibri" pitchFamily="34" charset="-122"/>
                <a:cs typeface="Calibri" pitchFamily="34" charset="-120"/>
              </a:rPr>
              <a:t> </a:t>
            </a:r>
            <a:r>
              <a:rPr lang="en-US" sz="1350" b="1" dirty="0" err="1">
                <a:solidFill>
                  <a:srgbClr val="7B4F00"/>
                </a:solidFill>
                <a:latin typeface="Calibri" pitchFamily="34" charset="0"/>
                <a:ea typeface="Calibri" pitchFamily="34" charset="-122"/>
                <a:cs typeface="Calibri" pitchFamily="34" charset="-120"/>
              </a:rPr>
              <a:t>nghiên</a:t>
            </a:r>
            <a:r>
              <a:rPr lang="en-US" sz="1350" b="1" dirty="0">
                <a:solidFill>
                  <a:srgbClr val="7B4F00"/>
                </a:solidFill>
                <a:latin typeface="Calibri" pitchFamily="34" charset="0"/>
                <a:ea typeface="Calibri" pitchFamily="34" charset="-122"/>
                <a:cs typeface="Calibri" pitchFamily="34" charset="-120"/>
              </a:rPr>
              <a:t> </a:t>
            </a:r>
            <a:r>
              <a:rPr lang="en-US" sz="1350" b="1" dirty="0" err="1">
                <a:solidFill>
                  <a:srgbClr val="7B4F00"/>
                </a:solidFill>
                <a:latin typeface="Calibri" pitchFamily="34" charset="0"/>
                <a:ea typeface="Calibri" pitchFamily="34" charset="-122"/>
                <a:cs typeface="Calibri" pitchFamily="34" charset="-120"/>
              </a:rPr>
              <a:t>cứu</a:t>
            </a:r>
            <a:r>
              <a:rPr lang="en-US" sz="1350" b="1" dirty="0">
                <a:solidFill>
                  <a:srgbClr val="7B4F00"/>
                </a:solidFill>
                <a:latin typeface="Calibri" pitchFamily="34" charset="0"/>
                <a:ea typeface="Calibri" pitchFamily="34" charset="-122"/>
                <a:cs typeface="Calibri" pitchFamily="34" charset="-120"/>
              </a:rPr>
              <a:t> </a:t>
            </a:r>
            <a:r>
              <a:rPr lang="en-US" sz="1350" b="1" dirty="0" err="1">
                <a:solidFill>
                  <a:srgbClr val="7B4F00"/>
                </a:solidFill>
                <a:latin typeface="Calibri" pitchFamily="34" charset="0"/>
                <a:ea typeface="Calibri" pitchFamily="34" charset="-122"/>
                <a:cs typeface="Calibri" pitchFamily="34" charset="-120"/>
              </a:rPr>
              <a:t>trong</a:t>
            </a:r>
            <a:r>
              <a:rPr lang="en-US" sz="1350" b="1" dirty="0">
                <a:solidFill>
                  <a:srgbClr val="7B4F00"/>
                </a:solidFill>
                <a:latin typeface="Calibri" pitchFamily="34" charset="0"/>
                <a:ea typeface="Calibri" pitchFamily="34" charset="-122"/>
                <a:cs typeface="Calibri" pitchFamily="34" charset="-120"/>
              </a:rPr>
              <a:t> </a:t>
            </a:r>
            <a:r>
              <a:rPr lang="en-US" sz="1350" b="1" dirty="0" err="1">
                <a:solidFill>
                  <a:srgbClr val="7B4F00"/>
                </a:solidFill>
                <a:latin typeface="Calibri" pitchFamily="34" charset="0"/>
                <a:ea typeface="Calibri" pitchFamily="34" charset="-122"/>
                <a:cs typeface="Calibri" pitchFamily="34" charset="-120"/>
              </a:rPr>
              <a:t>thời</a:t>
            </a:r>
            <a:r>
              <a:rPr lang="en-US" sz="1350" b="1" dirty="0">
                <a:solidFill>
                  <a:srgbClr val="7B4F00"/>
                </a:solidFill>
                <a:latin typeface="Calibri" pitchFamily="34" charset="0"/>
                <a:ea typeface="Calibri" pitchFamily="34" charset="-122"/>
                <a:cs typeface="Calibri" pitchFamily="34" charset="-120"/>
              </a:rPr>
              <a:t> </a:t>
            </a:r>
            <a:r>
              <a:rPr lang="en-US" sz="1350" b="1" dirty="0" err="1">
                <a:solidFill>
                  <a:srgbClr val="7B4F00"/>
                </a:solidFill>
                <a:latin typeface="Calibri" pitchFamily="34" charset="0"/>
                <a:ea typeface="Calibri" pitchFamily="34" charset="-122"/>
                <a:cs typeface="Calibri" pitchFamily="34" charset="-120"/>
              </a:rPr>
              <a:t>điểm</a:t>
            </a:r>
            <a:r>
              <a:rPr lang="en-US" sz="1350" b="1" dirty="0">
                <a:solidFill>
                  <a:srgbClr val="7B4F00"/>
                </a:solidFill>
                <a:latin typeface="Calibri" pitchFamily="34" charset="0"/>
                <a:ea typeface="Calibri" pitchFamily="34" charset="-122"/>
                <a:cs typeface="Calibri" pitchFamily="34" charset="-120"/>
              </a:rPr>
              <a:t> </a:t>
            </a:r>
            <a:r>
              <a:rPr lang="en-US" sz="1350" b="1" dirty="0" err="1">
                <a:solidFill>
                  <a:srgbClr val="7B4F00"/>
                </a:solidFill>
                <a:latin typeface="Calibri" pitchFamily="34" charset="0"/>
                <a:ea typeface="Calibri" pitchFamily="34" charset="-122"/>
                <a:cs typeface="Calibri" pitchFamily="34" charset="-120"/>
              </a:rPr>
              <a:t>hiện</a:t>
            </a:r>
            <a:r>
              <a:rPr lang="en-US" sz="1350" b="1" dirty="0">
                <a:solidFill>
                  <a:srgbClr val="7B4F00"/>
                </a:solidFill>
                <a:latin typeface="Calibri" pitchFamily="34" charset="0"/>
                <a:ea typeface="Calibri" pitchFamily="34" charset="-122"/>
                <a:cs typeface="Calibri" pitchFamily="34" charset="-120"/>
              </a:rPr>
              <a:t> </a:t>
            </a:r>
            <a:r>
              <a:rPr lang="en-US" sz="1350" b="1" dirty="0" err="1">
                <a:solidFill>
                  <a:srgbClr val="7B4F00"/>
                </a:solidFill>
                <a:latin typeface="Calibri" pitchFamily="34" charset="0"/>
                <a:ea typeface="Calibri" pitchFamily="34" charset="-122"/>
                <a:cs typeface="Calibri" pitchFamily="34" charset="-120"/>
              </a:rPr>
              <a:t>tại</a:t>
            </a:r>
            <a:r>
              <a:rPr lang="en-US" sz="1350" b="1" dirty="0">
                <a:solidFill>
                  <a:srgbClr val="7B4F00"/>
                </a:solidFill>
                <a:latin typeface="Calibri" pitchFamily="34" charset="0"/>
                <a:ea typeface="Calibri" pitchFamily="34" charset="-122"/>
                <a:cs typeface="Calibri" pitchFamily="34" charset="-120"/>
              </a:rPr>
              <a:t> </a:t>
            </a:r>
            <a:r>
              <a:rPr lang="en-US" sz="1350" b="1" dirty="0" err="1">
                <a:solidFill>
                  <a:srgbClr val="7B4F00"/>
                </a:solidFill>
                <a:latin typeface="Calibri" pitchFamily="34" charset="0"/>
                <a:ea typeface="Calibri" pitchFamily="34" charset="-122"/>
                <a:cs typeface="Calibri" pitchFamily="34" charset="-120"/>
              </a:rPr>
              <a:t>theo</a:t>
            </a:r>
            <a:r>
              <a:rPr lang="en-US" sz="1350" b="1" dirty="0">
                <a:solidFill>
                  <a:srgbClr val="7B4F00"/>
                </a:solidFill>
                <a:latin typeface="Calibri" pitchFamily="34" charset="0"/>
                <a:ea typeface="Calibri" pitchFamily="34" charset="-122"/>
                <a:cs typeface="Calibri" pitchFamily="34" charset="-120"/>
              </a:rPr>
              <a:t> 1 </a:t>
            </a:r>
            <a:r>
              <a:rPr lang="en-US" sz="1350" b="1" dirty="0" err="1">
                <a:solidFill>
                  <a:srgbClr val="7B4F00"/>
                </a:solidFill>
                <a:latin typeface="Calibri" pitchFamily="34" charset="0"/>
                <a:ea typeface="Calibri" pitchFamily="34" charset="-122"/>
                <a:cs typeface="Calibri" pitchFamily="34" charset="-120"/>
              </a:rPr>
              <a:t>số</a:t>
            </a:r>
            <a:r>
              <a:rPr lang="en-US" sz="1350" b="1" dirty="0">
                <a:solidFill>
                  <a:srgbClr val="7B4F00"/>
                </a:solidFill>
                <a:latin typeface="Calibri" pitchFamily="34" charset="0"/>
                <a:ea typeface="Calibri" pitchFamily="34" charset="-122"/>
                <a:cs typeface="Calibri" pitchFamily="34" charset="-120"/>
              </a:rPr>
              <a:t> survey </a:t>
            </a:r>
            <a:r>
              <a:rPr lang="en-US" sz="1350" b="1" dirty="0" err="1">
                <a:solidFill>
                  <a:srgbClr val="7B4F00"/>
                </a:solidFill>
                <a:latin typeface="Calibri" pitchFamily="34" charset="0"/>
                <a:ea typeface="Calibri" pitchFamily="34" charset="-122"/>
                <a:cs typeface="Calibri" pitchFamily="34" charset="-120"/>
              </a:rPr>
              <a:t>gần</a:t>
            </a:r>
            <a:r>
              <a:rPr lang="en-US" sz="1350" b="1" dirty="0">
                <a:solidFill>
                  <a:srgbClr val="7B4F00"/>
                </a:solidFill>
                <a:latin typeface="Calibri" pitchFamily="34" charset="0"/>
                <a:ea typeface="Calibri" pitchFamily="34" charset="-122"/>
                <a:cs typeface="Calibri" pitchFamily="34" charset="-120"/>
              </a:rPr>
              <a:t> </a:t>
            </a:r>
            <a:r>
              <a:rPr lang="en-US" sz="1350" b="1" dirty="0" err="1">
                <a:solidFill>
                  <a:srgbClr val="7B4F00"/>
                </a:solidFill>
                <a:latin typeface="Calibri" pitchFamily="34" charset="0"/>
                <a:ea typeface="Calibri" pitchFamily="34" charset="-122"/>
                <a:cs typeface="Calibri" pitchFamily="34" charset="-120"/>
              </a:rPr>
              <a:t>đây</a:t>
            </a:r>
            <a:r>
              <a:rPr lang="en-US" sz="1350" b="1" dirty="0">
                <a:solidFill>
                  <a:srgbClr val="7B4F00"/>
                </a:solidFill>
                <a:latin typeface="Calibri" pitchFamily="34" charset="0"/>
                <a:ea typeface="Calibri" pitchFamily="34" charset="-122"/>
                <a:cs typeface="Calibri" pitchFamily="34" charset="-120"/>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Tổng Quan Các Phương Pháp Sampling</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10 / 29</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3115789351"/>
              </p:ext>
            </p:extLst>
          </p:nvPr>
        </p:nvGraphicFramePr>
        <p:xfrm>
          <a:off x="274320" y="868680"/>
          <a:ext cx="8412480" cy="3566160"/>
        </p:xfrm>
        <a:graphic>
          <a:graphicData uri="http://schemas.openxmlformats.org/drawingml/2006/table">
            <a:tbl>
              <a:tblPr/>
              <a:tblGrid>
                <a:gridCol w="15544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594360">
                <a:tc>
                  <a:txBody>
                    <a:bodyPr/>
                    <a:lstStyle/>
                    <a:p>
                      <a:pPr marL="0" indent="0" algn="ctr">
                        <a:buNone/>
                      </a:pPr>
                      <a:r>
                        <a:rPr lang="en-US" sz="1200" b="1" dirty="0">
                          <a:solidFill>
                            <a:srgbClr val="FFFFFF"/>
                          </a:solidFill>
                        </a:rPr>
                        <a:t>Nhóm</a:t>
                      </a: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200" b="1" dirty="0">
                          <a:solidFill>
                            <a:srgbClr val="FFFFFF"/>
                          </a:solidFill>
                        </a:rPr>
                        <a:t>Đại diện tiêu biểu</a:t>
                      </a: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200" b="1" dirty="0">
                          <a:solidFill>
                            <a:srgbClr val="FFFFFF"/>
                          </a:solidFill>
                        </a:rPr>
                        <a:t>Cơ chế</a:t>
                      </a: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200" b="1" dirty="0">
                          <a:solidFill>
                            <a:srgbClr val="FFFFFF"/>
                          </a:solidFill>
                        </a:rPr>
                        <a:t>Hạn chế chính</a:t>
                      </a: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594360">
                <a:tc>
                  <a:txBody>
                    <a:bodyPr/>
                    <a:lstStyle/>
                    <a:p>
                      <a:pPr marL="0" indent="0" algn="l">
                        <a:buNone/>
                      </a:pPr>
                      <a:r>
                        <a:rPr lang="en-US" sz="1150" dirty="0">
                          <a:solidFill>
                            <a:srgbClr val="000000"/>
                          </a:solidFill>
                        </a:rPr>
                        <a:t>Theo đỉnh</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GraphSAGE [4], PinSage [6], VR-GCN [9]</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k lân cận / đỉnh / tầng</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Dư thừa, vẫn bùng nổ theo số tầng</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1"/>
                  </a:ext>
                </a:extLst>
              </a:tr>
              <a:tr h="594360">
                <a:tc>
                  <a:txBody>
                    <a:bodyPr/>
                    <a:lstStyle/>
                    <a:p>
                      <a:pPr marL="0" indent="0" algn="l">
                        <a:buNone/>
                      </a:pPr>
                      <a:r>
                        <a:rPr lang="en-US" sz="1150" dirty="0">
                          <a:solidFill>
                            <a:srgbClr val="000000"/>
                          </a:solidFill>
                        </a:rPr>
                        <a:t>Theo tầng</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FastGCN [10], AS-GCN [11], LADIES [12]</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Chọn k đỉnh dùng chung cho toàn bộ batch trong một tầng</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AS-GCN: tốn bộ nhớ (attention), OOM đồ thị lớn</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2"/>
                  </a:ext>
                </a:extLst>
              </a:tr>
              <a:tr h="594360">
                <a:tc>
                  <a:txBody>
                    <a:bodyPr/>
                    <a:lstStyle/>
                    <a:p>
                      <a:pPr marL="0" indent="0" algn="l">
                        <a:buNone/>
                      </a:pPr>
                      <a:r>
                        <a:rPr lang="en-US" sz="1150" dirty="0">
                          <a:solidFill>
                            <a:srgbClr val="000000"/>
                          </a:solidFill>
                        </a:rPr>
                        <a:t>Theo đồ thị con</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ClusterGCN [13], GraphSAINT [14]</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Trích đồ thị con làm mini-batch</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Cắt đứt cạnh giữa các cụm — mất thông tin kết nối quan trọng</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3"/>
                  </a:ext>
                </a:extLst>
              </a:tr>
              <a:tr h="594360">
                <a:tc>
                  <a:txBody>
                    <a:bodyPr/>
                    <a:lstStyle/>
                    <a:p>
                      <a:pPr marL="0" indent="0" algn="l">
                        <a:buNone/>
                      </a:pPr>
                      <a:r>
                        <a:rPr lang="en-US" sz="1150" dirty="0">
                          <a:solidFill>
                            <a:srgbClr val="000000"/>
                          </a:solidFill>
                        </a:rPr>
                        <a:t>Embedding lịch sử</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GNNAutoScale (GAS) [15]</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Tái dùng embedding cũ thay vì tính lại</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Tốn bộ nhớ lưu trữ lớn</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4"/>
                  </a:ext>
                </a:extLst>
              </a:tr>
              <a:tr h="594360">
                <a:tc>
                  <a:txBody>
                    <a:bodyPr/>
                    <a:lstStyle/>
                    <a:p>
                      <a:pPr marL="0" indent="0" algn="l">
                        <a:buNone/>
                      </a:pP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l">
                        <a:buNone/>
                      </a:pP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l">
                        <a:buNone/>
                      </a:pP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l">
                        <a:buNone/>
                      </a:pP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extLst>
                  <a:ext uri="{0D108BD9-81ED-4DB2-BD59-A6C34878D82A}">
                    <a16:rowId xmlns:a16="http://schemas.microsoft.com/office/drawing/2014/main" val="10005"/>
                  </a:ext>
                </a:extLst>
              </a:tr>
            </a:tbl>
          </a:graphicData>
        </a:graphic>
      </p:graphicFrame>
      <p:sp>
        <p:nvSpPr>
          <p:cNvPr id="6" name="Text 3"/>
          <p:cNvSpPr/>
          <p:nvPr/>
        </p:nvSpPr>
        <p:spPr>
          <a:xfrm>
            <a:off x="274320" y="4709160"/>
            <a:ext cx="8595360" cy="256032"/>
          </a:xfrm>
          <a:prstGeom prst="rect">
            <a:avLst/>
          </a:prstGeom>
          <a:noFill/>
          <a:ln/>
        </p:spPr>
        <p:txBody>
          <a:bodyPr wrap="square" rtlCol="0" anchor="ctr"/>
          <a:lstStyle/>
          <a:p>
            <a:pPr marL="0" indent="0" algn="ctr">
              <a:buNone/>
            </a:pPr>
            <a:r>
              <a:rPr lang="en-US" sz="1150" b="1" i="1" dirty="0">
                <a:solidFill>
                  <a:srgbClr val="1C7293"/>
                </a:solidFill>
                <a:latin typeface="Calibri" pitchFamily="34" charset="0"/>
                <a:ea typeface="Calibri" pitchFamily="34" charset="-122"/>
                <a:cs typeface="Calibri" pitchFamily="34" charset="-120"/>
              </a:rPr>
              <a:t>→ Suy </a:t>
            </a:r>
            <a:r>
              <a:rPr lang="en-US" sz="1150" b="1" i="1" dirty="0" err="1">
                <a:solidFill>
                  <a:srgbClr val="1C7293"/>
                </a:solidFill>
                <a:latin typeface="Calibri" pitchFamily="34" charset="0"/>
                <a:ea typeface="Calibri" pitchFamily="34" charset="-122"/>
                <a:cs typeface="Calibri" pitchFamily="34" charset="-120"/>
              </a:rPr>
              <a:t>ngẫm</a:t>
            </a:r>
            <a:r>
              <a:rPr lang="en-US" sz="1150" b="1" i="1" dirty="0">
                <a:solidFill>
                  <a:srgbClr val="1C7293"/>
                </a:solidFill>
                <a:latin typeface="Calibri" pitchFamily="34" charset="0"/>
                <a:ea typeface="Calibri" pitchFamily="34" charset="-122"/>
                <a:cs typeface="Calibri" pitchFamily="34" charset="-120"/>
              </a:rPr>
              <a:t>: cần phương pháp lấy mẫu HỌC ĐƯỢC, thích ứng theo từng đồ thị và tác vụ cụ thể</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11 / 29</a:t>
            </a:r>
            <a:endParaRPr lang="en-US" sz="1000" dirty="0"/>
          </a:p>
        </p:txBody>
      </p:sp>
      <p:sp>
        <p:nvSpPr>
          <p:cNvPr id="3" name="Text 1"/>
          <p:cNvSpPr/>
          <p:nvPr/>
        </p:nvSpPr>
        <p:spPr>
          <a:xfrm>
            <a:off x="914400" y="457200"/>
            <a:ext cx="7315200" cy="548640"/>
          </a:xfrm>
          <a:prstGeom prst="rect">
            <a:avLst/>
          </a:prstGeom>
          <a:noFill/>
          <a:ln/>
        </p:spPr>
        <p:txBody>
          <a:bodyPr wrap="square" rtlCol="0" anchor="ctr"/>
          <a:lstStyle/>
          <a:p>
            <a:pPr marL="0" indent="0" algn="ctr">
              <a:buNone/>
            </a:pPr>
            <a:r>
              <a:rPr lang="en-US" sz="2200" b="1" dirty="0">
                <a:solidFill>
                  <a:srgbClr val="B8D4E8"/>
                </a:solidFill>
                <a:latin typeface="Calibri" pitchFamily="34" charset="0"/>
                <a:ea typeface="Calibri" pitchFamily="34" charset="-122"/>
                <a:cs typeface="Calibri" pitchFamily="34" charset="-120"/>
              </a:rPr>
              <a:t>Câu Hỏi Nghiên Cứu</a:t>
            </a:r>
            <a:endParaRPr lang="en-US" sz="2200" dirty="0"/>
          </a:p>
        </p:txBody>
      </p:sp>
      <p:sp>
        <p:nvSpPr>
          <p:cNvPr id="4" name="Shape 2"/>
          <p:cNvSpPr/>
          <p:nvPr/>
        </p:nvSpPr>
        <p:spPr>
          <a:xfrm>
            <a:off x="731520" y="1097280"/>
            <a:ext cx="7680960" cy="1737360"/>
          </a:xfrm>
          <a:prstGeom prst="rect">
            <a:avLst/>
          </a:prstGeom>
          <a:solidFill>
            <a:srgbClr val="1C7293">
              <a:alpha val="80000"/>
            </a:srgbClr>
          </a:solidFill>
          <a:ln w="25400">
            <a:solidFill>
              <a:srgbClr val="02C39A"/>
            </a:solidFill>
            <a:prstDash val="solid"/>
          </a:ln>
        </p:spPr>
        <p:txBody>
          <a:bodyPr/>
          <a:lstStyle/>
          <a:p>
            <a:endParaRPr lang="en-VN"/>
          </a:p>
        </p:txBody>
      </p:sp>
      <p:sp>
        <p:nvSpPr>
          <p:cNvPr id="5" name="Text 3"/>
          <p:cNvSpPr/>
          <p:nvPr/>
        </p:nvSpPr>
        <p:spPr>
          <a:xfrm>
            <a:off x="731520" y="1097280"/>
            <a:ext cx="7680960" cy="1737360"/>
          </a:xfrm>
          <a:prstGeom prst="rect">
            <a:avLst/>
          </a:prstGeom>
          <a:noFill/>
          <a:ln/>
        </p:spPr>
        <p:txBody>
          <a:bodyPr wrap="square" rtlCol="0" anchor="ctr"/>
          <a:lstStyle/>
          <a:p>
            <a:pPr algn="ctr"/>
            <a:r>
              <a:rPr lang="en-US" sz="1700" i="1" dirty="0">
                <a:solidFill>
                  <a:srgbClr val="FFFFFF"/>
                </a:solidFill>
                <a:latin typeface="Calibri" pitchFamily="34" charset="0"/>
                <a:ea typeface="Calibri" pitchFamily="34" charset="-122"/>
                <a:cs typeface="Calibri" pitchFamily="34" charset="-120"/>
              </a:rPr>
              <a:t>"Có thể học được chính sách lấy mẫu đỉnh </a:t>
            </a:r>
            <a:r>
              <a:rPr lang="en-US" sz="1700" b="1" i="1" dirty="0" err="1">
                <a:solidFill>
                  <a:srgbClr val="FFFFFF"/>
                </a:solidFill>
                <a:latin typeface="Calibri" pitchFamily="34" charset="0"/>
                <a:ea typeface="Calibri" pitchFamily="34" charset="-122"/>
                <a:cs typeface="Calibri" pitchFamily="34" charset="-120"/>
              </a:rPr>
              <a:t>thích</a:t>
            </a:r>
            <a:r>
              <a:rPr lang="en-US" sz="1700" b="1" i="1" dirty="0">
                <a:solidFill>
                  <a:srgbClr val="FFFFFF"/>
                </a:solidFill>
                <a:latin typeface="Calibri" pitchFamily="34" charset="0"/>
                <a:ea typeface="Calibri" pitchFamily="34" charset="-122"/>
                <a:cs typeface="Calibri" pitchFamily="34" charset="-120"/>
              </a:rPr>
              <a:t> </a:t>
            </a:r>
            <a:r>
              <a:rPr lang="en-US" sz="1700" b="1" i="1" dirty="0" err="1">
                <a:solidFill>
                  <a:srgbClr val="FFFFFF"/>
                </a:solidFill>
                <a:latin typeface="Calibri" pitchFamily="34" charset="0"/>
                <a:ea typeface="Calibri" pitchFamily="34" charset="-122"/>
                <a:cs typeface="Calibri" pitchFamily="34" charset="-120"/>
              </a:rPr>
              <a:t>ứng</a:t>
            </a:r>
            <a:r>
              <a:rPr lang="en-US" sz="1700" b="1" i="1" dirty="0">
                <a:solidFill>
                  <a:srgbClr val="FFFFFF"/>
                </a:solidFill>
                <a:latin typeface="Calibri" pitchFamily="34" charset="0"/>
                <a:ea typeface="Calibri" pitchFamily="34" charset="-122"/>
                <a:cs typeface="Calibri" pitchFamily="34" charset="-120"/>
              </a:rPr>
              <a:t> </a:t>
            </a:r>
            <a:r>
              <a:rPr lang="en-US" sz="1700" i="1" dirty="0" err="1">
                <a:solidFill>
                  <a:srgbClr val="FFFFFF"/>
                </a:solidFill>
                <a:latin typeface="Calibri" pitchFamily="34" charset="0"/>
                <a:ea typeface="Calibri" pitchFamily="34" charset="-122"/>
                <a:cs typeface="Calibri" pitchFamily="34" charset="-120"/>
              </a:rPr>
              <a:t>không</a:t>
            </a:r>
            <a:r>
              <a:rPr lang="en-US" sz="1700" i="1" dirty="0">
                <a:solidFill>
                  <a:srgbClr val="FFFFFF"/>
                </a:solidFill>
                <a:latin typeface="Calibri" pitchFamily="34" charset="0"/>
                <a:ea typeface="Calibri" pitchFamily="34" charset="-122"/>
                <a:cs typeface="Calibri" pitchFamily="34" charset="-120"/>
              </a:rPr>
              <a:t>?</a:t>
            </a:r>
            <a:r>
              <a:rPr lang="en-US" sz="1700" b="1" i="1" dirty="0">
                <a:solidFill>
                  <a:srgbClr val="FFFFFF"/>
                </a:solidFill>
                <a:latin typeface="Calibri" pitchFamily="34" charset="0"/>
                <a:ea typeface="Calibri" pitchFamily="34" charset="-122"/>
                <a:cs typeface="Calibri" pitchFamily="34" charset="-120"/>
              </a:rPr>
              <a:t> </a:t>
            </a:r>
            <a:r>
              <a:rPr lang="en-US" sz="1700" i="1" dirty="0">
                <a:solidFill>
                  <a:srgbClr val="FFFFFF"/>
                </a:solidFill>
                <a:latin typeface="Calibri" pitchFamily="34" charset="0"/>
                <a:ea typeface="Calibri" pitchFamily="34" charset="-122"/>
                <a:cs typeface="Calibri" pitchFamily="34" charset="-120"/>
              </a:rPr>
              <a:t>—</a:t>
            </a:r>
            <a:r>
              <a:rPr lang="en-US" sz="1700" b="1" i="1" dirty="0">
                <a:solidFill>
                  <a:srgbClr val="FFFFFF"/>
                </a:solidFill>
                <a:latin typeface="Calibri" pitchFamily="34" charset="0"/>
                <a:ea typeface="Calibri" pitchFamily="34" charset="-122"/>
                <a:cs typeface="Calibri" pitchFamily="34" charset="-120"/>
              </a:rPr>
              <a:t> T</a:t>
            </a:r>
            <a:r>
              <a:rPr lang="en-US" sz="1700" i="1" dirty="0">
                <a:solidFill>
                  <a:srgbClr val="FFFFFF"/>
                </a:solidFill>
                <a:latin typeface="Calibri" pitchFamily="34" charset="0"/>
                <a:ea typeface="Calibri" pitchFamily="34" charset="-122"/>
                <a:cs typeface="Calibri" pitchFamily="34" charset="-120"/>
              </a:rPr>
              <a:t>hay vì dùng heuristic tĩnh — để tối thiểu hóa chi phí bộ nhớ khi huấn luyện GNN mà vẫn giữ được chất lượng phân loại?"</a:t>
            </a:r>
            <a:endParaRPr lang="en-US" sz="1700" dirty="0"/>
          </a:p>
        </p:txBody>
      </p:sp>
      <p:sp>
        <p:nvSpPr>
          <p:cNvPr id="6" name="Text 4"/>
          <p:cNvSpPr/>
          <p:nvPr/>
        </p:nvSpPr>
        <p:spPr>
          <a:xfrm>
            <a:off x="914400" y="3017520"/>
            <a:ext cx="7315200" cy="438912"/>
          </a:xfrm>
          <a:prstGeom prst="rect">
            <a:avLst/>
          </a:prstGeom>
          <a:noFill/>
          <a:ln/>
        </p:spPr>
        <p:txBody>
          <a:bodyPr wrap="square" rtlCol="0" anchor="ctr"/>
          <a:lstStyle/>
          <a:p>
            <a:pPr marL="0" indent="0" algn="ctr">
              <a:buNone/>
            </a:pPr>
            <a:r>
              <a:rPr lang="en-US" sz="1400" dirty="0">
                <a:solidFill>
                  <a:srgbClr val="B8D4E8"/>
                </a:solidFill>
                <a:latin typeface="Calibri" pitchFamily="34" charset="0"/>
                <a:ea typeface="Calibri" pitchFamily="34" charset="-122"/>
                <a:cs typeface="Calibri" pitchFamily="34" charset="-120"/>
              </a:rPr>
              <a:t>Phạm vi: lấy mẫu đỉnh thích ứng — phân loại đỉnh — đồ thị quy mô lớn</a:t>
            </a:r>
            <a:endParaRPr lang="en-US" sz="1400" dirty="0"/>
          </a:p>
        </p:txBody>
      </p:sp>
      <p:sp>
        <p:nvSpPr>
          <p:cNvPr id="7" name="Shape 5"/>
          <p:cNvSpPr/>
          <p:nvPr/>
        </p:nvSpPr>
        <p:spPr>
          <a:xfrm>
            <a:off x="822960" y="3657600"/>
            <a:ext cx="2377440" cy="1097280"/>
          </a:xfrm>
          <a:prstGeom prst="rect">
            <a:avLst/>
          </a:prstGeom>
          <a:solidFill>
            <a:srgbClr val="0D3F5A"/>
          </a:solidFill>
          <a:ln w="19050">
            <a:solidFill>
              <a:srgbClr val="02C39A"/>
            </a:solidFill>
            <a:prstDash val="solid"/>
          </a:ln>
        </p:spPr>
        <p:txBody>
          <a:bodyPr/>
          <a:lstStyle/>
          <a:p>
            <a:endParaRPr lang="en-VN"/>
          </a:p>
        </p:txBody>
      </p:sp>
      <p:sp>
        <p:nvSpPr>
          <p:cNvPr id="8" name="Text 6"/>
          <p:cNvSpPr/>
          <p:nvPr/>
        </p:nvSpPr>
        <p:spPr>
          <a:xfrm>
            <a:off x="822960" y="3657600"/>
            <a:ext cx="2377440" cy="411480"/>
          </a:xfrm>
          <a:prstGeom prst="rect">
            <a:avLst/>
          </a:prstGeom>
          <a:noFill/>
          <a:ln/>
        </p:spPr>
        <p:txBody>
          <a:bodyPr wrap="square" rtlCol="0" anchor="ctr"/>
          <a:lstStyle/>
          <a:p>
            <a:pPr marL="0" indent="0" algn="ctr">
              <a:buNone/>
            </a:pPr>
            <a:r>
              <a:rPr lang="en-US" sz="1500" b="1" dirty="0">
                <a:solidFill>
                  <a:srgbClr val="02C39A"/>
                </a:solidFill>
                <a:latin typeface="Calibri" pitchFamily="34" charset="0"/>
                <a:ea typeface="Calibri" pitchFamily="34" charset="-122"/>
                <a:cs typeface="Calibri" pitchFamily="34" charset="-120"/>
              </a:rPr>
              <a:t>Học được</a:t>
            </a:r>
            <a:endParaRPr lang="en-US" sz="1500" dirty="0"/>
          </a:p>
        </p:txBody>
      </p:sp>
      <p:sp>
        <p:nvSpPr>
          <p:cNvPr id="9" name="Text 7"/>
          <p:cNvSpPr/>
          <p:nvPr/>
        </p:nvSpPr>
        <p:spPr>
          <a:xfrm>
            <a:off x="822960" y="4069080"/>
            <a:ext cx="2377440" cy="64008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Không phải heuristic cố định</a:t>
            </a:r>
            <a:endParaRPr lang="en-US" sz="1300" dirty="0"/>
          </a:p>
        </p:txBody>
      </p:sp>
      <p:sp>
        <p:nvSpPr>
          <p:cNvPr id="10" name="Shape 8"/>
          <p:cNvSpPr/>
          <p:nvPr/>
        </p:nvSpPr>
        <p:spPr>
          <a:xfrm>
            <a:off x="3474720" y="3657600"/>
            <a:ext cx="2377440" cy="1097280"/>
          </a:xfrm>
          <a:prstGeom prst="rect">
            <a:avLst/>
          </a:prstGeom>
          <a:solidFill>
            <a:srgbClr val="0D3F5A"/>
          </a:solidFill>
          <a:ln w="19050">
            <a:solidFill>
              <a:srgbClr val="02C39A"/>
            </a:solidFill>
            <a:prstDash val="solid"/>
          </a:ln>
        </p:spPr>
        <p:txBody>
          <a:bodyPr/>
          <a:lstStyle/>
          <a:p>
            <a:endParaRPr lang="en-VN"/>
          </a:p>
        </p:txBody>
      </p:sp>
      <p:sp>
        <p:nvSpPr>
          <p:cNvPr id="11" name="Text 9"/>
          <p:cNvSpPr/>
          <p:nvPr/>
        </p:nvSpPr>
        <p:spPr>
          <a:xfrm>
            <a:off x="3474720" y="3657600"/>
            <a:ext cx="2377440" cy="411480"/>
          </a:xfrm>
          <a:prstGeom prst="rect">
            <a:avLst/>
          </a:prstGeom>
          <a:noFill/>
          <a:ln/>
        </p:spPr>
        <p:txBody>
          <a:bodyPr wrap="square" rtlCol="0" anchor="ctr"/>
          <a:lstStyle/>
          <a:p>
            <a:pPr marL="0" indent="0" algn="ctr">
              <a:buNone/>
            </a:pPr>
            <a:r>
              <a:rPr lang="en-US" sz="1500" b="1" dirty="0">
                <a:solidFill>
                  <a:srgbClr val="02C39A"/>
                </a:solidFill>
                <a:latin typeface="Calibri" pitchFamily="34" charset="0"/>
                <a:ea typeface="Calibri" pitchFamily="34" charset="-122"/>
                <a:cs typeface="Calibri" pitchFamily="34" charset="-120"/>
              </a:rPr>
              <a:t>Thích ứng</a:t>
            </a:r>
            <a:endParaRPr lang="en-US" sz="1500" dirty="0"/>
          </a:p>
        </p:txBody>
      </p:sp>
      <p:sp>
        <p:nvSpPr>
          <p:cNvPr id="12" name="Text 10"/>
          <p:cNvSpPr/>
          <p:nvPr/>
        </p:nvSpPr>
        <p:spPr>
          <a:xfrm>
            <a:off x="3474720" y="4069080"/>
            <a:ext cx="2377440" cy="64008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Theo từng đồ thị &amp; tác vụ</a:t>
            </a:r>
            <a:endParaRPr lang="en-US" sz="1300" dirty="0"/>
          </a:p>
        </p:txBody>
      </p:sp>
      <p:sp>
        <p:nvSpPr>
          <p:cNvPr id="13" name="Shape 11"/>
          <p:cNvSpPr/>
          <p:nvPr/>
        </p:nvSpPr>
        <p:spPr>
          <a:xfrm>
            <a:off x="6126480" y="3657600"/>
            <a:ext cx="2377440" cy="1097280"/>
          </a:xfrm>
          <a:prstGeom prst="rect">
            <a:avLst/>
          </a:prstGeom>
          <a:solidFill>
            <a:srgbClr val="0D3F5A"/>
          </a:solidFill>
          <a:ln w="19050">
            <a:solidFill>
              <a:srgbClr val="02C39A"/>
            </a:solidFill>
            <a:prstDash val="solid"/>
          </a:ln>
        </p:spPr>
        <p:txBody>
          <a:bodyPr/>
          <a:lstStyle/>
          <a:p>
            <a:endParaRPr lang="en-VN"/>
          </a:p>
        </p:txBody>
      </p:sp>
      <p:sp>
        <p:nvSpPr>
          <p:cNvPr id="14" name="Text 12"/>
          <p:cNvSpPr/>
          <p:nvPr/>
        </p:nvSpPr>
        <p:spPr>
          <a:xfrm>
            <a:off x="6126480" y="3657600"/>
            <a:ext cx="2377440" cy="411480"/>
          </a:xfrm>
          <a:prstGeom prst="rect">
            <a:avLst/>
          </a:prstGeom>
          <a:noFill/>
          <a:ln/>
        </p:spPr>
        <p:txBody>
          <a:bodyPr wrap="square" rtlCol="0" anchor="ctr"/>
          <a:lstStyle/>
          <a:p>
            <a:pPr marL="0" indent="0" algn="ctr">
              <a:buNone/>
            </a:pPr>
            <a:r>
              <a:rPr lang="en-US" sz="1500" b="1" dirty="0">
                <a:solidFill>
                  <a:srgbClr val="02C39A"/>
                </a:solidFill>
                <a:latin typeface="Calibri" pitchFamily="34" charset="0"/>
                <a:ea typeface="Calibri" pitchFamily="34" charset="-122"/>
                <a:cs typeface="Calibri" pitchFamily="34" charset="-120"/>
              </a:rPr>
              <a:t>Hiệu quả</a:t>
            </a:r>
            <a:endParaRPr lang="en-US" sz="1500" dirty="0"/>
          </a:p>
        </p:txBody>
      </p:sp>
      <p:sp>
        <p:nvSpPr>
          <p:cNvPr id="15" name="Text 13"/>
          <p:cNvSpPr/>
          <p:nvPr/>
        </p:nvSpPr>
        <p:spPr>
          <a:xfrm>
            <a:off x="6126480" y="4069080"/>
            <a:ext cx="2377440" cy="64008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Bộ nhớ GPU thấp, ổn định</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9DDDD-47BA-7A8F-3C3F-31FC7F61589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A6E8DB3-C473-D2FC-CF30-D46146E7C9D3}"/>
              </a:ext>
            </a:extLst>
          </p:cNvPr>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a:extLst>
              <a:ext uri="{FF2B5EF4-FFF2-40B4-BE49-F238E27FC236}">
                <a16:creationId xmlns:a16="http://schemas.microsoft.com/office/drawing/2014/main" id="{ED6C889B-90DF-11FF-3BCA-82D5EA63268E}"/>
              </a:ext>
            </a:extLst>
          </p:cNvPr>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Tổng Quan Các Phương Pháp Sampling</a:t>
            </a:r>
            <a:endParaRPr lang="en-US" sz="2400" dirty="0"/>
          </a:p>
        </p:txBody>
      </p:sp>
      <p:sp>
        <p:nvSpPr>
          <p:cNvPr id="4" name="Text 2">
            <a:extLst>
              <a:ext uri="{FF2B5EF4-FFF2-40B4-BE49-F238E27FC236}">
                <a16:creationId xmlns:a16="http://schemas.microsoft.com/office/drawing/2014/main" id="{BE3DD178-6985-5F99-B1AB-BAD2FE69998F}"/>
              </a:ext>
            </a:extLst>
          </p:cNvPr>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12 / 29</a:t>
            </a:r>
            <a:endParaRPr lang="en-US" sz="1000" dirty="0"/>
          </a:p>
        </p:txBody>
      </p:sp>
      <p:graphicFrame>
        <p:nvGraphicFramePr>
          <p:cNvPr id="11" name="Table 0">
            <a:extLst>
              <a:ext uri="{FF2B5EF4-FFF2-40B4-BE49-F238E27FC236}">
                <a16:creationId xmlns:a16="http://schemas.microsoft.com/office/drawing/2014/main" id="{A75935C7-9C1B-A65E-3DE5-5D7C3EAAADF7}"/>
              </a:ext>
            </a:extLst>
          </p:cNvPr>
          <p:cNvGraphicFramePr>
            <a:graphicFrameLocks noGrp="1"/>
          </p:cNvGraphicFramePr>
          <p:nvPr/>
        </p:nvGraphicFramePr>
        <p:xfrm>
          <a:off x="274320" y="868680"/>
          <a:ext cx="8412480" cy="3566160"/>
        </p:xfrm>
        <a:graphic>
          <a:graphicData uri="http://schemas.openxmlformats.org/drawingml/2006/table">
            <a:tbl>
              <a:tblPr/>
              <a:tblGrid>
                <a:gridCol w="15544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594360">
                <a:tc>
                  <a:txBody>
                    <a:bodyPr/>
                    <a:lstStyle/>
                    <a:p>
                      <a:pPr marL="0" indent="0" algn="ctr">
                        <a:buNone/>
                      </a:pPr>
                      <a:r>
                        <a:rPr lang="en-US" sz="1200" b="1" dirty="0">
                          <a:solidFill>
                            <a:srgbClr val="FFFFFF"/>
                          </a:solidFill>
                        </a:rPr>
                        <a:t>Nhóm</a:t>
                      </a: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200" b="1" dirty="0">
                          <a:solidFill>
                            <a:srgbClr val="FFFFFF"/>
                          </a:solidFill>
                        </a:rPr>
                        <a:t>Đại diện tiêu biểu</a:t>
                      </a: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200" b="1" dirty="0">
                          <a:solidFill>
                            <a:srgbClr val="FFFFFF"/>
                          </a:solidFill>
                        </a:rPr>
                        <a:t>Cơ chế</a:t>
                      </a: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200" b="1" dirty="0">
                          <a:solidFill>
                            <a:srgbClr val="FFFFFF"/>
                          </a:solidFill>
                        </a:rPr>
                        <a:t>Hạn chế chính</a:t>
                      </a: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594360">
                <a:tc>
                  <a:txBody>
                    <a:bodyPr/>
                    <a:lstStyle/>
                    <a:p>
                      <a:pPr marL="0" indent="0" algn="l">
                        <a:buNone/>
                      </a:pPr>
                      <a:r>
                        <a:rPr lang="en-US" sz="1150" dirty="0">
                          <a:solidFill>
                            <a:srgbClr val="000000"/>
                          </a:solidFill>
                        </a:rPr>
                        <a:t>Theo đỉnh</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GraphSAGE [4], PinSage [6], VR-GCN [9]</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k lân cận / đỉnh / tầng</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Dư thừa, vẫn bùng nổ theo số tầng</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1"/>
                  </a:ext>
                </a:extLst>
              </a:tr>
              <a:tr h="594360">
                <a:tc>
                  <a:txBody>
                    <a:bodyPr/>
                    <a:lstStyle/>
                    <a:p>
                      <a:pPr marL="0" indent="0" algn="l">
                        <a:buNone/>
                      </a:pPr>
                      <a:r>
                        <a:rPr lang="en-US" sz="1150" dirty="0">
                          <a:solidFill>
                            <a:srgbClr val="000000"/>
                          </a:solidFill>
                        </a:rPr>
                        <a:t>Theo tầng</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FastGCN [10], AS-GCN [11], LADIES [12]</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Chọn k đỉnh dùng chung cho toàn bộ batch trong một tầng</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AS-GCN: tốn bộ nhớ (attention), OOM đồ thị lớn</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2"/>
                  </a:ext>
                </a:extLst>
              </a:tr>
              <a:tr h="594360">
                <a:tc>
                  <a:txBody>
                    <a:bodyPr/>
                    <a:lstStyle/>
                    <a:p>
                      <a:pPr marL="0" indent="0" algn="l">
                        <a:buNone/>
                      </a:pPr>
                      <a:r>
                        <a:rPr lang="en-US" sz="1150" dirty="0">
                          <a:solidFill>
                            <a:srgbClr val="000000"/>
                          </a:solidFill>
                        </a:rPr>
                        <a:t>Theo đồ thị con</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ClusterGCN [13], GraphSAINT [14]</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Trích đồ thị con làm mini-batch</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Cắt đứt cạnh giữa các cụm — mất thông tin kết nối quan trọng</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3"/>
                  </a:ext>
                </a:extLst>
              </a:tr>
              <a:tr h="594360">
                <a:tc>
                  <a:txBody>
                    <a:bodyPr/>
                    <a:lstStyle/>
                    <a:p>
                      <a:pPr marL="0" indent="0" algn="l">
                        <a:buNone/>
                      </a:pPr>
                      <a:r>
                        <a:rPr lang="en-US" sz="1150" dirty="0">
                          <a:solidFill>
                            <a:srgbClr val="000000"/>
                          </a:solidFill>
                        </a:rPr>
                        <a:t>Embedding lịch sử</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GNNAutoScale (GAS) [15]</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Tái dùng embedding cũ thay vì tính lại</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l">
                        <a:buNone/>
                      </a:pPr>
                      <a:r>
                        <a:rPr lang="en-US" sz="1150" dirty="0">
                          <a:solidFill>
                            <a:srgbClr val="000000"/>
                          </a:solidFill>
                        </a:rPr>
                        <a:t>Tốn bộ nhớ lưu trữ lớn</a:t>
                      </a:r>
                      <a:endParaRPr lang="en-US" sz="115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4"/>
                  </a:ext>
                </a:extLst>
              </a:tr>
              <a:tr h="594360">
                <a:tc>
                  <a:txBody>
                    <a:bodyPr/>
                    <a:lstStyle/>
                    <a:p>
                      <a:pPr marL="0" indent="0" algn="l">
                        <a:buNone/>
                      </a:pPr>
                      <a:r>
                        <a:rPr lang="en-US" sz="1200" b="1" dirty="0">
                          <a:solidFill>
                            <a:srgbClr val="0A3D2A"/>
                          </a:solidFill>
                        </a:rPr>
                        <a:t>Thích ứng học được</a:t>
                      </a: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l">
                        <a:buNone/>
                      </a:pPr>
                      <a:r>
                        <a:rPr lang="en-US" sz="1200" b="1" dirty="0">
                          <a:solidFill>
                            <a:srgbClr val="0A3D2A"/>
                          </a:solidFill>
                        </a:rPr>
                        <a:t>GRAPES [28]</a:t>
                      </a: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l">
                        <a:buNone/>
                      </a:pPr>
                      <a:r>
                        <a:rPr lang="en-US" sz="1200" b="1" dirty="0">
                          <a:solidFill>
                            <a:srgbClr val="0A3D2A"/>
                          </a:solidFill>
                        </a:rPr>
                        <a:t>Học xác suất lấy mẫu theo mục tiêu tác vụ</a:t>
                      </a: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l">
                        <a:buNone/>
                      </a:pPr>
                      <a:r>
                        <a:rPr lang="en-US" sz="1200" b="1" dirty="0">
                          <a:solidFill>
                            <a:srgbClr val="0A3D2A"/>
                          </a:solidFill>
                        </a:rPr>
                        <a:t>Chi phí huấn luyện mạng lấy mẫu thứ hai</a:t>
                      </a:r>
                      <a:endParaRPr lang="en-US" sz="1200" dirty="0"/>
                    </a:p>
                  </a:txBody>
                  <a:tcPr marL="63500" marR="635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extLst>
                  <a:ext uri="{0D108BD9-81ED-4DB2-BD59-A6C34878D82A}">
                    <a16:rowId xmlns:a16="http://schemas.microsoft.com/office/drawing/2014/main" val="10005"/>
                  </a:ext>
                </a:extLst>
              </a:tr>
            </a:tbl>
          </a:graphicData>
        </a:graphic>
      </p:graphicFrame>
      <p:sp>
        <p:nvSpPr>
          <p:cNvPr id="6" name="Text 3">
            <a:extLst>
              <a:ext uri="{FF2B5EF4-FFF2-40B4-BE49-F238E27FC236}">
                <a16:creationId xmlns:a16="http://schemas.microsoft.com/office/drawing/2014/main" id="{E0595F5F-E384-39E9-AD01-B742F05A2021}"/>
              </a:ext>
            </a:extLst>
          </p:cNvPr>
          <p:cNvSpPr/>
          <p:nvPr/>
        </p:nvSpPr>
        <p:spPr>
          <a:xfrm>
            <a:off x="274320" y="4709160"/>
            <a:ext cx="8595360" cy="256032"/>
          </a:xfrm>
          <a:prstGeom prst="rect">
            <a:avLst/>
          </a:prstGeom>
          <a:noFill/>
          <a:ln/>
        </p:spPr>
        <p:txBody>
          <a:bodyPr wrap="square" rtlCol="0" anchor="ctr"/>
          <a:lstStyle/>
          <a:p>
            <a:pPr marL="0" indent="0" algn="ctr">
              <a:buNone/>
            </a:pPr>
            <a:r>
              <a:rPr lang="en-US" sz="1150" b="1" i="1" dirty="0">
                <a:solidFill>
                  <a:srgbClr val="1C7293"/>
                </a:solidFill>
                <a:latin typeface="Calibri" pitchFamily="34" charset="0"/>
                <a:ea typeface="Calibri" pitchFamily="34" charset="-122"/>
                <a:cs typeface="Calibri" pitchFamily="34" charset="-120"/>
              </a:rPr>
              <a:t>→ Khoảng trống: cần phương pháp lấy mẫu HỌC ĐƯỢC, thích ứng theo từng đồ thị và tác vụ cụ thể</a:t>
            </a:r>
            <a:endParaRPr lang="en-US" sz="1150" dirty="0"/>
          </a:p>
        </p:txBody>
      </p:sp>
    </p:spTree>
    <p:extLst>
      <p:ext uri="{BB962C8B-B14F-4D97-AF65-F5344CB8AC3E}">
        <p14:creationId xmlns:p14="http://schemas.microsoft.com/office/powerpoint/2010/main" val="18621147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GRAPES: Ý Tưởng</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13 / 29</a:t>
            </a:r>
            <a:endParaRPr lang="en-US" sz="1000" dirty="0"/>
          </a:p>
        </p:txBody>
      </p:sp>
      <p:sp>
        <p:nvSpPr>
          <p:cNvPr id="5" name="Shape 3"/>
          <p:cNvSpPr/>
          <p:nvPr/>
        </p:nvSpPr>
        <p:spPr>
          <a:xfrm>
            <a:off x="274320" y="868680"/>
            <a:ext cx="8595360" cy="804672"/>
          </a:xfrm>
          <a:prstGeom prst="rect">
            <a:avLst/>
          </a:prstGeom>
          <a:solidFill>
            <a:srgbClr val="EAF4FB"/>
          </a:solidFill>
          <a:ln w="19050">
            <a:solidFill>
              <a:srgbClr val="1C7293"/>
            </a:solidFill>
            <a:prstDash val="solid"/>
          </a:ln>
        </p:spPr>
        <p:txBody>
          <a:bodyPr/>
          <a:lstStyle/>
          <a:p>
            <a:endParaRPr lang="en-VN"/>
          </a:p>
        </p:txBody>
      </p:sp>
      <p:sp>
        <p:nvSpPr>
          <p:cNvPr id="6" name="Text 4"/>
          <p:cNvSpPr/>
          <p:nvPr/>
        </p:nvSpPr>
        <p:spPr>
          <a:xfrm>
            <a:off x="274320" y="868680"/>
            <a:ext cx="8595360" cy="804672"/>
          </a:xfrm>
          <a:prstGeom prst="rect">
            <a:avLst/>
          </a:prstGeom>
          <a:noFill/>
          <a:ln/>
        </p:spPr>
        <p:txBody>
          <a:bodyPr wrap="square" rtlCol="0" anchor="ctr"/>
          <a:lstStyle/>
          <a:p>
            <a:pPr marL="0" indent="0" algn="ctr">
              <a:buNone/>
            </a:pPr>
            <a:r>
              <a:rPr lang="en-US" sz="1500" b="1" dirty="0">
                <a:solidFill>
                  <a:srgbClr val="065A82"/>
                </a:solidFill>
                <a:latin typeface="Calibri" pitchFamily="34" charset="0"/>
                <a:ea typeface="Calibri" pitchFamily="34" charset="-122"/>
                <a:cs typeface="Calibri" pitchFamily="34" charset="-120"/>
              </a:rPr>
              <a:t>GRAPES huấn luyện một GNN thứ hai để HỌC xác suất lấy mẫu đỉnh, tối ưu trực tiếp theo mục tiêu tác vụ đầu cuối.</a:t>
            </a:r>
            <a:endParaRPr lang="en-US" sz="1500" dirty="0"/>
          </a:p>
        </p:txBody>
      </p:sp>
      <p:sp>
        <p:nvSpPr>
          <p:cNvPr id="7" name="Shape 5"/>
          <p:cNvSpPr/>
          <p:nvPr/>
        </p:nvSpPr>
        <p:spPr>
          <a:xfrm>
            <a:off x="320040" y="1856232"/>
            <a:ext cx="2743200" cy="2926080"/>
          </a:xfrm>
          <a:prstGeom prst="rect">
            <a:avLst/>
          </a:prstGeom>
          <a:solidFill>
            <a:srgbClr val="E0E0E0"/>
          </a:solidFill>
          <a:ln w="12700">
            <a:solidFill>
              <a:srgbClr val="E0E0E0"/>
            </a:solidFill>
            <a:prstDash val="solid"/>
          </a:ln>
        </p:spPr>
        <p:txBody>
          <a:bodyPr/>
          <a:lstStyle/>
          <a:p>
            <a:endParaRPr lang="en-VN"/>
          </a:p>
        </p:txBody>
      </p:sp>
      <p:sp>
        <p:nvSpPr>
          <p:cNvPr id="8" name="Shape 6"/>
          <p:cNvSpPr/>
          <p:nvPr/>
        </p:nvSpPr>
        <p:spPr>
          <a:xfrm>
            <a:off x="274320" y="1828800"/>
            <a:ext cx="2743200" cy="2926080"/>
          </a:xfrm>
          <a:prstGeom prst="rect">
            <a:avLst/>
          </a:prstGeom>
          <a:solidFill>
            <a:srgbClr val="FFFFFF"/>
          </a:solidFill>
          <a:ln w="25400">
            <a:solidFill>
              <a:srgbClr val="065A82"/>
            </a:solidFill>
            <a:prstDash val="solid"/>
          </a:ln>
        </p:spPr>
        <p:txBody>
          <a:bodyPr/>
          <a:lstStyle/>
          <a:p>
            <a:endParaRPr lang="en-VN"/>
          </a:p>
        </p:txBody>
      </p:sp>
      <p:sp>
        <p:nvSpPr>
          <p:cNvPr id="9" name="Shape 7"/>
          <p:cNvSpPr/>
          <p:nvPr/>
        </p:nvSpPr>
        <p:spPr>
          <a:xfrm>
            <a:off x="274320" y="1828800"/>
            <a:ext cx="2743200" cy="530352"/>
          </a:xfrm>
          <a:prstGeom prst="rect">
            <a:avLst/>
          </a:prstGeom>
          <a:solidFill>
            <a:srgbClr val="065A82"/>
          </a:solidFill>
          <a:ln w="12700">
            <a:solidFill>
              <a:srgbClr val="065A82"/>
            </a:solidFill>
            <a:prstDash val="solid"/>
          </a:ln>
        </p:spPr>
        <p:txBody>
          <a:bodyPr/>
          <a:lstStyle/>
          <a:p>
            <a:endParaRPr lang="en-VN"/>
          </a:p>
        </p:txBody>
      </p:sp>
      <p:sp>
        <p:nvSpPr>
          <p:cNvPr id="10" name="Text 8"/>
          <p:cNvSpPr/>
          <p:nvPr/>
        </p:nvSpPr>
        <p:spPr>
          <a:xfrm>
            <a:off x="274320" y="1828800"/>
            <a:ext cx="2743200"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Tính Thích Ứng</a:t>
            </a:r>
            <a:endParaRPr lang="en-US" sz="1500" dirty="0"/>
          </a:p>
        </p:txBody>
      </p:sp>
      <p:sp>
        <p:nvSpPr>
          <p:cNvPr id="11" name="Text 9"/>
          <p:cNvSpPr/>
          <p:nvPr/>
        </p:nvSpPr>
        <p:spPr>
          <a:xfrm>
            <a:off x="411480" y="2423160"/>
            <a:ext cx="2468880" cy="2194560"/>
          </a:xfrm>
          <a:prstGeom prst="rect">
            <a:avLst/>
          </a:prstGeom>
          <a:noFill/>
          <a:ln/>
        </p:spPr>
        <p:txBody>
          <a:bodyPr wrap="square" rtlCol="0" anchor="t"/>
          <a:lstStyle/>
          <a:p>
            <a:pPr marL="0" indent="0" algn="l">
              <a:spcAft>
                <a:spcPts val="600"/>
              </a:spcAft>
              <a:buNone/>
            </a:pPr>
            <a:r>
              <a:rPr lang="en-US" sz="1350" dirty="0">
                <a:solidFill>
                  <a:srgbClr val="1A2B3C"/>
                </a:solidFill>
                <a:latin typeface="Calibri" pitchFamily="34" charset="0"/>
                <a:ea typeface="Calibri" pitchFamily="34" charset="-122"/>
                <a:cs typeface="Calibri" pitchFamily="34" charset="-120"/>
              </a:rPr>
              <a:t>Bộ lấy mẫu học được từ mục tiêu tác vụ — điều chỉnh theo từng đồ thị cụ thể — vượt qua giới hạn của heuristic tĩnh (random, degree-based)</a:t>
            </a:r>
            <a:endParaRPr lang="en-US" sz="1350" dirty="0"/>
          </a:p>
        </p:txBody>
      </p:sp>
      <p:sp>
        <p:nvSpPr>
          <p:cNvPr id="12" name="Shape 10"/>
          <p:cNvSpPr/>
          <p:nvPr/>
        </p:nvSpPr>
        <p:spPr>
          <a:xfrm>
            <a:off x="3246120" y="1856232"/>
            <a:ext cx="2743200" cy="2926080"/>
          </a:xfrm>
          <a:prstGeom prst="rect">
            <a:avLst/>
          </a:prstGeom>
          <a:solidFill>
            <a:srgbClr val="E0E0E0"/>
          </a:solidFill>
          <a:ln w="12700">
            <a:solidFill>
              <a:srgbClr val="E0E0E0"/>
            </a:solidFill>
            <a:prstDash val="solid"/>
          </a:ln>
        </p:spPr>
        <p:txBody>
          <a:bodyPr/>
          <a:lstStyle/>
          <a:p>
            <a:endParaRPr lang="en-VN"/>
          </a:p>
        </p:txBody>
      </p:sp>
      <p:sp>
        <p:nvSpPr>
          <p:cNvPr id="13" name="Shape 11"/>
          <p:cNvSpPr/>
          <p:nvPr/>
        </p:nvSpPr>
        <p:spPr>
          <a:xfrm>
            <a:off x="3200400" y="1828800"/>
            <a:ext cx="2743200" cy="2926080"/>
          </a:xfrm>
          <a:prstGeom prst="rect">
            <a:avLst/>
          </a:prstGeom>
          <a:solidFill>
            <a:srgbClr val="FFFFFF"/>
          </a:solidFill>
          <a:ln w="25400">
            <a:solidFill>
              <a:srgbClr val="065A82"/>
            </a:solidFill>
            <a:prstDash val="solid"/>
          </a:ln>
        </p:spPr>
        <p:txBody>
          <a:bodyPr/>
          <a:lstStyle/>
          <a:p>
            <a:endParaRPr lang="en-VN"/>
          </a:p>
        </p:txBody>
      </p:sp>
      <p:sp>
        <p:nvSpPr>
          <p:cNvPr id="14" name="Shape 12"/>
          <p:cNvSpPr/>
          <p:nvPr/>
        </p:nvSpPr>
        <p:spPr>
          <a:xfrm>
            <a:off x="3200400" y="1828800"/>
            <a:ext cx="2743200" cy="530352"/>
          </a:xfrm>
          <a:prstGeom prst="rect">
            <a:avLst/>
          </a:prstGeom>
          <a:solidFill>
            <a:srgbClr val="065A82"/>
          </a:solidFill>
          <a:ln w="12700">
            <a:solidFill>
              <a:srgbClr val="065A82"/>
            </a:solidFill>
            <a:prstDash val="solid"/>
          </a:ln>
        </p:spPr>
        <p:txBody>
          <a:bodyPr/>
          <a:lstStyle/>
          <a:p>
            <a:endParaRPr lang="en-VN"/>
          </a:p>
        </p:txBody>
      </p:sp>
      <p:sp>
        <p:nvSpPr>
          <p:cNvPr id="15" name="Text 13"/>
          <p:cNvSpPr/>
          <p:nvPr/>
        </p:nvSpPr>
        <p:spPr>
          <a:xfrm>
            <a:off x="3200400" y="1828800"/>
            <a:ext cx="2743200"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Hiệu Quả Bộ Nhớ</a:t>
            </a:r>
            <a:endParaRPr lang="en-US" sz="1500" dirty="0"/>
          </a:p>
        </p:txBody>
      </p:sp>
      <p:sp>
        <p:nvSpPr>
          <p:cNvPr id="16" name="Text 14"/>
          <p:cNvSpPr/>
          <p:nvPr/>
        </p:nvSpPr>
        <p:spPr>
          <a:xfrm>
            <a:off x="3337560" y="2423160"/>
            <a:ext cx="2468880" cy="2194560"/>
          </a:xfrm>
          <a:prstGeom prst="rect">
            <a:avLst/>
          </a:prstGeom>
          <a:noFill/>
          <a:ln/>
        </p:spPr>
        <p:txBody>
          <a:bodyPr wrap="square" rtlCol="0" anchor="t"/>
          <a:lstStyle/>
          <a:p>
            <a:pPr marL="0" indent="0" algn="l">
              <a:spcAft>
                <a:spcPts val="600"/>
              </a:spcAft>
              <a:buNone/>
            </a:pPr>
            <a:r>
              <a:rPr lang="en-US" sz="1350" dirty="0">
                <a:solidFill>
                  <a:srgbClr val="1A2B3C"/>
                </a:solidFill>
                <a:latin typeface="Calibri" pitchFamily="34" charset="0"/>
                <a:ea typeface="Calibri" pitchFamily="34" charset="-122"/>
                <a:cs typeface="Calibri" pitchFamily="34" charset="-120"/>
              </a:rPr>
              <a:t>Dùng bộ nhớ GPU ít hơn nhiều bậc so với GAS (embedding lịch sử). Chạy được trên đồ thị 2,4M đỉnh với chỉ 15GB VRAM (Tesla T4).</a:t>
            </a:r>
            <a:endParaRPr lang="en-US" sz="1350" dirty="0"/>
          </a:p>
        </p:txBody>
      </p:sp>
      <p:sp>
        <p:nvSpPr>
          <p:cNvPr id="17" name="Shape 15"/>
          <p:cNvSpPr/>
          <p:nvPr/>
        </p:nvSpPr>
        <p:spPr>
          <a:xfrm>
            <a:off x="6172200" y="1856232"/>
            <a:ext cx="2743200" cy="2926080"/>
          </a:xfrm>
          <a:prstGeom prst="rect">
            <a:avLst/>
          </a:prstGeom>
          <a:solidFill>
            <a:srgbClr val="E0E0E0"/>
          </a:solidFill>
          <a:ln w="12700">
            <a:solidFill>
              <a:srgbClr val="E0E0E0"/>
            </a:solidFill>
            <a:prstDash val="solid"/>
          </a:ln>
        </p:spPr>
        <p:txBody>
          <a:bodyPr/>
          <a:lstStyle/>
          <a:p>
            <a:endParaRPr lang="en-VN"/>
          </a:p>
        </p:txBody>
      </p:sp>
      <p:sp>
        <p:nvSpPr>
          <p:cNvPr id="18" name="Shape 16"/>
          <p:cNvSpPr/>
          <p:nvPr/>
        </p:nvSpPr>
        <p:spPr>
          <a:xfrm>
            <a:off x="6126480" y="1828800"/>
            <a:ext cx="2743200" cy="2926080"/>
          </a:xfrm>
          <a:prstGeom prst="rect">
            <a:avLst/>
          </a:prstGeom>
          <a:solidFill>
            <a:srgbClr val="FFFFFF"/>
          </a:solidFill>
          <a:ln w="25400">
            <a:solidFill>
              <a:srgbClr val="065A82"/>
            </a:solidFill>
            <a:prstDash val="solid"/>
          </a:ln>
        </p:spPr>
        <p:txBody>
          <a:bodyPr/>
          <a:lstStyle/>
          <a:p>
            <a:endParaRPr lang="en-VN"/>
          </a:p>
        </p:txBody>
      </p:sp>
      <p:sp>
        <p:nvSpPr>
          <p:cNvPr id="19" name="Shape 17"/>
          <p:cNvSpPr/>
          <p:nvPr/>
        </p:nvSpPr>
        <p:spPr>
          <a:xfrm>
            <a:off x="6126480" y="1828800"/>
            <a:ext cx="2743200" cy="530352"/>
          </a:xfrm>
          <a:prstGeom prst="rect">
            <a:avLst/>
          </a:prstGeom>
          <a:solidFill>
            <a:srgbClr val="065A82"/>
          </a:solidFill>
          <a:ln w="12700">
            <a:solidFill>
              <a:srgbClr val="065A82"/>
            </a:solidFill>
            <a:prstDash val="solid"/>
          </a:ln>
        </p:spPr>
        <p:txBody>
          <a:bodyPr/>
          <a:lstStyle/>
          <a:p>
            <a:endParaRPr lang="en-VN"/>
          </a:p>
        </p:txBody>
      </p:sp>
      <p:sp>
        <p:nvSpPr>
          <p:cNvPr id="20" name="Text 18"/>
          <p:cNvSpPr/>
          <p:nvPr/>
        </p:nvSpPr>
        <p:spPr>
          <a:xfrm>
            <a:off x="6126480" y="1828800"/>
            <a:ext cx="2743200"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Bền Vững Mẫu Nhỏ</a:t>
            </a:r>
            <a:endParaRPr lang="en-US" sz="1500" dirty="0"/>
          </a:p>
        </p:txBody>
      </p:sp>
      <p:sp>
        <p:nvSpPr>
          <p:cNvPr id="21" name="Text 19"/>
          <p:cNvSpPr/>
          <p:nvPr/>
        </p:nvSpPr>
        <p:spPr>
          <a:xfrm>
            <a:off x="6263640" y="2423160"/>
            <a:ext cx="2468880" cy="2194560"/>
          </a:xfrm>
          <a:prstGeom prst="rect">
            <a:avLst/>
          </a:prstGeom>
          <a:noFill/>
          <a:ln/>
        </p:spPr>
        <p:txBody>
          <a:bodyPr wrap="square" rtlCol="0" anchor="t"/>
          <a:lstStyle/>
          <a:p>
            <a:pPr marL="0" indent="0" algn="l">
              <a:spcAft>
                <a:spcPts val="600"/>
              </a:spcAft>
              <a:buNone/>
            </a:pPr>
            <a:r>
              <a:rPr lang="en-US" sz="1350" dirty="0">
                <a:solidFill>
                  <a:srgbClr val="1A2B3C"/>
                </a:solidFill>
                <a:latin typeface="Calibri" pitchFamily="34" charset="0"/>
                <a:ea typeface="Calibri" pitchFamily="34" charset="-122"/>
                <a:cs typeface="Calibri" pitchFamily="34" charset="-120"/>
              </a:rPr>
              <a:t>Duy trì hiệu năng tốt khi giảm kích thước mẫu theo cấp số mũ. Độ lệch chuẩn nhỏ nhất trong tất cả phương pháp so sánh.</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Kiến Trúc GRAPES: Hai GNN Phối Hợp</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14 / 29</a:t>
            </a:r>
            <a:endParaRPr lang="en-US" sz="1000" dirty="0"/>
          </a:p>
        </p:txBody>
      </p:sp>
      <p:sp>
        <p:nvSpPr>
          <p:cNvPr id="5" name="Shape 3"/>
          <p:cNvSpPr/>
          <p:nvPr/>
        </p:nvSpPr>
        <p:spPr>
          <a:xfrm>
            <a:off x="228600" y="960120"/>
            <a:ext cx="2377440" cy="2651760"/>
          </a:xfrm>
          <a:prstGeom prst="rect">
            <a:avLst/>
          </a:prstGeom>
          <a:solidFill>
            <a:srgbClr val="E8F4FD"/>
          </a:solidFill>
          <a:ln w="25400">
            <a:solidFill>
              <a:srgbClr val="065A82"/>
            </a:solidFill>
            <a:prstDash val="solid"/>
          </a:ln>
        </p:spPr>
        <p:txBody>
          <a:bodyPr/>
          <a:lstStyle/>
          <a:p>
            <a:endParaRPr lang="en-VN"/>
          </a:p>
        </p:txBody>
      </p:sp>
      <p:sp>
        <p:nvSpPr>
          <p:cNvPr id="6" name="Shape 4"/>
          <p:cNvSpPr/>
          <p:nvPr/>
        </p:nvSpPr>
        <p:spPr>
          <a:xfrm>
            <a:off x="228600" y="960120"/>
            <a:ext cx="2377440" cy="512064"/>
          </a:xfrm>
          <a:prstGeom prst="rect">
            <a:avLst/>
          </a:prstGeom>
          <a:solidFill>
            <a:srgbClr val="065A82"/>
          </a:solidFill>
          <a:ln w="12700">
            <a:solidFill>
              <a:srgbClr val="065A82"/>
            </a:solidFill>
            <a:prstDash val="solid"/>
          </a:ln>
        </p:spPr>
        <p:txBody>
          <a:bodyPr/>
          <a:lstStyle/>
          <a:p>
            <a:endParaRPr lang="en-VN"/>
          </a:p>
        </p:txBody>
      </p:sp>
      <mc:AlternateContent xmlns:mc="http://schemas.openxmlformats.org/markup-compatibility/2006" xmlns:a14="http://schemas.microsoft.com/office/drawing/2010/main">
        <mc:Choice Requires="a14">
          <p:sp>
            <p:nvSpPr>
              <p:cNvPr id="7" name="Text 5"/>
              <p:cNvSpPr/>
              <p:nvPr/>
            </p:nvSpPr>
            <p:spPr>
              <a:xfrm>
                <a:off x="228600" y="960120"/>
                <a:ext cx="2377440" cy="512064"/>
              </a:xfrm>
              <a:prstGeom prst="rect">
                <a:avLst/>
              </a:prstGeom>
              <a:noFill/>
              <a:ln/>
            </p:spPr>
            <p:txBody>
              <a:bodyPr wrap="square" lIns="0" tIns="0" rIns="0" bIns="0" rtlCol="0" anchor="ctr"/>
              <a:lstStyle/>
              <a:p>
                <a:pPr marL="0" indent="0" algn="ctr">
                  <a:buNone/>
                </a:pPr>
                <a14:m>
                  <m:oMath xmlns:m="http://schemas.openxmlformats.org/officeDocument/2006/math">
                    <m:r>
                      <a:rPr lang="en-US" sz="1400" b="1" i="1" dirty="0" smtClean="0">
                        <a:solidFill>
                          <a:srgbClr val="FFFFFF"/>
                        </a:solidFill>
                        <a:latin typeface="Cambria Math" panose="02040503050406030204" pitchFamily="18" charset="0"/>
                        <a:ea typeface="Calibri" pitchFamily="34" charset="-122"/>
                        <a:cs typeface="Calibri" pitchFamily="34" charset="-120"/>
                      </a:rPr>
                      <m:t>𝑮𝑪</m:t>
                    </m:r>
                    <m:sSub>
                      <m:sSubPr>
                        <m:ctrlPr>
                          <a:rPr lang="en-US" sz="1400" b="1" i="1" dirty="0" smtClean="0">
                            <a:solidFill>
                              <a:srgbClr val="FFFFFF"/>
                            </a:solidFill>
                            <a:latin typeface="Cambria Math" panose="02040503050406030204" pitchFamily="18" charset="0"/>
                            <a:ea typeface="Calibri" pitchFamily="34" charset="-122"/>
                            <a:cs typeface="Calibri" pitchFamily="34" charset="-120"/>
                          </a:rPr>
                        </m:ctrlPr>
                      </m:sSubPr>
                      <m:e>
                        <m:r>
                          <a:rPr lang="en-US" sz="1400" b="1" i="1" dirty="0" smtClean="0">
                            <a:solidFill>
                              <a:srgbClr val="FFFFFF"/>
                            </a:solidFill>
                            <a:latin typeface="Cambria Math" panose="02040503050406030204" pitchFamily="18" charset="0"/>
                            <a:ea typeface="Calibri" pitchFamily="34" charset="-122"/>
                            <a:cs typeface="Calibri" pitchFamily="34" charset="-120"/>
                          </a:rPr>
                          <m:t>𝑵</m:t>
                        </m:r>
                      </m:e>
                      <m:sub>
                        <m:r>
                          <a:rPr lang="en-US" sz="1400" b="1" i="1" dirty="0" smtClean="0">
                            <a:solidFill>
                              <a:srgbClr val="FFFFFF"/>
                            </a:solidFill>
                            <a:latin typeface="Cambria Math" panose="02040503050406030204" pitchFamily="18" charset="0"/>
                            <a:ea typeface="Calibri" pitchFamily="34" charset="-122"/>
                            <a:cs typeface="Calibri" pitchFamily="34" charset="-120"/>
                          </a:rPr>
                          <m:t>𝑺</m:t>
                        </m:r>
                      </m:sub>
                    </m:sSub>
                  </m:oMath>
                </a14:m>
                <a:r>
                  <a:rPr lang="en-US" sz="1400" b="1" dirty="0">
                    <a:solidFill>
                      <a:srgbClr val="FFFFFF"/>
                    </a:solidFill>
                    <a:latin typeface="Calibri" pitchFamily="34" charset="0"/>
                    <a:ea typeface="Calibri" pitchFamily="34" charset="-122"/>
                    <a:cs typeface="Calibri" pitchFamily="34" charset="-120"/>
                  </a:rPr>
                  <a:t>  (Sampler)</a:t>
                </a:r>
                <a:endParaRPr lang="en-US" sz="1400" dirty="0"/>
              </a:p>
            </p:txBody>
          </p:sp>
        </mc:Choice>
        <mc:Fallback xmlns="">
          <p:sp>
            <p:nvSpPr>
              <p:cNvPr id="7" name="Text 5"/>
              <p:cNvSpPr>
                <a:spLocks noRot="1" noChangeAspect="1" noMove="1" noResize="1" noEditPoints="1" noAdjustHandles="1" noChangeArrowheads="1" noChangeShapeType="1" noTextEdit="1"/>
              </p:cNvSpPr>
              <p:nvPr/>
            </p:nvSpPr>
            <p:spPr>
              <a:xfrm>
                <a:off x="228600" y="960120"/>
                <a:ext cx="2377440" cy="512064"/>
              </a:xfrm>
              <a:prstGeom prst="rect">
                <a:avLst/>
              </a:prstGeom>
              <a:blipFill>
                <a:blip r:embed="rId3"/>
                <a:stretch>
                  <a:fillRect/>
                </a:stretch>
              </a:blipFill>
              <a:ln/>
            </p:spPr>
            <p:txBody>
              <a:bodyPr/>
              <a:lstStyle/>
              <a:p>
                <a:r>
                  <a:rPr lang="en-VN">
                    <a:noFill/>
                  </a:rPr>
                  <a:t> </a:t>
                </a:r>
              </a:p>
            </p:txBody>
          </p:sp>
        </mc:Fallback>
      </mc:AlternateContent>
      <p:sp>
        <p:nvSpPr>
          <p:cNvPr id="8" name="Text 6"/>
          <p:cNvSpPr/>
          <p:nvPr/>
        </p:nvSpPr>
        <p:spPr>
          <a:xfrm>
            <a:off x="347472" y="1536192"/>
            <a:ext cx="2103120" cy="1920240"/>
          </a:xfrm>
          <a:prstGeom prst="rect">
            <a:avLst/>
          </a:prstGeom>
          <a:noFill/>
          <a:ln/>
        </p:spPr>
        <p:txBody>
          <a:bodyPr wrap="square" rtlCol="0" anchor="ctr"/>
          <a:lstStyle/>
          <a:p>
            <a:pPr marL="0" indent="0">
              <a:buNone/>
            </a:pPr>
            <a:r>
              <a:rPr lang="en-US" sz="1250" dirty="0">
                <a:solidFill>
                  <a:srgbClr val="1A2B3C"/>
                </a:solidFill>
                <a:latin typeface="Calibri" pitchFamily="34" charset="0"/>
                <a:ea typeface="Calibri" pitchFamily="34" charset="-122"/>
                <a:cs typeface="Calibri" pitchFamily="34" charset="-120"/>
              </a:rPr>
              <a:t>Đầu vào: Đồ thị G</a:t>
            </a:r>
            <a:endParaRPr lang="en-US" sz="1250" dirty="0"/>
          </a:p>
          <a:p>
            <a:pPr marL="0" indent="0">
              <a:buNone/>
            </a:pPr>
            <a:endParaRPr lang="en-US" sz="1250" dirty="0"/>
          </a:p>
          <a:p>
            <a:pPr marL="0" indent="0">
              <a:buNone/>
            </a:pPr>
            <a:r>
              <a:rPr lang="en-US" sz="1250" dirty="0">
                <a:solidFill>
                  <a:srgbClr val="1A2B3C"/>
                </a:solidFill>
                <a:latin typeface="Calibri" pitchFamily="34" charset="0"/>
                <a:ea typeface="Calibri" pitchFamily="34" charset="-122"/>
                <a:cs typeface="Calibri" pitchFamily="34" charset="-120"/>
              </a:rPr>
              <a:t>Đầu ra: Xác suất pᵢ cho từng đỉnh lân cận</a:t>
            </a:r>
            <a:endParaRPr lang="en-US" sz="1250" dirty="0"/>
          </a:p>
          <a:p>
            <a:pPr marL="0" indent="0">
              <a:buNone/>
            </a:pPr>
            <a:endParaRPr lang="en-US" sz="1250" dirty="0"/>
          </a:p>
          <a:p>
            <a:pPr marL="0" indent="0">
              <a:buNone/>
            </a:pPr>
            <a:r>
              <a:rPr lang="en-US" sz="1250" dirty="0">
                <a:solidFill>
                  <a:srgbClr val="1A2B3C"/>
                </a:solidFill>
                <a:latin typeface="Calibri" pitchFamily="34" charset="0"/>
                <a:ea typeface="Calibri" pitchFamily="34" charset="-122"/>
                <a:cs typeface="Calibri" pitchFamily="34" charset="-120"/>
              </a:rPr>
              <a:t>Backbone: GCN tiêu chuẩn</a:t>
            </a:r>
            <a:endParaRPr lang="en-US" sz="1250" dirty="0"/>
          </a:p>
        </p:txBody>
      </p:sp>
      <p:sp>
        <p:nvSpPr>
          <p:cNvPr id="9" name="Text 7"/>
          <p:cNvSpPr/>
          <p:nvPr/>
        </p:nvSpPr>
        <p:spPr>
          <a:xfrm>
            <a:off x="2651760" y="2148840"/>
            <a:ext cx="502920" cy="365760"/>
          </a:xfrm>
          <a:prstGeom prst="rect">
            <a:avLst/>
          </a:prstGeom>
          <a:noFill/>
          <a:ln/>
        </p:spPr>
        <p:txBody>
          <a:bodyPr wrap="square" rtlCol="0" anchor="ctr"/>
          <a:lstStyle/>
          <a:p>
            <a:pPr marL="0" indent="0" algn="ctr">
              <a:buNone/>
            </a:pPr>
            <a:r>
              <a:rPr lang="en-US" sz="2200" b="1" dirty="0">
                <a:solidFill>
                  <a:srgbClr val="1C7293"/>
                </a:solidFill>
                <a:latin typeface="Calibri" pitchFamily="34" charset="0"/>
                <a:ea typeface="Calibri" pitchFamily="34" charset="-122"/>
                <a:cs typeface="Calibri" pitchFamily="34" charset="-120"/>
              </a:rPr>
              <a:t>→</a:t>
            </a:r>
            <a:endParaRPr lang="en-US" sz="2200" dirty="0"/>
          </a:p>
        </p:txBody>
      </p:sp>
      <p:sp>
        <p:nvSpPr>
          <p:cNvPr id="10" name="Text 8"/>
          <p:cNvSpPr/>
          <p:nvPr/>
        </p:nvSpPr>
        <p:spPr>
          <a:xfrm>
            <a:off x="2651760" y="2487168"/>
            <a:ext cx="502920" cy="256032"/>
          </a:xfrm>
          <a:prstGeom prst="rect">
            <a:avLst/>
          </a:prstGeom>
          <a:noFill/>
          <a:ln/>
        </p:spPr>
        <p:txBody>
          <a:bodyPr wrap="square" rtlCol="0" anchor="ctr"/>
          <a:lstStyle/>
          <a:p>
            <a:pPr marL="0" indent="0" algn="ctr">
              <a:buNone/>
            </a:pPr>
            <a:r>
              <a:rPr lang="en-US" sz="1100" i="1" dirty="0">
                <a:solidFill>
                  <a:srgbClr val="5A6A78"/>
                </a:solidFill>
                <a:latin typeface="Calibri" pitchFamily="34" charset="0"/>
                <a:ea typeface="Calibri" pitchFamily="34" charset="-122"/>
                <a:cs typeface="Calibri" pitchFamily="34" charset="-120"/>
              </a:rPr>
              <a:t>pᵢ</a:t>
            </a:r>
            <a:endParaRPr lang="en-US" sz="1100" dirty="0"/>
          </a:p>
        </p:txBody>
      </p:sp>
      <p:sp>
        <p:nvSpPr>
          <p:cNvPr id="11" name="Shape 9"/>
          <p:cNvSpPr/>
          <p:nvPr/>
        </p:nvSpPr>
        <p:spPr>
          <a:xfrm>
            <a:off x="3200400" y="1508760"/>
            <a:ext cx="2286000" cy="1508760"/>
          </a:xfrm>
          <a:prstGeom prst="rect">
            <a:avLst/>
          </a:prstGeom>
          <a:solidFill>
            <a:srgbClr val="FFF3CD"/>
          </a:solidFill>
          <a:ln w="31750">
            <a:solidFill>
              <a:srgbClr val="F4A261"/>
            </a:solidFill>
            <a:prstDash val="solid"/>
          </a:ln>
        </p:spPr>
        <p:txBody>
          <a:bodyPr/>
          <a:lstStyle/>
          <a:p>
            <a:endParaRPr lang="en-VN"/>
          </a:p>
        </p:txBody>
      </p:sp>
      <p:sp>
        <p:nvSpPr>
          <p:cNvPr id="12" name="Text 10"/>
          <p:cNvSpPr/>
          <p:nvPr/>
        </p:nvSpPr>
        <p:spPr>
          <a:xfrm>
            <a:off x="3200400" y="1508760"/>
            <a:ext cx="2286000" cy="566928"/>
          </a:xfrm>
          <a:prstGeom prst="rect">
            <a:avLst/>
          </a:prstGeom>
          <a:noFill/>
          <a:ln/>
        </p:spPr>
        <p:txBody>
          <a:bodyPr wrap="square" rtlCol="0" anchor="ctr"/>
          <a:lstStyle/>
          <a:p>
            <a:pPr marL="0" indent="0" algn="ctr">
              <a:buNone/>
            </a:pPr>
            <a:r>
              <a:rPr lang="en-US" sz="1600" b="1" dirty="0">
                <a:solidFill>
                  <a:srgbClr val="7B4F00"/>
                </a:solidFill>
                <a:latin typeface="Calibri" pitchFamily="34" charset="0"/>
                <a:ea typeface="Calibri" pitchFamily="34" charset="-122"/>
                <a:cs typeface="Calibri" pitchFamily="34" charset="-120"/>
              </a:rPr>
              <a:t>Gumbel Top-k</a:t>
            </a:r>
            <a:endParaRPr lang="en-US" sz="1600" dirty="0"/>
          </a:p>
        </p:txBody>
      </p:sp>
      <p:sp>
        <p:nvSpPr>
          <p:cNvPr id="13" name="Text 11"/>
          <p:cNvSpPr/>
          <p:nvPr/>
        </p:nvSpPr>
        <p:spPr>
          <a:xfrm>
            <a:off x="3200400" y="2075688"/>
            <a:ext cx="2286000" cy="914400"/>
          </a:xfrm>
          <a:prstGeom prst="rect">
            <a:avLst/>
          </a:prstGeom>
          <a:noFill/>
          <a:ln/>
        </p:spPr>
        <p:txBody>
          <a:bodyPr wrap="square" rtlCol="0" anchor="ctr"/>
          <a:lstStyle/>
          <a:p>
            <a:pPr marL="0" indent="0" algn="ctr">
              <a:buNone/>
            </a:pPr>
            <a:r>
              <a:rPr lang="en-US" sz="1200" dirty="0">
                <a:solidFill>
                  <a:srgbClr val="7B4F00"/>
                </a:solidFill>
                <a:latin typeface="Calibri" pitchFamily="34" charset="0"/>
                <a:ea typeface="Calibri" pitchFamily="34" charset="-122"/>
                <a:cs typeface="Calibri" pitchFamily="34" charset="-120"/>
              </a:rPr>
              <a:t>Chọn k đỉnh quan trọng nhất</a:t>
            </a:r>
            <a:endParaRPr lang="en-US" sz="1200" dirty="0"/>
          </a:p>
          <a:p>
            <a:pPr marL="0" indent="0" algn="ctr">
              <a:buNone/>
            </a:pPr>
            <a:r>
              <a:rPr lang="en-US" sz="1200" dirty="0">
                <a:solidFill>
                  <a:srgbClr val="7B4F00"/>
                </a:solidFill>
                <a:latin typeface="Calibri" pitchFamily="34" charset="0"/>
                <a:ea typeface="Calibri" pitchFamily="34" charset="-122"/>
                <a:cs typeface="Calibri" pitchFamily="34" charset="-120"/>
              </a:rPr>
              <a:t>(khả vi hóa quá trình</a:t>
            </a:r>
            <a:endParaRPr lang="en-US" sz="1200" dirty="0"/>
          </a:p>
          <a:p>
            <a:pPr marL="0" indent="0" algn="ctr">
              <a:buNone/>
            </a:pPr>
            <a:r>
              <a:rPr lang="en-US" sz="1200" dirty="0">
                <a:solidFill>
                  <a:srgbClr val="7B4F00"/>
                </a:solidFill>
                <a:latin typeface="Calibri" pitchFamily="34" charset="0"/>
                <a:ea typeface="Calibri" pitchFamily="34" charset="-122"/>
                <a:cs typeface="Calibri" pitchFamily="34" charset="-120"/>
              </a:rPr>
              <a:t>discrete sampling)</a:t>
            </a:r>
            <a:endParaRPr lang="en-US" sz="1200" dirty="0"/>
          </a:p>
        </p:txBody>
      </p:sp>
      <p:sp>
        <p:nvSpPr>
          <p:cNvPr id="14" name="Text 12"/>
          <p:cNvSpPr/>
          <p:nvPr/>
        </p:nvSpPr>
        <p:spPr>
          <a:xfrm>
            <a:off x="5532120" y="2148840"/>
            <a:ext cx="502920" cy="365760"/>
          </a:xfrm>
          <a:prstGeom prst="rect">
            <a:avLst/>
          </a:prstGeom>
          <a:noFill/>
          <a:ln/>
        </p:spPr>
        <p:txBody>
          <a:bodyPr wrap="square" rtlCol="0" anchor="ctr"/>
          <a:lstStyle/>
          <a:p>
            <a:pPr marL="0" indent="0" algn="ctr">
              <a:buNone/>
            </a:pPr>
            <a:r>
              <a:rPr lang="en-US" sz="2200" b="1" dirty="0">
                <a:solidFill>
                  <a:srgbClr val="1C7293"/>
                </a:solidFill>
                <a:latin typeface="Calibri" pitchFamily="34" charset="0"/>
                <a:ea typeface="Calibri" pitchFamily="34" charset="-122"/>
                <a:cs typeface="Calibri" pitchFamily="34" charset="-120"/>
              </a:rPr>
              <a:t>→</a:t>
            </a:r>
            <a:endParaRPr lang="en-US" sz="2200" dirty="0"/>
          </a:p>
        </p:txBody>
      </p:sp>
      <mc:AlternateContent xmlns:mc="http://schemas.openxmlformats.org/markup-compatibility/2006" xmlns:a14="http://schemas.microsoft.com/office/drawing/2010/main">
        <mc:Choice Requires="a14">
          <p:sp>
            <p:nvSpPr>
              <p:cNvPr id="15" name="Text 13"/>
              <p:cNvSpPr/>
              <p:nvPr/>
            </p:nvSpPr>
            <p:spPr>
              <a:xfrm>
                <a:off x="5532120" y="2487168"/>
                <a:ext cx="502920" cy="25603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n-US" sz="1100" i="1" dirty="0" smtClean="0">
                              <a:solidFill>
                                <a:srgbClr val="5A6A78"/>
                              </a:solidFill>
                              <a:latin typeface="Cambria Math" panose="02040503050406030204" pitchFamily="18" charset="0"/>
                              <a:ea typeface="Calibri" pitchFamily="34" charset="-122"/>
                              <a:cs typeface="Calibri" pitchFamily="34" charset="-120"/>
                            </a:rPr>
                          </m:ctrlPr>
                        </m:sSubPr>
                        <m:e>
                          <m:r>
                            <a:rPr lang="en-US" sz="1100" i="1" dirty="0" smtClean="0">
                              <a:solidFill>
                                <a:srgbClr val="5A6A78"/>
                              </a:solidFill>
                              <a:latin typeface="Cambria Math" panose="02040503050406030204" pitchFamily="18" charset="0"/>
                              <a:ea typeface="Calibri" pitchFamily="34" charset="-122"/>
                              <a:cs typeface="Calibri" pitchFamily="34" charset="-120"/>
                            </a:rPr>
                            <m:t>𝐺</m:t>
                          </m:r>
                        </m:e>
                        <m:sub>
                          <m:r>
                            <a:rPr lang="en-US" sz="1100" i="1" dirty="0" smtClean="0">
                              <a:solidFill>
                                <a:srgbClr val="5A6A78"/>
                              </a:solidFill>
                              <a:latin typeface="Cambria Math" panose="02040503050406030204" pitchFamily="18" charset="0"/>
                              <a:ea typeface="Calibri" pitchFamily="34" charset="-122"/>
                              <a:cs typeface="Calibri" pitchFamily="34" charset="-120"/>
                            </a:rPr>
                            <m:t>𝑠</m:t>
                          </m:r>
                        </m:sub>
                      </m:sSub>
                    </m:oMath>
                  </m:oMathPara>
                </a14:m>
                <a:endParaRPr lang="en-US" sz="1100" dirty="0"/>
              </a:p>
            </p:txBody>
          </p:sp>
        </mc:Choice>
        <mc:Fallback xmlns="">
          <p:sp>
            <p:nvSpPr>
              <p:cNvPr id="15" name="Text 13"/>
              <p:cNvSpPr>
                <a:spLocks noRot="1" noChangeAspect="1" noMove="1" noResize="1" noEditPoints="1" noAdjustHandles="1" noChangeArrowheads="1" noChangeShapeType="1" noTextEdit="1"/>
              </p:cNvSpPr>
              <p:nvPr/>
            </p:nvSpPr>
            <p:spPr>
              <a:xfrm>
                <a:off x="5532120" y="2487168"/>
                <a:ext cx="502920" cy="256032"/>
              </a:xfrm>
              <a:prstGeom prst="rect">
                <a:avLst/>
              </a:prstGeom>
              <a:blipFill>
                <a:blip r:embed="rId4"/>
                <a:stretch>
                  <a:fillRect/>
                </a:stretch>
              </a:blipFill>
              <a:ln/>
            </p:spPr>
            <p:txBody>
              <a:bodyPr/>
              <a:lstStyle/>
              <a:p>
                <a:r>
                  <a:rPr lang="en-VN">
                    <a:noFill/>
                  </a:rPr>
                  <a:t> </a:t>
                </a:r>
              </a:p>
            </p:txBody>
          </p:sp>
        </mc:Fallback>
      </mc:AlternateContent>
      <p:sp>
        <p:nvSpPr>
          <p:cNvPr id="16" name="Shape 14"/>
          <p:cNvSpPr/>
          <p:nvPr/>
        </p:nvSpPr>
        <p:spPr>
          <a:xfrm>
            <a:off x="6080760" y="960120"/>
            <a:ext cx="2377440" cy="2651760"/>
          </a:xfrm>
          <a:prstGeom prst="rect">
            <a:avLst/>
          </a:prstGeom>
          <a:solidFill>
            <a:srgbClr val="FDF0F0"/>
          </a:solidFill>
          <a:ln w="25400">
            <a:solidFill>
              <a:srgbClr val="9B2226"/>
            </a:solidFill>
            <a:prstDash val="solid"/>
          </a:ln>
        </p:spPr>
        <p:txBody>
          <a:bodyPr/>
          <a:lstStyle/>
          <a:p>
            <a:endParaRPr lang="en-VN"/>
          </a:p>
        </p:txBody>
      </p:sp>
      <p:sp>
        <p:nvSpPr>
          <p:cNvPr id="17" name="Shape 15"/>
          <p:cNvSpPr/>
          <p:nvPr/>
        </p:nvSpPr>
        <p:spPr>
          <a:xfrm>
            <a:off x="6080760" y="960120"/>
            <a:ext cx="2377440" cy="512064"/>
          </a:xfrm>
          <a:prstGeom prst="rect">
            <a:avLst/>
          </a:prstGeom>
          <a:solidFill>
            <a:srgbClr val="9B2226"/>
          </a:solidFill>
          <a:ln w="12700">
            <a:solidFill>
              <a:srgbClr val="9B2226"/>
            </a:solidFill>
            <a:prstDash val="solid"/>
          </a:ln>
        </p:spPr>
        <p:txBody>
          <a:bodyPr/>
          <a:lstStyle/>
          <a:p>
            <a:endParaRPr lang="en-VN"/>
          </a:p>
        </p:txBody>
      </p:sp>
      <mc:AlternateContent xmlns:mc="http://schemas.openxmlformats.org/markup-compatibility/2006" xmlns:a14="http://schemas.microsoft.com/office/drawing/2010/main">
        <mc:Choice Requires="a14">
          <p:sp>
            <p:nvSpPr>
              <p:cNvPr id="18" name="Text 16"/>
              <p:cNvSpPr/>
              <p:nvPr/>
            </p:nvSpPr>
            <p:spPr>
              <a:xfrm>
                <a:off x="6080760" y="960120"/>
                <a:ext cx="2377440" cy="512064"/>
              </a:xfrm>
              <a:prstGeom prst="rect">
                <a:avLst/>
              </a:prstGeom>
              <a:noFill/>
              <a:ln/>
            </p:spPr>
            <p:txBody>
              <a:bodyPr wrap="square" lIns="0" tIns="0" rIns="0" bIns="0" rtlCol="0" anchor="ctr"/>
              <a:lstStyle/>
              <a:p>
                <a:pPr marL="0" indent="0" algn="ctr">
                  <a:buNone/>
                </a:pPr>
                <a14:m>
                  <m:oMath xmlns:m="http://schemas.openxmlformats.org/officeDocument/2006/math">
                    <m:r>
                      <a:rPr lang="en-US" sz="1400" b="1" i="1" dirty="0" smtClean="0">
                        <a:solidFill>
                          <a:srgbClr val="FFFFFF"/>
                        </a:solidFill>
                        <a:latin typeface="Cambria Math" panose="02040503050406030204" pitchFamily="18" charset="0"/>
                        <a:ea typeface="Calibri" pitchFamily="34" charset="-122"/>
                        <a:cs typeface="Calibri" pitchFamily="34" charset="-120"/>
                      </a:rPr>
                      <m:t>𝑮𝑪</m:t>
                    </m:r>
                    <m:sSub>
                      <m:sSubPr>
                        <m:ctrlPr>
                          <a:rPr lang="en-US" sz="1400" b="1" i="1" dirty="0" smtClean="0">
                            <a:solidFill>
                              <a:srgbClr val="FFFFFF"/>
                            </a:solidFill>
                            <a:latin typeface="Cambria Math" panose="02040503050406030204" pitchFamily="18" charset="0"/>
                            <a:ea typeface="Calibri" pitchFamily="34" charset="-122"/>
                            <a:cs typeface="Calibri" pitchFamily="34" charset="-120"/>
                          </a:rPr>
                        </m:ctrlPr>
                      </m:sSubPr>
                      <m:e>
                        <m:r>
                          <a:rPr lang="en-US" sz="1400" b="1" i="1" dirty="0" smtClean="0">
                            <a:solidFill>
                              <a:srgbClr val="FFFFFF"/>
                            </a:solidFill>
                            <a:latin typeface="Cambria Math" panose="02040503050406030204" pitchFamily="18" charset="0"/>
                            <a:ea typeface="Calibri" pitchFamily="34" charset="-122"/>
                            <a:cs typeface="Calibri" pitchFamily="34" charset="-120"/>
                          </a:rPr>
                          <m:t>𝑵</m:t>
                        </m:r>
                      </m:e>
                      <m:sub>
                        <m:r>
                          <a:rPr lang="en-US" sz="1400" b="1" i="1" dirty="0" smtClean="0">
                            <a:solidFill>
                              <a:srgbClr val="FFFFFF"/>
                            </a:solidFill>
                            <a:latin typeface="Cambria Math" panose="02040503050406030204" pitchFamily="18" charset="0"/>
                            <a:ea typeface="Calibri" pitchFamily="34" charset="-122"/>
                            <a:cs typeface="Calibri" pitchFamily="34" charset="-120"/>
                          </a:rPr>
                          <m:t>𝑪</m:t>
                        </m:r>
                      </m:sub>
                    </m:sSub>
                  </m:oMath>
                </a14:m>
                <a:r>
                  <a:rPr lang="en-US" sz="1400" b="1" dirty="0">
                    <a:solidFill>
                      <a:srgbClr val="FFFFFF"/>
                    </a:solidFill>
                    <a:latin typeface="Calibri" pitchFamily="34" charset="0"/>
                    <a:ea typeface="Calibri" pitchFamily="34" charset="-122"/>
                    <a:cs typeface="Calibri" pitchFamily="34" charset="-120"/>
                  </a:rPr>
                  <a:t>  (Classifier)</a:t>
                </a:r>
                <a:endParaRPr lang="en-US" sz="1400" dirty="0"/>
              </a:p>
            </p:txBody>
          </p:sp>
        </mc:Choice>
        <mc:Fallback xmlns="">
          <p:sp>
            <p:nvSpPr>
              <p:cNvPr id="18" name="Text 16"/>
              <p:cNvSpPr>
                <a:spLocks noRot="1" noChangeAspect="1" noMove="1" noResize="1" noEditPoints="1" noAdjustHandles="1" noChangeArrowheads="1" noChangeShapeType="1" noTextEdit="1"/>
              </p:cNvSpPr>
              <p:nvPr/>
            </p:nvSpPr>
            <p:spPr>
              <a:xfrm>
                <a:off x="6080760" y="960120"/>
                <a:ext cx="2377440" cy="512064"/>
              </a:xfrm>
              <a:prstGeom prst="rect">
                <a:avLst/>
              </a:prstGeom>
              <a:blipFill>
                <a:blip r:embed="rId5"/>
                <a:stretch>
                  <a:fillRect/>
                </a:stretch>
              </a:blip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9" name="Text 17"/>
              <p:cNvSpPr/>
              <p:nvPr/>
            </p:nvSpPr>
            <p:spPr>
              <a:xfrm>
                <a:off x="6199632" y="1536192"/>
                <a:ext cx="2103120" cy="1920240"/>
              </a:xfrm>
              <a:prstGeom prst="rect">
                <a:avLst/>
              </a:prstGeom>
              <a:noFill/>
              <a:ln/>
            </p:spPr>
            <p:txBody>
              <a:bodyPr wrap="square" rtlCol="0" anchor="ctr"/>
              <a:lstStyle/>
              <a:p>
                <a:r>
                  <a:rPr lang="en-US" sz="1250" dirty="0">
                    <a:solidFill>
                      <a:srgbClr val="1A2B3C"/>
                    </a:solidFill>
                    <a:latin typeface="Calibri" pitchFamily="34" charset="0"/>
                    <a:ea typeface="Calibri" pitchFamily="34" charset="-122"/>
                    <a:cs typeface="Calibri" pitchFamily="34" charset="-120"/>
                  </a:rPr>
                  <a:t>Đầu vào: Đồ thị </a:t>
                </a:r>
                <a:r>
                  <a:rPr lang="en-US" sz="1250">
                    <a:solidFill>
                      <a:srgbClr val="1A2B3C"/>
                    </a:solidFill>
                    <a:latin typeface="Calibri" pitchFamily="34" charset="0"/>
                    <a:ea typeface="Calibri" pitchFamily="34" charset="-122"/>
                    <a:cs typeface="Calibri" pitchFamily="34" charset="-120"/>
                  </a:rPr>
                  <a:t>con </a:t>
                </a:r>
                <a14:m>
                  <m:oMath xmlns:m="http://schemas.openxmlformats.org/officeDocument/2006/math">
                    <m:sSub>
                      <m:sSubPr>
                        <m:ctrlPr>
                          <a:rPr lang="en-VN" sz="1400" i="1" smtClean="0">
                            <a:latin typeface="Cambria Math" panose="02040503050406030204" pitchFamily="18" charset="0"/>
                          </a:rPr>
                        </m:ctrlPr>
                      </m:sSubPr>
                      <m:e>
                        <m:r>
                          <a:rPr lang="en-VN" sz="1400" i="1" smtClean="0">
                            <a:latin typeface="Cambria Math" panose="02040503050406030204" pitchFamily="18" charset="0"/>
                          </a:rPr>
                          <m:t>𝐺</m:t>
                        </m:r>
                      </m:e>
                      <m:sub>
                        <m:r>
                          <a:rPr lang="en-VN" sz="1400" i="1" smtClean="0">
                            <a:latin typeface="Cambria Math" panose="02040503050406030204" pitchFamily="18" charset="0"/>
                          </a:rPr>
                          <m:t>𝑠</m:t>
                        </m:r>
                      </m:sub>
                    </m:sSub>
                  </m:oMath>
                </a14:m>
                <a:endParaRPr lang="en-US" sz="1250" dirty="0"/>
              </a:p>
              <a:p>
                <a:pPr marL="0" indent="0">
                  <a:buNone/>
                </a:pPr>
                <a:endParaRPr lang="en-US" sz="1250" dirty="0"/>
              </a:p>
              <a:p>
                <a:pPr marL="0" indent="0">
                  <a:buNone/>
                </a:pPr>
                <a:r>
                  <a:rPr lang="en-US" sz="1250" dirty="0">
                    <a:solidFill>
                      <a:srgbClr val="1A2B3C"/>
                    </a:solidFill>
                    <a:latin typeface="Calibri" pitchFamily="34" charset="0"/>
                    <a:ea typeface="Calibri" pitchFamily="34" charset="-122"/>
                    <a:cs typeface="Calibri" pitchFamily="34" charset="-120"/>
                  </a:rPr>
                  <a:t>Đầu ra: Dự đoán nhãn đỉnh</a:t>
                </a:r>
                <a:endParaRPr lang="en-US" sz="1250" dirty="0"/>
              </a:p>
              <a:p>
                <a:pPr marL="0" indent="0">
                  <a:buNone/>
                </a:pPr>
                <a:endParaRPr lang="en-US" sz="1250" dirty="0"/>
              </a:p>
              <a:p>
                <a:pPr marL="0" indent="0">
                  <a:buNone/>
                </a:pPr>
                <a:r>
                  <a:rPr lang="en-US" sz="1250" dirty="0">
                    <a:solidFill>
                      <a:srgbClr val="1A2B3C"/>
                    </a:solidFill>
                    <a:latin typeface="Calibri" pitchFamily="34" charset="0"/>
                    <a:ea typeface="Calibri" pitchFamily="34" charset="-122"/>
                    <a:cs typeface="Calibri" pitchFamily="34" charset="-120"/>
                  </a:rPr>
                  <a:t>Tính: Loss </a:t>
                </a:r>
                <a14:m>
                  <m:oMath xmlns:m="http://schemas.openxmlformats.org/officeDocument/2006/math">
                    <m:sSub>
                      <m:sSubPr>
                        <m:ctrlPr>
                          <a:rPr lang="en-US" sz="1250" i="1" dirty="0" smtClean="0">
                            <a:solidFill>
                              <a:srgbClr val="1A2B3C"/>
                            </a:solidFill>
                            <a:latin typeface="Cambria Math" panose="02040503050406030204" pitchFamily="18" charset="0"/>
                            <a:ea typeface="Calibri" pitchFamily="34" charset="-122"/>
                            <a:cs typeface="Calibri" pitchFamily="34" charset="-120"/>
                          </a:rPr>
                        </m:ctrlPr>
                      </m:sSubPr>
                      <m:e>
                        <m:r>
                          <a:rPr lang="en-US" sz="1250" i="1" dirty="0" smtClean="0">
                            <a:solidFill>
                              <a:srgbClr val="1A2B3C"/>
                            </a:solidFill>
                            <a:latin typeface="Cambria Math" panose="02040503050406030204" pitchFamily="18" charset="0"/>
                            <a:ea typeface="Calibri" pitchFamily="34" charset="-122"/>
                            <a:cs typeface="Calibri" pitchFamily="34" charset="-120"/>
                          </a:rPr>
                          <m:t>𝐿</m:t>
                        </m:r>
                      </m:e>
                      <m:sub>
                        <m:r>
                          <a:rPr lang="en-US" sz="1250" i="1" dirty="0" smtClean="0">
                            <a:solidFill>
                              <a:srgbClr val="1A2B3C"/>
                            </a:solidFill>
                            <a:latin typeface="Cambria Math" panose="02040503050406030204" pitchFamily="18" charset="0"/>
                            <a:ea typeface="Calibri" pitchFamily="34" charset="-122"/>
                            <a:cs typeface="Calibri" pitchFamily="34" charset="-120"/>
                          </a:rPr>
                          <m:t>𝐶</m:t>
                        </m:r>
                      </m:sub>
                    </m:sSub>
                  </m:oMath>
                </a14:m>
                <a:r>
                  <a:rPr lang="en-US" sz="1250" dirty="0">
                    <a:solidFill>
                      <a:srgbClr val="1A2B3C"/>
                    </a:solidFill>
                    <a:latin typeface="Calibri" pitchFamily="34" charset="0"/>
                    <a:ea typeface="Calibri" pitchFamily="34" charset="-122"/>
                    <a:cs typeface="Calibri" pitchFamily="34" charset="-120"/>
                  </a:rPr>
                  <a:t> → reward cho GFlowNet</a:t>
                </a:r>
                <a:endParaRPr lang="en-US" sz="1250" dirty="0"/>
              </a:p>
            </p:txBody>
          </p:sp>
        </mc:Choice>
        <mc:Fallback xmlns="">
          <p:sp>
            <p:nvSpPr>
              <p:cNvPr id="19" name="Text 17"/>
              <p:cNvSpPr>
                <a:spLocks noRot="1" noChangeAspect="1" noMove="1" noResize="1" noEditPoints="1" noAdjustHandles="1" noChangeArrowheads="1" noChangeShapeType="1" noTextEdit="1"/>
              </p:cNvSpPr>
              <p:nvPr/>
            </p:nvSpPr>
            <p:spPr>
              <a:xfrm>
                <a:off x="6199632" y="1536192"/>
                <a:ext cx="2103120" cy="1920240"/>
              </a:xfrm>
              <a:prstGeom prst="rect">
                <a:avLst/>
              </a:prstGeom>
              <a:blipFill>
                <a:blip r:embed="rId6"/>
                <a:stretch>
                  <a:fillRect l="-602"/>
                </a:stretch>
              </a:blipFill>
              <a:ln/>
            </p:spPr>
            <p:txBody>
              <a:bodyPr/>
              <a:lstStyle/>
              <a:p>
                <a:r>
                  <a:rPr lang="en-VN">
                    <a:noFill/>
                  </a:rPr>
                  <a:t> </a:t>
                </a:r>
              </a:p>
            </p:txBody>
          </p:sp>
        </mc:Fallback>
      </mc:AlternateContent>
      <p:sp>
        <p:nvSpPr>
          <p:cNvPr id="20" name="Shape 18"/>
          <p:cNvSpPr/>
          <p:nvPr/>
        </p:nvSpPr>
        <p:spPr>
          <a:xfrm>
            <a:off x="7269480" y="3611880"/>
            <a:ext cx="0" cy="594360"/>
          </a:xfrm>
          <a:prstGeom prst="line">
            <a:avLst/>
          </a:prstGeom>
          <a:noFill/>
          <a:ln w="31750">
            <a:solidFill>
              <a:srgbClr val="02C39A"/>
            </a:solidFill>
            <a:prstDash val="solid"/>
          </a:ln>
        </p:spPr>
        <p:txBody>
          <a:bodyPr/>
          <a:lstStyle/>
          <a:p>
            <a:endParaRPr lang="en-VN"/>
          </a:p>
        </p:txBody>
      </p:sp>
      <p:sp>
        <p:nvSpPr>
          <p:cNvPr id="21" name="Shape 19"/>
          <p:cNvSpPr/>
          <p:nvPr/>
        </p:nvSpPr>
        <p:spPr>
          <a:xfrm>
            <a:off x="1417320" y="4206240"/>
            <a:ext cx="5852160" cy="0"/>
          </a:xfrm>
          <a:prstGeom prst="line">
            <a:avLst/>
          </a:prstGeom>
          <a:noFill/>
          <a:ln w="31750">
            <a:solidFill>
              <a:srgbClr val="02C39A"/>
            </a:solidFill>
            <a:prstDash val="solid"/>
          </a:ln>
        </p:spPr>
        <p:txBody>
          <a:bodyPr/>
          <a:lstStyle/>
          <a:p>
            <a:endParaRPr lang="en-VN"/>
          </a:p>
        </p:txBody>
      </p:sp>
      <p:sp>
        <p:nvSpPr>
          <p:cNvPr id="22" name="Shape 20"/>
          <p:cNvSpPr/>
          <p:nvPr/>
        </p:nvSpPr>
        <p:spPr>
          <a:xfrm>
            <a:off x="1417320" y="3611880"/>
            <a:ext cx="0" cy="594360"/>
          </a:xfrm>
          <a:prstGeom prst="line">
            <a:avLst/>
          </a:prstGeom>
          <a:noFill/>
          <a:ln w="31750">
            <a:solidFill>
              <a:srgbClr val="02C39A"/>
            </a:solidFill>
            <a:prstDash val="solid"/>
          </a:ln>
        </p:spPr>
        <p:txBody>
          <a:bodyPr/>
          <a:lstStyle/>
          <a:p>
            <a:endParaRPr lang="en-VN"/>
          </a:p>
        </p:txBody>
      </p:sp>
      <p:sp>
        <p:nvSpPr>
          <p:cNvPr id="23" name="Shape 21"/>
          <p:cNvSpPr/>
          <p:nvPr/>
        </p:nvSpPr>
        <p:spPr>
          <a:xfrm flipV="1">
            <a:off x="1207008" y="3611879"/>
            <a:ext cx="210305" cy="228601"/>
          </a:xfrm>
          <a:prstGeom prst="line">
            <a:avLst/>
          </a:prstGeom>
          <a:noFill/>
          <a:ln w="31750">
            <a:solidFill>
              <a:srgbClr val="02C39A"/>
            </a:solidFill>
            <a:prstDash val="solid"/>
          </a:ln>
        </p:spPr>
        <p:txBody>
          <a:bodyPr/>
          <a:lstStyle/>
          <a:p>
            <a:endParaRPr lang="en-VN"/>
          </a:p>
        </p:txBody>
      </p:sp>
      <p:sp>
        <p:nvSpPr>
          <p:cNvPr id="24" name="Shape 22"/>
          <p:cNvSpPr/>
          <p:nvPr/>
        </p:nvSpPr>
        <p:spPr>
          <a:xfrm>
            <a:off x="1417320" y="3611880"/>
            <a:ext cx="210312" cy="228600"/>
          </a:xfrm>
          <a:prstGeom prst="line">
            <a:avLst/>
          </a:prstGeom>
          <a:noFill/>
          <a:ln w="31750">
            <a:solidFill>
              <a:srgbClr val="02C39A"/>
            </a:solidFill>
            <a:prstDash val="solid"/>
          </a:ln>
        </p:spPr>
        <p:txBody>
          <a:bodyPr/>
          <a:lstStyle/>
          <a:p>
            <a:endParaRPr lang="en-VN"/>
          </a:p>
        </p:txBody>
      </p:sp>
      <p:sp>
        <p:nvSpPr>
          <p:cNvPr id="25" name="Shape 23"/>
          <p:cNvSpPr/>
          <p:nvPr/>
        </p:nvSpPr>
        <p:spPr>
          <a:xfrm>
            <a:off x="2377440" y="4059936"/>
            <a:ext cx="4114800" cy="292608"/>
          </a:xfrm>
          <a:prstGeom prst="rect">
            <a:avLst/>
          </a:prstGeom>
          <a:solidFill>
            <a:srgbClr val="0A4D62"/>
          </a:solidFill>
          <a:ln w="12700">
            <a:solidFill>
              <a:srgbClr val="02C39A"/>
            </a:solidFill>
            <a:prstDash val="solid"/>
          </a:ln>
        </p:spPr>
        <p:txBody>
          <a:bodyPr/>
          <a:lstStyle/>
          <a:p>
            <a:endParaRPr lang="en-VN"/>
          </a:p>
        </p:txBody>
      </p:sp>
      <mc:AlternateContent xmlns:mc="http://schemas.openxmlformats.org/markup-compatibility/2006" xmlns:a14="http://schemas.microsoft.com/office/drawing/2010/main">
        <mc:Choice Requires="a14">
          <p:sp>
            <p:nvSpPr>
              <p:cNvPr id="26" name="Text 24"/>
              <p:cNvSpPr/>
              <p:nvPr/>
            </p:nvSpPr>
            <p:spPr>
              <a:xfrm>
                <a:off x="2377440" y="4059936"/>
                <a:ext cx="4114800" cy="292608"/>
              </a:xfrm>
              <a:prstGeom prst="rect">
                <a:avLst/>
              </a:prstGeom>
              <a:noFill/>
              <a:ln/>
            </p:spPr>
            <p:txBody>
              <a:bodyPr wrap="square" lIns="0" tIns="0" rIns="0" bIns="0" rtlCol="0" anchor="ctr"/>
              <a:lstStyle/>
              <a:p>
                <a:pPr marL="0" indent="0" algn="ctr">
                  <a:buNone/>
                </a:pPr>
                <a:r>
                  <a:rPr lang="en-US" sz="1150" b="1" dirty="0">
                    <a:solidFill>
                      <a:srgbClr val="02C39A"/>
                    </a:solidFill>
                    <a:latin typeface="Calibri" pitchFamily="34" charset="0"/>
                    <a:ea typeface="Calibri" pitchFamily="34" charset="-122"/>
                    <a:cs typeface="Calibri" pitchFamily="34" charset="-120"/>
                  </a:rPr>
                  <a:t>GFlowNet: cập nhật </a:t>
                </a:r>
                <a14:m>
                  <m:oMath xmlns:m="http://schemas.openxmlformats.org/officeDocument/2006/math">
                    <m:r>
                      <a:rPr lang="en-US" sz="1150" b="1" i="1" dirty="0" smtClean="0">
                        <a:solidFill>
                          <a:srgbClr val="02C39A"/>
                        </a:solidFill>
                        <a:latin typeface="Cambria Math" panose="02040503050406030204" pitchFamily="18" charset="0"/>
                        <a:ea typeface="Calibri" pitchFamily="34" charset="-122"/>
                        <a:cs typeface="Calibri" pitchFamily="34" charset="-120"/>
                      </a:rPr>
                      <m:t>𝑮𝑪</m:t>
                    </m:r>
                    <m:sSub>
                      <m:sSubPr>
                        <m:ctrlPr>
                          <a:rPr lang="en-US" sz="1150" b="1" i="1" dirty="0" smtClean="0">
                            <a:solidFill>
                              <a:srgbClr val="02C39A"/>
                            </a:solidFill>
                            <a:latin typeface="Cambria Math" panose="02040503050406030204" pitchFamily="18" charset="0"/>
                            <a:ea typeface="Calibri" pitchFamily="34" charset="-122"/>
                            <a:cs typeface="Calibri" pitchFamily="34" charset="-120"/>
                          </a:rPr>
                        </m:ctrlPr>
                      </m:sSubPr>
                      <m:e>
                        <m:r>
                          <a:rPr lang="en-US" sz="1150" b="1" i="1" dirty="0" smtClean="0">
                            <a:solidFill>
                              <a:srgbClr val="02C39A"/>
                            </a:solidFill>
                            <a:latin typeface="Cambria Math" panose="02040503050406030204" pitchFamily="18" charset="0"/>
                            <a:ea typeface="Calibri" pitchFamily="34" charset="-122"/>
                            <a:cs typeface="Calibri" pitchFamily="34" charset="-120"/>
                          </a:rPr>
                          <m:t>𝑵</m:t>
                        </m:r>
                      </m:e>
                      <m:sub>
                        <m:r>
                          <a:rPr lang="en-US" sz="1150" b="1" i="1" dirty="0" smtClean="0">
                            <a:solidFill>
                              <a:srgbClr val="02C39A"/>
                            </a:solidFill>
                            <a:latin typeface="Cambria Math" panose="02040503050406030204" pitchFamily="18" charset="0"/>
                            <a:ea typeface="Calibri" pitchFamily="34" charset="-122"/>
                            <a:cs typeface="Calibri" pitchFamily="34" charset="-120"/>
                          </a:rPr>
                          <m:t>𝑺</m:t>
                        </m:r>
                      </m:sub>
                    </m:sSub>
                  </m:oMath>
                </a14:m>
                <a:r>
                  <a:rPr lang="en-US" sz="1150" b="1" dirty="0">
                    <a:solidFill>
                      <a:srgbClr val="02C39A"/>
                    </a:solidFill>
                    <a:latin typeface="Calibri" pitchFamily="34" charset="0"/>
                    <a:ea typeface="Calibri" pitchFamily="34" charset="-122"/>
                    <a:cs typeface="Calibri" pitchFamily="34" charset="-120"/>
                  </a:rPr>
                  <a:t> từ reward của </a:t>
                </a:r>
                <a14:m>
                  <m:oMath xmlns:m="http://schemas.openxmlformats.org/officeDocument/2006/math">
                    <m:sSub>
                      <m:sSubPr>
                        <m:ctrlPr>
                          <a:rPr lang="en-US" sz="1150" b="1" i="1" dirty="0" smtClean="0">
                            <a:solidFill>
                              <a:srgbClr val="02C39A"/>
                            </a:solidFill>
                            <a:latin typeface="Cambria Math" panose="02040503050406030204" pitchFamily="18" charset="0"/>
                            <a:ea typeface="Calibri" pitchFamily="34" charset="-122"/>
                            <a:cs typeface="Calibri" pitchFamily="34" charset="-120"/>
                          </a:rPr>
                        </m:ctrlPr>
                      </m:sSubPr>
                      <m:e>
                        <m:r>
                          <a:rPr lang="en-US" sz="1150" b="1" i="1" dirty="0" smtClean="0">
                            <a:solidFill>
                              <a:srgbClr val="02C39A"/>
                            </a:solidFill>
                            <a:latin typeface="Cambria Math" panose="02040503050406030204" pitchFamily="18" charset="0"/>
                            <a:ea typeface="Calibri" pitchFamily="34" charset="-122"/>
                            <a:cs typeface="Calibri" pitchFamily="34" charset="-120"/>
                          </a:rPr>
                          <m:t>𝑳</m:t>
                        </m:r>
                      </m:e>
                      <m:sub>
                        <m:r>
                          <a:rPr lang="en-US" sz="1150" b="1" i="1" dirty="0" smtClean="0">
                            <a:solidFill>
                              <a:srgbClr val="02C39A"/>
                            </a:solidFill>
                            <a:latin typeface="Cambria Math" panose="02040503050406030204" pitchFamily="18" charset="0"/>
                            <a:ea typeface="Calibri" pitchFamily="34" charset="-122"/>
                            <a:cs typeface="Calibri" pitchFamily="34" charset="-120"/>
                          </a:rPr>
                          <m:t>𝑪</m:t>
                        </m:r>
                      </m:sub>
                    </m:sSub>
                  </m:oMath>
                </a14:m>
                <a:endParaRPr lang="en-US" sz="1150" dirty="0"/>
              </a:p>
            </p:txBody>
          </p:sp>
        </mc:Choice>
        <mc:Fallback xmlns="">
          <p:sp>
            <p:nvSpPr>
              <p:cNvPr id="26" name="Text 24"/>
              <p:cNvSpPr>
                <a:spLocks noRot="1" noChangeAspect="1" noMove="1" noResize="1" noEditPoints="1" noAdjustHandles="1" noChangeArrowheads="1" noChangeShapeType="1" noTextEdit="1"/>
              </p:cNvSpPr>
              <p:nvPr/>
            </p:nvSpPr>
            <p:spPr>
              <a:xfrm>
                <a:off x="2377440" y="4059936"/>
                <a:ext cx="4114800" cy="292608"/>
              </a:xfrm>
              <a:prstGeom prst="rect">
                <a:avLst/>
              </a:prstGeom>
              <a:blipFill>
                <a:blip r:embed="rId7"/>
                <a:stretch>
                  <a:fillRect b="-12500"/>
                </a:stretch>
              </a:blipFill>
              <a:ln/>
            </p:spPr>
            <p:txBody>
              <a:bodyPr/>
              <a:lstStyle/>
              <a:p>
                <a:r>
                  <a:rPr lang="en-VN">
                    <a:noFill/>
                  </a:rPr>
                  <a:t> </a:t>
                </a:r>
              </a:p>
            </p:txBody>
          </p:sp>
        </mc:Fallback>
      </mc:AlternateContent>
      <p:sp>
        <p:nvSpPr>
          <p:cNvPr id="27" name="Text 25"/>
          <p:cNvSpPr/>
          <p:nvPr/>
        </p:nvSpPr>
        <p:spPr>
          <a:xfrm>
            <a:off x="228600" y="4681728"/>
            <a:ext cx="8686800" cy="274320"/>
          </a:xfrm>
          <a:prstGeom prst="rect">
            <a:avLst/>
          </a:prstGeom>
          <a:noFill/>
          <a:ln/>
        </p:spPr>
        <p:txBody>
          <a:bodyPr wrap="square" rtlCol="0" anchor="ctr"/>
          <a:lstStyle/>
          <a:p>
            <a:pPr marL="0" indent="0" algn="ctr">
              <a:buNone/>
            </a:pPr>
            <a:r>
              <a:rPr lang="en-US" sz="1150" i="1" dirty="0">
                <a:solidFill>
                  <a:srgbClr val="5A6A78"/>
                </a:solidFill>
                <a:latin typeface="Calibri" pitchFamily="34" charset="0"/>
                <a:ea typeface="Calibri" pitchFamily="34" charset="-122"/>
                <a:cs typeface="Calibri" pitchFamily="34" charset="-120"/>
              </a:rPr>
              <a:t>Điểm khác biệt: lấy mẫu HỌC ĐƯỢC vs. heuristic tĩnh (random, degree-based)</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GFlowNet: Subgraph Tốt Hơn → Được Chọn Nhiều Hơn</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15 / 29</a:t>
            </a:r>
            <a:endParaRPr lang="en-US" sz="1000" dirty="0"/>
          </a:p>
        </p:txBody>
      </p:sp>
      <p:sp>
        <p:nvSpPr>
          <p:cNvPr id="5" name="Shape 3"/>
          <p:cNvSpPr/>
          <p:nvPr/>
        </p:nvSpPr>
        <p:spPr>
          <a:xfrm>
            <a:off x="256032" y="886968"/>
            <a:ext cx="8631936" cy="566928"/>
          </a:xfrm>
          <a:prstGeom prst="rect">
            <a:avLst/>
          </a:prstGeom>
          <a:solidFill>
            <a:srgbClr val="EAF4FB"/>
          </a:solidFill>
          <a:ln w="19050">
            <a:solidFill>
              <a:srgbClr val="1C7293"/>
            </a:solidFill>
            <a:prstDash val="solid"/>
          </a:ln>
        </p:spPr>
        <p:txBody>
          <a:bodyPr/>
          <a:lstStyle/>
          <a:p>
            <a:endParaRPr lang="en-VN"/>
          </a:p>
        </p:txBody>
      </p:sp>
      <mc:AlternateContent xmlns:mc="http://schemas.openxmlformats.org/markup-compatibility/2006" xmlns:a14="http://schemas.microsoft.com/office/drawing/2010/main">
        <mc:Choice Requires="a14">
          <p:sp>
            <p:nvSpPr>
              <p:cNvPr id="6" name="Text 4"/>
              <p:cNvSpPr/>
              <p:nvPr/>
            </p:nvSpPr>
            <p:spPr>
              <a:xfrm>
                <a:off x="384048" y="886968"/>
                <a:ext cx="8412480" cy="566928"/>
              </a:xfrm>
              <a:prstGeom prst="rect">
                <a:avLst/>
              </a:prstGeom>
              <a:noFill/>
              <a:ln/>
            </p:spPr>
            <p:txBody>
              <a:bodyPr wrap="square" rtlCol="0" anchor="ctr"/>
              <a:lstStyle/>
              <a:p>
                <a:pPr algn="ctr"/>
                <a:r>
                  <a:rPr lang="en-US" sz="1350" dirty="0">
                    <a:solidFill>
                      <a:srgbClr val="1A2B3C"/>
                    </a:solidFill>
                    <a:latin typeface="Calibri" pitchFamily="34" charset="0"/>
                    <a:ea typeface="Calibri" pitchFamily="34" charset="-122"/>
                    <a:cs typeface="Calibri" pitchFamily="34" charset="-120"/>
                  </a:rPr>
                  <a:t>GFlowNet học phân </a:t>
                </a:r>
                <a:r>
                  <a:rPr lang="en-US" sz="1350">
                    <a:solidFill>
                      <a:srgbClr val="1A2B3C"/>
                    </a:solidFill>
                    <a:latin typeface="Calibri" pitchFamily="34" charset="0"/>
                    <a:ea typeface="Calibri" pitchFamily="34" charset="-122"/>
                    <a:cs typeface="Calibri" pitchFamily="34" charset="-120"/>
                  </a:rPr>
                  <a:t>phối:</a:t>
                </a:r>
                <a14:m>
                  <m:oMath xmlns:m="http://schemas.openxmlformats.org/officeDocument/2006/math">
                    <m:r>
                      <a:rPr lang="en-US" sz="1350" b="0" i="0" smtClean="0">
                        <a:solidFill>
                          <a:srgbClr val="1A2B3C"/>
                        </a:solidFill>
                        <a:latin typeface="Cambria Math" panose="02040503050406030204" pitchFamily="18" charset="0"/>
                        <a:ea typeface="Calibri" pitchFamily="34" charset="-122"/>
                        <a:cs typeface="Calibri" pitchFamily="34" charset="-120"/>
                      </a:rPr>
                      <m:t> </m:t>
                    </m:r>
                    <m:r>
                      <a:rPr lang="en-US" sz="1350" i="1" smtClean="0">
                        <a:solidFill>
                          <a:srgbClr val="1A2B3C"/>
                        </a:solidFill>
                        <a:latin typeface="Cambria Math" panose="02040503050406030204" pitchFamily="18" charset="0"/>
                        <a:ea typeface="Calibri" pitchFamily="34" charset="-122"/>
                        <a:cs typeface="Calibri" pitchFamily="34" charset="-120"/>
                      </a:rPr>
                      <m:t>𝑃</m:t>
                    </m:r>
                    <m:d>
                      <m:dPr>
                        <m:ctrlPr>
                          <a:rPr lang="en-US" sz="1350" i="1" smtClean="0">
                            <a:solidFill>
                              <a:srgbClr val="1A2B3C"/>
                            </a:solidFill>
                            <a:latin typeface="Cambria Math" panose="02040503050406030204" pitchFamily="18" charset="0"/>
                            <a:ea typeface="Calibri" pitchFamily="34" charset="-122"/>
                            <a:cs typeface="Calibri" pitchFamily="34" charset="-120"/>
                          </a:rPr>
                        </m:ctrlPr>
                      </m:dPr>
                      <m:e>
                        <m:sSub>
                          <m:sSubPr>
                            <m:ctrlPr>
                              <a:rPr lang="en-US" sz="1350" i="1" smtClean="0">
                                <a:solidFill>
                                  <a:srgbClr val="1A2B3C"/>
                                </a:solidFill>
                                <a:latin typeface="Cambria Math" panose="02040503050406030204" pitchFamily="18" charset="0"/>
                                <a:ea typeface="Calibri" pitchFamily="34" charset="-122"/>
                                <a:cs typeface="Calibri" pitchFamily="34" charset="-120"/>
                              </a:rPr>
                            </m:ctrlPr>
                          </m:sSubPr>
                          <m:e>
                            <m:r>
                              <a:rPr lang="en-US" sz="1350" i="1" smtClean="0">
                                <a:solidFill>
                                  <a:srgbClr val="1A2B3C"/>
                                </a:solidFill>
                                <a:latin typeface="Cambria Math" panose="02040503050406030204" pitchFamily="18" charset="0"/>
                                <a:ea typeface="Calibri" pitchFamily="34" charset="-122"/>
                                <a:cs typeface="Calibri" pitchFamily="34" charset="-120"/>
                              </a:rPr>
                              <m:t>𝐺</m:t>
                            </m:r>
                          </m:e>
                          <m:sub>
                            <m:r>
                              <a:rPr lang="en-US" sz="1350" i="1" smtClean="0">
                                <a:solidFill>
                                  <a:srgbClr val="1A2B3C"/>
                                </a:solidFill>
                                <a:latin typeface="Cambria Math" panose="02040503050406030204" pitchFamily="18" charset="0"/>
                                <a:ea typeface="Calibri" pitchFamily="34" charset="-122"/>
                                <a:cs typeface="Calibri" pitchFamily="34" charset="-120"/>
                              </a:rPr>
                              <m:t>𝑠</m:t>
                            </m:r>
                          </m:sub>
                        </m:sSub>
                      </m:e>
                    </m:d>
                    <m:r>
                      <a:rPr lang="en-US" sz="1350" i="1" smtClean="0">
                        <a:solidFill>
                          <a:srgbClr val="1A2B3C"/>
                        </a:solidFill>
                        <a:latin typeface="Cambria Math" panose="02040503050406030204" pitchFamily="18" charset="0"/>
                        <a:ea typeface="Calibri" pitchFamily="34" charset="-122"/>
                        <a:cs typeface="Calibri" pitchFamily="34" charset="-120"/>
                      </a:rPr>
                      <m:t>∝</m:t>
                    </m:r>
                    <m:r>
                      <a:rPr lang="en-US" sz="1350" i="1" smtClean="0">
                        <a:solidFill>
                          <a:srgbClr val="1A2B3C"/>
                        </a:solidFill>
                        <a:latin typeface="Cambria Math" panose="02040503050406030204" pitchFamily="18" charset="0"/>
                        <a:ea typeface="Calibri" pitchFamily="34" charset="-122"/>
                        <a:cs typeface="Calibri" pitchFamily="34" charset="-120"/>
                      </a:rPr>
                      <m:t>𝑅</m:t>
                    </m:r>
                    <m:d>
                      <m:dPr>
                        <m:ctrlPr>
                          <a:rPr lang="en-US" sz="1350" i="1" smtClean="0">
                            <a:solidFill>
                              <a:srgbClr val="1A2B3C"/>
                            </a:solidFill>
                            <a:latin typeface="Cambria Math" panose="02040503050406030204" pitchFamily="18" charset="0"/>
                            <a:ea typeface="Calibri" pitchFamily="34" charset="-122"/>
                            <a:cs typeface="Calibri" pitchFamily="34" charset="-120"/>
                          </a:rPr>
                        </m:ctrlPr>
                      </m:dPr>
                      <m:e>
                        <m:sSub>
                          <m:sSubPr>
                            <m:ctrlPr>
                              <a:rPr lang="en-US" sz="1350" i="1" smtClean="0">
                                <a:solidFill>
                                  <a:srgbClr val="1A2B3C"/>
                                </a:solidFill>
                                <a:latin typeface="Cambria Math" panose="02040503050406030204" pitchFamily="18" charset="0"/>
                                <a:ea typeface="Calibri" pitchFamily="34" charset="-122"/>
                                <a:cs typeface="Calibri" pitchFamily="34" charset="-120"/>
                              </a:rPr>
                            </m:ctrlPr>
                          </m:sSubPr>
                          <m:e>
                            <m:r>
                              <a:rPr lang="en-US" sz="1350" i="1" smtClean="0">
                                <a:solidFill>
                                  <a:srgbClr val="1A2B3C"/>
                                </a:solidFill>
                                <a:latin typeface="Cambria Math" panose="02040503050406030204" pitchFamily="18" charset="0"/>
                                <a:ea typeface="Calibri" pitchFamily="34" charset="-122"/>
                                <a:cs typeface="Calibri" pitchFamily="34" charset="-120"/>
                              </a:rPr>
                              <m:t>𝐺</m:t>
                            </m:r>
                          </m:e>
                          <m:sub>
                            <m:r>
                              <a:rPr lang="en-US" sz="1350" i="1" smtClean="0">
                                <a:solidFill>
                                  <a:srgbClr val="1A2B3C"/>
                                </a:solidFill>
                                <a:latin typeface="Cambria Math" panose="02040503050406030204" pitchFamily="18" charset="0"/>
                                <a:ea typeface="Calibri" pitchFamily="34" charset="-122"/>
                                <a:cs typeface="Calibri" pitchFamily="34" charset="-120"/>
                              </a:rPr>
                              <m:t>𝑠</m:t>
                            </m:r>
                          </m:sub>
                        </m:sSub>
                      </m:e>
                    </m:d>
                  </m:oMath>
                </a14:m>
                <a:r>
                  <a:rPr lang="en-US" sz="1350">
                    <a:solidFill>
                      <a:srgbClr val="1A2B3C"/>
                    </a:solidFill>
                    <a:latin typeface="Calibri" pitchFamily="34" charset="0"/>
                    <a:ea typeface="Calibri" pitchFamily="34" charset="-122"/>
                    <a:cs typeface="Calibri" pitchFamily="34" charset="-120"/>
                  </a:rPr>
                  <a:t>—  </a:t>
                </a:r>
                <a:r>
                  <a:rPr lang="en-US" sz="1350" dirty="0">
                    <a:solidFill>
                      <a:srgbClr val="1A2B3C"/>
                    </a:solidFill>
                    <a:latin typeface="Calibri" pitchFamily="34" charset="0"/>
                    <a:ea typeface="Calibri" pitchFamily="34" charset="-122"/>
                    <a:cs typeface="Calibri" pitchFamily="34" charset="-120"/>
                  </a:rPr>
                  <a:t>xác suất lấy mẫu subgraph tỷ lệ với chất lượng, không chỉ tìm max.</a:t>
                </a:r>
                <a:endParaRPr lang="en-US" sz="1350" dirty="0"/>
              </a:p>
            </p:txBody>
          </p:sp>
        </mc:Choice>
        <mc:Fallback xmlns="">
          <p:sp>
            <p:nvSpPr>
              <p:cNvPr id="6" name="Text 4"/>
              <p:cNvSpPr>
                <a:spLocks noRot="1" noChangeAspect="1" noMove="1" noResize="1" noEditPoints="1" noAdjustHandles="1" noChangeArrowheads="1" noChangeShapeType="1" noTextEdit="1"/>
              </p:cNvSpPr>
              <p:nvPr/>
            </p:nvSpPr>
            <p:spPr>
              <a:xfrm>
                <a:off x="384048" y="886968"/>
                <a:ext cx="8412480" cy="566928"/>
              </a:xfrm>
              <a:prstGeom prst="rect">
                <a:avLst/>
              </a:prstGeom>
              <a:blipFill>
                <a:blip r:embed="rId3"/>
                <a:stretch>
                  <a:fillRect/>
                </a:stretch>
              </a:blipFill>
              <a:ln/>
            </p:spPr>
            <p:txBody>
              <a:bodyPr/>
              <a:lstStyle/>
              <a:p>
                <a:r>
                  <a:rPr lang="en-VN">
                    <a:noFill/>
                  </a:rPr>
                  <a:t> </a:t>
                </a:r>
              </a:p>
            </p:txBody>
          </p:sp>
        </mc:Fallback>
      </mc:AlternateContent>
      <p:sp>
        <p:nvSpPr>
          <p:cNvPr id="7" name="Text 5"/>
          <p:cNvSpPr/>
          <p:nvPr/>
        </p:nvSpPr>
        <p:spPr>
          <a:xfrm>
            <a:off x="256032" y="1527048"/>
            <a:ext cx="8631936" cy="237744"/>
          </a:xfrm>
          <a:prstGeom prst="rect">
            <a:avLst/>
          </a:prstGeom>
          <a:noFill/>
          <a:ln/>
        </p:spPr>
        <p:txBody>
          <a:bodyPr wrap="square" rtlCol="0" anchor="ctr"/>
          <a:lstStyle/>
          <a:p>
            <a:pPr marL="0" indent="0" algn="ctr">
              <a:buNone/>
            </a:pPr>
            <a:r>
              <a:rPr lang="en-US" sz="1200" b="1" i="1" dirty="0">
                <a:solidFill>
                  <a:srgbClr val="5A6A78"/>
                </a:solidFill>
                <a:latin typeface="Calibri" pitchFamily="34" charset="0"/>
                <a:ea typeface="Calibri" pitchFamily="34" charset="-122"/>
                <a:cs typeface="Calibri" pitchFamily="34" charset="-120"/>
              </a:rPr>
              <a:t>Ví dụ: 3 subgraph khả thi — chất lượng: SG1=0,8  /  SG2=0,6  /  SG3=0,1</a:t>
            </a:r>
            <a:endParaRPr lang="en-US" sz="1200" dirty="0"/>
          </a:p>
        </p:txBody>
      </p:sp>
      <p:sp>
        <p:nvSpPr>
          <p:cNvPr id="8" name="Shape 6"/>
          <p:cNvSpPr/>
          <p:nvPr/>
        </p:nvSpPr>
        <p:spPr>
          <a:xfrm>
            <a:off x="256032" y="1828800"/>
            <a:ext cx="4160520" cy="384048"/>
          </a:xfrm>
          <a:prstGeom prst="rect">
            <a:avLst/>
          </a:prstGeom>
          <a:solidFill>
            <a:srgbClr val="9B2226"/>
          </a:solidFill>
          <a:ln w="12700">
            <a:solidFill>
              <a:srgbClr val="9B2226"/>
            </a:solidFill>
            <a:prstDash val="solid"/>
          </a:ln>
        </p:spPr>
        <p:txBody>
          <a:bodyPr/>
          <a:lstStyle/>
          <a:p>
            <a:endParaRPr lang="en-VN"/>
          </a:p>
        </p:txBody>
      </p:sp>
      <p:sp>
        <p:nvSpPr>
          <p:cNvPr id="9" name="Text 7"/>
          <p:cNvSpPr/>
          <p:nvPr/>
        </p:nvSpPr>
        <p:spPr>
          <a:xfrm>
            <a:off x="256032" y="1828800"/>
            <a:ext cx="416052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Cách Cũ: Chỉ Học 1 Cách Lấy Mẫu Duy Nhất</a:t>
            </a:r>
            <a:endParaRPr lang="en-US" sz="1300" dirty="0"/>
          </a:p>
        </p:txBody>
      </p:sp>
      <p:sp>
        <p:nvSpPr>
          <p:cNvPr id="10" name="Shape 8"/>
          <p:cNvSpPr/>
          <p:nvPr/>
        </p:nvSpPr>
        <p:spPr>
          <a:xfrm>
            <a:off x="4663440" y="1828800"/>
            <a:ext cx="3977640" cy="384048"/>
          </a:xfrm>
          <a:prstGeom prst="rect">
            <a:avLst/>
          </a:prstGeom>
          <a:solidFill>
            <a:srgbClr val="1C7293"/>
          </a:solidFill>
          <a:ln w="12700">
            <a:solidFill>
              <a:srgbClr val="1C7293"/>
            </a:solidFill>
            <a:prstDash val="solid"/>
          </a:ln>
        </p:spPr>
        <p:txBody>
          <a:bodyPr/>
          <a:lstStyle/>
          <a:p>
            <a:endParaRPr lang="en-VN"/>
          </a:p>
        </p:txBody>
      </p:sp>
      <p:sp>
        <p:nvSpPr>
          <p:cNvPr id="11" name="Text 9"/>
          <p:cNvSpPr/>
          <p:nvPr/>
        </p:nvSpPr>
        <p:spPr>
          <a:xfrm>
            <a:off x="4663440" y="1828800"/>
            <a:ext cx="397764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GFlowNet ✓: Học Nhiều Cách Lấy Mẫu Khác Nhau</a:t>
            </a:r>
            <a:endParaRPr lang="en-US" sz="1300" dirty="0"/>
          </a:p>
        </p:txBody>
      </p:sp>
      <p:sp>
        <p:nvSpPr>
          <p:cNvPr id="12" name="Shape 10"/>
          <p:cNvSpPr/>
          <p:nvPr/>
        </p:nvSpPr>
        <p:spPr>
          <a:xfrm>
            <a:off x="256032" y="2212848"/>
            <a:ext cx="4160520" cy="2221545"/>
          </a:xfrm>
          <a:prstGeom prst="rect">
            <a:avLst/>
          </a:prstGeom>
          <a:solidFill>
            <a:srgbClr val="FFF0F0"/>
          </a:solidFill>
          <a:ln w="19050">
            <a:solidFill>
              <a:srgbClr val="9B2226"/>
            </a:solidFill>
            <a:prstDash val="solid"/>
          </a:ln>
        </p:spPr>
        <p:txBody>
          <a:bodyPr/>
          <a:lstStyle/>
          <a:p>
            <a:endParaRPr lang="en-VN"/>
          </a:p>
        </p:txBody>
      </p:sp>
      <p:sp>
        <p:nvSpPr>
          <p:cNvPr id="13" name="Shape 11"/>
          <p:cNvSpPr/>
          <p:nvPr/>
        </p:nvSpPr>
        <p:spPr>
          <a:xfrm>
            <a:off x="4663440" y="2212848"/>
            <a:ext cx="3977640" cy="2221545"/>
          </a:xfrm>
          <a:prstGeom prst="rect">
            <a:avLst/>
          </a:prstGeom>
          <a:solidFill>
            <a:srgbClr val="E8F8F2"/>
          </a:solidFill>
          <a:ln w="19050">
            <a:solidFill>
              <a:srgbClr val="1C7293"/>
            </a:solidFill>
            <a:prstDash val="solid"/>
          </a:ln>
        </p:spPr>
        <p:txBody>
          <a:bodyPr/>
          <a:lstStyle/>
          <a:p>
            <a:endParaRPr lang="en-VN"/>
          </a:p>
        </p:txBody>
      </p:sp>
      <p:sp>
        <p:nvSpPr>
          <p:cNvPr id="14" name="Shape 12"/>
          <p:cNvSpPr/>
          <p:nvPr/>
        </p:nvSpPr>
        <p:spPr>
          <a:xfrm>
            <a:off x="4334256" y="2816352"/>
            <a:ext cx="475488" cy="402336"/>
          </a:xfrm>
          <a:prstGeom prst="rect">
            <a:avLst/>
          </a:prstGeom>
          <a:solidFill>
            <a:srgbClr val="FFFFFF"/>
          </a:solidFill>
          <a:ln w="19050">
            <a:solidFill>
              <a:srgbClr val="065A82"/>
            </a:solidFill>
            <a:prstDash val="solid"/>
          </a:ln>
        </p:spPr>
        <p:txBody>
          <a:bodyPr/>
          <a:lstStyle/>
          <a:p>
            <a:endParaRPr lang="en-VN"/>
          </a:p>
        </p:txBody>
      </p:sp>
      <p:sp>
        <p:nvSpPr>
          <p:cNvPr id="15" name="Text 13"/>
          <p:cNvSpPr/>
          <p:nvPr/>
        </p:nvSpPr>
        <p:spPr>
          <a:xfrm>
            <a:off x="4334256" y="2816352"/>
            <a:ext cx="475488" cy="402336"/>
          </a:xfrm>
          <a:prstGeom prst="rect">
            <a:avLst/>
          </a:prstGeom>
          <a:noFill/>
          <a:ln/>
        </p:spPr>
        <p:txBody>
          <a:bodyPr wrap="square" rtlCol="0" anchor="ctr"/>
          <a:lstStyle/>
          <a:p>
            <a:pPr marL="0" indent="0" algn="ctr">
              <a:buNone/>
            </a:pPr>
            <a:r>
              <a:rPr lang="en-US" sz="1400" b="1" dirty="0">
                <a:solidFill>
                  <a:srgbClr val="065A82"/>
                </a:solidFill>
                <a:latin typeface="Calibri" pitchFamily="34" charset="0"/>
                <a:ea typeface="Calibri" pitchFamily="34" charset="-122"/>
                <a:cs typeface="Calibri" pitchFamily="34" charset="-120"/>
              </a:rPr>
              <a:t>VS</a:t>
            </a:r>
            <a:endParaRPr lang="en-US" sz="1400" dirty="0"/>
          </a:p>
        </p:txBody>
      </p:sp>
      <p:sp>
        <p:nvSpPr>
          <p:cNvPr id="16" name="Shape 14"/>
          <p:cNvSpPr/>
          <p:nvPr/>
        </p:nvSpPr>
        <p:spPr>
          <a:xfrm>
            <a:off x="411480" y="2368599"/>
            <a:ext cx="932688" cy="1417320"/>
          </a:xfrm>
          <a:prstGeom prst="rect">
            <a:avLst/>
          </a:prstGeom>
          <a:solidFill>
            <a:srgbClr val="9B2226"/>
          </a:solidFill>
          <a:ln w="12700">
            <a:solidFill>
              <a:srgbClr val="9B2226"/>
            </a:solidFill>
            <a:prstDash val="solid"/>
          </a:ln>
        </p:spPr>
        <p:txBody>
          <a:bodyPr/>
          <a:lstStyle/>
          <a:p>
            <a:endParaRPr lang="en-VN"/>
          </a:p>
        </p:txBody>
      </p:sp>
      <p:sp>
        <p:nvSpPr>
          <p:cNvPr id="17" name="Text 15"/>
          <p:cNvSpPr/>
          <p:nvPr/>
        </p:nvSpPr>
        <p:spPr>
          <a:xfrm>
            <a:off x="411480" y="2423463"/>
            <a:ext cx="932688" cy="23774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100%</a:t>
            </a:r>
            <a:endParaRPr lang="en-US" sz="1300" dirty="0"/>
          </a:p>
        </p:txBody>
      </p:sp>
      <p:sp>
        <p:nvSpPr>
          <p:cNvPr id="18" name="Text 16"/>
          <p:cNvSpPr/>
          <p:nvPr/>
        </p:nvSpPr>
        <p:spPr>
          <a:xfrm>
            <a:off x="411480" y="3840783"/>
            <a:ext cx="932688" cy="201168"/>
          </a:xfrm>
          <a:prstGeom prst="rect">
            <a:avLst/>
          </a:prstGeom>
          <a:noFill/>
          <a:ln/>
        </p:spPr>
        <p:txBody>
          <a:bodyPr wrap="square" rtlCol="0" anchor="ctr"/>
          <a:lstStyle/>
          <a:p>
            <a:pPr marL="0" indent="0" algn="ctr">
              <a:buNone/>
            </a:pPr>
            <a:r>
              <a:rPr lang="en-US" sz="1100" dirty="0">
                <a:solidFill>
                  <a:srgbClr val="5A6A78"/>
                </a:solidFill>
                <a:latin typeface="Calibri" pitchFamily="34" charset="0"/>
                <a:ea typeface="Calibri" pitchFamily="34" charset="-122"/>
                <a:cs typeface="Calibri" pitchFamily="34" charset="-120"/>
              </a:rPr>
              <a:t>SG1</a:t>
            </a:r>
            <a:endParaRPr lang="en-US" sz="1100" dirty="0"/>
          </a:p>
        </p:txBody>
      </p:sp>
      <p:sp>
        <p:nvSpPr>
          <p:cNvPr id="19" name="Shape 17"/>
          <p:cNvSpPr/>
          <p:nvPr/>
        </p:nvSpPr>
        <p:spPr>
          <a:xfrm>
            <a:off x="1673352" y="3749343"/>
            <a:ext cx="932688" cy="36576"/>
          </a:xfrm>
          <a:prstGeom prst="rect">
            <a:avLst/>
          </a:prstGeom>
          <a:solidFill>
            <a:srgbClr val="DDDDDD"/>
          </a:solidFill>
          <a:ln w="12700">
            <a:solidFill>
              <a:srgbClr val="DDDDDD"/>
            </a:solidFill>
            <a:prstDash val="solid"/>
          </a:ln>
        </p:spPr>
        <p:txBody>
          <a:bodyPr/>
          <a:lstStyle/>
          <a:p>
            <a:endParaRPr lang="en-VN"/>
          </a:p>
        </p:txBody>
      </p:sp>
      <p:sp>
        <p:nvSpPr>
          <p:cNvPr id="20" name="Text 18"/>
          <p:cNvSpPr/>
          <p:nvPr/>
        </p:nvSpPr>
        <p:spPr>
          <a:xfrm>
            <a:off x="1673352" y="3493311"/>
            <a:ext cx="932688" cy="237744"/>
          </a:xfrm>
          <a:prstGeom prst="rect">
            <a:avLst/>
          </a:prstGeom>
          <a:noFill/>
          <a:ln/>
        </p:spPr>
        <p:txBody>
          <a:bodyPr wrap="square" rtlCol="0" anchor="ctr"/>
          <a:lstStyle/>
          <a:p>
            <a:pPr marL="0" indent="0" algn="ctr">
              <a:buNone/>
            </a:pPr>
            <a:r>
              <a:rPr lang="en-US" sz="1300" b="1" dirty="0">
                <a:solidFill>
                  <a:srgbClr val="5A6A78"/>
                </a:solidFill>
                <a:latin typeface="Calibri" pitchFamily="34" charset="0"/>
                <a:ea typeface="Calibri" pitchFamily="34" charset="-122"/>
                <a:cs typeface="Calibri" pitchFamily="34" charset="-120"/>
              </a:rPr>
              <a:t>0%</a:t>
            </a:r>
            <a:endParaRPr lang="en-US" sz="1300" dirty="0"/>
          </a:p>
        </p:txBody>
      </p:sp>
      <p:sp>
        <p:nvSpPr>
          <p:cNvPr id="21" name="Text 19"/>
          <p:cNvSpPr/>
          <p:nvPr/>
        </p:nvSpPr>
        <p:spPr>
          <a:xfrm>
            <a:off x="1673352" y="3840783"/>
            <a:ext cx="932688" cy="201168"/>
          </a:xfrm>
          <a:prstGeom prst="rect">
            <a:avLst/>
          </a:prstGeom>
          <a:noFill/>
          <a:ln/>
        </p:spPr>
        <p:txBody>
          <a:bodyPr wrap="square" rtlCol="0" anchor="ctr"/>
          <a:lstStyle/>
          <a:p>
            <a:pPr marL="0" indent="0" algn="ctr">
              <a:buNone/>
            </a:pPr>
            <a:r>
              <a:rPr lang="en-US" sz="1100" dirty="0">
                <a:solidFill>
                  <a:srgbClr val="5A6A78"/>
                </a:solidFill>
                <a:latin typeface="Calibri" pitchFamily="34" charset="0"/>
                <a:ea typeface="Calibri" pitchFamily="34" charset="-122"/>
                <a:cs typeface="Calibri" pitchFamily="34" charset="-120"/>
              </a:rPr>
              <a:t>SG2</a:t>
            </a:r>
            <a:endParaRPr lang="en-US" sz="1100" dirty="0"/>
          </a:p>
        </p:txBody>
      </p:sp>
      <p:sp>
        <p:nvSpPr>
          <p:cNvPr id="22" name="Shape 20"/>
          <p:cNvSpPr/>
          <p:nvPr/>
        </p:nvSpPr>
        <p:spPr>
          <a:xfrm>
            <a:off x="2935224" y="3749343"/>
            <a:ext cx="932688" cy="36576"/>
          </a:xfrm>
          <a:prstGeom prst="rect">
            <a:avLst/>
          </a:prstGeom>
          <a:solidFill>
            <a:srgbClr val="DDDDDD"/>
          </a:solidFill>
          <a:ln w="12700">
            <a:solidFill>
              <a:srgbClr val="DDDDDD"/>
            </a:solidFill>
            <a:prstDash val="solid"/>
          </a:ln>
        </p:spPr>
        <p:txBody>
          <a:bodyPr/>
          <a:lstStyle/>
          <a:p>
            <a:endParaRPr lang="en-VN"/>
          </a:p>
        </p:txBody>
      </p:sp>
      <p:sp>
        <p:nvSpPr>
          <p:cNvPr id="23" name="Text 21"/>
          <p:cNvSpPr/>
          <p:nvPr/>
        </p:nvSpPr>
        <p:spPr>
          <a:xfrm>
            <a:off x="2935224" y="3493311"/>
            <a:ext cx="932688" cy="237744"/>
          </a:xfrm>
          <a:prstGeom prst="rect">
            <a:avLst/>
          </a:prstGeom>
          <a:noFill/>
          <a:ln/>
        </p:spPr>
        <p:txBody>
          <a:bodyPr wrap="square" rtlCol="0" anchor="ctr"/>
          <a:lstStyle/>
          <a:p>
            <a:pPr marL="0" indent="0" algn="ctr">
              <a:buNone/>
            </a:pPr>
            <a:r>
              <a:rPr lang="en-US" sz="1300" b="1" dirty="0">
                <a:solidFill>
                  <a:srgbClr val="5A6A78"/>
                </a:solidFill>
                <a:latin typeface="Calibri" pitchFamily="34" charset="0"/>
                <a:ea typeface="Calibri" pitchFamily="34" charset="-122"/>
                <a:cs typeface="Calibri" pitchFamily="34" charset="-120"/>
              </a:rPr>
              <a:t>0%</a:t>
            </a:r>
            <a:endParaRPr lang="en-US" sz="1300" dirty="0"/>
          </a:p>
        </p:txBody>
      </p:sp>
      <p:sp>
        <p:nvSpPr>
          <p:cNvPr id="24" name="Text 22"/>
          <p:cNvSpPr/>
          <p:nvPr/>
        </p:nvSpPr>
        <p:spPr>
          <a:xfrm>
            <a:off x="2935224" y="3840783"/>
            <a:ext cx="932688" cy="201168"/>
          </a:xfrm>
          <a:prstGeom prst="rect">
            <a:avLst/>
          </a:prstGeom>
          <a:noFill/>
          <a:ln/>
        </p:spPr>
        <p:txBody>
          <a:bodyPr wrap="square" rtlCol="0" anchor="ctr"/>
          <a:lstStyle/>
          <a:p>
            <a:pPr marL="0" indent="0" algn="ctr">
              <a:buNone/>
            </a:pPr>
            <a:r>
              <a:rPr lang="en-US" sz="1100" dirty="0">
                <a:solidFill>
                  <a:srgbClr val="5A6A78"/>
                </a:solidFill>
                <a:latin typeface="Calibri" pitchFamily="34" charset="0"/>
                <a:ea typeface="Calibri" pitchFamily="34" charset="-122"/>
                <a:cs typeface="Calibri" pitchFamily="34" charset="-120"/>
              </a:rPr>
              <a:t>SG3</a:t>
            </a:r>
            <a:endParaRPr lang="en-US" sz="1100" dirty="0"/>
          </a:p>
        </p:txBody>
      </p:sp>
      <p:sp>
        <p:nvSpPr>
          <p:cNvPr id="25" name="Text 23"/>
          <p:cNvSpPr/>
          <p:nvPr/>
        </p:nvSpPr>
        <p:spPr>
          <a:xfrm>
            <a:off x="292608" y="4141785"/>
            <a:ext cx="4069080" cy="292608"/>
          </a:xfrm>
          <a:prstGeom prst="rect">
            <a:avLst/>
          </a:prstGeom>
          <a:noFill/>
          <a:ln/>
        </p:spPr>
        <p:txBody>
          <a:bodyPr wrap="square" rtlCol="0" anchor="ctr"/>
          <a:lstStyle/>
          <a:p>
            <a:pPr marL="0" indent="0" algn="ctr">
              <a:buNone/>
            </a:pPr>
            <a:r>
              <a:rPr lang="en-US" sz="1100" i="1" dirty="0">
                <a:solidFill>
                  <a:srgbClr val="9B2226"/>
                </a:solidFill>
                <a:latin typeface="Calibri" pitchFamily="34" charset="0"/>
                <a:ea typeface="Calibri" pitchFamily="34" charset="-122"/>
                <a:cs typeface="Calibri" pitchFamily="34" charset="-120"/>
              </a:rPr>
              <a:t>Chỉ học 1 cách — bỏ lỡ SG2, SG3 dù cũng tốt</a:t>
            </a:r>
            <a:endParaRPr lang="en-US" sz="1100" dirty="0"/>
          </a:p>
        </p:txBody>
      </p:sp>
      <p:sp>
        <p:nvSpPr>
          <p:cNvPr id="26" name="Shape 24"/>
          <p:cNvSpPr/>
          <p:nvPr/>
        </p:nvSpPr>
        <p:spPr>
          <a:xfrm>
            <a:off x="4932962" y="3027244"/>
            <a:ext cx="932688" cy="751180"/>
          </a:xfrm>
          <a:prstGeom prst="rect">
            <a:avLst/>
          </a:prstGeom>
          <a:solidFill>
            <a:srgbClr val="065A82"/>
          </a:solidFill>
          <a:ln w="12700">
            <a:solidFill>
              <a:srgbClr val="065A82"/>
            </a:solidFill>
            <a:prstDash val="solid"/>
          </a:ln>
        </p:spPr>
        <p:txBody>
          <a:bodyPr/>
          <a:lstStyle/>
          <a:p>
            <a:endParaRPr lang="en-VN"/>
          </a:p>
        </p:txBody>
      </p:sp>
      <p:sp>
        <p:nvSpPr>
          <p:cNvPr id="27" name="Text 25"/>
          <p:cNvSpPr/>
          <p:nvPr/>
        </p:nvSpPr>
        <p:spPr>
          <a:xfrm>
            <a:off x="4828032" y="3082108"/>
            <a:ext cx="932688" cy="23774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53%</a:t>
            </a:r>
            <a:endParaRPr lang="en-US" sz="1300" dirty="0"/>
          </a:p>
        </p:txBody>
      </p:sp>
      <p:sp>
        <p:nvSpPr>
          <p:cNvPr id="28" name="Text 26"/>
          <p:cNvSpPr/>
          <p:nvPr/>
        </p:nvSpPr>
        <p:spPr>
          <a:xfrm>
            <a:off x="4932962" y="3833288"/>
            <a:ext cx="932688" cy="201168"/>
          </a:xfrm>
          <a:prstGeom prst="rect">
            <a:avLst/>
          </a:prstGeom>
          <a:noFill/>
          <a:ln/>
        </p:spPr>
        <p:txBody>
          <a:bodyPr wrap="square" rtlCol="0" anchor="ctr"/>
          <a:lstStyle/>
          <a:p>
            <a:pPr marL="0" indent="0" algn="ctr">
              <a:buNone/>
            </a:pPr>
            <a:r>
              <a:rPr lang="en-US" sz="1100" dirty="0">
                <a:solidFill>
                  <a:srgbClr val="5A6A78"/>
                </a:solidFill>
                <a:latin typeface="Calibri" pitchFamily="34" charset="0"/>
                <a:ea typeface="Calibri" pitchFamily="34" charset="-122"/>
                <a:cs typeface="Calibri" pitchFamily="34" charset="-120"/>
              </a:rPr>
              <a:t>SG1</a:t>
            </a:r>
            <a:endParaRPr lang="en-US" sz="1100" dirty="0"/>
          </a:p>
        </p:txBody>
      </p:sp>
      <p:sp>
        <p:nvSpPr>
          <p:cNvPr id="29" name="Shape 27"/>
          <p:cNvSpPr/>
          <p:nvPr/>
        </p:nvSpPr>
        <p:spPr>
          <a:xfrm>
            <a:off x="6149114" y="3211496"/>
            <a:ext cx="932688" cy="566928"/>
          </a:xfrm>
          <a:prstGeom prst="rect">
            <a:avLst/>
          </a:prstGeom>
          <a:solidFill>
            <a:srgbClr val="1C7293"/>
          </a:solidFill>
          <a:ln w="12700">
            <a:solidFill>
              <a:srgbClr val="1C7293"/>
            </a:solidFill>
            <a:prstDash val="solid"/>
          </a:ln>
        </p:spPr>
        <p:txBody>
          <a:bodyPr/>
          <a:lstStyle/>
          <a:p>
            <a:endParaRPr lang="en-VN"/>
          </a:p>
        </p:txBody>
      </p:sp>
      <p:sp>
        <p:nvSpPr>
          <p:cNvPr id="30" name="Text 28"/>
          <p:cNvSpPr/>
          <p:nvPr/>
        </p:nvSpPr>
        <p:spPr>
          <a:xfrm>
            <a:off x="6149114" y="3266360"/>
            <a:ext cx="932688" cy="23774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40%</a:t>
            </a:r>
            <a:endParaRPr lang="en-US" sz="1300" dirty="0"/>
          </a:p>
        </p:txBody>
      </p:sp>
      <p:sp>
        <p:nvSpPr>
          <p:cNvPr id="31" name="Text 29"/>
          <p:cNvSpPr/>
          <p:nvPr/>
        </p:nvSpPr>
        <p:spPr>
          <a:xfrm>
            <a:off x="6149114" y="3833288"/>
            <a:ext cx="932688" cy="201168"/>
          </a:xfrm>
          <a:prstGeom prst="rect">
            <a:avLst/>
          </a:prstGeom>
          <a:noFill/>
          <a:ln/>
        </p:spPr>
        <p:txBody>
          <a:bodyPr wrap="square" rtlCol="0" anchor="ctr"/>
          <a:lstStyle/>
          <a:p>
            <a:pPr marL="0" indent="0" algn="ctr">
              <a:buNone/>
            </a:pPr>
            <a:r>
              <a:rPr lang="en-US" sz="1100" dirty="0">
                <a:solidFill>
                  <a:srgbClr val="5A6A78"/>
                </a:solidFill>
                <a:latin typeface="Calibri" pitchFamily="34" charset="0"/>
                <a:ea typeface="Calibri" pitchFamily="34" charset="-122"/>
                <a:cs typeface="Calibri" pitchFamily="34" charset="-120"/>
              </a:rPr>
              <a:t>SG2</a:t>
            </a:r>
            <a:endParaRPr lang="en-US" sz="1100" dirty="0"/>
          </a:p>
        </p:txBody>
      </p:sp>
      <p:sp>
        <p:nvSpPr>
          <p:cNvPr id="32" name="Shape 30"/>
          <p:cNvSpPr/>
          <p:nvPr/>
        </p:nvSpPr>
        <p:spPr>
          <a:xfrm>
            <a:off x="7365266" y="3679212"/>
            <a:ext cx="932688" cy="99212"/>
          </a:xfrm>
          <a:prstGeom prst="rect">
            <a:avLst/>
          </a:prstGeom>
          <a:solidFill>
            <a:srgbClr val="7EB5C5"/>
          </a:solidFill>
          <a:ln w="12700">
            <a:solidFill>
              <a:srgbClr val="7EB5C5"/>
            </a:solidFill>
            <a:prstDash val="solid"/>
          </a:ln>
        </p:spPr>
        <p:txBody>
          <a:bodyPr/>
          <a:lstStyle/>
          <a:p>
            <a:endParaRPr lang="en-VN"/>
          </a:p>
        </p:txBody>
      </p:sp>
      <p:sp>
        <p:nvSpPr>
          <p:cNvPr id="33" name="Text 31"/>
          <p:cNvSpPr/>
          <p:nvPr/>
        </p:nvSpPr>
        <p:spPr>
          <a:xfrm>
            <a:off x="7365266" y="3423180"/>
            <a:ext cx="932688" cy="237744"/>
          </a:xfrm>
          <a:prstGeom prst="rect">
            <a:avLst/>
          </a:prstGeom>
          <a:noFill/>
          <a:ln/>
        </p:spPr>
        <p:txBody>
          <a:bodyPr wrap="square" rtlCol="0" anchor="ctr"/>
          <a:lstStyle/>
          <a:p>
            <a:pPr marL="0" indent="0" algn="ctr">
              <a:buNone/>
            </a:pPr>
            <a:r>
              <a:rPr lang="en-US" sz="1300" b="1" dirty="0">
                <a:solidFill>
                  <a:srgbClr val="065A82"/>
                </a:solidFill>
                <a:latin typeface="Calibri" pitchFamily="34" charset="0"/>
                <a:ea typeface="Calibri" pitchFamily="34" charset="-122"/>
                <a:cs typeface="Calibri" pitchFamily="34" charset="-120"/>
              </a:rPr>
              <a:t>7%</a:t>
            </a:r>
            <a:endParaRPr lang="en-US" sz="1300" dirty="0"/>
          </a:p>
        </p:txBody>
      </p:sp>
      <p:sp>
        <p:nvSpPr>
          <p:cNvPr id="34" name="Text 32"/>
          <p:cNvSpPr/>
          <p:nvPr/>
        </p:nvSpPr>
        <p:spPr>
          <a:xfrm>
            <a:off x="7365266" y="3833288"/>
            <a:ext cx="932688" cy="201168"/>
          </a:xfrm>
          <a:prstGeom prst="rect">
            <a:avLst/>
          </a:prstGeom>
          <a:noFill/>
          <a:ln/>
        </p:spPr>
        <p:txBody>
          <a:bodyPr wrap="square" rtlCol="0" anchor="ctr"/>
          <a:lstStyle/>
          <a:p>
            <a:pPr marL="0" indent="0" algn="ctr">
              <a:buNone/>
            </a:pPr>
            <a:r>
              <a:rPr lang="en-US" sz="1100" dirty="0">
                <a:solidFill>
                  <a:srgbClr val="5A6A78"/>
                </a:solidFill>
                <a:latin typeface="Calibri" pitchFamily="34" charset="0"/>
                <a:ea typeface="Calibri" pitchFamily="34" charset="-122"/>
                <a:cs typeface="Calibri" pitchFamily="34" charset="-120"/>
              </a:rPr>
              <a:t>SG3</a:t>
            </a:r>
            <a:endParaRPr lang="en-US" sz="1100" dirty="0"/>
          </a:p>
        </p:txBody>
      </p:sp>
      <mc:AlternateContent xmlns:mc="http://schemas.openxmlformats.org/markup-compatibility/2006" xmlns:a14="http://schemas.microsoft.com/office/drawing/2010/main">
        <mc:Choice Requires="a14">
          <p:sp>
            <p:nvSpPr>
              <p:cNvPr id="35" name="Text 33"/>
              <p:cNvSpPr/>
              <p:nvPr/>
            </p:nvSpPr>
            <p:spPr>
              <a:xfrm>
                <a:off x="4709160" y="4089320"/>
                <a:ext cx="3886200" cy="292608"/>
              </a:xfrm>
              <a:prstGeom prst="rect">
                <a:avLst/>
              </a:prstGeom>
              <a:noFill/>
              <a:ln/>
            </p:spPr>
            <p:txBody>
              <a:bodyPr wrap="square" rtlCol="0" anchor="ctr"/>
              <a:lstStyle/>
              <a:p>
                <a:pPr marL="0" indent="0" algn="ctr">
                  <a:buNone/>
                </a:pPr>
                <a:r>
                  <a:rPr lang="en-US" sz="1100" i="1" dirty="0">
                    <a:solidFill>
                      <a:srgbClr val="1C7293"/>
                    </a:solidFill>
                    <a:latin typeface="Calibri" pitchFamily="34" charset="0"/>
                    <a:ea typeface="Calibri" pitchFamily="34" charset="-122"/>
                    <a:cs typeface="Calibri" pitchFamily="34" charset="-120"/>
                  </a:rPr>
                  <a:t>Khám phá cả SG2</a:t>
                </a:r>
                <a14:m>
                  <m:oMath xmlns:m="http://schemas.openxmlformats.org/officeDocument/2006/math">
                    <m:r>
                      <a:rPr lang="en-US" sz="1100" b="0" i="1" dirty="0" smtClean="0">
                        <a:solidFill>
                          <a:srgbClr val="1C7293"/>
                        </a:solidFill>
                        <a:latin typeface="Cambria Math" panose="02040503050406030204" pitchFamily="18" charset="0"/>
                        <a:ea typeface="Calibri" pitchFamily="34" charset="-122"/>
                        <a:cs typeface="Calibri" pitchFamily="34" charset="-120"/>
                      </a:rPr>
                      <m:t> </m:t>
                    </m:r>
                  </m:oMath>
                </a14:m>
                <a:r>
                  <a:rPr lang="en-US" sz="1100" i="1" dirty="0">
                    <a:solidFill>
                      <a:srgbClr val="1C7293"/>
                    </a:solidFill>
                    <a:latin typeface="Calibri" pitchFamily="34" charset="0"/>
                    <a:ea typeface="Calibri" pitchFamily="34" charset="-122"/>
                    <a:cs typeface="Calibri" pitchFamily="34" charset="-120"/>
                  </a:rPr>
                  <a:t>, SG3 — đa dạng, bền vững hơn</a:t>
                </a:r>
                <a:endParaRPr lang="en-US" sz="1100" dirty="0"/>
              </a:p>
            </p:txBody>
          </p:sp>
        </mc:Choice>
        <mc:Fallback xmlns="">
          <p:sp>
            <p:nvSpPr>
              <p:cNvPr id="35" name="Text 33"/>
              <p:cNvSpPr>
                <a:spLocks noRot="1" noChangeAspect="1" noMove="1" noResize="1" noEditPoints="1" noAdjustHandles="1" noChangeArrowheads="1" noChangeShapeType="1" noTextEdit="1"/>
              </p:cNvSpPr>
              <p:nvPr/>
            </p:nvSpPr>
            <p:spPr>
              <a:xfrm>
                <a:off x="4709160" y="4089320"/>
                <a:ext cx="3886200" cy="292608"/>
              </a:xfrm>
              <a:prstGeom prst="rect">
                <a:avLst/>
              </a:prstGeom>
              <a:blipFill>
                <a:blip r:embed="rId4"/>
                <a:stretch>
                  <a:fillRect b="-4167"/>
                </a:stretch>
              </a:blipFill>
              <a:ln/>
            </p:spPr>
            <p:txBody>
              <a:bodyPr/>
              <a:lstStyle/>
              <a:p>
                <a:r>
                  <a:rPr lang="en-VN">
                    <a:noFill/>
                  </a:rPr>
                  <a:t> </a:t>
                </a:r>
              </a:p>
            </p:txBody>
          </p:sp>
        </mc:Fallback>
      </mc:AlternateContent>
      <p:sp>
        <p:nvSpPr>
          <p:cNvPr id="36" name="Shape 34"/>
          <p:cNvSpPr/>
          <p:nvPr/>
        </p:nvSpPr>
        <p:spPr>
          <a:xfrm>
            <a:off x="256032" y="4473368"/>
            <a:ext cx="8631936" cy="320040"/>
          </a:xfrm>
          <a:prstGeom prst="rect">
            <a:avLst/>
          </a:prstGeom>
          <a:solidFill>
            <a:srgbClr val="031F30"/>
          </a:solidFill>
          <a:ln w="12700">
            <a:solidFill>
              <a:srgbClr val="F4A261"/>
            </a:solidFill>
            <a:prstDash val="solid"/>
          </a:ln>
        </p:spPr>
        <p:txBody>
          <a:bodyPr/>
          <a:lstStyle/>
          <a:p>
            <a:endParaRPr lang="en-VN" dirty="0"/>
          </a:p>
        </p:txBody>
      </p:sp>
      <mc:AlternateContent xmlns:mc="http://schemas.openxmlformats.org/markup-compatibility/2006" xmlns:a14="http://schemas.microsoft.com/office/drawing/2010/main">
        <mc:Choice Requires="a14">
          <p:sp>
            <p:nvSpPr>
              <p:cNvPr id="37" name="Text 35"/>
              <p:cNvSpPr/>
              <p:nvPr/>
            </p:nvSpPr>
            <p:spPr>
              <a:xfrm>
                <a:off x="384048" y="4473368"/>
                <a:ext cx="8375904" cy="320040"/>
              </a:xfrm>
              <a:prstGeom prst="rect">
                <a:avLst/>
              </a:prstGeom>
              <a:noFill/>
              <a:ln/>
            </p:spPr>
            <p:txBody>
              <a:bodyPr wrap="square" rtlCol="0" anchor="ctr"/>
              <a:lstStyle/>
              <a:p>
                <a:pPr algn="ctr"/>
                <a:r>
                  <a:rPr lang="en-US" sz="1150" b="1" dirty="0">
                    <a:solidFill>
                      <a:srgbClr val="F4A261"/>
                    </a:solidFill>
                    <a:latin typeface="Calibri" pitchFamily="34" charset="0"/>
                    <a:ea typeface="Calibri" pitchFamily="34" charset="-122"/>
                    <a:cs typeface="Calibri" pitchFamily="34" charset="-120"/>
                  </a:rPr>
                  <a:t>GFlowNet dùng TB Loss: </a:t>
                </a:r>
                <a14:m>
                  <m:oMath xmlns:m="http://schemas.openxmlformats.org/officeDocument/2006/math">
                    <m:sSub>
                      <m:sSubPr>
                        <m:ctrlPr>
                          <a:rPr lang="en-US" sz="1150" b="1" i="1" smtClean="0">
                            <a:solidFill>
                              <a:srgbClr val="02C39A"/>
                            </a:solidFill>
                            <a:latin typeface="Cambria Math" panose="02040503050406030204" pitchFamily="18" charset="0"/>
                            <a:ea typeface="Calibri" pitchFamily="34" charset="-122"/>
                            <a:cs typeface="Calibri" pitchFamily="34" charset="-120"/>
                          </a:rPr>
                        </m:ctrlPr>
                      </m:sSubPr>
                      <m:e>
                        <m:r>
                          <a:rPr lang="en-US" sz="1150" b="1" i="1" smtClean="0">
                            <a:solidFill>
                              <a:srgbClr val="02C39A"/>
                            </a:solidFill>
                            <a:latin typeface="Cambria Math" panose="02040503050406030204" pitchFamily="18" charset="0"/>
                            <a:ea typeface="Calibri" pitchFamily="34" charset="-122"/>
                            <a:cs typeface="Calibri" pitchFamily="34" charset="-120"/>
                          </a:rPr>
                          <m:t>𝑳</m:t>
                        </m:r>
                      </m:e>
                      <m:sub>
                        <m:r>
                          <a:rPr lang="en-US" sz="1150" b="1" i="1" smtClean="0">
                            <a:solidFill>
                              <a:srgbClr val="02C39A"/>
                            </a:solidFill>
                            <a:latin typeface="Cambria Math" panose="02040503050406030204" pitchFamily="18" charset="0"/>
                            <a:ea typeface="Calibri" pitchFamily="34" charset="-122"/>
                            <a:cs typeface="Calibri" pitchFamily="34" charset="-120"/>
                          </a:rPr>
                          <m:t>𝑻𝑩</m:t>
                        </m:r>
                      </m:sub>
                    </m:sSub>
                    <m:r>
                      <a:rPr lang="en-US" sz="1150" b="1" i="1" smtClean="0">
                        <a:solidFill>
                          <a:srgbClr val="02C39A"/>
                        </a:solidFill>
                        <a:latin typeface="Cambria Math" panose="02040503050406030204" pitchFamily="18" charset="0"/>
                        <a:ea typeface="Calibri" pitchFamily="34" charset="-122"/>
                        <a:cs typeface="Calibri" pitchFamily="34" charset="-120"/>
                      </a:rPr>
                      <m:t>=</m:t>
                    </m:r>
                    <m:sSup>
                      <m:sSupPr>
                        <m:ctrlPr>
                          <a:rPr lang="en-US" sz="1150" b="1" i="1" smtClean="0">
                            <a:solidFill>
                              <a:srgbClr val="02C39A"/>
                            </a:solidFill>
                            <a:latin typeface="Cambria Math" panose="02040503050406030204" pitchFamily="18" charset="0"/>
                            <a:ea typeface="Calibri" pitchFamily="34" charset="-122"/>
                            <a:cs typeface="Calibri" pitchFamily="34" charset="-120"/>
                          </a:rPr>
                        </m:ctrlPr>
                      </m:sSupPr>
                      <m:e>
                        <m:d>
                          <m:dPr>
                            <m:ctrlPr>
                              <a:rPr lang="en-US" sz="1150" b="1" i="1" smtClean="0">
                                <a:solidFill>
                                  <a:srgbClr val="02C39A"/>
                                </a:solidFill>
                                <a:latin typeface="Cambria Math" panose="02040503050406030204" pitchFamily="18" charset="0"/>
                                <a:ea typeface="Calibri" pitchFamily="34" charset="-122"/>
                                <a:cs typeface="Calibri" pitchFamily="34" charset="-120"/>
                              </a:rPr>
                            </m:ctrlPr>
                          </m:dPr>
                          <m:e>
                            <m:func>
                              <m:funcPr>
                                <m:ctrlPr>
                                  <a:rPr lang="en-US" sz="1150" b="1" i="1" smtClean="0">
                                    <a:solidFill>
                                      <a:srgbClr val="02C39A"/>
                                    </a:solidFill>
                                    <a:latin typeface="Cambria Math" panose="02040503050406030204" pitchFamily="18" charset="0"/>
                                    <a:ea typeface="Calibri" pitchFamily="34" charset="-122"/>
                                    <a:cs typeface="Calibri" pitchFamily="34" charset="-120"/>
                                  </a:rPr>
                                </m:ctrlPr>
                              </m:funcPr>
                              <m:fName>
                                <m:r>
                                  <m:rPr>
                                    <m:sty m:val="p"/>
                                  </m:rPr>
                                  <a:rPr lang="en-US" sz="1150" b="0" i="0" smtClean="0">
                                    <a:solidFill>
                                      <a:srgbClr val="02C39A"/>
                                    </a:solidFill>
                                    <a:latin typeface="Cambria Math" panose="02040503050406030204" pitchFamily="18" charset="0"/>
                                    <a:ea typeface="Calibri" pitchFamily="34" charset="-122"/>
                                    <a:cs typeface="Calibri" pitchFamily="34" charset="-120"/>
                                  </a:rPr>
                                  <m:t>log</m:t>
                                </m:r>
                              </m:fName>
                              <m:e>
                                <m:r>
                                  <a:rPr lang="en-US" sz="1150" b="1" i="1" smtClean="0">
                                    <a:solidFill>
                                      <a:srgbClr val="02C39A"/>
                                    </a:solidFill>
                                    <a:latin typeface="Cambria Math" panose="02040503050406030204" pitchFamily="18" charset="0"/>
                                    <a:ea typeface="Calibri" pitchFamily="34" charset="-122"/>
                                    <a:cs typeface="Calibri" pitchFamily="34" charset="-120"/>
                                  </a:rPr>
                                  <m:t>𝒁</m:t>
                                </m:r>
                              </m:e>
                            </m:func>
                            <m:r>
                              <a:rPr lang="en-US" sz="1150" b="1" i="1" smtClean="0">
                                <a:solidFill>
                                  <a:srgbClr val="02C39A"/>
                                </a:solidFill>
                                <a:latin typeface="Cambria Math" panose="02040503050406030204" pitchFamily="18" charset="0"/>
                                <a:ea typeface="Calibri" pitchFamily="34" charset="-122"/>
                                <a:cs typeface="Calibri" pitchFamily="34" charset="-120"/>
                              </a:rPr>
                              <m:t>+</m:t>
                            </m:r>
                            <m:func>
                              <m:funcPr>
                                <m:ctrlPr>
                                  <a:rPr lang="en-US" sz="1150" b="1" i="1" smtClean="0">
                                    <a:solidFill>
                                      <a:srgbClr val="02C39A"/>
                                    </a:solidFill>
                                    <a:latin typeface="Cambria Math" panose="02040503050406030204" pitchFamily="18" charset="0"/>
                                    <a:ea typeface="Calibri" pitchFamily="34" charset="-122"/>
                                    <a:cs typeface="Calibri" pitchFamily="34" charset="-120"/>
                                  </a:rPr>
                                </m:ctrlPr>
                              </m:funcPr>
                              <m:fName>
                                <m:r>
                                  <m:rPr>
                                    <m:sty m:val="p"/>
                                  </m:rPr>
                                  <a:rPr lang="en-US" sz="1150" b="0" i="0" smtClean="0">
                                    <a:solidFill>
                                      <a:srgbClr val="02C39A"/>
                                    </a:solidFill>
                                    <a:latin typeface="Cambria Math" panose="02040503050406030204" pitchFamily="18" charset="0"/>
                                    <a:ea typeface="Calibri" pitchFamily="34" charset="-122"/>
                                    <a:cs typeface="Calibri" pitchFamily="34" charset="-120"/>
                                  </a:rPr>
                                  <m:t>log</m:t>
                                </m:r>
                              </m:fName>
                              <m:e>
                                <m:r>
                                  <a:rPr lang="en-US" sz="1150" b="1" i="1" smtClean="0">
                                    <a:solidFill>
                                      <a:srgbClr val="02C39A"/>
                                    </a:solidFill>
                                    <a:latin typeface="Cambria Math" panose="02040503050406030204" pitchFamily="18" charset="0"/>
                                    <a:ea typeface="Calibri" pitchFamily="34" charset="-122"/>
                                    <a:cs typeface="Calibri" pitchFamily="34" charset="-120"/>
                                  </a:rPr>
                                  <m:t>𝒒</m:t>
                                </m:r>
                                <m:d>
                                  <m:dPr>
                                    <m:sepChr m:val="∣"/>
                                    <m:ctrlPr>
                                      <a:rPr lang="en-US" sz="1150" b="1" i="1" smtClean="0">
                                        <a:solidFill>
                                          <a:srgbClr val="02C39A"/>
                                        </a:solidFill>
                                        <a:latin typeface="Cambria Math" panose="02040503050406030204" pitchFamily="18" charset="0"/>
                                        <a:ea typeface="Calibri" pitchFamily="34" charset="-122"/>
                                        <a:cs typeface="Calibri" pitchFamily="34" charset="-120"/>
                                      </a:rPr>
                                    </m:ctrlPr>
                                  </m:dPr>
                                  <m:e>
                                    <m:r>
                                      <a:rPr lang="en-US" sz="1150" b="1" i="1" smtClean="0">
                                        <a:solidFill>
                                          <a:srgbClr val="02C39A"/>
                                        </a:solidFill>
                                        <a:latin typeface="Cambria Math" panose="02040503050406030204" pitchFamily="18" charset="0"/>
                                        <a:ea typeface="Calibri" pitchFamily="34" charset="-122"/>
                                        <a:cs typeface="Calibri" pitchFamily="34" charset="-120"/>
                                      </a:rPr>
                                      <m:t>𝝉</m:t>
                                    </m:r>
                                  </m:e>
                                  <m:e>
                                    <m:sSup>
                                      <m:sSupPr>
                                        <m:ctrlPr>
                                          <a:rPr lang="en-US" sz="1150" b="1" i="1" smtClean="0">
                                            <a:solidFill>
                                              <a:srgbClr val="02C39A"/>
                                            </a:solidFill>
                                            <a:latin typeface="Cambria Math" panose="02040503050406030204" pitchFamily="18" charset="0"/>
                                            <a:ea typeface="Calibri" pitchFamily="34" charset="-122"/>
                                            <a:cs typeface="Calibri" pitchFamily="34" charset="-120"/>
                                          </a:rPr>
                                        </m:ctrlPr>
                                      </m:sSupPr>
                                      <m:e>
                                        <m:r>
                                          <a:rPr lang="en-US" sz="1150" b="1" i="1" smtClean="0">
                                            <a:solidFill>
                                              <a:srgbClr val="02C39A"/>
                                            </a:solidFill>
                                            <a:latin typeface="Cambria Math" panose="02040503050406030204" pitchFamily="18" charset="0"/>
                                            <a:ea typeface="Calibri" pitchFamily="34" charset="-122"/>
                                            <a:cs typeface="Calibri" pitchFamily="34" charset="-120"/>
                                          </a:rPr>
                                          <m:t>𝑽</m:t>
                                        </m:r>
                                      </m:e>
                                      <m:sup>
                                        <m:r>
                                          <a:rPr lang="en-US" sz="1150" b="1" i="1" smtClean="0">
                                            <a:solidFill>
                                              <a:srgbClr val="02C39A"/>
                                            </a:solidFill>
                                            <a:latin typeface="Cambria Math" panose="02040503050406030204" pitchFamily="18" charset="0"/>
                                            <a:ea typeface="Calibri" pitchFamily="34" charset="-122"/>
                                            <a:cs typeface="Calibri" pitchFamily="34" charset="-120"/>
                                          </a:rPr>
                                          <m:t>𝟎</m:t>
                                        </m:r>
                                      </m:sup>
                                    </m:sSup>
                                  </m:e>
                                </m:d>
                              </m:e>
                            </m:func>
                            <m:r>
                              <a:rPr lang="en-US" sz="1150" b="1" i="1" smtClean="0">
                                <a:solidFill>
                                  <a:srgbClr val="02C39A"/>
                                </a:solidFill>
                                <a:latin typeface="Cambria Math" panose="02040503050406030204" pitchFamily="18" charset="0"/>
                                <a:ea typeface="Calibri" pitchFamily="34" charset="-122"/>
                                <a:cs typeface="Calibri" pitchFamily="34" charset="-120"/>
                              </a:rPr>
                              <m:t>+</m:t>
                            </m:r>
                            <m:r>
                              <a:rPr lang="en-US" sz="1150" b="1" i="1" smtClean="0">
                                <a:solidFill>
                                  <a:srgbClr val="02C39A"/>
                                </a:solidFill>
                                <a:latin typeface="Cambria Math" panose="02040503050406030204" pitchFamily="18" charset="0"/>
                                <a:ea typeface="Calibri" pitchFamily="34" charset="-122"/>
                                <a:cs typeface="Calibri" pitchFamily="34" charset="-120"/>
                              </a:rPr>
                              <m:t>𝜶</m:t>
                            </m:r>
                            <m:r>
                              <a:rPr lang="en-US" sz="1150" b="1" i="1" smtClean="0">
                                <a:solidFill>
                                  <a:srgbClr val="02C39A"/>
                                </a:solidFill>
                                <a:latin typeface="Cambria Math" panose="02040503050406030204" pitchFamily="18" charset="0"/>
                                <a:ea typeface="Calibri" pitchFamily="34" charset="-122"/>
                                <a:cs typeface="Calibri" pitchFamily="34" charset="-120"/>
                              </a:rPr>
                              <m:t>⋅</m:t>
                            </m:r>
                            <m:sSub>
                              <m:sSubPr>
                                <m:ctrlPr>
                                  <a:rPr lang="en-US" sz="1150" b="1" i="1" smtClean="0">
                                    <a:solidFill>
                                      <a:srgbClr val="02C39A"/>
                                    </a:solidFill>
                                    <a:latin typeface="Cambria Math" panose="02040503050406030204" pitchFamily="18" charset="0"/>
                                    <a:ea typeface="Calibri" pitchFamily="34" charset="-122"/>
                                    <a:cs typeface="Calibri" pitchFamily="34" charset="-120"/>
                                  </a:rPr>
                                </m:ctrlPr>
                              </m:sSubPr>
                              <m:e>
                                <m:r>
                                  <a:rPr lang="en-US" sz="1150" b="1" i="1" smtClean="0">
                                    <a:solidFill>
                                      <a:srgbClr val="02C39A"/>
                                    </a:solidFill>
                                    <a:latin typeface="Cambria Math" panose="02040503050406030204" pitchFamily="18" charset="0"/>
                                    <a:ea typeface="Calibri" pitchFamily="34" charset="-122"/>
                                    <a:cs typeface="Calibri" pitchFamily="34" charset="-120"/>
                                  </a:rPr>
                                  <m:t>𝑳</m:t>
                                </m:r>
                              </m:e>
                              <m:sub>
                                <m:r>
                                  <a:rPr lang="en-US" sz="1150" b="1" i="1" smtClean="0">
                                    <a:solidFill>
                                      <a:srgbClr val="02C39A"/>
                                    </a:solidFill>
                                    <a:latin typeface="Cambria Math" panose="02040503050406030204" pitchFamily="18" charset="0"/>
                                    <a:ea typeface="Calibri" pitchFamily="34" charset="-122"/>
                                    <a:cs typeface="Calibri" pitchFamily="34" charset="-120"/>
                                  </a:rPr>
                                  <m:t>𝑪</m:t>
                                </m:r>
                              </m:sub>
                            </m:sSub>
                          </m:e>
                        </m:d>
                      </m:e>
                      <m:sup>
                        <m:r>
                          <a:rPr lang="en-US" sz="1150" b="1" i="1" smtClean="0">
                            <a:solidFill>
                              <a:srgbClr val="02C39A"/>
                            </a:solidFill>
                            <a:latin typeface="Cambria Math" panose="02040503050406030204" pitchFamily="18" charset="0"/>
                            <a:ea typeface="Calibri" pitchFamily="34" charset="-122"/>
                            <a:cs typeface="Calibri" pitchFamily="34" charset="-120"/>
                          </a:rPr>
                          <m:t>𝟐</m:t>
                        </m:r>
                      </m:sup>
                    </m:sSup>
                  </m:oMath>
                </a14:m>
                <a:r>
                  <a:rPr lang="en-US" sz="1150" dirty="0">
                    <a:solidFill>
                      <a:srgbClr val="5A6A78"/>
                    </a:solidFill>
                    <a:latin typeface="Calibri" pitchFamily="34" charset="0"/>
                    <a:ea typeface="Calibri" pitchFamily="34" charset="-122"/>
                    <a:cs typeface="Calibri" pitchFamily="34" charset="-120"/>
                  </a:rPr>
                  <a:t>     |     </a:t>
                </a:r>
                <a:r>
                  <a:rPr lang="en-US" sz="1150" b="1" dirty="0">
                    <a:solidFill>
                      <a:srgbClr val="02C39A"/>
                    </a:solidFill>
                    <a:latin typeface="Calibri" pitchFamily="34" charset="0"/>
                    <a:ea typeface="Calibri" pitchFamily="34" charset="-122"/>
                    <a:cs typeface="Calibri" pitchFamily="34" charset="-120"/>
                  </a:rPr>
                  <a:t>Trong GRAPES: </a:t>
                </a:r>
                <a14:m>
                  <m:oMath xmlns:m="http://schemas.openxmlformats.org/officeDocument/2006/math">
                    <m:r>
                      <a:rPr lang="en-US" sz="1150" i="1" smtClean="0">
                        <a:solidFill>
                          <a:srgbClr val="B8D4E8"/>
                        </a:solidFill>
                        <a:latin typeface="Cambria Math" panose="02040503050406030204" pitchFamily="18" charset="0"/>
                        <a:ea typeface="Calibri" pitchFamily="34" charset="-122"/>
                        <a:cs typeface="Calibri" pitchFamily="34" charset="-120"/>
                      </a:rPr>
                      <m:t>𝑅</m:t>
                    </m:r>
                    <m:r>
                      <a:rPr lang="en-US" sz="1150" i="1" smtClean="0">
                        <a:solidFill>
                          <a:srgbClr val="B8D4E8"/>
                        </a:solidFill>
                        <a:latin typeface="Cambria Math" panose="02040503050406030204" pitchFamily="18" charset="0"/>
                        <a:ea typeface="Calibri" pitchFamily="34" charset="-122"/>
                        <a:cs typeface="Calibri" pitchFamily="34" charset="-120"/>
                      </a:rPr>
                      <m:t>=</m:t>
                    </m:r>
                    <m:func>
                      <m:funcPr>
                        <m:ctrlPr>
                          <a:rPr lang="en-US" sz="1150" i="1" smtClean="0">
                            <a:solidFill>
                              <a:srgbClr val="B8D4E8"/>
                            </a:solidFill>
                            <a:latin typeface="Cambria Math" panose="02040503050406030204" pitchFamily="18" charset="0"/>
                            <a:ea typeface="Calibri" pitchFamily="34" charset="-122"/>
                            <a:cs typeface="Calibri" pitchFamily="34" charset="-120"/>
                          </a:rPr>
                        </m:ctrlPr>
                      </m:funcPr>
                      <m:fName>
                        <m:r>
                          <m:rPr>
                            <m:sty m:val="p"/>
                          </m:rPr>
                          <a:rPr lang="en-US" sz="1150" i="0" smtClean="0">
                            <a:solidFill>
                              <a:srgbClr val="B8D4E8"/>
                            </a:solidFill>
                            <a:latin typeface="Cambria Math" panose="02040503050406030204" pitchFamily="18" charset="0"/>
                            <a:ea typeface="Calibri" pitchFamily="34" charset="-122"/>
                            <a:cs typeface="Calibri" pitchFamily="34" charset="-120"/>
                          </a:rPr>
                          <m:t>exp</m:t>
                        </m:r>
                      </m:fName>
                      <m:e>
                        <m:d>
                          <m:dPr>
                            <m:ctrlPr>
                              <a:rPr lang="en-US" sz="1150" i="1" smtClean="0">
                                <a:solidFill>
                                  <a:srgbClr val="B8D4E8"/>
                                </a:solidFill>
                                <a:latin typeface="Cambria Math" panose="02040503050406030204" pitchFamily="18" charset="0"/>
                                <a:ea typeface="Calibri" pitchFamily="34" charset="-122"/>
                                <a:cs typeface="Calibri" pitchFamily="34" charset="-120"/>
                              </a:rPr>
                            </m:ctrlPr>
                          </m:dPr>
                          <m:e>
                            <m:r>
                              <a:rPr lang="en-US" sz="1150" i="1" smtClean="0">
                                <a:solidFill>
                                  <a:srgbClr val="B8D4E8"/>
                                </a:solidFill>
                                <a:latin typeface="Cambria Math" panose="02040503050406030204" pitchFamily="18" charset="0"/>
                                <a:ea typeface="Calibri" pitchFamily="34" charset="-122"/>
                                <a:cs typeface="Calibri" pitchFamily="34" charset="-120"/>
                              </a:rPr>
                              <m:t>−</m:t>
                            </m:r>
                            <m:r>
                              <a:rPr lang="en-US" sz="1150" i="1" smtClean="0">
                                <a:solidFill>
                                  <a:srgbClr val="B8D4E8"/>
                                </a:solidFill>
                                <a:latin typeface="Cambria Math" panose="02040503050406030204" pitchFamily="18" charset="0"/>
                                <a:ea typeface="Calibri" pitchFamily="34" charset="-122"/>
                                <a:cs typeface="Calibri" pitchFamily="34" charset="-120"/>
                              </a:rPr>
                              <m:t>𝛼</m:t>
                            </m:r>
                            <m:r>
                              <a:rPr lang="en-US" sz="1150" i="1" smtClean="0">
                                <a:solidFill>
                                  <a:srgbClr val="B8D4E8"/>
                                </a:solidFill>
                                <a:latin typeface="Cambria Math" panose="02040503050406030204" pitchFamily="18" charset="0"/>
                                <a:ea typeface="Calibri" pitchFamily="34" charset="-122"/>
                                <a:cs typeface="Calibri" pitchFamily="34" charset="-120"/>
                              </a:rPr>
                              <m:t>⋅</m:t>
                            </m:r>
                            <m:sSub>
                              <m:sSubPr>
                                <m:ctrlPr>
                                  <a:rPr lang="en-US" sz="1150" i="1" smtClean="0">
                                    <a:solidFill>
                                      <a:srgbClr val="B8D4E8"/>
                                    </a:solidFill>
                                    <a:latin typeface="Cambria Math" panose="02040503050406030204" pitchFamily="18" charset="0"/>
                                    <a:ea typeface="Calibri" pitchFamily="34" charset="-122"/>
                                    <a:cs typeface="Calibri" pitchFamily="34" charset="-120"/>
                                  </a:rPr>
                                </m:ctrlPr>
                              </m:sSubPr>
                              <m:e>
                                <m:r>
                                  <a:rPr lang="en-US" sz="1150" i="1" smtClean="0">
                                    <a:solidFill>
                                      <a:srgbClr val="B8D4E8"/>
                                    </a:solidFill>
                                    <a:latin typeface="Cambria Math" panose="02040503050406030204" pitchFamily="18" charset="0"/>
                                    <a:ea typeface="Calibri" pitchFamily="34" charset="-122"/>
                                    <a:cs typeface="Calibri" pitchFamily="34" charset="-120"/>
                                  </a:rPr>
                                  <m:t>𝐿</m:t>
                                </m:r>
                              </m:e>
                              <m:sub>
                                <m:r>
                                  <a:rPr lang="en-US" sz="1150" i="1" smtClean="0">
                                    <a:solidFill>
                                      <a:srgbClr val="B8D4E8"/>
                                    </a:solidFill>
                                    <a:latin typeface="Cambria Math" panose="02040503050406030204" pitchFamily="18" charset="0"/>
                                    <a:ea typeface="Calibri" pitchFamily="34" charset="-122"/>
                                    <a:cs typeface="Calibri" pitchFamily="34" charset="-120"/>
                                  </a:rPr>
                                  <m:t>𝐶</m:t>
                                </m:r>
                              </m:sub>
                            </m:sSub>
                          </m:e>
                        </m:d>
                      </m:e>
                    </m:func>
                  </m:oMath>
                </a14:m>
                <a:endParaRPr lang="en-US" sz="1150" dirty="0"/>
              </a:p>
            </p:txBody>
          </p:sp>
        </mc:Choice>
        <mc:Fallback xmlns="">
          <p:sp>
            <p:nvSpPr>
              <p:cNvPr id="37" name="Text 35"/>
              <p:cNvSpPr>
                <a:spLocks noRot="1" noChangeAspect="1" noMove="1" noResize="1" noEditPoints="1" noAdjustHandles="1" noChangeArrowheads="1" noChangeShapeType="1" noTextEdit="1"/>
              </p:cNvSpPr>
              <p:nvPr/>
            </p:nvSpPr>
            <p:spPr>
              <a:xfrm>
                <a:off x="384048" y="4473368"/>
                <a:ext cx="8375904" cy="320040"/>
              </a:xfrm>
              <a:prstGeom prst="rect">
                <a:avLst/>
              </a:prstGeom>
              <a:blipFill>
                <a:blip r:embed="rId5"/>
                <a:stretch>
                  <a:fillRect b="-11538"/>
                </a:stretch>
              </a:blipFill>
              <a:ln/>
            </p:spPr>
            <p:txBody>
              <a:bodyPr/>
              <a:lstStyle/>
              <a:p>
                <a:r>
                  <a:rPr lang="en-VN">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GFlowNet &amp; Chính Sách Lấy Mẫu Phân Rã Theo Tầng</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16 / 29</a:t>
            </a:r>
            <a:endParaRPr lang="en-US" sz="1000" dirty="0"/>
          </a:p>
        </p:txBody>
      </p:sp>
      <p:sp>
        <p:nvSpPr>
          <p:cNvPr id="5" name="Text 3"/>
          <p:cNvSpPr/>
          <p:nvPr/>
        </p:nvSpPr>
        <p:spPr>
          <a:xfrm>
            <a:off x="274320" y="914400"/>
            <a:ext cx="4206240" cy="365760"/>
          </a:xfrm>
          <a:prstGeom prst="rect">
            <a:avLst/>
          </a:prstGeom>
          <a:noFill/>
          <a:ln/>
        </p:spPr>
        <p:txBody>
          <a:bodyPr wrap="square"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Tại sao cần GFlowNet?</a:t>
            </a:r>
            <a:endParaRPr lang="en-US" sz="1600" dirty="0"/>
          </a:p>
        </p:txBody>
      </p:sp>
      <p:sp>
        <p:nvSpPr>
          <p:cNvPr id="6" name="Shape 4"/>
          <p:cNvSpPr/>
          <p:nvPr/>
        </p:nvSpPr>
        <p:spPr>
          <a:xfrm>
            <a:off x="274320" y="1325880"/>
            <a:ext cx="4206240" cy="1005840"/>
          </a:xfrm>
          <a:prstGeom prst="rect">
            <a:avLst/>
          </a:prstGeom>
          <a:solidFill>
            <a:srgbClr val="FFF3CD"/>
          </a:solidFill>
          <a:ln w="19050">
            <a:solidFill>
              <a:srgbClr val="F4A261"/>
            </a:solidFill>
            <a:prstDash val="solid"/>
          </a:ln>
        </p:spPr>
        <p:txBody>
          <a:bodyPr/>
          <a:lstStyle/>
          <a:p>
            <a:endParaRPr lang="en-VN"/>
          </a:p>
        </p:txBody>
      </p:sp>
      <p:sp>
        <p:nvSpPr>
          <p:cNvPr id="7" name="Text 5"/>
          <p:cNvSpPr/>
          <p:nvPr/>
        </p:nvSpPr>
        <p:spPr>
          <a:xfrm>
            <a:off x="274320" y="1325880"/>
            <a:ext cx="4206240" cy="1005840"/>
          </a:xfrm>
          <a:prstGeom prst="rect">
            <a:avLst/>
          </a:prstGeom>
          <a:noFill/>
          <a:ln/>
        </p:spPr>
        <p:txBody>
          <a:bodyPr wrap="square" rtlCol="0" anchor="ctr"/>
          <a:lstStyle/>
          <a:p>
            <a:pPr marL="0" indent="0" algn="ctr">
              <a:buNone/>
            </a:pPr>
            <a:r>
              <a:rPr lang="en-US" sz="1350" dirty="0">
                <a:solidFill>
                  <a:srgbClr val="7B4F00"/>
                </a:solidFill>
                <a:latin typeface="Calibri" pitchFamily="34" charset="0"/>
                <a:ea typeface="Calibri" pitchFamily="34" charset="-122"/>
                <a:cs typeface="Calibri" pitchFamily="34" charset="-120"/>
              </a:rPr>
              <a:t>Phép chọn đỉnh chỉ là 0 hoặc 1 — không có giá trị ở giữa → mạng không tính được "nên điều chỉnh theo hướng nào" → không tự học được</a:t>
            </a:r>
            <a:endParaRPr lang="en-US" sz="1350" dirty="0"/>
          </a:p>
        </p:txBody>
      </p:sp>
      <mc:AlternateContent xmlns:mc="http://schemas.openxmlformats.org/markup-compatibility/2006" xmlns:a14="http://schemas.microsoft.com/office/drawing/2010/main">
        <mc:Choice Requires="a14">
          <p:sp>
            <p:nvSpPr>
              <p:cNvPr id="8" name="Text 6"/>
              <p:cNvSpPr/>
              <p:nvPr/>
            </p:nvSpPr>
            <p:spPr>
              <a:xfrm>
                <a:off x="274320" y="2423160"/>
                <a:ext cx="4206240" cy="2103120"/>
              </a:xfrm>
              <a:prstGeom prst="rect">
                <a:avLst/>
              </a:prstGeom>
              <a:noFill/>
              <a:ln/>
            </p:spPr>
            <p:txBody>
              <a:bodyPr wrap="square" rtlCol="0" anchor="ctr"/>
              <a:lstStyle/>
              <a:p>
                <a:pPr marL="0" indent="0">
                  <a:spcAft>
                    <a:spcPts val="500"/>
                  </a:spcAft>
                  <a:buNone/>
                </a:pPr>
                <a:r>
                  <a:rPr lang="en-US" sz="1300" dirty="0">
                    <a:solidFill>
                      <a:srgbClr val="1A2B3C"/>
                    </a:solidFill>
                    <a:latin typeface="Calibri" pitchFamily="34" charset="0"/>
                    <a:ea typeface="Calibri" pitchFamily="34" charset="-122"/>
                    <a:cs typeface="Calibri" pitchFamily="34" charset="-120"/>
                  </a:rPr>
                  <a:t>GFlowNet học phân phối xác suất trên các tập con, tối ưu theo reward = </a:t>
                </a:r>
                <a14:m>
                  <m:oMath xmlns:m="http://schemas.openxmlformats.org/officeDocument/2006/math">
                    <m:sSub>
                      <m:sSubPr>
                        <m:ctrlPr>
                          <a:rPr lang="en-US" sz="1300" i="1" smtClean="0">
                            <a:solidFill>
                              <a:srgbClr val="1A2B3C"/>
                            </a:solidFill>
                            <a:latin typeface="Cambria Math" panose="02040503050406030204" pitchFamily="18" charset="0"/>
                            <a:ea typeface="Calibri" pitchFamily="34" charset="-122"/>
                            <a:cs typeface="Calibri" pitchFamily="34" charset="-120"/>
                          </a:rPr>
                        </m:ctrlPr>
                      </m:sSubPr>
                      <m:e>
                        <m:r>
                          <a:rPr lang="en-US" sz="1300" i="1" smtClean="0">
                            <a:solidFill>
                              <a:srgbClr val="1A2B3C"/>
                            </a:solidFill>
                            <a:latin typeface="Cambria Math" panose="02040503050406030204" pitchFamily="18" charset="0"/>
                            <a:ea typeface="Calibri" pitchFamily="34" charset="-122"/>
                            <a:cs typeface="Calibri" pitchFamily="34" charset="-120"/>
                          </a:rPr>
                          <m:t>𝐿</m:t>
                        </m:r>
                      </m:e>
                      <m:sub>
                        <m:r>
                          <a:rPr lang="en-US" sz="1300" i="1" smtClean="0">
                            <a:solidFill>
                              <a:srgbClr val="1A2B3C"/>
                            </a:solidFill>
                            <a:latin typeface="Cambria Math" panose="02040503050406030204" pitchFamily="18" charset="0"/>
                            <a:ea typeface="Calibri" pitchFamily="34" charset="-122"/>
                            <a:cs typeface="Calibri" pitchFamily="34" charset="-120"/>
                          </a:rPr>
                          <m:t>𝐶</m:t>
                        </m:r>
                      </m:sub>
                    </m:sSub>
                  </m:oMath>
                </a14:m>
                <a:r>
                  <a:rPr lang="en-US" sz="1300" dirty="0">
                    <a:solidFill>
                      <a:srgbClr val="1A2B3C"/>
                    </a:solidFill>
                    <a:latin typeface="Calibri" pitchFamily="34" charset="0"/>
                    <a:ea typeface="Calibri" pitchFamily="34" charset="-122"/>
                    <a:cs typeface="Calibri" pitchFamily="34" charset="-120"/>
                  </a:rPr>
                  <a:t>. Không yêu cầu khả vi đối với quá trình sampling.</a:t>
                </a:r>
                <a:endParaRPr lang="en-US" sz="1300" dirty="0"/>
              </a:p>
              <a:p>
                <a:pPr marL="0" indent="0">
                  <a:spcAft>
                    <a:spcPts val="500"/>
                  </a:spcAft>
                  <a:buNone/>
                </a:pPr>
                <a:endParaRPr lang="en-US" sz="1300" dirty="0"/>
              </a:p>
              <a:p>
                <a:pPr marL="0" indent="0">
                  <a:spcAft>
                    <a:spcPts val="500"/>
                  </a:spcAft>
                  <a:buNone/>
                </a:pPr>
                <a:r>
                  <a:rPr lang="en-US" sz="1300" dirty="0">
                    <a:solidFill>
                      <a:srgbClr val="1A2B3C"/>
                    </a:solidFill>
                    <a:latin typeface="Calibri" pitchFamily="34" charset="0"/>
                    <a:ea typeface="Calibri" pitchFamily="34" charset="-122"/>
                    <a:cs typeface="Calibri" pitchFamily="34" charset="-120"/>
                  </a:rPr>
                  <a:t>→ Ổn định hơn REINFORCE (phương sai thấp hơn).</a:t>
                </a:r>
                <a:endParaRPr lang="en-US" sz="1300" dirty="0"/>
              </a:p>
              <a:p>
                <a:pPr marL="0" indent="0">
                  <a:spcAft>
                    <a:spcPts val="500"/>
                  </a:spcAft>
                  <a:buNone/>
                </a:pPr>
                <a:r>
                  <a:rPr lang="en-US" sz="1300" dirty="0">
                    <a:solidFill>
                      <a:srgbClr val="1A2B3C"/>
                    </a:solidFill>
                    <a:latin typeface="Calibri" pitchFamily="34" charset="0"/>
                    <a:ea typeface="Calibri" pitchFamily="34" charset="-122"/>
                    <a:cs typeface="Calibri" pitchFamily="34" charset="-120"/>
                  </a:rPr>
                  <a:t>→ Khám phá đa dạng hơn trong không gian các tập con.</a:t>
                </a:r>
                <a:endParaRPr lang="en-US" sz="1300" dirty="0"/>
              </a:p>
            </p:txBody>
          </p:sp>
        </mc:Choice>
        <mc:Fallback xmlns="">
          <p:sp>
            <p:nvSpPr>
              <p:cNvPr id="8" name="Text 6"/>
              <p:cNvSpPr>
                <a:spLocks noRot="1" noChangeAspect="1" noMove="1" noResize="1" noEditPoints="1" noAdjustHandles="1" noChangeArrowheads="1" noChangeShapeType="1" noTextEdit="1"/>
              </p:cNvSpPr>
              <p:nvPr/>
            </p:nvSpPr>
            <p:spPr>
              <a:xfrm>
                <a:off x="274320" y="2423160"/>
                <a:ext cx="4206240" cy="2103120"/>
              </a:xfrm>
              <a:prstGeom prst="rect">
                <a:avLst/>
              </a:prstGeom>
              <a:blipFill>
                <a:blip r:embed="rId3"/>
                <a:stretch>
                  <a:fillRect l="-301"/>
                </a:stretch>
              </a:blipFill>
              <a:ln/>
            </p:spPr>
            <p:txBody>
              <a:bodyPr/>
              <a:lstStyle/>
              <a:p>
                <a:r>
                  <a:rPr lang="en-VN">
                    <a:noFill/>
                  </a:rPr>
                  <a:t> </a:t>
                </a:r>
              </a:p>
            </p:txBody>
          </p:sp>
        </mc:Fallback>
      </mc:AlternateContent>
      <p:sp>
        <p:nvSpPr>
          <p:cNvPr id="9" name="Shape 7"/>
          <p:cNvSpPr/>
          <p:nvPr/>
        </p:nvSpPr>
        <p:spPr>
          <a:xfrm>
            <a:off x="4663440" y="914400"/>
            <a:ext cx="0" cy="4023360"/>
          </a:xfrm>
          <a:prstGeom prst="line">
            <a:avLst/>
          </a:prstGeom>
          <a:noFill/>
          <a:ln w="12700">
            <a:solidFill>
              <a:srgbClr val="E2E8F0"/>
            </a:solidFill>
            <a:prstDash val="solid"/>
          </a:ln>
        </p:spPr>
        <p:txBody>
          <a:bodyPr/>
          <a:lstStyle/>
          <a:p>
            <a:endParaRPr lang="en-VN"/>
          </a:p>
        </p:txBody>
      </p:sp>
      <p:sp>
        <p:nvSpPr>
          <p:cNvPr id="10" name="Text 8"/>
          <p:cNvSpPr/>
          <p:nvPr/>
        </p:nvSpPr>
        <p:spPr>
          <a:xfrm>
            <a:off x="4846320" y="914400"/>
            <a:ext cx="4023360" cy="365760"/>
          </a:xfrm>
          <a:prstGeom prst="rect">
            <a:avLst/>
          </a:prstGeom>
          <a:noFill/>
          <a:ln/>
        </p:spPr>
        <p:txBody>
          <a:bodyPr wrap="square"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Chính Sách Phân Rã Theo Tầng</a:t>
            </a:r>
            <a:endParaRPr lang="en-US" sz="1600" dirty="0"/>
          </a:p>
        </p:txBody>
      </p:sp>
      <p:sp>
        <p:nvSpPr>
          <p:cNvPr id="11" name="Shape 9"/>
          <p:cNvSpPr/>
          <p:nvPr/>
        </p:nvSpPr>
        <p:spPr>
          <a:xfrm>
            <a:off x="4846320" y="1325880"/>
            <a:ext cx="4023360" cy="749808"/>
          </a:xfrm>
          <a:prstGeom prst="rect">
            <a:avLst/>
          </a:prstGeom>
          <a:solidFill>
            <a:srgbClr val="EAF4FB"/>
          </a:solidFill>
          <a:ln w="19050">
            <a:solidFill>
              <a:srgbClr val="1C7293"/>
            </a:solidFill>
            <a:prstDash val="solid"/>
          </a:ln>
        </p:spPr>
        <p:txBody>
          <a:bodyPr/>
          <a:lstStyle/>
          <a:p>
            <a:endParaRPr lang="en-VN"/>
          </a:p>
        </p:txBody>
      </p:sp>
      <mc:AlternateContent xmlns:mc="http://schemas.openxmlformats.org/markup-compatibility/2006" xmlns:a14="http://schemas.microsoft.com/office/drawing/2010/main">
        <mc:Choice Requires="a14">
          <p:sp>
            <p:nvSpPr>
              <p:cNvPr id="12" name="Text 10"/>
              <p:cNvSpPr/>
              <p:nvPr/>
            </p:nvSpPr>
            <p:spPr>
              <a:xfrm>
                <a:off x="4846320" y="1325880"/>
                <a:ext cx="4023360" cy="749808"/>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r>
                        <a:rPr lang="en-US" sz="1400" b="1" i="1" smtClean="0">
                          <a:solidFill>
                            <a:srgbClr val="065A82"/>
                          </a:solidFill>
                          <a:latin typeface="Cambria Math" panose="02040503050406030204" pitchFamily="18" charset="0"/>
                          <a:ea typeface="Calibri" pitchFamily="34" charset="-122"/>
                          <a:cs typeface="Calibri" pitchFamily="34" charset="-120"/>
                        </a:rPr>
                        <m:t>𝒒</m:t>
                      </m:r>
                      <m:d>
                        <m:dPr>
                          <m:sepChr m:val="∣"/>
                          <m:ctrlPr>
                            <a:rPr lang="en-US" sz="1400" b="1" i="1">
                              <a:solidFill>
                                <a:srgbClr val="065A82"/>
                              </a:solidFill>
                              <a:latin typeface="Cambria Math" panose="02040503050406030204" pitchFamily="18" charset="0"/>
                              <a:ea typeface="Calibri" pitchFamily="34" charset="-122"/>
                              <a:cs typeface="Calibri" pitchFamily="34" charset="-120"/>
                            </a:rPr>
                          </m:ctrlPr>
                        </m:dPr>
                        <m:e>
                          <m:sSup>
                            <m:sSupPr>
                              <m:ctrlPr>
                                <a:rPr lang="en-US" sz="1400" b="1" i="1">
                                  <a:solidFill>
                                    <a:srgbClr val="065A82"/>
                                  </a:solidFill>
                                  <a:latin typeface="Cambria Math" panose="02040503050406030204" pitchFamily="18" charset="0"/>
                                  <a:ea typeface="Calibri" pitchFamily="34" charset="-122"/>
                                  <a:cs typeface="Calibri" pitchFamily="34" charset="-120"/>
                                </a:rPr>
                              </m:ctrlPr>
                            </m:sSupPr>
                            <m:e>
                              <m:r>
                                <a:rPr lang="en-US" sz="1400" b="1" i="1">
                                  <a:solidFill>
                                    <a:srgbClr val="065A82"/>
                                  </a:solidFill>
                                  <a:latin typeface="Cambria Math" panose="02040503050406030204" pitchFamily="18" charset="0"/>
                                  <a:ea typeface="Calibri" pitchFamily="34" charset="-122"/>
                                  <a:cs typeface="Calibri" pitchFamily="34" charset="-120"/>
                                </a:rPr>
                                <m:t>𝑽</m:t>
                              </m:r>
                            </m:e>
                            <m:sup>
                              <m:r>
                                <a:rPr lang="en-US" sz="1400" b="1" i="1">
                                  <a:solidFill>
                                    <a:srgbClr val="065A82"/>
                                  </a:solidFill>
                                  <a:latin typeface="Cambria Math" panose="02040503050406030204" pitchFamily="18" charset="0"/>
                                  <a:ea typeface="Calibri" pitchFamily="34" charset="-122"/>
                                  <a:cs typeface="Calibri" pitchFamily="34" charset="-120"/>
                                </a:rPr>
                                <m:t>𝟏</m:t>
                              </m:r>
                            </m:sup>
                          </m:sSup>
                          <m:r>
                            <a:rPr lang="en-US" sz="1400" b="1" i="1">
                              <a:solidFill>
                                <a:srgbClr val="065A82"/>
                              </a:solidFill>
                              <a:latin typeface="Cambria Math" panose="02040503050406030204" pitchFamily="18" charset="0"/>
                              <a:ea typeface="Calibri" pitchFamily="34" charset="-122"/>
                              <a:cs typeface="Calibri" pitchFamily="34" charset="-120"/>
                            </a:rPr>
                            <m:t>,…,</m:t>
                          </m:r>
                          <m:sSup>
                            <m:sSupPr>
                              <m:ctrlPr>
                                <a:rPr lang="en-US" sz="1400" b="1" i="1">
                                  <a:solidFill>
                                    <a:srgbClr val="065A82"/>
                                  </a:solidFill>
                                  <a:latin typeface="Cambria Math" panose="02040503050406030204" pitchFamily="18" charset="0"/>
                                  <a:ea typeface="Calibri" pitchFamily="34" charset="-122"/>
                                  <a:cs typeface="Calibri" pitchFamily="34" charset="-120"/>
                                </a:rPr>
                              </m:ctrlPr>
                            </m:sSupPr>
                            <m:e>
                              <m:r>
                                <a:rPr lang="en-US" sz="1400" b="1" i="1">
                                  <a:solidFill>
                                    <a:srgbClr val="065A82"/>
                                  </a:solidFill>
                                  <a:latin typeface="Cambria Math" panose="02040503050406030204" pitchFamily="18" charset="0"/>
                                  <a:ea typeface="Calibri" pitchFamily="34" charset="-122"/>
                                  <a:cs typeface="Calibri" pitchFamily="34" charset="-120"/>
                                </a:rPr>
                                <m:t>𝑽</m:t>
                              </m:r>
                            </m:e>
                            <m:sup>
                              <m:r>
                                <a:rPr lang="en-US" sz="1400" b="1" i="1">
                                  <a:solidFill>
                                    <a:srgbClr val="065A82"/>
                                  </a:solidFill>
                                  <a:latin typeface="Cambria Math" panose="02040503050406030204" pitchFamily="18" charset="0"/>
                                  <a:ea typeface="Calibri" pitchFamily="34" charset="-122"/>
                                  <a:cs typeface="Calibri" pitchFamily="34" charset="-120"/>
                                </a:rPr>
                                <m:t>𝑳</m:t>
                              </m:r>
                            </m:sup>
                          </m:sSup>
                        </m:e>
                        <m:e>
                          <m:sSup>
                            <m:sSupPr>
                              <m:ctrlPr>
                                <a:rPr lang="en-US" sz="1400" b="1" i="1">
                                  <a:solidFill>
                                    <a:srgbClr val="065A82"/>
                                  </a:solidFill>
                                  <a:latin typeface="Cambria Math" panose="02040503050406030204" pitchFamily="18" charset="0"/>
                                  <a:ea typeface="Calibri" pitchFamily="34" charset="-122"/>
                                  <a:cs typeface="Calibri" pitchFamily="34" charset="-120"/>
                                </a:rPr>
                              </m:ctrlPr>
                            </m:sSupPr>
                            <m:e>
                              <m:r>
                                <a:rPr lang="en-US" sz="1400" b="1" i="1">
                                  <a:solidFill>
                                    <a:srgbClr val="065A82"/>
                                  </a:solidFill>
                                  <a:latin typeface="Cambria Math" panose="02040503050406030204" pitchFamily="18" charset="0"/>
                                  <a:ea typeface="Calibri" pitchFamily="34" charset="-122"/>
                                  <a:cs typeface="Calibri" pitchFamily="34" charset="-120"/>
                                </a:rPr>
                                <m:t>𝑽</m:t>
                              </m:r>
                            </m:e>
                            <m:sup>
                              <m:r>
                                <a:rPr lang="en-US" sz="1400" b="1" i="1">
                                  <a:solidFill>
                                    <a:srgbClr val="065A82"/>
                                  </a:solidFill>
                                  <a:latin typeface="Cambria Math" panose="02040503050406030204" pitchFamily="18" charset="0"/>
                                  <a:ea typeface="Calibri" pitchFamily="34" charset="-122"/>
                                  <a:cs typeface="Calibri" pitchFamily="34" charset="-120"/>
                                </a:rPr>
                                <m:t>𝟎</m:t>
                              </m:r>
                            </m:sup>
                          </m:sSup>
                        </m:e>
                      </m:d>
                      <m:r>
                        <a:rPr lang="en-US" sz="1400" b="1" i="1">
                          <a:solidFill>
                            <a:srgbClr val="065A82"/>
                          </a:solidFill>
                          <a:latin typeface="Cambria Math" panose="02040503050406030204" pitchFamily="18" charset="0"/>
                          <a:ea typeface="Calibri" pitchFamily="34" charset="-122"/>
                          <a:cs typeface="Calibri" pitchFamily="34" charset="-120"/>
                        </a:rPr>
                        <m:t>=</m:t>
                      </m:r>
                      <m:nary>
                        <m:naryPr>
                          <m:chr m:val="∏"/>
                          <m:ctrlPr>
                            <a:rPr lang="en-US" sz="1400" b="1" i="1">
                              <a:solidFill>
                                <a:srgbClr val="065A82"/>
                              </a:solidFill>
                              <a:latin typeface="Cambria Math" panose="02040503050406030204" pitchFamily="18" charset="0"/>
                              <a:ea typeface="Calibri" pitchFamily="34" charset="-122"/>
                              <a:cs typeface="Calibri" pitchFamily="34" charset="-120"/>
                            </a:rPr>
                          </m:ctrlPr>
                        </m:naryPr>
                        <m:sub>
                          <m:r>
                            <a:rPr lang="en-US" sz="1400" b="1" i="1">
                              <a:solidFill>
                                <a:srgbClr val="065A82"/>
                              </a:solidFill>
                              <a:latin typeface="Cambria Math" panose="02040503050406030204" pitchFamily="18" charset="0"/>
                              <a:ea typeface="Calibri" pitchFamily="34" charset="-122"/>
                              <a:cs typeface="Calibri" pitchFamily="34" charset="-120"/>
                            </a:rPr>
                            <m:t>𝒍</m:t>
                          </m:r>
                          <m:r>
                            <a:rPr lang="en-US" sz="1400" b="1" i="1">
                              <a:solidFill>
                                <a:srgbClr val="065A82"/>
                              </a:solidFill>
                              <a:latin typeface="Cambria Math" panose="02040503050406030204" pitchFamily="18" charset="0"/>
                              <a:ea typeface="Calibri" pitchFamily="34" charset="-122"/>
                              <a:cs typeface="Calibri" pitchFamily="34" charset="-120"/>
                            </a:rPr>
                            <m:t>=</m:t>
                          </m:r>
                          <m:r>
                            <a:rPr lang="en-US" sz="1400" b="1" i="1">
                              <a:solidFill>
                                <a:srgbClr val="065A82"/>
                              </a:solidFill>
                              <a:latin typeface="Cambria Math" panose="02040503050406030204" pitchFamily="18" charset="0"/>
                              <a:ea typeface="Calibri" pitchFamily="34" charset="-122"/>
                              <a:cs typeface="Calibri" pitchFamily="34" charset="-120"/>
                            </a:rPr>
                            <m:t>𝟏</m:t>
                          </m:r>
                        </m:sub>
                        <m:sup>
                          <m:r>
                            <a:rPr lang="en-US" sz="1400" b="1" i="1">
                              <a:solidFill>
                                <a:srgbClr val="065A82"/>
                              </a:solidFill>
                              <a:latin typeface="Cambria Math" panose="02040503050406030204" pitchFamily="18" charset="0"/>
                              <a:ea typeface="Calibri" pitchFamily="34" charset="-122"/>
                              <a:cs typeface="Calibri" pitchFamily="34" charset="-120"/>
                            </a:rPr>
                            <m:t>𝑳</m:t>
                          </m:r>
                        </m:sup>
                        <m:e>
                          <m:r>
                            <a:rPr lang="en-US" sz="1400" b="1" i="1">
                              <a:solidFill>
                                <a:srgbClr val="065A82"/>
                              </a:solidFill>
                              <a:latin typeface="Cambria Math" panose="02040503050406030204" pitchFamily="18" charset="0"/>
                              <a:ea typeface="Calibri" pitchFamily="34" charset="-122"/>
                              <a:cs typeface="Calibri" pitchFamily="34" charset="-120"/>
                            </a:rPr>
                            <m:t>𝒒</m:t>
                          </m:r>
                          <m:d>
                            <m:dPr>
                              <m:sepChr m:val="∣"/>
                              <m:ctrlPr>
                                <a:rPr lang="en-US" sz="1400" b="1" i="1">
                                  <a:solidFill>
                                    <a:srgbClr val="065A82"/>
                                  </a:solidFill>
                                  <a:latin typeface="Cambria Math" panose="02040503050406030204" pitchFamily="18" charset="0"/>
                                  <a:ea typeface="Calibri" pitchFamily="34" charset="-122"/>
                                  <a:cs typeface="Calibri" pitchFamily="34" charset="-120"/>
                                </a:rPr>
                              </m:ctrlPr>
                            </m:dPr>
                            <m:e>
                              <m:sSup>
                                <m:sSupPr>
                                  <m:ctrlPr>
                                    <a:rPr lang="en-US" sz="1400" b="1" i="1">
                                      <a:solidFill>
                                        <a:srgbClr val="065A82"/>
                                      </a:solidFill>
                                      <a:latin typeface="Cambria Math" panose="02040503050406030204" pitchFamily="18" charset="0"/>
                                      <a:ea typeface="Calibri" pitchFamily="34" charset="-122"/>
                                      <a:cs typeface="Calibri" pitchFamily="34" charset="-120"/>
                                    </a:rPr>
                                  </m:ctrlPr>
                                </m:sSupPr>
                                <m:e>
                                  <m:r>
                                    <a:rPr lang="en-US" sz="1400" b="1" i="1">
                                      <a:solidFill>
                                        <a:srgbClr val="065A82"/>
                                      </a:solidFill>
                                      <a:latin typeface="Cambria Math" panose="02040503050406030204" pitchFamily="18" charset="0"/>
                                      <a:ea typeface="Calibri" pitchFamily="34" charset="-122"/>
                                      <a:cs typeface="Calibri" pitchFamily="34" charset="-120"/>
                                    </a:rPr>
                                    <m:t>𝑽</m:t>
                                  </m:r>
                                </m:e>
                                <m:sup>
                                  <m:r>
                                    <a:rPr lang="en-US" sz="1400" b="1" i="1">
                                      <a:solidFill>
                                        <a:srgbClr val="065A82"/>
                                      </a:solidFill>
                                      <a:latin typeface="Cambria Math" panose="02040503050406030204" pitchFamily="18" charset="0"/>
                                      <a:ea typeface="Calibri" pitchFamily="34" charset="-122"/>
                                      <a:cs typeface="Calibri" pitchFamily="34" charset="-120"/>
                                    </a:rPr>
                                    <m:t>𝒍</m:t>
                                  </m:r>
                                </m:sup>
                              </m:sSup>
                            </m:e>
                            <m:e>
                              <m:sSup>
                                <m:sSupPr>
                                  <m:ctrlPr>
                                    <a:rPr lang="en-US" sz="1400" b="1" i="1">
                                      <a:solidFill>
                                        <a:srgbClr val="065A82"/>
                                      </a:solidFill>
                                      <a:latin typeface="Cambria Math" panose="02040503050406030204" pitchFamily="18" charset="0"/>
                                      <a:ea typeface="Calibri" pitchFamily="34" charset="-122"/>
                                      <a:cs typeface="Calibri" pitchFamily="34" charset="-120"/>
                                    </a:rPr>
                                  </m:ctrlPr>
                                </m:sSupPr>
                                <m:e>
                                  <m:r>
                                    <a:rPr lang="en-US" sz="1400" b="1" i="1">
                                      <a:solidFill>
                                        <a:srgbClr val="065A82"/>
                                      </a:solidFill>
                                      <a:latin typeface="Cambria Math" panose="02040503050406030204" pitchFamily="18" charset="0"/>
                                      <a:ea typeface="Calibri" pitchFamily="34" charset="-122"/>
                                      <a:cs typeface="Calibri" pitchFamily="34" charset="-120"/>
                                    </a:rPr>
                                    <m:t>𝑽</m:t>
                                  </m:r>
                                </m:e>
                                <m:sup>
                                  <m:r>
                                    <a:rPr lang="en-US" sz="1400" b="1" i="1">
                                      <a:solidFill>
                                        <a:srgbClr val="065A82"/>
                                      </a:solidFill>
                                      <a:latin typeface="Cambria Math" panose="02040503050406030204" pitchFamily="18" charset="0"/>
                                      <a:ea typeface="Calibri" pitchFamily="34" charset="-122"/>
                                      <a:cs typeface="Calibri" pitchFamily="34" charset="-120"/>
                                    </a:rPr>
                                    <m:t>𝟎</m:t>
                                  </m:r>
                                </m:sup>
                              </m:sSup>
                              <m:r>
                                <a:rPr lang="en-US" sz="1400" b="1" i="1">
                                  <a:solidFill>
                                    <a:srgbClr val="065A82"/>
                                  </a:solidFill>
                                  <a:latin typeface="Cambria Math" panose="02040503050406030204" pitchFamily="18" charset="0"/>
                                  <a:ea typeface="Calibri" pitchFamily="34" charset="-122"/>
                                  <a:cs typeface="Calibri" pitchFamily="34" charset="-120"/>
                                </a:rPr>
                                <m:t>,…,</m:t>
                              </m:r>
                              <m:sSup>
                                <m:sSupPr>
                                  <m:ctrlPr>
                                    <a:rPr lang="en-US" sz="1400" b="1" i="1">
                                      <a:solidFill>
                                        <a:srgbClr val="065A82"/>
                                      </a:solidFill>
                                      <a:latin typeface="Cambria Math" panose="02040503050406030204" pitchFamily="18" charset="0"/>
                                      <a:ea typeface="Calibri" pitchFamily="34" charset="-122"/>
                                      <a:cs typeface="Calibri" pitchFamily="34" charset="-120"/>
                                    </a:rPr>
                                  </m:ctrlPr>
                                </m:sSupPr>
                                <m:e>
                                  <m:r>
                                    <a:rPr lang="en-US" sz="1400" b="1" i="1">
                                      <a:solidFill>
                                        <a:srgbClr val="065A82"/>
                                      </a:solidFill>
                                      <a:latin typeface="Cambria Math" panose="02040503050406030204" pitchFamily="18" charset="0"/>
                                      <a:ea typeface="Calibri" pitchFamily="34" charset="-122"/>
                                      <a:cs typeface="Calibri" pitchFamily="34" charset="-120"/>
                                    </a:rPr>
                                    <m:t>𝑽</m:t>
                                  </m:r>
                                </m:e>
                                <m:sup>
                                  <m:r>
                                    <a:rPr lang="en-US" sz="1400" b="1" i="1">
                                      <a:solidFill>
                                        <a:srgbClr val="065A82"/>
                                      </a:solidFill>
                                      <a:latin typeface="Cambria Math" panose="02040503050406030204" pitchFamily="18" charset="0"/>
                                      <a:ea typeface="Calibri" pitchFamily="34" charset="-122"/>
                                      <a:cs typeface="Calibri" pitchFamily="34" charset="-120"/>
                                    </a:rPr>
                                    <m:t>𝒍</m:t>
                                  </m:r>
                                  <m:r>
                                    <a:rPr lang="en-US" sz="1400" b="1" i="1">
                                      <a:solidFill>
                                        <a:srgbClr val="065A82"/>
                                      </a:solidFill>
                                      <a:latin typeface="Cambria Math" panose="02040503050406030204" pitchFamily="18" charset="0"/>
                                      <a:ea typeface="Calibri" pitchFamily="34" charset="-122"/>
                                      <a:cs typeface="Calibri" pitchFamily="34" charset="-120"/>
                                    </a:rPr>
                                    <m:t>−</m:t>
                                  </m:r>
                                  <m:r>
                                    <a:rPr lang="en-US" sz="1400" b="1" i="1">
                                      <a:solidFill>
                                        <a:srgbClr val="065A82"/>
                                      </a:solidFill>
                                      <a:latin typeface="Cambria Math" panose="02040503050406030204" pitchFamily="18" charset="0"/>
                                      <a:ea typeface="Calibri" pitchFamily="34" charset="-122"/>
                                      <a:cs typeface="Calibri" pitchFamily="34" charset="-120"/>
                                    </a:rPr>
                                    <m:t>𝟏</m:t>
                                  </m:r>
                                </m:sup>
                              </m:sSup>
                            </m:e>
                          </m:d>
                        </m:e>
                      </m:nary>
                    </m:oMath>
                  </m:oMathPara>
                </a14:m>
                <a:endParaRPr lang="en-US" sz="1400" dirty="0"/>
              </a:p>
            </p:txBody>
          </p:sp>
        </mc:Choice>
        <mc:Fallback xmlns="">
          <p:sp>
            <p:nvSpPr>
              <p:cNvPr id="12" name="Text 10"/>
              <p:cNvSpPr>
                <a:spLocks noRot="1" noChangeAspect="1" noMove="1" noResize="1" noEditPoints="1" noAdjustHandles="1" noChangeArrowheads="1" noChangeShapeType="1" noTextEdit="1"/>
              </p:cNvSpPr>
              <p:nvPr/>
            </p:nvSpPr>
            <p:spPr>
              <a:xfrm>
                <a:off x="4846320" y="1325880"/>
                <a:ext cx="4023360" cy="749808"/>
              </a:xfrm>
              <a:prstGeom prst="rect">
                <a:avLst/>
              </a:prstGeom>
              <a:blipFill>
                <a:blip r:embed="rId4"/>
                <a:stretch>
                  <a:fillRect t="-81667" b="-136667"/>
                </a:stretch>
              </a:blipFill>
              <a:ln/>
            </p:spPr>
            <p:txBody>
              <a:bodyPr/>
              <a:lstStyle/>
              <a:p>
                <a:r>
                  <a:rPr lang="en-VN">
                    <a:noFill/>
                  </a:rPr>
                  <a:t> </a:t>
                </a:r>
              </a:p>
            </p:txBody>
          </p:sp>
        </mc:Fallback>
      </mc:AlternateContent>
      <p:sp>
        <p:nvSpPr>
          <p:cNvPr id="13" name="Shape 11"/>
          <p:cNvSpPr/>
          <p:nvPr/>
        </p:nvSpPr>
        <p:spPr>
          <a:xfrm>
            <a:off x="4846320" y="2194560"/>
            <a:ext cx="1005840" cy="384048"/>
          </a:xfrm>
          <a:prstGeom prst="rect">
            <a:avLst/>
          </a:prstGeom>
          <a:solidFill>
            <a:srgbClr val="1C7293"/>
          </a:solidFill>
          <a:ln w="12700">
            <a:solidFill>
              <a:srgbClr val="1C7293"/>
            </a:solidFill>
            <a:prstDash val="solid"/>
          </a:ln>
        </p:spPr>
        <p:txBody>
          <a:bodyPr/>
          <a:lstStyle/>
          <a:p>
            <a:endParaRPr lang="en-VN"/>
          </a:p>
        </p:txBody>
      </p:sp>
      <p:sp>
        <p:nvSpPr>
          <p:cNvPr id="14" name="Text 12"/>
          <p:cNvSpPr/>
          <p:nvPr/>
        </p:nvSpPr>
        <p:spPr>
          <a:xfrm>
            <a:off x="4846320" y="2194560"/>
            <a:ext cx="10058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Tầng 0</a:t>
            </a:r>
            <a:endParaRPr lang="en-US" sz="1100" dirty="0"/>
          </a:p>
        </p:txBody>
      </p:sp>
      <p:sp>
        <p:nvSpPr>
          <p:cNvPr id="15" name="Text 13"/>
          <p:cNvSpPr/>
          <p:nvPr/>
        </p:nvSpPr>
        <p:spPr>
          <a:xfrm>
            <a:off x="5943600" y="2194560"/>
            <a:ext cx="2926080" cy="384048"/>
          </a:xfrm>
          <a:prstGeom prst="rect">
            <a:avLst/>
          </a:prstGeom>
          <a:noFill/>
          <a:ln/>
        </p:spPr>
        <p:txBody>
          <a:bodyPr wrap="square" rtlCol="0" anchor="ctr"/>
          <a:lstStyle/>
          <a:p>
            <a:pPr marL="0" indent="0">
              <a:buNone/>
            </a:pPr>
            <a:r>
              <a:rPr lang="en-US" sz="1250" dirty="0">
                <a:solidFill>
                  <a:srgbClr val="1A2B3C"/>
                </a:solidFill>
                <a:latin typeface="Calibri" pitchFamily="34" charset="0"/>
                <a:ea typeface="Calibri" pitchFamily="34" charset="-122"/>
                <a:cs typeface="Calibri" pitchFamily="34" charset="-120"/>
              </a:rPr>
              <a:t>V⁰ = tập đỉnh đích mini-batch</a:t>
            </a:r>
            <a:endParaRPr lang="en-US" sz="1250" dirty="0"/>
          </a:p>
        </p:txBody>
      </p:sp>
      <p:sp>
        <p:nvSpPr>
          <p:cNvPr id="16" name="Shape 14"/>
          <p:cNvSpPr/>
          <p:nvPr/>
        </p:nvSpPr>
        <p:spPr>
          <a:xfrm>
            <a:off x="4846320" y="2688336"/>
            <a:ext cx="1005840" cy="384048"/>
          </a:xfrm>
          <a:prstGeom prst="rect">
            <a:avLst/>
          </a:prstGeom>
          <a:solidFill>
            <a:srgbClr val="1C7293"/>
          </a:solidFill>
          <a:ln w="12700">
            <a:solidFill>
              <a:srgbClr val="1C7293"/>
            </a:solidFill>
            <a:prstDash val="solid"/>
          </a:ln>
        </p:spPr>
        <p:txBody>
          <a:bodyPr/>
          <a:lstStyle/>
          <a:p>
            <a:endParaRPr lang="en-VN"/>
          </a:p>
        </p:txBody>
      </p:sp>
      <p:sp>
        <p:nvSpPr>
          <p:cNvPr id="17" name="Text 15"/>
          <p:cNvSpPr/>
          <p:nvPr/>
        </p:nvSpPr>
        <p:spPr>
          <a:xfrm>
            <a:off x="4846320" y="2688336"/>
            <a:ext cx="10058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Tầng 1</a:t>
            </a:r>
            <a:endParaRPr lang="en-US" sz="1100" dirty="0"/>
          </a:p>
        </p:txBody>
      </p:sp>
      <mc:AlternateContent xmlns:mc="http://schemas.openxmlformats.org/markup-compatibility/2006" xmlns:a14="http://schemas.microsoft.com/office/drawing/2010/main">
        <mc:Choice Requires="a14">
          <p:sp>
            <p:nvSpPr>
              <p:cNvPr id="18" name="Text 16"/>
              <p:cNvSpPr/>
              <p:nvPr/>
            </p:nvSpPr>
            <p:spPr>
              <a:xfrm>
                <a:off x="5943600" y="2688336"/>
                <a:ext cx="2926080" cy="384048"/>
              </a:xfrm>
              <a:prstGeom prst="rect">
                <a:avLst/>
              </a:prstGeom>
              <a:noFill/>
              <a:ln/>
            </p:spPr>
            <p:txBody>
              <a:bodyPr wrap="square" rtlCol="0" anchor="ctr"/>
              <a:lstStyle/>
              <a:p>
                <a:pPr marL="0" indent="0">
                  <a:buNone/>
                </a:pPr>
                <a14:m>
                  <m:oMath xmlns:m="http://schemas.openxmlformats.org/officeDocument/2006/math">
                    <m:r>
                      <a:rPr lang="en-US" sz="1250" i="1" dirty="0" smtClean="0">
                        <a:solidFill>
                          <a:srgbClr val="1A2B3C"/>
                        </a:solidFill>
                        <a:latin typeface="Cambria Math" panose="02040503050406030204" pitchFamily="18" charset="0"/>
                        <a:ea typeface="Calibri" pitchFamily="34" charset="-122"/>
                        <a:cs typeface="Calibri" pitchFamily="34" charset="-120"/>
                      </a:rPr>
                      <m:t>𝐺𝐶</m:t>
                    </m:r>
                    <m:sSub>
                      <m:sSubPr>
                        <m:ctrlPr>
                          <a:rPr lang="en-US" sz="1250" i="1" dirty="0" smtClean="0">
                            <a:solidFill>
                              <a:srgbClr val="1A2B3C"/>
                            </a:solidFill>
                            <a:latin typeface="Cambria Math" panose="02040503050406030204" pitchFamily="18" charset="0"/>
                            <a:ea typeface="Calibri" pitchFamily="34" charset="-122"/>
                            <a:cs typeface="Calibri" pitchFamily="34" charset="-120"/>
                          </a:rPr>
                        </m:ctrlPr>
                      </m:sSubPr>
                      <m:e>
                        <m:r>
                          <a:rPr lang="en-US" sz="1250" i="1" dirty="0" smtClean="0">
                            <a:solidFill>
                              <a:srgbClr val="1A2B3C"/>
                            </a:solidFill>
                            <a:latin typeface="Cambria Math" panose="02040503050406030204" pitchFamily="18" charset="0"/>
                            <a:ea typeface="Calibri" pitchFamily="34" charset="-122"/>
                            <a:cs typeface="Calibri" pitchFamily="34" charset="-120"/>
                          </a:rPr>
                          <m:t>𝑁</m:t>
                        </m:r>
                      </m:e>
                      <m:sub>
                        <m:r>
                          <a:rPr lang="en-US" sz="1250" i="1" dirty="0" smtClean="0">
                            <a:solidFill>
                              <a:srgbClr val="1A2B3C"/>
                            </a:solidFill>
                            <a:latin typeface="Cambria Math" panose="02040503050406030204" pitchFamily="18" charset="0"/>
                            <a:ea typeface="Calibri" pitchFamily="34" charset="-122"/>
                            <a:cs typeface="Calibri" pitchFamily="34" charset="-120"/>
                          </a:rPr>
                          <m:t>𝑆</m:t>
                        </m:r>
                      </m:sub>
                    </m:sSub>
                  </m:oMath>
                </a14:m>
                <a:r>
                  <a:rPr lang="en-US" sz="1250" dirty="0">
                    <a:solidFill>
                      <a:srgbClr val="1A2B3C"/>
                    </a:solidFill>
                    <a:latin typeface="Calibri" pitchFamily="34" charset="0"/>
                    <a:ea typeface="Calibri" pitchFamily="34" charset="-122"/>
                    <a:cs typeface="Calibri" pitchFamily="34" charset="-120"/>
                  </a:rPr>
                  <a:t> tính pᵢ cho lân cận của K⁽⁰⁾, chọn k đỉnh → V¹</a:t>
                </a:r>
                <a:endParaRPr lang="en-US" sz="1250" dirty="0"/>
              </a:p>
            </p:txBody>
          </p:sp>
        </mc:Choice>
        <mc:Fallback xmlns="">
          <p:sp>
            <p:nvSpPr>
              <p:cNvPr id="18" name="Text 16"/>
              <p:cNvSpPr>
                <a:spLocks noRot="1" noChangeAspect="1" noMove="1" noResize="1" noEditPoints="1" noAdjustHandles="1" noChangeArrowheads="1" noChangeShapeType="1" noTextEdit="1"/>
              </p:cNvSpPr>
              <p:nvPr/>
            </p:nvSpPr>
            <p:spPr>
              <a:xfrm>
                <a:off x="5943600" y="2688336"/>
                <a:ext cx="2926080" cy="384048"/>
              </a:xfrm>
              <a:prstGeom prst="rect">
                <a:avLst/>
              </a:prstGeom>
              <a:blipFill>
                <a:blip r:embed="rId5"/>
                <a:stretch>
                  <a:fillRect l="-433" t="-12903" b="-25806"/>
                </a:stretch>
              </a:blipFill>
              <a:ln/>
            </p:spPr>
            <p:txBody>
              <a:bodyPr/>
              <a:lstStyle/>
              <a:p>
                <a:r>
                  <a:rPr lang="en-VN">
                    <a:noFill/>
                  </a:rPr>
                  <a:t> </a:t>
                </a:r>
              </a:p>
            </p:txBody>
          </p:sp>
        </mc:Fallback>
      </mc:AlternateContent>
      <p:sp>
        <p:nvSpPr>
          <p:cNvPr id="19" name="Shape 17"/>
          <p:cNvSpPr/>
          <p:nvPr/>
        </p:nvSpPr>
        <p:spPr>
          <a:xfrm>
            <a:off x="4846320" y="3182112"/>
            <a:ext cx="1005840" cy="384048"/>
          </a:xfrm>
          <a:prstGeom prst="rect">
            <a:avLst/>
          </a:prstGeom>
          <a:solidFill>
            <a:srgbClr val="1C7293"/>
          </a:solidFill>
          <a:ln w="12700">
            <a:solidFill>
              <a:srgbClr val="1C7293"/>
            </a:solidFill>
            <a:prstDash val="solid"/>
          </a:ln>
        </p:spPr>
        <p:txBody>
          <a:bodyPr/>
          <a:lstStyle/>
          <a:p>
            <a:endParaRPr lang="en-VN"/>
          </a:p>
        </p:txBody>
      </p:sp>
      <p:sp>
        <p:nvSpPr>
          <p:cNvPr id="20" name="Text 18"/>
          <p:cNvSpPr/>
          <p:nvPr/>
        </p:nvSpPr>
        <p:spPr>
          <a:xfrm>
            <a:off x="4846320" y="3182112"/>
            <a:ext cx="10058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Tầng 2</a:t>
            </a:r>
            <a:endParaRPr lang="en-US" sz="1100" dirty="0"/>
          </a:p>
        </p:txBody>
      </p:sp>
      <mc:AlternateContent xmlns:mc="http://schemas.openxmlformats.org/markup-compatibility/2006" xmlns:a14="http://schemas.microsoft.com/office/drawing/2010/main">
        <mc:Choice Requires="a14">
          <p:sp>
            <p:nvSpPr>
              <p:cNvPr id="21" name="Text 19"/>
              <p:cNvSpPr/>
              <p:nvPr/>
            </p:nvSpPr>
            <p:spPr>
              <a:xfrm>
                <a:off x="5943600" y="3182112"/>
                <a:ext cx="2926080" cy="384048"/>
              </a:xfrm>
              <a:prstGeom prst="rect">
                <a:avLst/>
              </a:prstGeom>
              <a:noFill/>
              <a:ln/>
            </p:spPr>
            <p:txBody>
              <a:bodyPr wrap="square" rtlCol="0" anchor="ctr"/>
              <a:lstStyle/>
              <a:p>
                <a:pPr marL="0" indent="0">
                  <a:buNone/>
                </a:pPr>
                <a14:m>
                  <m:oMath xmlns:m="http://schemas.openxmlformats.org/officeDocument/2006/math">
                    <m:r>
                      <a:rPr lang="en-US" sz="1250" i="1" dirty="0" smtClean="0">
                        <a:solidFill>
                          <a:srgbClr val="1A2B3C"/>
                        </a:solidFill>
                        <a:latin typeface="Cambria Math" panose="02040503050406030204" pitchFamily="18" charset="0"/>
                        <a:ea typeface="Calibri" pitchFamily="34" charset="-122"/>
                        <a:cs typeface="Calibri" pitchFamily="34" charset="-120"/>
                      </a:rPr>
                      <m:t>𝐺𝐶</m:t>
                    </m:r>
                    <m:sSub>
                      <m:sSubPr>
                        <m:ctrlPr>
                          <a:rPr lang="en-US" sz="1250" i="1" dirty="0" smtClean="0">
                            <a:solidFill>
                              <a:srgbClr val="1A2B3C"/>
                            </a:solidFill>
                            <a:latin typeface="Cambria Math" panose="02040503050406030204" pitchFamily="18" charset="0"/>
                            <a:ea typeface="Calibri" pitchFamily="34" charset="-122"/>
                            <a:cs typeface="Calibri" pitchFamily="34" charset="-120"/>
                          </a:rPr>
                        </m:ctrlPr>
                      </m:sSubPr>
                      <m:e>
                        <m:r>
                          <a:rPr lang="en-US" sz="1250" i="1" dirty="0" smtClean="0">
                            <a:solidFill>
                              <a:srgbClr val="1A2B3C"/>
                            </a:solidFill>
                            <a:latin typeface="Cambria Math" panose="02040503050406030204" pitchFamily="18" charset="0"/>
                            <a:ea typeface="Calibri" pitchFamily="34" charset="-122"/>
                            <a:cs typeface="Calibri" pitchFamily="34" charset="-120"/>
                          </a:rPr>
                          <m:t>𝑁</m:t>
                        </m:r>
                      </m:e>
                      <m:sub>
                        <m:r>
                          <a:rPr lang="en-US" sz="1250" i="1" dirty="0" smtClean="0">
                            <a:solidFill>
                              <a:srgbClr val="1A2B3C"/>
                            </a:solidFill>
                            <a:latin typeface="Cambria Math" panose="02040503050406030204" pitchFamily="18" charset="0"/>
                            <a:ea typeface="Calibri" pitchFamily="34" charset="-122"/>
                            <a:cs typeface="Calibri" pitchFamily="34" charset="-120"/>
                          </a:rPr>
                          <m:t>𝑆</m:t>
                        </m:r>
                      </m:sub>
                    </m:sSub>
                  </m:oMath>
                </a14:m>
                <a:r>
                  <a:rPr lang="en-US" sz="1250" dirty="0">
                    <a:solidFill>
                      <a:srgbClr val="1A2B3C"/>
                    </a:solidFill>
                    <a:latin typeface="Calibri" pitchFamily="34" charset="0"/>
                    <a:ea typeface="Calibri" pitchFamily="34" charset="-122"/>
                    <a:cs typeface="Calibri" pitchFamily="34" charset="-120"/>
                  </a:rPr>
                  <a:t> tính pᵢ cho lân cận của K⁽¹⁾, chọn k đỉnh → V²</a:t>
                </a:r>
                <a:endParaRPr lang="en-US" sz="1250" dirty="0"/>
              </a:p>
            </p:txBody>
          </p:sp>
        </mc:Choice>
        <mc:Fallback xmlns="">
          <p:sp>
            <p:nvSpPr>
              <p:cNvPr id="21" name="Text 19"/>
              <p:cNvSpPr>
                <a:spLocks noRot="1" noChangeAspect="1" noMove="1" noResize="1" noEditPoints="1" noAdjustHandles="1" noChangeArrowheads="1" noChangeShapeType="1" noTextEdit="1"/>
              </p:cNvSpPr>
              <p:nvPr/>
            </p:nvSpPr>
            <p:spPr>
              <a:xfrm>
                <a:off x="5943600" y="3182112"/>
                <a:ext cx="2926080" cy="384048"/>
              </a:xfrm>
              <a:prstGeom prst="rect">
                <a:avLst/>
              </a:prstGeom>
              <a:blipFill>
                <a:blip r:embed="rId6"/>
                <a:stretch>
                  <a:fillRect l="-433" t="-12903" b="-25806"/>
                </a:stretch>
              </a:blipFill>
              <a:ln/>
            </p:spPr>
            <p:txBody>
              <a:bodyPr/>
              <a:lstStyle/>
              <a:p>
                <a:r>
                  <a:rPr lang="en-VN">
                    <a:noFill/>
                  </a:rPr>
                  <a:t> </a:t>
                </a:r>
              </a:p>
            </p:txBody>
          </p:sp>
        </mc:Fallback>
      </mc:AlternateContent>
      <p:sp>
        <p:nvSpPr>
          <p:cNvPr id="22" name="Shape 20"/>
          <p:cNvSpPr/>
          <p:nvPr/>
        </p:nvSpPr>
        <p:spPr>
          <a:xfrm>
            <a:off x="4846320" y="3675888"/>
            <a:ext cx="1005840" cy="384048"/>
          </a:xfrm>
          <a:prstGeom prst="rect">
            <a:avLst/>
          </a:prstGeom>
          <a:solidFill>
            <a:srgbClr val="1C7293"/>
          </a:solidFill>
          <a:ln w="12700">
            <a:solidFill>
              <a:srgbClr val="1C7293"/>
            </a:solidFill>
            <a:prstDash val="solid"/>
          </a:ln>
        </p:spPr>
        <p:txBody>
          <a:bodyPr/>
          <a:lstStyle/>
          <a:p>
            <a:endParaRPr lang="en-VN"/>
          </a:p>
        </p:txBody>
      </p:sp>
      <p:sp>
        <p:nvSpPr>
          <p:cNvPr id="23" name="Text 21"/>
          <p:cNvSpPr/>
          <p:nvPr/>
        </p:nvSpPr>
        <p:spPr>
          <a:xfrm>
            <a:off x="4846320" y="3675888"/>
            <a:ext cx="10058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Tầng L</a:t>
            </a:r>
            <a:endParaRPr lang="en-US" sz="1100" dirty="0"/>
          </a:p>
        </p:txBody>
      </p:sp>
      <p:sp>
        <p:nvSpPr>
          <p:cNvPr id="24" name="Text 22"/>
          <p:cNvSpPr/>
          <p:nvPr/>
        </p:nvSpPr>
        <p:spPr>
          <a:xfrm>
            <a:off x="5943600" y="3675888"/>
            <a:ext cx="2926080" cy="384048"/>
          </a:xfrm>
          <a:prstGeom prst="rect">
            <a:avLst/>
          </a:prstGeom>
          <a:noFill/>
          <a:ln/>
        </p:spPr>
        <p:txBody>
          <a:bodyPr wrap="square" rtlCol="0" anchor="ctr"/>
          <a:lstStyle/>
          <a:p>
            <a:pPr marL="0" indent="0">
              <a:buNone/>
            </a:pPr>
            <a:r>
              <a:rPr lang="en-US" sz="1250" dirty="0">
                <a:solidFill>
                  <a:srgbClr val="1A2B3C"/>
                </a:solidFill>
                <a:latin typeface="Calibri" pitchFamily="34" charset="0"/>
                <a:ea typeface="Calibri" pitchFamily="34" charset="-122"/>
                <a:cs typeface="Calibri" pitchFamily="34" charset="-120"/>
              </a:rPr>
              <a:t>K⁽ᴸ⁾ = V⁰ ∪ V¹ ∪ … ∪ Vᴸ (tích lũy qua từng tầng)</a:t>
            </a:r>
            <a:endParaRPr lang="en-US" sz="1250" dirty="0"/>
          </a:p>
        </p:txBody>
      </p:sp>
      <p:sp>
        <p:nvSpPr>
          <p:cNvPr id="25" name="Shape 23"/>
          <p:cNvSpPr/>
          <p:nvPr/>
        </p:nvSpPr>
        <p:spPr>
          <a:xfrm>
            <a:off x="4846320" y="4169664"/>
            <a:ext cx="1005840" cy="384048"/>
          </a:xfrm>
          <a:prstGeom prst="rect">
            <a:avLst/>
          </a:prstGeom>
          <a:solidFill>
            <a:srgbClr val="02C39A"/>
          </a:solidFill>
          <a:ln w="12700">
            <a:solidFill>
              <a:srgbClr val="02C39A"/>
            </a:solidFill>
            <a:prstDash val="solid"/>
          </a:ln>
        </p:spPr>
        <p:txBody>
          <a:bodyPr/>
          <a:lstStyle/>
          <a:p>
            <a:endParaRPr lang="en-VN"/>
          </a:p>
        </p:txBody>
      </p:sp>
      <p:sp>
        <p:nvSpPr>
          <p:cNvPr id="26" name="Text 24"/>
          <p:cNvSpPr/>
          <p:nvPr/>
        </p:nvSpPr>
        <p:spPr>
          <a:xfrm>
            <a:off x="4846320" y="4169664"/>
            <a:ext cx="1005840" cy="384048"/>
          </a:xfrm>
          <a:prstGeom prst="rect">
            <a:avLst/>
          </a:prstGeom>
          <a:noFill/>
          <a:ln/>
        </p:spPr>
        <p:txBody>
          <a:bodyPr wrap="square" lIns="0" tIns="0" rIns="0" bIns="0"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Kết quả</a:t>
            </a:r>
            <a:endParaRPr lang="en-US" sz="1100" dirty="0"/>
          </a:p>
        </p:txBody>
      </p:sp>
      <mc:AlternateContent xmlns:mc="http://schemas.openxmlformats.org/markup-compatibility/2006" xmlns:a14="http://schemas.microsoft.com/office/drawing/2010/main">
        <mc:Choice Requires="a14">
          <p:sp>
            <p:nvSpPr>
              <p:cNvPr id="27" name="Text 25"/>
              <p:cNvSpPr/>
              <p:nvPr/>
            </p:nvSpPr>
            <p:spPr>
              <a:xfrm>
                <a:off x="5943600" y="4169664"/>
                <a:ext cx="2926080" cy="384048"/>
              </a:xfrm>
              <a:prstGeom prst="rect">
                <a:avLst/>
              </a:prstGeom>
              <a:noFill/>
              <a:ln/>
            </p:spPr>
            <p:txBody>
              <a:bodyPr wrap="square" rtlCol="0" anchor="ctr"/>
              <a:lstStyle/>
              <a:p>
                <a:pPr marL="0" indent="0">
                  <a:buNone/>
                </a:pPr>
                <a:r>
                  <a:rPr lang="en-US" sz="1250" dirty="0">
                    <a:solidFill>
                      <a:srgbClr val="1A2B3C"/>
                    </a:solidFill>
                    <a:latin typeface="Calibri" pitchFamily="34" charset="0"/>
                    <a:ea typeface="Calibri" pitchFamily="34" charset="-122"/>
                    <a:cs typeface="Calibri" pitchFamily="34" charset="-120"/>
                  </a:rPr>
                  <a:t>Đồ thị con </a:t>
                </a:r>
                <a14:m>
                  <m:oMath xmlns:m="http://schemas.openxmlformats.org/officeDocument/2006/math">
                    <m:sSub>
                      <m:sSubPr>
                        <m:ctrlPr>
                          <a:rPr lang="en-US" sz="1250" i="1" dirty="0" smtClean="0">
                            <a:solidFill>
                              <a:srgbClr val="1A2B3C"/>
                            </a:solidFill>
                            <a:latin typeface="Cambria Math" panose="02040503050406030204" pitchFamily="18" charset="0"/>
                            <a:ea typeface="Calibri" pitchFamily="34" charset="-122"/>
                            <a:cs typeface="Calibri" pitchFamily="34" charset="-120"/>
                          </a:rPr>
                        </m:ctrlPr>
                      </m:sSubPr>
                      <m:e>
                        <m:r>
                          <a:rPr lang="en-US" sz="1250" i="1" dirty="0" smtClean="0">
                            <a:solidFill>
                              <a:srgbClr val="1A2B3C"/>
                            </a:solidFill>
                            <a:latin typeface="Cambria Math" panose="02040503050406030204" pitchFamily="18" charset="0"/>
                            <a:ea typeface="Calibri" pitchFamily="34" charset="-122"/>
                            <a:cs typeface="Calibri" pitchFamily="34" charset="-120"/>
                          </a:rPr>
                          <m:t>𝐺</m:t>
                        </m:r>
                      </m:e>
                      <m:sub>
                        <m:r>
                          <a:rPr lang="en-US" sz="1250" i="1" dirty="0" smtClean="0">
                            <a:solidFill>
                              <a:srgbClr val="1A2B3C"/>
                            </a:solidFill>
                            <a:latin typeface="Cambria Math" panose="02040503050406030204" pitchFamily="18" charset="0"/>
                            <a:ea typeface="Calibri" pitchFamily="34" charset="-122"/>
                            <a:cs typeface="Calibri" pitchFamily="34" charset="-120"/>
                          </a:rPr>
                          <m:t>𝑠</m:t>
                        </m:r>
                      </m:sub>
                    </m:sSub>
                  </m:oMath>
                </a14:m>
                <a:r>
                  <a:rPr lang="en-US" sz="1250" dirty="0">
                    <a:solidFill>
                      <a:srgbClr val="1A2B3C"/>
                    </a:solidFill>
                    <a:latin typeface="Calibri" pitchFamily="34" charset="0"/>
                    <a:ea typeface="Calibri" pitchFamily="34" charset="-122"/>
                    <a:cs typeface="Calibri" pitchFamily="34" charset="-120"/>
                  </a:rPr>
                  <a:t> được nạp vào </a:t>
                </a:r>
                <a14:m>
                  <m:oMath xmlns:m="http://schemas.openxmlformats.org/officeDocument/2006/math">
                    <m:r>
                      <a:rPr lang="en-US" sz="1250" i="1" dirty="0" smtClean="0">
                        <a:solidFill>
                          <a:srgbClr val="1A2B3C"/>
                        </a:solidFill>
                        <a:latin typeface="Cambria Math" panose="02040503050406030204" pitchFamily="18" charset="0"/>
                        <a:ea typeface="Calibri" pitchFamily="34" charset="-122"/>
                        <a:cs typeface="Calibri" pitchFamily="34" charset="-120"/>
                      </a:rPr>
                      <m:t>𝐺𝐶</m:t>
                    </m:r>
                    <m:sSub>
                      <m:sSubPr>
                        <m:ctrlPr>
                          <a:rPr lang="en-US" sz="1250" i="1" dirty="0" smtClean="0">
                            <a:solidFill>
                              <a:srgbClr val="1A2B3C"/>
                            </a:solidFill>
                            <a:latin typeface="Cambria Math" panose="02040503050406030204" pitchFamily="18" charset="0"/>
                            <a:ea typeface="Calibri" pitchFamily="34" charset="-122"/>
                            <a:cs typeface="Calibri" pitchFamily="34" charset="-120"/>
                          </a:rPr>
                        </m:ctrlPr>
                      </m:sSubPr>
                      <m:e>
                        <m:r>
                          <a:rPr lang="en-US" sz="1250" i="1" dirty="0" smtClean="0">
                            <a:solidFill>
                              <a:srgbClr val="1A2B3C"/>
                            </a:solidFill>
                            <a:latin typeface="Cambria Math" panose="02040503050406030204" pitchFamily="18" charset="0"/>
                            <a:ea typeface="Calibri" pitchFamily="34" charset="-122"/>
                            <a:cs typeface="Calibri" pitchFamily="34" charset="-120"/>
                          </a:rPr>
                          <m:t>𝑁</m:t>
                        </m:r>
                      </m:e>
                      <m:sub>
                        <m:r>
                          <a:rPr lang="en-US" sz="1250" i="1" dirty="0" smtClean="0">
                            <a:solidFill>
                              <a:srgbClr val="1A2B3C"/>
                            </a:solidFill>
                            <a:latin typeface="Cambria Math" panose="02040503050406030204" pitchFamily="18" charset="0"/>
                            <a:ea typeface="Calibri" pitchFamily="34" charset="-122"/>
                            <a:cs typeface="Calibri" pitchFamily="34" charset="-120"/>
                          </a:rPr>
                          <m:t>𝐶</m:t>
                        </m:r>
                      </m:sub>
                    </m:sSub>
                  </m:oMath>
                </a14:m>
                <a:r>
                  <a:rPr lang="en-US" sz="1250" dirty="0">
                    <a:solidFill>
                      <a:srgbClr val="1A2B3C"/>
                    </a:solidFill>
                    <a:latin typeface="Calibri" pitchFamily="34" charset="0"/>
                    <a:ea typeface="Calibri" pitchFamily="34" charset="-122"/>
                    <a:cs typeface="Calibri" pitchFamily="34" charset="-120"/>
                  </a:rPr>
                  <a:t> để phân loại</a:t>
                </a:r>
                <a:endParaRPr lang="en-US" sz="1250" dirty="0"/>
              </a:p>
            </p:txBody>
          </p:sp>
        </mc:Choice>
        <mc:Fallback xmlns="">
          <p:sp>
            <p:nvSpPr>
              <p:cNvPr id="27" name="Text 25"/>
              <p:cNvSpPr>
                <a:spLocks noRot="1" noChangeAspect="1" noMove="1" noResize="1" noEditPoints="1" noAdjustHandles="1" noChangeArrowheads="1" noChangeShapeType="1" noTextEdit="1"/>
              </p:cNvSpPr>
              <p:nvPr/>
            </p:nvSpPr>
            <p:spPr>
              <a:xfrm>
                <a:off x="5943600" y="4169664"/>
                <a:ext cx="2926080" cy="384048"/>
              </a:xfrm>
              <a:prstGeom prst="rect">
                <a:avLst/>
              </a:prstGeom>
              <a:blipFill>
                <a:blip r:embed="rId7"/>
                <a:stretch>
                  <a:fillRect l="-433" t="-12903" b="-25806"/>
                </a:stretch>
              </a:blipFill>
              <a:ln/>
            </p:spPr>
            <p:txBody>
              <a:bodyPr/>
              <a:lstStyle/>
              <a:p>
                <a:r>
                  <a:rPr lang="en-VN">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Thiết Lập Thực Nghiệm</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17 / 29</a:t>
            </a:r>
            <a:endParaRPr lang="en-US" sz="1000" dirty="0"/>
          </a:p>
        </p:txBody>
      </p:sp>
      <p:sp>
        <p:nvSpPr>
          <p:cNvPr id="5" name="Text 3"/>
          <p:cNvSpPr/>
          <p:nvPr/>
        </p:nvSpPr>
        <p:spPr>
          <a:xfrm>
            <a:off x="274320" y="914400"/>
            <a:ext cx="4206240" cy="384048"/>
          </a:xfrm>
          <a:prstGeom prst="rect">
            <a:avLst/>
          </a:prstGeom>
          <a:noFill/>
          <a:ln/>
        </p:spPr>
        <p:txBody>
          <a:bodyPr wrap="square"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12 Dataset Benchmark</a:t>
            </a:r>
            <a:endParaRPr lang="en-US" sz="1600" dirty="0"/>
          </a:p>
        </p:txBody>
      </p:sp>
      <p:sp>
        <p:nvSpPr>
          <p:cNvPr id="6" name="Shape 4"/>
          <p:cNvSpPr/>
          <p:nvPr/>
        </p:nvSpPr>
        <p:spPr>
          <a:xfrm>
            <a:off x="274320" y="1353312"/>
            <a:ext cx="4206240" cy="1417320"/>
          </a:xfrm>
          <a:prstGeom prst="rect">
            <a:avLst/>
          </a:prstGeom>
          <a:solidFill>
            <a:srgbClr val="EAF4FB"/>
          </a:solidFill>
          <a:ln w="19050">
            <a:solidFill>
              <a:srgbClr val="065A82"/>
            </a:solidFill>
            <a:prstDash val="solid"/>
          </a:ln>
        </p:spPr>
        <p:txBody>
          <a:bodyPr/>
          <a:lstStyle/>
          <a:p>
            <a:endParaRPr lang="en-VN"/>
          </a:p>
        </p:txBody>
      </p:sp>
      <p:sp>
        <p:nvSpPr>
          <p:cNvPr id="7" name="Text 5"/>
          <p:cNvSpPr/>
          <p:nvPr/>
        </p:nvSpPr>
        <p:spPr>
          <a:xfrm>
            <a:off x="411480" y="1389888"/>
            <a:ext cx="3931920" cy="320040"/>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Homophily (7 tập) — nút giống nhau thường kết nối nhau</a:t>
            </a:r>
            <a:endParaRPr lang="en-US" sz="1200" dirty="0"/>
          </a:p>
        </p:txBody>
      </p:sp>
      <p:sp>
        <p:nvSpPr>
          <p:cNvPr id="8" name="Text 6"/>
          <p:cNvSpPr/>
          <p:nvPr/>
        </p:nvSpPr>
        <p:spPr>
          <a:xfrm>
            <a:off x="411480" y="1709928"/>
            <a:ext cx="3931920" cy="822960"/>
          </a:xfrm>
          <a:prstGeom prst="rect">
            <a:avLst/>
          </a:prstGeom>
          <a:noFill/>
          <a:ln/>
        </p:spPr>
        <p:txBody>
          <a:bodyPr wrap="square" rtlCol="0" anchor="ctr"/>
          <a:lstStyle/>
          <a:p>
            <a:pPr marL="0" indent="0">
              <a:spcAft>
                <a:spcPts val="400"/>
              </a:spcAft>
              <a:buNone/>
            </a:pPr>
            <a:r>
              <a:rPr lang="en-US" sz="1250" dirty="0">
                <a:solidFill>
                  <a:srgbClr val="1A2B3C"/>
                </a:solidFill>
                <a:latin typeface="Calibri" pitchFamily="34" charset="0"/>
                <a:ea typeface="Calibri" pitchFamily="34" charset="-122"/>
                <a:cs typeface="Calibri" pitchFamily="34" charset="-120"/>
              </a:rPr>
              <a:t>Cora  •  CiteSeer  •  PubMed  •  Reddit</a:t>
            </a:r>
            <a:endParaRPr lang="en-US" sz="1250" dirty="0"/>
          </a:p>
          <a:p>
            <a:pPr marL="0" indent="0">
              <a:spcAft>
                <a:spcPts val="400"/>
              </a:spcAft>
              <a:buNone/>
            </a:pPr>
            <a:r>
              <a:rPr lang="en-US" sz="1250" dirty="0">
                <a:solidFill>
                  <a:srgbClr val="1A2B3C"/>
                </a:solidFill>
                <a:latin typeface="Calibri" pitchFamily="34" charset="0"/>
                <a:ea typeface="Calibri" pitchFamily="34" charset="-122"/>
                <a:cs typeface="Calibri" pitchFamily="34" charset="-120"/>
              </a:rPr>
              <a:t>ogbn-arxiv  •  ogbn-products  •  DBLP</a:t>
            </a:r>
            <a:endParaRPr lang="en-US" sz="1250" dirty="0"/>
          </a:p>
        </p:txBody>
      </p:sp>
      <p:sp>
        <p:nvSpPr>
          <p:cNvPr id="9" name="Shape 7"/>
          <p:cNvSpPr/>
          <p:nvPr/>
        </p:nvSpPr>
        <p:spPr>
          <a:xfrm>
            <a:off x="274320" y="2834640"/>
            <a:ext cx="4206240" cy="1325880"/>
          </a:xfrm>
          <a:prstGeom prst="rect">
            <a:avLst/>
          </a:prstGeom>
          <a:solidFill>
            <a:srgbClr val="FFF0F0"/>
          </a:solidFill>
          <a:ln w="19050">
            <a:solidFill>
              <a:srgbClr val="9B2226"/>
            </a:solidFill>
            <a:prstDash val="solid"/>
          </a:ln>
        </p:spPr>
        <p:txBody>
          <a:bodyPr/>
          <a:lstStyle/>
          <a:p>
            <a:endParaRPr lang="en-VN"/>
          </a:p>
        </p:txBody>
      </p:sp>
      <p:sp>
        <p:nvSpPr>
          <p:cNvPr id="10" name="Text 8"/>
          <p:cNvSpPr/>
          <p:nvPr/>
        </p:nvSpPr>
        <p:spPr>
          <a:xfrm>
            <a:off x="411480" y="2871216"/>
            <a:ext cx="3931920" cy="320040"/>
          </a:xfrm>
          <a:prstGeom prst="rect">
            <a:avLst/>
          </a:prstGeom>
          <a:noFill/>
          <a:ln/>
        </p:spPr>
        <p:txBody>
          <a:bodyPr wrap="square" rtlCol="0" anchor="ctr"/>
          <a:lstStyle/>
          <a:p>
            <a:pPr marL="0" indent="0">
              <a:buNone/>
            </a:pPr>
            <a:r>
              <a:rPr lang="en-US" sz="1200" b="1" dirty="0">
                <a:solidFill>
                  <a:srgbClr val="9B2226"/>
                </a:solidFill>
                <a:latin typeface="Calibri" pitchFamily="34" charset="0"/>
                <a:ea typeface="Calibri" pitchFamily="34" charset="-122"/>
                <a:cs typeface="Calibri" pitchFamily="34" charset="-120"/>
              </a:rPr>
              <a:t>Heterophily (5 tập) — nút khác nhau vẫn kết nối nhau</a:t>
            </a:r>
            <a:endParaRPr lang="en-US" sz="1200" dirty="0"/>
          </a:p>
        </p:txBody>
      </p:sp>
      <p:sp>
        <p:nvSpPr>
          <p:cNvPr id="11" name="Text 9"/>
          <p:cNvSpPr/>
          <p:nvPr/>
        </p:nvSpPr>
        <p:spPr>
          <a:xfrm>
            <a:off x="411480" y="3200400"/>
            <a:ext cx="3931920" cy="822960"/>
          </a:xfrm>
          <a:prstGeom prst="rect">
            <a:avLst/>
          </a:prstGeom>
          <a:noFill/>
          <a:ln/>
        </p:spPr>
        <p:txBody>
          <a:bodyPr wrap="square" rtlCol="0" anchor="ctr"/>
          <a:lstStyle/>
          <a:p>
            <a:pPr marL="0" indent="0">
              <a:spcAft>
                <a:spcPts val="400"/>
              </a:spcAft>
              <a:buNone/>
            </a:pPr>
            <a:r>
              <a:rPr lang="en-US" sz="1250" dirty="0">
                <a:solidFill>
                  <a:srgbClr val="1A2B3C"/>
                </a:solidFill>
                <a:latin typeface="Calibri" pitchFamily="34" charset="0"/>
                <a:ea typeface="Calibri" pitchFamily="34" charset="-122"/>
                <a:cs typeface="Calibri" pitchFamily="34" charset="-120"/>
              </a:rPr>
              <a:t>Flickr  •  snap-patents  •  Yelp</a:t>
            </a:r>
            <a:endParaRPr lang="en-US" sz="1250" dirty="0"/>
          </a:p>
          <a:p>
            <a:pPr marL="0" indent="0">
              <a:spcAft>
                <a:spcPts val="400"/>
              </a:spcAft>
              <a:buNone/>
            </a:pPr>
            <a:r>
              <a:rPr lang="en-US" sz="1250" dirty="0">
                <a:solidFill>
                  <a:srgbClr val="1A2B3C"/>
                </a:solidFill>
                <a:latin typeface="Calibri" pitchFamily="34" charset="0"/>
                <a:ea typeface="Calibri" pitchFamily="34" charset="-122"/>
                <a:cs typeface="Calibri" pitchFamily="34" charset="-120"/>
              </a:rPr>
              <a:t>ogbn-proteins  •  BlogCat</a:t>
            </a:r>
            <a:endParaRPr lang="en-US" sz="1250" dirty="0"/>
          </a:p>
        </p:txBody>
      </p:sp>
      <p:sp>
        <p:nvSpPr>
          <p:cNvPr id="12" name="Text 10"/>
          <p:cNvSpPr/>
          <p:nvPr/>
        </p:nvSpPr>
        <p:spPr>
          <a:xfrm>
            <a:off x="4754880" y="914400"/>
            <a:ext cx="4114800" cy="384048"/>
          </a:xfrm>
          <a:prstGeom prst="rect">
            <a:avLst/>
          </a:prstGeom>
          <a:noFill/>
          <a:ln/>
        </p:spPr>
        <p:txBody>
          <a:bodyPr wrap="square"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Giao Thức Đánh Giá</a:t>
            </a:r>
            <a:endParaRPr lang="en-US" sz="1600" dirty="0"/>
          </a:p>
        </p:txBody>
      </p:sp>
      <p:sp>
        <p:nvSpPr>
          <p:cNvPr id="13" name="Shape 11"/>
          <p:cNvSpPr/>
          <p:nvPr/>
        </p:nvSpPr>
        <p:spPr>
          <a:xfrm>
            <a:off x="274320" y="4224528"/>
            <a:ext cx="4206240" cy="530352"/>
          </a:xfrm>
          <a:prstGeom prst="rect">
            <a:avLst/>
          </a:prstGeom>
          <a:solidFill>
            <a:srgbClr val="EAF4FB"/>
          </a:solidFill>
          <a:ln w="12700">
            <a:solidFill>
              <a:srgbClr val="065A82"/>
            </a:solidFill>
            <a:prstDash val="solid"/>
          </a:ln>
        </p:spPr>
        <p:txBody>
          <a:bodyPr/>
          <a:lstStyle/>
          <a:p>
            <a:endParaRPr lang="en-VN"/>
          </a:p>
        </p:txBody>
      </p:sp>
      <p:sp>
        <p:nvSpPr>
          <p:cNvPr id="14" name="Text 12"/>
          <p:cNvSpPr/>
          <p:nvPr/>
        </p:nvSpPr>
        <p:spPr>
          <a:xfrm>
            <a:off x="384048" y="4224528"/>
            <a:ext cx="3986784" cy="530352"/>
          </a:xfrm>
          <a:prstGeom prst="rect">
            <a:avLst/>
          </a:prstGeom>
          <a:noFill/>
          <a:ln/>
        </p:spPr>
        <p:txBody>
          <a:bodyPr wrap="square" rtlCol="0" anchor="ctr"/>
          <a:lstStyle/>
          <a:p>
            <a:pPr marL="0" indent="0" algn="l">
              <a:buNone/>
            </a:pPr>
            <a:r>
              <a:rPr lang="en-US" sz="1150" b="1" dirty="0">
                <a:solidFill>
                  <a:srgbClr val="065A82"/>
                </a:solidFill>
                <a:latin typeface="Calibri" pitchFamily="34" charset="0"/>
                <a:ea typeface="Calibri" pitchFamily="34" charset="-122"/>
                <a:cs typeface="Calibri" pitchFamily="34" charset="-120"/>
              </a:rPr>
              <a:t>GRAPES-RL</a:t>
            </a:r>
            <a:r>
              <a:rPr lang="en-US" sz="1150" dirty="0">
                <a:solidFill>
                  <a:srgbClr val="1A2B3C"/>
                </a:solidFill>
                <a:latin typeface="Calibri" pitchFamily="34" charset="0"/>
                <a:ea typeface="Calibri" pitchFamily="34" charset="-122"/>
                <a:cs typeface="Calibri" pitchFamily="34" charset="-120"/>
              </a:rPr>
              <a:t>: dùng REINFORCE</a:t>
            </a:r>
            <a:endParaRPr lang="en-US" sz="1150" dirty="0"/>
          </a:p>
          <a:p>
            <a:pPr marL="0" indent="0" algn="l">
              <a:buNone/>
            </a:pPr>
            <a:r>
              <a:rPr lang="en-US" sz="1150" b="1" dirty="0">
                <a:solidFill>
                  <a:srgbClr val="1C7293"/>
                </a:solidFill>
                <a:latin typeface="Calibri" pitchFamily="34" charset="0"/>
                <a:ea typeface="Calibri" pitchFamily="34" charset="-122"/>
                <a:cs typeface="Calibri" pitchFamily="34" charset="-120"/>
              </a:rPr>
              <a:t>GRAPES-GFN</a:t>
            </a:r>
            <a:r>
              <a:rPr lang="en-US" sz="1150" dirty="0">
                <a:solidFill>
                  <a:srgbClr val="1A2B3C"/>
                </a:solidFill>
                <a:latin typeface="Calibri" pitchFamily="34" charset="0"/>
                <a:ea typeface="Calibri" pitchFamily="34" charset="-122"/>
                <a:cs typeface="Calibri" pitchFamily="34" charset="-120"/>
              </a:rPr>
              <a:t>: thay bằng GFlowNet</a:t>
            </a:r>
            <a:endParaRPr lang="en-US" sz="1150" dirty="0"/>
          </a:p>
        </p:txBody>
      </p:sp>
      <p:sp>
        <p:nvSpPr>
          <p:cNvPr id="15" name="Shape 13"/>
          <p:cNvSpPr/>
          <p:nvPr/>
        </p:nvSpPr>
        <p:spPr>
          <a:xfrm>
            <a:off x="4754880" y="1353312"/>
            <a:ext cx="1920240" cy="402336"/>
          </a:xfrm>
          <a:prstGeom prst="rect">
            <a:avLst/>
          </a:prstGeom>
          <a:solidFill>
            <a:srgbClr val="065A82"/>
          </a:solidFill>
          <a:ln w="12700">
            <a:solidFill>
              <a:srgbClr val="065A82"/>
            </a:solidFill>
            <a:prstDash val="solid"/>
          </a:ln>
        </p:spPr>
        <p:txBody>
          <a:bodyPr/>
          <a:lstStyle/>
          <a:p>
            <a:endParaRPr lang="en-VN"/>
          </a:p>
        </p:txBody>
      </p:sp>
      <p:sp>
        <p:nvSpPr>
          <p:cNvPr id="16" name="Text 14"/>
          <p:cNvSpPr/>
          <p:nvPr/>
        </p:nvSpPr>
        <p:spPr>
          <a:xfrm>
            <a:off x="4754880" y="1353312"/>
            <a:ext cx="192024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Batch size</a:t>
            </a:r>
            <a:endParaRPr lang="en-US" sz="1200" dirty="0"/>
          </a:p>
        </p:txBody>
      </p:sp>
      <p:sp>
        <p:nvSpPr>
          <p:cNvPr id="17" name="Text 15"/>
          <p:cNvSpPr/>
          <p:nvPr/>
        </p:nvSpPr>
        <p:spPr>
          <a:xfrm>
            <a:off x="6766560" y="1353312"/>
            <a:ext cx="2148840" cy="402336"/>
          </a:xfrm>
          <a:prstGeom prst="rect">
            <a:avLst/>
          </a:prstGeom>
          <a:noFill/>
          <a:ln/>
        </p:spPr>
        <p:txBody>
          <a:bodyPr wrap="square" rtlCol="0" anchor="ctr"/>
          <a:lstStyle/>
          <a:p>
            <a:pPr marL="0" indent="0">
              <a:buNone/>
            </a:pPr>
            <a:r>
              <a:rPr lang="en-US" sz="1200" dirty="0">
                <a:solidFill>
                  <a:srgbClr val="1A2B3C"/>
                </a:solidFill>
                <a:latin typeface="Calibri" pitchFamily="34" charset="0"/>
                <a:ea typeface="Calibri" pitchFamily="34" charset="-122"/>
                <a:cs typeface="Calibri" pitchFamily="34" charset="-120"/>
              </a:rPr>
              <a:t>256 đỉnh / batch</a:t>
            </a:r>
            <a:endParaRPr lang="en-US" sz="1200" dirty="0"/>
          </a:p>
        </p:txBody>
      </p:sp>
      <p:sp>
        <p:nvSpPr>
          <p:cNvPr id="18" name="Shape 16"/>
          <p:cNvSpPr/>
          <p:nvPr/>
        </p:nvSpPr>
        <p:spPr>
          <a:xfrm>
            <a:off x="4754880" y="1865376"/>
            <a:ext cx="1920240" cy="402336"/>
          </a:xfrm>
          <a:prstGeom prst="rect">
            <a:avLst/>
          </a:prstGeom>
          <a:solidFill>
            <a:srgbClr val="065A82"/>
          </a:solidFill>
          <a:ln w="12700">
            <a:solidFill>
              <a:srgbClr val="065A82"/>
            </a:solidFill>
            <a:prstDash val="solid"/>
          </a:ln>
        </p:spPr>
        <p:txBody>
          <a:bodyPr/>
          <a:lstStyle/>
          <a:p>
            <a:endParaRPr lang="en-VN"/>
          </a:p>
        </p:txBody>
      </p:sp>
      <p:sp>
        <p:nvSpPr>
          <p:cNvPr id="19" name="Text 17"/>
          <p:cNvSpPr/>
          <p:nvPr/>
        </p:nvSpPr>
        <p:spPr>
          <a:xfrm>
            <a:off x="4754880" y="1865376"/>
            <a:ext cx="192024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Số mẫu</a:t>
            </a:r>
            <a:endParaRPr lang="en-US" sz="1200" dirty="0"/>
          </a:p>
        </p:txBody>
      </p:sp>
      <p:sp>
        <p:nvSpPr>
          <p:cNvPr id="20" name="Text 18"/>
          <p:cNvSpPr/>
          <p:nvPr/>
        </p:nvSpPr>
        <p:spPr>
          <a:xfrm>
            <a:off x="6766560" y="1865376"/>
            <a:ext cx="2148840" cy="402336"/>
          </a:xfrm>
          <a:prstGeom prst="rect">
            <a:avLst/>
          </a:prstGeom>
          <a:noFill/>
          <a:ln/>
        </p:spPr>
        <p:txBody>
          <a:bodyPr wrap="square" rtlCol="0" anchor="ctr"/>
          <a:lstStyle/>
          <a:p>
            <a:pPr marL="0" indent="0">
              <a:buNone/>
            </a:pPr>
            <a:r>
              <a:rPr lang="en-US" sz="1200" dirty="0">
                <a:solidFill>
                  <a:srgbClr val="1A2B3C"/>
                </a:solidFill>
                <a:latin typeface="Calibri" pitchFamily="34" charset="0"/>
                <a:ea typeface="Calibri" pitchFamily="34" charset="-122"/>
                <a:cs typeface="Calibri" pitchFamily="34" charset="-120"/>
              </a:rPr>
              <a:t>256 đỉnh / tầng (tất cả pp)</a:t>
            </a:r>
            <a:endParaRPr lang="en-US" sz="1200" dirty="0"/>
          </a:p>
        </p:txBody>
      </p:sp>
      <p:sp>
        <p:nvSpPr>
          <p:cNvPr id="21" name="Shape 19"/>
          <p:cNvSpPr/>
          <p:nvPr/>
        </p:nvSpPr>
        <p:spPr>
          <a:xfrm>
            <a:off x="4754880" y="2377440"/>
            <a:ext cx="1920240" cy="402336"/>
          </a:xfrm>
          <a:prstGeom prst="rect">
            <a:avLst/>
          </a:prstGeom>
          <a:solidFill>
            <a:srgbClr val="065A82"/>
          </a:solidFill>
          <a:ln w="12700">
            <a:solidFill>
              <a:srgbClr val="065A82"/>
            </a:solidFill>
            <a:prstDash val="solid"/>
          </a:ln>
        </p:spPr>
        <p:txBody>
          <a:bodyPr/>
          <a:lstStyle/>
          <a:p>
            <a:endParaRPr lang="en-VN"/>
          </a:p>
        </p:txBody>
      </p:sp>
      <p:sp>
        <p:nvSpPr>
          <p:cNvPr id="22" name="Text 20"/>
          <p:cNvSpPr/>
          <p:nvPr/>
        </p:nvSpPr>
        <p:spPr>
          <a:xfrm>
            <a:off x="4754880" y="2377440"/>
            <a:ext cx="192024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Số lần chạy</a:t>
            </a:r>
            <a:endParaRPr lang="en-US" sz="1200" dirty="0"/>
          </a:p>
        </p:txBody>
      </p:sp>
      <p:sp>
        <p:nvSpPr>
          <p:cNvPr id="23" name="Text 21"/>
          <p:cNvSpPr/>
          <p:nvPr/>
        </p:nvSpPr>
        <p:spPr>
          <a:xfrm>
            <a:off x="6766560" y="2377440"/>
            <a:ext cx="2148840" cy="402336"/>
          </a:xfrm>
          <a:prstGeom prst="rect">
            <a:avLst/>
          </a:prstGeom>
          <a:noFill/>
          <a:ln/>
        </p:spPr>
        <p:txBody>
          <a:bodyPr wrap="square" rtlCol="0" anchor="ctr"/>
          <a:lstStyle/>
          <a:p>
            <a:pPr marL="0" indent="0">
              <a:buNone/>
            </a:pPr>
            <a:r>
              <a:rPr lang="en-US" sz="1200" dirty="0">
                <a:solidFill>
                  <a:srgbClr val="1A2B3C"/>
                </a:solidFill>
                <a:latin typeface="Calibri" pitchFamily="34" charset="0"/>
                <a:ea typeface="Calibri" pitchFamily="34" charset="-122"/>
                <a:cs typeface="Calibri" pitchFamily="34" charset="-120"/>
              </a:rPr>
              <a:t>10 runs → mean ± std</a:t>
            </a:r>
            <a:endParaRPr lang="en-US" sz="1200" dirty="0"/>
          </a:p>
        </p:txBody>
      </p:sp>
      <p:sp>
        <p:nvSpPr>
          <p:cNvPr id="24" name="Shape 22"/>
          <p:cNvSpPr/>
          <p:nvPr/>
        </p:nvSpPr>
        <p:spPr>
          <a:xfrm>
            <a:off x="4754880" y="2889504"/>
            <a:ext cx="1920240" cy="402336"/>
          </a:xfrm>
          <a:prstGeom prst="rect">
            <a:avLst/>
          </a:prstGeom>
          <a:solidFill>
            <a:srgbClr val="065A82"/>
          </a:solidFill>
          <a:ln w="12700">
            <a:solidFill>
              <a:srgbClr val="065A82"/>
            </a:solidFill>
            <a:prstDash val="solid"/>
          </a:ln>
        </p:spPr>
        <p:txBody>
          <a:bodyPr/>
          <a:lstStyle/>
          <a:p>
            <a:endParaRPr lang="en-VN"/>
          </a:p>
        </p:txBody>
      </p:sp>
      <p:sp>
        <p:nvSpPr>
          <p:cNvPr id="25" name="Text 23"/>
          <p:cNvSpPr/>
          <p:nvPr/>
        </p:nvSpPr>
        <p:spPr>
          <a:xfrm>
            <a:off x="4754880" y="2889504"/>
            <a:ext cx="192024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GPU (gốc)</a:t>
            </a:r>
            <a:endParaRPr lang="en-US" sz="1200" dirty="0"/>
          </a:p>
        </p:txBody>
      </p:sp>
      <p:sp>
        <p:nvSpPr>
          <p:cNvPr id="26" name="Text 24"/>
          <p:cNvSpPr/>
          <p:nvPr/>
        </p:nvSpPr>
        <p:spPr>
          <a:xfrm>
            <a:off x="6766560" y="2889504"/>
            <a:ext cx="2148840" cy="402336"/>
          </a:xfrm>
          <a:prstGeom prst="rect">
            <a:avLst/>
          </a:prstGeom>
          <a:noFill/>
          <a:ln/>
        </p:spPr>
        <p:txBody>
          <a:bodyPr wrap="square" rtlCol="0" anchor="ctr"/>
          <a:lstStyle/>
          <a:p>
            <a:pPr marL="0" indent="0">
              <a:buNone/>
            </a:pPr>
            <a:r>
              <a:rPr lang="en-US" sz="1200" dirty="0">
                <a:solidFill>
                  <a:srgbClr val="1A2B3C"/>
                </a:solidFill>
                <a:latin typeface="Calibri" pitchFamily="34" charset="0"/>
                <a:ea typeface="Calibri" pitchFamily="34" charset="-122"/>
                <a:cs typeface="Calibri" pitchFamily="34" charset="-120"/>
              </a:rPr>
              <a:t>Nvidia RTX A6000 48 GB</a:t>
            </a:r>
            <a:endParaRPr lang="en-US" sz="1200" dirty="0"/>
          </a:p>
        </p:txBody>
      </p:sp>
      <p:sp>
        <p:nvSpPr>
          <p:cNvPr id="27" name="Shape 25"/>
          <p:cNvSpPr/>
          <p:nvPr/>
        </p:nvSpPr>
        <p:spPr>
          <a:xfrm>
            <a:off x="4754880" y="3401568"/>
            <a:ext cx="1920240" cy="402336"/>
          </a:xfrm>
          <a:prstGeom prst="rect">
            <a:avLst/>
          </a:prstGeom>
          <a:solidFill>
            <a:srgbClr val="065A82"/>
          </a:solidFill>
          <a:ln w="12700">
            <a:solidFill>
              <a:srgbClr val="065A82"/>
            </a:solidFill>
            <a:prstDash val="solid"/>
          </a:ln>
        </p:spPr>
        <p:txBody>
          <a:bodyPr/>
          <a:lstStyle/>
          <a:p>
            <a:endParaRPr lang="en-VN"/>
          </a:p>
        </p:txBody>
      </p:sp>
      <p:sp>
        <p:nvSpPr>
          <p:cNvPr id="28" name="Text 26"/>
          <p:cNvSpPr/>
          <p:nvPr/>
        </p:nvSpPr>
        <p:spPr>
          <a:xfrm>
            <a:off x="4754880" y="3401568"/>
            <a:ext cx="192024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GPU (tái hiện)</a:t>
            </a:r>
            <a:endParaRPr lang="en-US" sz="1200" dirty="0"/>
          </a:p>
        </p:txBody>
      </p:sp>
      <p:sp>
        <p:nvSpPr>
          <p:cNvPr id="29" name="Text 27"/>
          <p:cNvSpPr/>
          <p:nvPr/>
        </p:nvSpPr>
        <p:spPr>
          <a:xfrm>
            <a:off x="6766560" y="3401568"/>
            <a:ext cx="2148840" cy="402336"/>
          </a:xfrm>
          <a:prstGeom prst="rect">
            <a:avLst/>
          </a:prstGeom>
          <a:noFill/>
          <a:ln/>
        </p:spPr>
        <p:txBody>
          <a:bodyPr wrap="square" rtlCol="0" anchor="ctr"/>
          <a:lstStyle/>
          <a:p>
            <a:pPr marL="0" indent="0">
              <a:buNone/>
            </a:pPr>
            <a:r>
              <a:rPr lang="en-US" sz="1200" dirty="0">
                <a:solidFill>
                  <a:srgbClr val="1A2B3C"/>
                </a:solidFill>
                <a:latin typeface="Calibri" pitchFamily="34" charset="0"/>
                <a:ea typeface="Calibri" pitchFamily="34" charset="-122"/>
                <a:cs typeface="Calibri" pitchFamily="34" charset="-120"/>
              </a:rPr>
              <a:t>Tesla T4 15,6 GB (Colab)</a:t>
            </a:r>
            <a:endParaRPr lang="en-US" sz="1200" dirty="0"/>
          </a:p>
        </p:txBody>
      </p:sp>
      <p:sp>
        <p:nvSpPr>
          <p:cNvPr id="30" name="Shape 28"/>
          <p:cNvSpPr/>
          <p:nvPr/>
        </p:nvSpPr>
        <p:spPr>
          <a:xfrm>
            <a:off x="4754880" y="3913632"/>
            <a:ext cx="1920240" cy="402336"/>
          </a:xfrm>
          <a:prstGeom prst="rect">
            <a:avLst/>
          </a:prstGeom>
          <a:solidFill>
            <a:srgbClr val="065A82"/>
          </a:solidFill>
          <a:ln w="12700">
            <a:solidFill>
              <a:srgbClr val="065A82"/>
            </a:solidFill>
            <a:prstDash val="solid"/>
          </a:ln>
        </p:spPr>
        <p:txBody>
          <a:bodyPr/>
          <a:lstStyle/>
          <a:p>
            <a:endParaRPr lang="en-VN"/>
          </a:p>
        </p:txBody>
      </p:sp>
      <p:sp>
        <p:nvSpPr>
          <p:cNvPr id="31" name="Text 29"/>
          <p:cNvSpPr/>
          <p:nvPr/>
        </p:nvSpPr>
        <p:spPr>
          <a:xfrm>
            <a:off x="4754880" y="3913632"/>
            <a:ext cx="192024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Đánh giá</a:t>
            </a:r>
            <a:endParaRPr lang="en-US" sz="1200" dirty="0"/>
          </a:p>
        </p:txBody>
      </p:sp>
      <p:sp>
        <p:nvSpPr>
          <p:cNvPr id="32" name="Text 30"/>
          <p:cNvSpPr/>
          <p:nvPr/>
        </p:nvSpPr>
        <p:spPr>
          <a:xfrm>
            <a:off x="6766560" y="3913632"/>
            <a:ext cx="2148840" cy="402336"/>
          </a:xfrm>
          <a:prstGeom prst="rect">
            <a:avLst/>
          </a:prstGeom>
          <a:noFill/>
          <a:ln/>
        </p:spPr>
        <p:txBody>
          <a:bodyPr wrap="square" rtlCol="0" anchor="ctr"/>
          <a:lstStyle/>
          <a:p>
            <a:pPr marL="0" indent="0">
              <a:buNone/>
            </a:pPr>
            <a:r>
              <a:rPr lang="en-US" sz="1200" dirty="0">
                <a:solidFill>
                  <a:srgbClr val="1A2B3C"/>
                </a:solidFill>
                <a:latin typeface="Calibri" pitchFamily="34" charset="0"/>
                <a:ea typeface="Calibri" pitchFamily="34" charset="-122"/>
                <a:cs typeface="Calibri" pitchFamily="34" charset="-120"/>
              </a:rPr>
              <a:t>Full-graph inference trên test</a:t>
            </a:r>
            <a:endParaRPr lang="en-US" sz="1200" dirty="0"/>
          </a:p>
        </p:txBody>
      </p:sp>
      <p:sp>
        <p:nvSpPr>
          <p:cNvPr id="33" name="Shape 31"/>
          <p:cNvSpPr/>
          <p:nvPr/>
        </p:nvSpPr>
        <p:spPr>
          <a:xfrm>
            <a:off x="4754880" y="4425696"/>
            <a:ext cx="1920240" cy="402336"/>
          </a:xfrm>
          <a:prstGeom prst="rect">
            <a:avLst/>
          </a:prstGeom>
          <a:solidFill>
            <a:srgbClr val="065A82"/>
          </a:solidFill>
          <a:ln w="12700">
            <a:solidFill>
              <a:srgbClr val="065A82"/>
            </a:solidFill>
            <a:prstDash val="solid"/>
          </a:ln>
        </p:spPr>
        <p:txBody>
          <a:bodyPr/>
          <a:lstStyle/>
          <a:p>
            <a:endParaRPr lang="en-VN"/>
          </a:p>
        </p:txBody>
      </p:sp>
      <p:sp>
        <p:nvSpPr>
          <p:cNvPr id="34" name="Text 32"/>
          <p:cNvSpPr/>
          <p:nvPr/>
        </p:nvSpPr>
        <p:spPr>
          <a:xfrm>
            <a:off x="4754880" y="4425696"/>
            <a:ext cx="192024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p>
        </p:txBody>
      </p:sp>
      <p:sp>
        <p:nvSpPr>
          <p:cNvPr id="35" name="Text 33"/>
          <p:cNvSpPr/>
          <p:nvPr/>
        </p:nvSpPr>
        <p:spPr>
          <a:xfrm>
            <a:off x="6766560" y="4425696"/>
            <a:ext cx="2148840" cy="402336"/>
          </a:xfrm>
          <a:prstGeom prst="rect">
            <a:avLst/>
          </a:prstGeom>
          <a:noFill/>
          <a:ln/>
        </p:spPr>
        <p:txBody>
          <a:bodyPr wrap="square" rtlCol="0" anchor="ctr"/>
          <a:lstStyle/>
          <a:p>
            <a:pPr marL="0" indent="0">
              <a:buNone/>
            </a:pPr>
            <a:r>
              <a:rPr lang="en-US" sz="1200" dirty="0">
                <a:solidFill>
                  <a:srgbClr val="1A2B3C"/>
                </a:solidFill>
                <a:latin typeface="Calibri" pitchFamily="34" charset="0"/>
                <a:ea typeface="Calibri" pitchFamily="34" charset="-122"/>
                <a:cs typeface="Calibri" pitchFamily="34" charset="-120"/>
              </a:rPr>
              <a:t>F1-score (macro / micro)</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Kết Quả: Đồ Thị Homophily (F1-score %)</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18 / 29</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228600" y="868680"/>
          <a:ext cx="8686800" cy="3621024"/>
        </p:xfrm>
        <a:graphic>
          <a:graphicData uri="http://schemas.openxmlformats.org/drawingml/2006/table">
            <a:tbl>
              <a:tblPr/>
              <a:tblGrid>
                <a:gridCol w="182880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325880">
                  <a:extLst>
                    <a:ext uri="{9D8B030D-6E8A-4147-A177-3AD203B41FA5}">
                      <a16:colId xmlns:a16="http://schemas.microsoft.com/office/drawing/2014/main" val="20005"/>
                    </a:ext>
                  </a:extLst>
                </a:gridCol>
              </a:tblGrid>
              <a:tr h="402336">
                <a:tc>
                  <a:txBody>
                    <a:bodyPr/>
                    <a:lstStyle/>
                    <a:p>
                      <a:pPr marL="0" indent="0" algn="ctr">
                        <a:buNone/>
                      </a:pPr>
                      <a:r>
                        <a:rPr lang="en-US" sz="1100" b="1" dirty="0">
                          <a:solidFill>
                            <a:srgbClr val="FFFFFF"/>
                          </a:solidFill>
                        </a:rPr>
                        <a:t>Phương pháp</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100" b="1" dirty="0">
                          <a:solidFill>
                            <a:srgbClr val="FFFFFF"/>
                          </a:solidFill>
                        </a:rPr>
                        <a:t>Cora</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100" b="1" dirty="0">
                          <a:solidFill>
                            <a:srgbClr val="FFFFFF"/>
                          </a:solidFill>
                        </a:rPr>
                        <a:t>Reddit</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100" b="1" dirty="0">
                          <a:solidFill>
                            <a:srgbClr val="FFFFFF"/>
                          </a:solidFill>
                        </a:rPr>
                        <a:t>ogbn-arxiv</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100" b="1" dirty="0">
                          <a:solidFill>
                            <a:srgbClr val="FFFFFF"/>
                          </a:solidFill>
                        </a:rPr>
                        <a:t>ogbn-products</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100" b="1" dirty="0">
                          <a:solidFill>
                            <a:srgbClr val="FFFFFF"/>
                          </a:solidFill>
                        </a:rPr>
                        <a:t>DBLP</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402336">
                <a:tc>
                  <a:txBody>
                    <a:bodyPr/>
                    <a:lstStyle/>
                    <a:p>
                      <a:pPr marL="0" indent="0" algn="ctr">
                        <a:buNone/>
                      </a:pPr>
                      <a:r>
                        <a:rPr lang="en-US" sz="1050" dirty="0">
                          <a:solidFill>
                            <a:srgbClr val="000000"/>
                          </a:solidFill>
                        </a:rPr>
                        <a:t>GAS (baseline)</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4F8FB"/>
                    </a:solidFill>
                  </a:tcPr>
                </a:tc>
                <a:tc>
                  <a:txBody>
                    <a:bodyPr/>
                    <a:lstStyle/>
                    <a:p>
                      <a:pPr marL="0" indent="0" algn="ctr">
                        <a:buNone/>
                      </a:pPr>
                      <a:r>
                        <a:rPr lang="en-US" sz="1050" dirty="0">
                          <a:solidFill>
                            <a:srgbClr val="000000"/>
                          </a:solidFill>
                        </a:rPr>
                        <a:t>87,00±0,19</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4F8FB"/>
                    </a:solidFill>
                  </a:tcPr>
                </a:tc>
                <a:tc>
                  <a:txBody>
                    <a:bodyPr/>
                    <a:lstStyle/>
                    <a:p>
                      <a:pPr marL="0" indent="0" algn="ctr">
                        <a:buNone/>
                      </a:pPr>
                      <a:r>
                        <a:rPr lang="en-US" sz="1050" dirty="0">
                          <a:solidFill>
                            <a:srgbClr val="000000"/>
                          </a:solidFill>
                        </a:rPr>
                        <a:t>94,75±0,04</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4F8FB"/>
                    </a:solidFill>
                  </a:tcPr>
                </a:tc>
                <a:tc>
                  <a:txBody>
                    <a:bodyPr/>
                    <a:lstStyle/>
                    <a:p>
                      <a:pPr marL="0" indent="0" algn="ctr">
                        <a:buNone/>
                      </a:pPr>
                      <a:r>
                        <a:rPr lang="en-US" sz="1050" dirty="0">
                          <a:solidFill>
                            <a:srgbClr val="000000"/>
                          </a:solidFill>
                        </a:rPr>
                        <a:t>68,36±0,55</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4F8FB"/>
                    </a:solidFill>
                  </a:tcPr>
                </a:tc>
                <a:tc>
                  <a:txBody>
                    <a:bodyPr/>
                    <a:lstStyle/>
                    <a:p>
                      <a:pPr marL="0" indent="0" algn="ctr">
                        <a:buNone/>
                      </a:pPr>
                      <a:r>
                        <a:rPr lang="en-US" sz="1050" dirty="0">
                          <a:solidFill>
                            <a:srgbClr val="000000"/>
                          </a:solidFill>
                        </a:rPr>
                        <a:t>74,69±0,14</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4F8FB"/>
                    </a:solidFill>
                  </a:tcPr>
                </a:tc>
                <a:tc>
                  <a:txBody>
                    <a:bodyPr/>
                    <a:lstStyle/>
                    <a:p>
                      <a:pPr marL="0" indent="0" algn="ctr">
                        <a:buNone/>
                      </a:pPr>
                      <a:r>
                        <a:rPr lang="en-US" sz="1050" dirty="0">
                          <a:solidFill>
                            <a:srgbClr val="000000"/>
                          </a:solidFill>
                        </a:rPr>
                        <a:t>83,08±0,31</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4F8FB"/>
                    </a:solidFill>
                  </a:tcPr>
                </a:tc>
                <a:extLst>
                  <a:ext uri="{0D108BD9-81ED-4DB2-BD59-A6C34878D82A}">
                    <a16:rowId xmlns:a16="http://schemas.microsoft.com/office/drawing/2014/main" val="10001"/>
                  </a:ext>
                </a:extLst>
              </a:tr>
              <a:tr h="402336">
                <a:tc>
                  <a:txBody>
                    <a:bodyPr/>
                    <a:lstStyle/>
                    <a:p>
                      <a:pPr marL="0" indent="0" algn="ctr">
                        <a:buNone/>
                      </a:pPr>
                      <a:r>
                        <a:rPr lang="en-US" sz="1050" dirty="0">
                          <a:solidFill>
                            <a:srgbClr val="000000"/>
                          </a:solidFill>
                        </a:rPr>
                        <a:t>FastGCN</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76,17±3,98</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62,93±3,28</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39,49±8,04</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66,09±3,04</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62,93±3,28</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lgn="ctr">
                        <a:buNone/>
                      </a:pPr>
                      <a:r>
                        <a:rPr lang="en-US" sz="1000" i="1" dirty="0">
                          <a:solidFill>
                            <a:srgbClr val="B35200"/>
                          </a:solidFill>
                        </a:rPr>
                        <a:t>LADIES ⚠</a:t>
                      </a:r>
                      <a:endParaRPr lang="en-US" sz="10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3E0"/>
                    </a:solidFill>
                  </a:tcPr>
                </a:tc>
                <a:tc>
                  <a:txBody>
                    <a:bodyPr/>
                    <a:lstStyle/>
                    <a:p>
                      <a:pPr marL="0" indent="0" algn="ctr">
                        <a:buNone/>
                      </a:pPr>
                      <a:r>
                        <a:rPr lang="en-US" sz="1000" i="1" dirty="0">
                          <a:solidFill>
                            <a:srgbClr val="B35200"/>
                          </a:solidFill>
                        </a:rPr>
                        <a:t>76,02±11,69</a:t>
                      </a:r>
                      <a:endParaRPr lang="en-US" sz="10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3E0"/>
                    </a:solidFill>
                  </a:tcPr>
                </a:tc>
                <a:tc>
                  <a:txBody>
                    <a:bodyPr/>
                    <a:lstStyle/>
                    <a:p>
                      <a:pPr marL="0" indent="0" algn="ctr">
                        <a:buNone/>
                      </a:pPr>
                      <a:r>
                        <a:rPr lang="en-US" sz="1000" i="1" dirty="0">
                          <a:solidFill>
                            <a:srgbClr val="B35200"/>
                          </a:solidFill>
                        </a:rPr>
                        <a:t>59,30±2,69</a:t>
                      </a:r>
                      <a:endParaRPr lang="en-US" sz="10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3E0"/>
                    </a:solidFill>
                  </a:tcPr>
                </a:tc>
                <a:tc>
                  <a:txBody>
                    <a:bodyPr/>
                    <a:lstStyle/>
                    <a:p>
                      <a:pPr marL="0" indent="0" algn="ctr">
                        <a:buNone/>
                      </a:pPr>
                      <a:r>
                        <a:rPr lang="en-US" sz="1000" i="1" dirty="0">
                          <a:solidFill>
                            <a:srgbClr val="B35200"/>
                          </a:solidFill>
                        </a:rPr>
                        <a:t>43,52±8,03</a:t>
                      </a:r>
                      <a:endParaRPr lang="en-US" sz="10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3E0"/>
                    </a:solidFill>
                  </a:tcPr>
                </a:tc>
                <a:tc>
                  <a:txBody>
                    <a:bodyPr/>
                    <a:lstStyle/>
                    <a:p>
                      <a:pPr marL="0" indent="0" algn="ctr">
                        <a:buNone/>
                      </a:pPr>
                      <a:r>
                        <a:rPr lang="en-US" sz="1000" i="1" dirty="0">
                          <a:solidFill>
                            <a:srgbClr val="B35200"/>
                          </a:solidFill>
                        </a:rPr>
                        <a:t>68,08±1,95</a:t>
                      </a:r>
                      <a:endParaRPr lang="en-US" sz="10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3E0"/>
                    </a:solidFill>
                  </a:tcPr>
                </a:tc>
                <a:tc>
                  <a:txBody>
                    <a:bodyPr/>
                    <a:lstStyle/>
                    <a:p>
                      <a:pPr marL="0" indent="0" algn="ctr">
                        <a:buNone/>
                      </a:pPr>
                      <a:r>
                        <a:rPr lang="en-US" sz="1000" i="1" dirty="0">
                          <a:solidFill>
                            <a:srgbClr val="B35200"/>
                          </a:solidFill>
                        </a:rPr>
                        <a:t>59,97±10,45</a:t>
                      </a:r>
                      <a:endParaRPr lang="en-US" sz="10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3E0"/>
                    </a:solidFill>
                  </a:tcPr>
                </a:tc>
                <a:extLst>
                  <a:ext uri="{0D108BD9-81ED-4DB2-BD59-A6C34878D82A}">
                    <a16:rowId xmlns:a16="http://schemas.microsoft.com/office/drawing/2014/main" val="10003"/>
                  </a:ext>
                </a:extLst>
              </a:tr>
              <a:tr h="402336">
                <a:tc>
                  <a:txBody>
                    <a:bodyPr/>
                    <a:lstStyle/>
                    <a:p>
                      <a:pPr marL="0" indent="0" algn="ctr">
                        <a:buNone/>
                      </a:pPr>
                      <a:r>
                        <a:rPr lang="en-US" sz="1050" dirty="0">
                          <a:solidFill>
                            <a:srgbClr val="000000"/>
                          </a:solidFill>
                        </a:rPr>
                        <a:t>AS-GCN *</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85,60±0,54</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93,52±0,40</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65,38±1,80</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b="1" dirty="0">
                          <a:solidFill>
                            <a:srgbClr val="AE2012"/>
                          </a:solidFill>
                        </a:rPr>
                        <a:t>OOM ✗</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83,24±0,51</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4"/>
                  </a:ext>
                </a:extLst>
              </a:tr>
              <a:tr h="402336">
                <a:tc>
                  <a:txBody>
                    <a:bodyPr/>
                    <a:lstStyle/>
                    <a:p>
                      <a:pPr marL="0" indent="0" algn="ctr">
                        <a:buNone/>
                      </a:pPr>
                      <a:r>
                        <a:rPr lang="en-US" sz="1050" dirty="0">
                          <a:solidFill>
                            <a:srgbClr val="000000"/>
                          </a:solidFill>
                        </a:rPr>
                        <a:t>PASS</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82,03±0,07</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b="1" dirty="0">
                          <a:solidFill>
                            <a:srgbClr val="AE2012"/>
                          </a:solidFill>
                        </a:rPr>
                        <a:t>OOM ✗</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58,32±0,05</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b="1" dirty="0">
                          <a:solidFill>
                            <a:srgbClr val="AE2012"/>
                          </a:solidFill>
                        </a:rPr>
                        <a:t>OOM ✗</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54,40±2,31</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5"/>
                  </a:ext>
                </a:extLst>
              </a:tr>
              <a:tr h="402336">
                <a:tc>
                  <a:txBody>
                    <a:bodyPr/>
                    <a:lstStyle/>
                    <a:p>
                      <a:pPr marL="0" indent="0" algn="ctr">
                        <a:buNone/>
                      </a:pPr>
                      <a:r>
                        <a:rPr lang="en-US" sz="1050" dirty="0">
                          <a:solidFill>
                            <a:srgbClr val="000000"/>
                          </a:solidFill>
                        </a:rPr>
                        <a:t>Random</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86,58±0,33</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94,16±0,06</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61,35±0,32</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70,47±0,32</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50" dirty="0">
                          <a:solidFill>
                            <a:srgbClr val="000000"/>
                          </a:solidFill>
                        </a:rPr>
                        <a:t>76,87±0,24</a:t>
                      </a:r>
                      <a:endParaRPr lang="en-US" sz="105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6"/>
                  </a:ext>
                </a:extLst>
              </a:tr>
              <a:tr h="402336">
                <a:tc>
                  <a:txBody>
                    <a:bodyPr/>
                    <a:lstStyle/>
                    <a:p>
                      <a:pPr marL="0" indent="0" algn="ctr">
                        <a:buNone/>
                      </a:pPr>
                      <a:r>
                        <a:rPr lang="en-US" sz="1100" b="1" dirty="0">
                          <a:solidFill>
                            <a:srgbClr val="063A25"/>
                          </a:solidFill>
                        </a:rPr>
                        <a:t>GRAPES-RL</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100" b="1" dirty="0">
                          <a:solidFill>
                            <a:srgbClr val="063A25"/>
                          </a:solidFill>
                        </a:rPr>
                        <a:t>87,62±0,48 ①</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100" b="1" dirty="0">
                          <a:solidFill>
                            <a:srgbClr val="063A25"/>
                          </a:solidFill>
                        </a:rPr>
                        <a:t>94,09±0,05</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100" b="1" dirty="0">
                          <a:solidFill>
                            <a:srgbClr val="063A25"/>
                          </a:solidFill>
                        </a:rPr>
                        <a:t>62,58±0,64</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100" b="1" dirty="0">
                          <a:solidFill>
                            <a:srgbClr val="063A25"/>
                          </a:solidFill>
                        </a:rPr>
                        <a:t>71,45±0,20</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100" b="1" dirty="0">
                          <a:solidFill>
                            <a:srgbClr val="063A25"/>
                          </a:solidFill>
                        </a:rPr>
                        <a:t>76,88±0,33</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extLst>
                  <a:ext uri="{0D108BD9-81ED-4DB2-BD59-A6C34878D82A}">
                    <a16:rowId xmlns:a16="http://schemas.microsoft.com/office/drawing/2014/main" val="10007"/>
                  </a:ext>
                </a:extLst>
              </a:tr>
              <a:tr h="402336">
                <a:tc>
                  <a:txBody>
                    <a:bodyPr/>
                    <a:lstStyle/>
                    <a:p>
                      <a:pPr marL="0" indent="0" algn="ctr">
                        <a:buNone/>
                      </a:pPr>
                      <a:r>
                        <a:rPr lang="en-US" sz="1100" b="1" dirty="0">
                          <a:solidFill>
                            <a:srgbClr val="063A25"/>
                          </a:solidFill>
                        </a:rPr>
                        <a:t>GRAPES-GFN</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100" b="1" dirty="0">
                          <a:solidFill>
                            <a:srgbClr val="063A25"/>
                          </a:solidFill>
                        </a:rPr>
                        <a:t>87,29±0,32</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100" b="1" dirty="0">
                          <a:solidFill>
                            <a:srgbClr val="063A25"/>
                          </a:solidFill>
                        </a:rPr>
                        <a:t>94,30±0,06</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100" b="1" dirty="0">
                          <a:solidFill>
                            <a:srgbClr val="063A25"/>
                          </a:solidFill>
                        </a:rPr>
                        <a:t>61,86±0,51</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100" b="1" dirty="0">
                          <a:solidFill>
                            <a:srgbClr val="063A25"/>
                          </a:solidFill>
                        </a:rPr>
                        <a:t>70,66±0,30</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100" b="1" dirty="0">
                          <a:solidFill>
                            <a:srgbClr val="063A25"/>
                          </a:solidFill>
                        </a:rPr>
                        <a:t>77,14±0,48 ①</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extLst>
                  <a:ext uri="{0D108BD9-81ED-4DB2-BD59-A6C34878D82A}">
                    <a16:rowId xmlns:a16="http://schemas.microsoft.com/office/drawing/2014/main" val="10008"/>
                  </a:ext>
                </a:extLst>
              </a:tr>
            </a:tbl>
          </a:graphicData>
        </a:graphic>
      </p:graphicFrame>
      <p:sp>
        <p:nvSpPr>
          <p:cNvPr id="6" name="Text 3"/>
          <p:cNvSpPr/>
          <p:nvPr/>
        </p:nvSpPr>
        <p:spPr>
          <a:xfrm>
            <a:off x="228600" y="4700016"/>
            <a:ext cx="8686800" cy="237744"/>
          </a:xfrm>
          <a:prstGeom prst="rect">
            <a:avLst/>
          </a:prstGeom>
          <a:noFill/>
          <a:ln/>
        </p:spPr>
        <p:txBody>
          <a:bodyPr wrap="square" rtlCol="0" anchor="ctr"/>
          <a:lstStyle/>
          <a:p>
            <a:pPr marL="0" indent="0" algn="ctr">
              <a:buNone/>
            </a:pPr>
            <a:r>
              <a:rPr lang="en-US" sz="850" i="1" dirty="0">
                <a:solidFill>
                  <a:srgbClr val="5A6A78"/>
                </a:solidFill>
                <a:latin typeface="Calibri" pitchFamily="34" charset="0"/>
                <a:ea typeface="Calibri" pitchFamily="34" charset="-122"/>
                <a:cs typeface="Calibri" pitchFamily="34" charset="-120"/>
              </a:rPr>
              <a:t>① = tốt nhất trong nhóm sampling   ⚠ = std rất cao (không ổn định)   * AS-GCN tốt nhất CiteSeer (79,21) &amp; PubMed (90,58)   Nguồn: Bảng 1, Younesian et al. TMLR 2024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Kết Quả: Đồ Thị Heterophily (F1-score %)</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19 / 29</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228600" y="868680"/>
          <a:ext cx="8686800" cy="2779776"/>
        </p:xfrm>
        <a:graphic>
          <a:graphicData uri="http://schemas.openxmlformats.org/drawingml/2006/table">
            <a:tbl>
              <a:tblPr/>
              <a:tblGrid>
                <a:gridCol w="18288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347472">
                <a:tc>
                  <a:txBody>
                    <a:bodyPr/>
                    <a:lstStyle/>
                    <a:p>
                      <a:pPr marL="0" indent="0" algn="ctr">
                        <a:buNone/>
                      </a:pPr>
                      <a:r>
                        <a:rPr lang="en-US" sz="1050" b="1" dirty="0">
                          <a:solidFill>
                            <a:srgbClr val="FFFFFF"/>
                          </a:solidFill>
                        </a:rPr>
                        <a:t>Phương pháp</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050" b="1" dirty="0">
                          <a:solidFill>
                            <a:srgbClr val="FFFFFF"/>
                          </a:solidFill>
                        </a:rPr>
                        <a:t>Flickr</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050" b="1" dirty="0">
                          <a:solidFill>
                            <a:srgbClr val="FFFFFF"/>
                          </a:solidFill>
                        </a:rPr>
                        <a:t>snap-patents</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050" b="1" dirty="0">
                          <a:solidFill>
                            <a:srgbClr val="FFFFFF"/>
                          </a:solidFill>
                        </a:rPr>
                        <a:t>Yelp</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050" b="1" dirty="0">
                          <a:solidFill>
                            <a:srgbClr val="FFFFFF"/>
                          </a:solidFill>
                        </a:rPr>
                        <a:t>ogbn-proteins</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050" b="1" dirty="0">
                          <a:solidFill>
                            <a:srgbClr val="FFFFFF"/>
                          </a:solidFill>
                        </a:rPr>
                        <a:t>BlogCat</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47472">
                <a:tc>
                  <a:txBody>
                    <a:bodyPr/>
                    <a:lstStyle/>
                    <a:p>
                      <a:pPr marL="0" indent="0" algn="ctr">
                        <a:buNone/>
                      </a:pPr>
                      <a:r>
                        <a:rPr lang="en-US" sz="1000" dirty="0">
                          <a:solidFill>
                            <a:srgbClr val="000000"/>
                          </a:solidFill>
                        </a:rPr>
                        <a:t>GAS (baseline)</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4F8FB"/>
                    </a:solidFill>
                  </a:tcPr>
                </a:tc>
                <a:tc>
                  <a:txBody>
                    <a:bodyPr/>
                    <a:lstStyle/>
                    <a:p>
                      <a:pPr marL="0" indent="0" algn="ctr">
                        <a:buNone/>
                      </a:pPr>
                      <a:r>
                        <a:rPr lang="en-US" sz="1000" dirty="0">
                          <a:solidFill>
                            <a:srgbClr val="000000"/>
                          </a:solidFill>
                        </a:rPr>
                        <a:t>49,96±0,28</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4F8FB"/>
                    </a:solidFill>
                  </a:tcPr>
                </a:tc>
                <a:tc>
                  <a:txBody>
                    <a:bodyPr/>
                    <a:lstStyle/>
                    <a:p>
                      <a:pPr marL="0" indent="0" algn="ctr">
                        <a:buNone/>
                      </a:pPr>
                      <a:r>
                        <a:rPr lang="en-US" sz="1000" dirty="0">
                          <a:solidFill>
                            <a:srgbClr val="000000"/>
                          </a:solidFill>
                        </a:rPr>
                        <a:t>38,04±0,20</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4F8FB"/>
                    </a:solidFill>
                  </a:tcPr>
                </a:tc>
                <a:tc>
                  <a:txBody>
                    <a:bodyPr/>
                    <a:lstStyle/>
                    <a:p>
                      <a:pPr marL="0" indent="0" algn="ctr">
                        <a:buNone/>
                      </a:pPr>
                      <a:r>
                        <a:rPr lang="en-US" sz="1000" dirty="0">
                          <a:solidFill>
                            <a:srgbClr val="000000"/>
                          </a:solidFill>
                        </a:rPr>
                        <a:t>37,81±0,07</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4F8FB"/>
                    </a:solidFill>
                  </a:tcPr>
                </a:tc>
                <a:tc>
                  <a:txBody>
                    <a:bodyPr/>
                    <a:lstStyle/>
                    <a:p>
                      <a:pPr marL="0" indent="0" algn="ctr">
                        <a:buNone/>
                      </a:pPr>
                      <a:r>
                        <a:rPr lang="en-US" sz="1000" dirty="0">
                          <a:solidFill>
                            <a:srgbClr val="000000"/>
                          </a:solidFill>
                        </a:rPr>
                        <a:t>7,55±0,01</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4F8FB"/>
                    </a:solidFill>
                  </a:tcPr>
                </a:tc>
                <a:tc>
                  <a:txBody>
                    <a:bodyPr/>
                    <a:lstStyle/>
                    <a:p>
                      <a:pPr marL="0" indent="0" algn="ctr">
                        <a:buNone/>
                      </a:pPr>
                      <a:r>
                        <a:rPr lang="en-US" sz="1000" dirty="0">
                          <a:solidFill>
                            <a:srgbClr val="000000"/>
                          </a:solidFill>
                        </a:rPr>
                        <a:t>6,07±0,04</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4F8FB"/>
                    </a:solidFill>
                  </a:tcPr>
                </a:tc>
                <a:extLst>
                  <a:ext uri="{0D108BD9-81ED-4DB2-BD59-A6C34878D82A}">
                    <a16:rowId xmlns:a16="http://schemas.microsoft.com/office/drawing/2014/main" val="10001"/>
                  </a:ext>
                </a:extLst>
              </a:tr>
              <a:tr h="347472">
                <a:tc>
                  <a:txBody>
                    <a:bodyPr/>
                    <a:lstStyle/>
                    <a:p>
                      <a:pPr marL="0" indent="0" algn="ctr">
                        <a:buNone/>
                      </a:pPr>
                      <a:r>
                        <a:rPr lang="en-US" sz="1000" dirty="0">
                          <a:solidFill>
                            <a:srgbClr val="000000"/>
                          </a:solidFill>
                        </a:rPr>
                        <a:t>LADIES</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47,19±3,42</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29,09±1,88</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18,92±3,18</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4,31±0,11</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6,74±0,67</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lgn="ctr">
                        <a:buNone/>
                      </a:pPr>
                      <a:r>
                        <a:rPr lang="en-US" sz="1000" dirty="0">
                          <a:solidFill>
                            <a:srgbClr val="000000"/>
                          </a:solidFill>
                        </a:rPr>
                        <a:t>GraphSAINT</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48,01±1,44</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28,01±0,57</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34,68±0,70</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9,94±0,07</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6,89±0,96</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lgn="ctr">
                        <a:buNone/>
                      </a:pPr>
                      <a:r>
                        <a:rPr lang="en-US" sz="1000" dirty="0">
                          <a:solidFill>
                            <a:srgbClr val="000000"/>
                          </a:solidFill>
                        </a:rPr>
                        <a:t>AS-GCN</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48,42±1,20</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b="1" dirty="0">
                          <a:solidFill>
                            <a:srgbClr val="000000"/>
                          </a:solidFill>
                        </a:rPr>
                        <a:t>31,04±0,19 ①</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38,51±1,45</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5,20±0,36</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5,43±0,54</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lgn="ctr">
                        <a:buNone/>
                      </a:pPr>
                      <a:r>
                        <a:rPr lang="en-US" sz="1000" dirty="0">
                          <a:solidFill>
                            <a:srgbClr val="000000"/>
                          </a:solidFill>
                        </a:rPr>
                        <a:t>Random</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49,39±0,23</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29,74±0,34</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40,63±0,13</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10,82±0,05</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000" dirty="0">
                          <a:solidFill>
                            <a:srgbClr val="000000"/>
                          </a:solidFill>
                        </a:rPr>
                        <a:t>7,13±0,97</a:t>
                      </a:r>
                      <a:endParaRPr lang="en-US" sz="100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5"/>
                  </a:ext>
                </a:extLst>
              </a:tr>
              <a:tr h="347472">
                <a:tc>
                  <a:txBody>
                    <a:bodyPr/>
                    <a:lstStyle/>
                    <a:p>
                      <a:pPr marL="0" indent="0" algn="ctr">
                        <a:buNone/>
                      </a:pPr>
                      <a:r>
                        <a:rPr lang="en-US" sz="1050" b="1" dirty="0">
                          <a:solidFill>
                            <a:srgbClr val="063A25"/>
                          </a:solidFill>
                        </a:rPr>
                        <a:t>GRAPES-RL</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050" b="1" dirty="0">
                          <a:solidFill>
                            <a:srgbClr val="063A25"/>
                          </a:solidFill>
                        </a:rPr>
                        <a:t>49,54±0,67 ①</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050" b="1" dirty="0">
                          <a:solidFill>
                            <a:srgbClr val="063A25"/>
                          </a:solidFill>
                        </a:rPr>
                        <a:t>29,16±0,54</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050" b="1" dirty="0">
                          <a:solidFill>
                            <a:srgbClr val="063A25"/>
                          </a:solidFill>
                        </a:rPr>
                        <a:t>40,69±0,55</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050" b="1" dirty="0">
                          <a:solidFill>
                            <a:srgbClr val="063A25"/>
                          </a:solidFill>
                        </a:rPr>
                        <a:t>11,78±0,14 ①</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050" b="1" dirty="0">
                          <a:solidFill>
                            <a:srgbClr val="063A25"/>
                          </a:solidFill>
                        </a:rPr>
                        <a:t>9,06±0,68</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extLst>
                  <a:ext uri="{0D108BD9-81ED-4DB2-BD59-A6C34878D82A}">
                    <a16:rowId xmlns:a16="http://schemas.microsoft.com/office/drawing/2014/main" val="10006"/>
                  </a:ext>
                </a:extLst>
              </a:tr>
              <a:tr h="347472">
                <a:tc>
                  <a:txBody>
                    <a:bodyPr/>
                    <a:lstStyle/>
                    <a:p>
                      <a:pPr marL="0" indent="0" algn="ctr">
                        <a:buNone/>
                      </a:pPr>
                      <a:r>
                        <a:rPr lang="en-US" sz="1050" b="1" dirty="0">
                          <a:solidFill>
                            <a:srgbClr val="063A25"/>
                          </a:solidFill>
                        </a:rPr>
                        <a:t>GRAPES-GFN</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050" b="1" dirty="0">
                          <a:solidFill>
                            <a:srgbClr val="063A25"/>
                          </a:solidFill>
                        </a:rPr>
                        <a:t>49,29±0,32</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050" b="1" dirty="0">
                          <a:solidFill>
                            <a:srgbClr val="063A25"/>
                          </a:solidFill>
                        </a:rPr>
                        <a:t>29,58±0,24</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050" b="1" dirty="0">
                          <a:solidFill>
                            <a:srgbClr val="063A25"/>
                          </a:solidFill>
                        </a:rPr>
                        <a:t>44,57±0,88 ①</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050" b="1" dirty="0">
                          <a:solidFill>
                            <a:srgbClr val="063A25"/>
                          </a:solidFill>
                        </a:rPr>
                        <a:t>11,57±0,18</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050" b="1" dirty="0">
                          <a:solidFill>
                            <a:srgbClr val="063A25"/>
                          </a:solidFill>
                        </a:rPr>
                        <a:t>9,22±0,40 ①</a:t>
                      </a:r>
                      <a:endParaRPr lang="en-US" sz="1050" dirty="0"/>
                    </a:p>
                  </a:txBody>
                  <a:tcPr marL="38100" marR="381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extLst>
                  <a:ext uri="{0D108BD9-81ED-4DB2-BD59-A6C34878D82A}">
                    <a16:rowId xmlns:a16="http://schemas.microsoft.com/office/drawing/2014/main" val="10007"/>
                  </a:ext>
                </a:extLst>
              </a:tr>
            </a:tbl>
          </a:graphicData>
        </a:graphic>
      </p:graphicFrame>
      <p:sp>
        <p:nvSpPr>
          <p:cNvPr id="6" name="Shape 3"/>
          <p:cNvSpPr/>
          <p:nvPr/>
        </p:nvSpPr>
        <p:spPr>
          <a:xfrm>
            <a:off x="265176" y="3709767"/>
            <a:ext cx="2724912" cy="1115568"/>
          </a:xfrm>
          <a:prstGeom prst="rect">
            <a:avLst/>
          </a:prstGeom>
          <a:solidFill>
            <a:srgbClr val="E0E0E0"/>
          </a:solidFill>
          <a:ln w="12700">
            <a:solidFill>
              <a:srgbClr val="E0E0E0"/>
            </a:solidFill>
            <a:prstDash val="solid"/>
          </a:ln>
        </p:spPr>
        <p:txBody>
          <a:bodyPr/>
          <a:lstStyle/>
          <a:p>
            <a:endParaRPr lang="en-VN"/>
          </a:p>
        </p:txBody>
      </p:sp>
      <p:sp>
        <p:nvSpPr>
          <p:cNvPr id="7" name="Shape 4"/>
          <p:cNvSpPr/>
          <p:nvPr/>
        </p:nvSpPr>
        <p:spPr>
          <a:xfrm>
            <a:off x="228600" y="3734800"/>
            <a:ext cx="2724912" cy="1115568"/>
          </a:xfrm>
          <a:prstGeom prst="rect">
            <a:avLst/>
          </a:prstGeom>
          <a:solidFill>
            <a:srgbClr val="FFFFFF"/>
          </a:solidFill>
          <a:ln w="25400">
            <a:solidFill>
              <a:srgbClr val="065A82"/>
            </a:solidFill>
            <a:prstDash val="solid"/>
          </a:ln>
        </p:spPr>
        <p:txBody>
          <a:bodyPr/>
          <a:lstStyle/>
          <a:p>
            <a:endParaRPr lang="en-VN"/>
          </a:p>
        </p:txBody>
      </p:sp>
      <p:sp>
        <p:nvSpPr>
          <p:cNvPr id="8" name="Shape 5"/>
          <p:cNvSpPr/>
          <p:nvPr/>
        </p:nvSpPr>
        <p:spPr>
          <a:xfrm>
            <a:off x="228600" y="3682335"/>
            <a:ext cx="2724912" cy="365760"/>
          </a:xfrm>
          <a:prstGeom prst="rect">
            <a:avLst/>
          </a:prstGeom>
          <a:solidFill>
            <a:srgbClr val="065A82"/>
          </a:solidFill>
          <a:ln w="12700">
            <a:solidFill>
              <a:srgbClr val="065A82"/>
            </a:solidFill>
            <a:prstDash val="solid"/>
          </a:ln>
        </p:spPr>
        <p:txBody>
          <a:bodyPr/>
          <a:lstStyle/>
          <a:p>
            <a:endParaRPr lang="en-VN"/>
          </a:p>
        </p:txBody>
      </p:sp>
      <p:sp>
        <p:nvSpPr>
          <p:cNvPr id="9" name="Text 6"/>
          <p:cNvSpPr/>
          <p:nvPr/>
        </p:nvSpPr>
        <p:spPr>
          <a:xfrm>
            <a:off x="228600" y="3682335"/>
            <a:ext cx="2724912"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Nhận xét 1</a:t>
            </a:r>
            <a:endParaRPr lang="en-US" sz="1200" dirty="0"/>
          </a:p>
        </p:txBody>
      </p:sp>
      <p:sp>
        <p:nvSpPr>
          <p:cNvPr id="10" name="Text 7"/>
          <p:cNvSpPr/>
          <p:nvPr/>
        </p:nvSpPr>
        <p:spPr>
          <a:xfrm>
            <a:off x="320040" y="4075527"/>
            <a:ext cx="2542032" cy="685800"/>
          </a:xfrm>
          <a:prstGeom prst="rect">
            <a:avLst/>
          </a:prstGeom>
          <a:noFill/>
          <a:ln/>
        </p:spPr>
        <p:txBody>
          <a:bodyPr wrap="square" rtlCol="0" anchor="ctr"/>
          <a:lstStyle/>
          <a:p>
            <a:pPr marL="0" indent="0" algn="ctr">
              <a:buNone/>
            </a:pPr>
            <a:r>
              <a:rPr lang="en-US" sz="1150" dirty="0">
                <a:solidFill>
                  <a:srgbClr val="1A2B3C"/>
                </a:solidFill>
                <a:latin typeface="Calibri" pitchFamily="34" charset="0"/>
                <a:ea typeface="Calibri" pitchFamily="34" charset="-122"/>
                <a:cs typeface="Calibri" pitchFamily="34" charset="-120"/>
              </a:rPr>
              <a:t>GRAPES đạt #1 trên 4/5 dataset</a:t>
            </a:r>
            <a:endParaRPr lang="en-US" sz="1150" dirty="0"/>
          </a:p>
          <a:p>
            <a:pPr marL="0" indent="0" algn="ctr">
              <a:buNone/>
            </a:pPr>
            <a:r>
              <a:rPr lang="en-US" sz="1150" dirty="0">
                <a:solidFill>
                  <a:srgbClr val="1A2B3C"/>
                </a:solidFill>
                <a:latin typeface="Calibri" pitchFamily="34" charset="0"/>
                <a:ea typeface="Calibri" pitchFamily="34" charset="-122"/>
                <a:cs typeface="Calibri" pitchFamily="34" charset="-120"/>
              </a:rPr>
              <a:t>heterophily (RL: Flickr, ogbn-proteins;</a:t>
            </a:r>
            <a:endParaRPr lang="en-US" sz="1150" dirty="0"/>
          </a:p>
          <a:p>
            <a:pPr marL="0" indent="0" algn="ctr">
              <a:buNone/>
            </a:pPr>
            <a:r>
              <a:rPr lang="en-US" sz="1150" dirty="0">
                <a:solidFill>
                  <a:srgbClr val="1A2B3C"/>
                </a:solidFill>
                <a:latin typeface="Calibri" pitchFamily="34" charset="0"/>
                <a:ea typeface="Calibri" pitchFamily="34" charset="-122"/>
                <a:cs typeface="Calibri" pitchFamily="34" charset="-120"/>
              </a:rPr>
              <a:t>GFN: Yelp, BlogCat)</a:t>
            </a:r>
            <a:endParaRPr lang="en-US" sz="1150" dirty="0"/>
          </a:p>
        </p:txBody>
      </p:sp>
      <p:sp>
        <p:nvSpPr>
          <p:cNvPr id="11" name="Shape 8"/>
          <p:cNvSpPr/>
          <p:nvPr/>
        </p:nvSpPr>
        <p:spPr>
          <a:xfrm>
            <a:off x="3191256" y="3709767"/>
            <a:ext cx="2724912" cy="1115568"/>
          </a:xfrm>
          <a:prstGeom prst="rect">
            <a:avLst/>
          </a:prstGeom>
          <a:solidFill>
            <a:srgbClr val="E0E0E0"/>
          </a:solidFill>
          <a:ln w="12700">
            <a:solidFill>
              <a:srgbClr val="E0E0E0"/>
            </a:solidFill>
            <a:prstDash val="solid"/>
          </a:ln>
        </p:spPr>
        <p:txBody>
          <a:bodyPr/>
          <a:lstStyle/>
          <a:p>
            <a:endParaRPr lang="en-VN"/>
          </a:p>
        </p:txBody>
      </p:sp>
      <p:sp>
        <p:nvSpPr>
          <p:cNvPr id="12" name="Shape 9"/>
          <p:cNvSpPr/>
          <p:nvPr/>
        </p:nvSpPr>
        <p:spPr>
          <a:xfrm>
            <a:off x="3154680" y="3727305"/>
            <a:ext cx="2724912" cy="1115568"/>
          </a:xfrm>
          <a:prstGeom prst="rect">
            <a:avLst/>
          </a:prstGeom>
          <a:solidFill>
            <a:srgbClr val="FFFFFF"/>
          </a:solidFill>
          <a:ln w="25400">
            <a:solidFill>
              <a:srgbClr val="F4A261"/>
            </a:solidFill>
            <a:prstDash val="solid"/>
          </a:ln>
        </p:spPr>
        <p:txBody>
          <a:bodyPr/>
          <a:lstStyle/>
          <a:p>
            <a:endParaRPr lang="en-VN"/>
          </a:p>
        </p:txBody>
      </p:sp>
      <p:sp>
        <p:nvSpPr>
          <p:cNvPr id="13" name="Shape 10"/>
          <p:cNvSpPr/>
          <p:nvPr/>
        </p:nvSpPr>
        <p:spPr>
          <a:xfrm>
            <a:off x="3154680" y="3682335"/>
            <a:ext cx="2724912" cy="365760"/>
          </a:xfrm>
          <a:prstGeom prst="rect">
            <a:avLst/>
          </a:prstGeom>
          <a:solidFill>
            <a:srgbClr val="F4A261"/>
          </a:solidFill>
          <a:ln w="12700">
            <a:solidFill>
              <a:srgbClr val="F4A261"/>
            </a:solidFill>
            <a:prstDash val="solid"/>
          </a:ln>
        </p:spPr>
        <p:txBody>
          <a:bodyPr/>
          <a:lstStyle/>
          <a:p>
            <a:endParaRPr lang="en-VN"/>
          </a:p>
        </p:txBody>
      </p:sp>
      <p:sp>
        <p:nvSpPr>
          <p:cNvPr id="14" name="Text 11"/>
          <p:cNvSpPr/>
          <p:nvPr/>
        </p:nvSpPr>
        <p:spPr>
          <a:xfrm>
            <a:off x="3154680" y="3682335"/>
            <a:ext cx="2724912"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Nhận xét 2</a:t>
            </a:r>
            <a:endParaRPr lang="en-US" sz="1200" dirty="0"/>
          </a:p>
        </p:txBody>
      </p:sp>
      <p:sp>
        <p:nvSpPr>
          <p:cNvPr id="15" name="Text 12"/>
          <p:cNvSpPr/>
          <p:nvPr/>
        </p:nvSpPr>
        <p:spPr>
          <a:xfrm>
            <a:off x="3246120" y="4075527"/>
            <a:ext cx="2542032" cy="685800"/>
          </a:xfrm>
          <a:prstGeom prst="rect">
            <a:avLst/>
          </a:prstGeom>
          <a:noFill/>
          <a:ln/>
        </p:spPr>
        <p:txBody>
          <a:bodyPr wrap="square" rtlCol="0" anchor="ctr"/>
          <a:lstStyle/>
          <a:p>
            <a:pPr marL="0" indent="0" algn="ctr">
              <a:buNone/>
            </a:pPr>
            <a:r>
              <a:rPr lang="en-US" sz="1150" dirty="0">
                <a:solidFill>
                  <a:srgbClr val="1A2B3C"/>
                </a:solidFill>
                <a:latin typeface="Calibri" pitchFamily="34" charset="0"/>
                <a:ea typeface="Calibri" pitchFamily="34" charset="-122"/>
                <a:cs typeface="Calibri" pitchFamily="34" charset="-120"/>
              </a:rPr>
              <a:t>snap-patents: AS-GCN (31,04) dẫn đầu</a:t>
            </a:r>
            <a:endParaRPr lang="en-US" sz="1150" dirty="0"/>
          </a:p>
          <a:p>
            <a:pPr marL="0" indent="0" algn="ctr">
              <a:buNone/>
            </a:pPr>
            <a:r>
              <a:rPr lang="en-US" sz="1150" dirty="0">
                <a:solidFill>
                  <a:srgbClr val="1A2B3C"/>
                </a:solidFill>
                <a:latin typeface="Calibri" pitchFamily="34" charset="0"/>
                <a:ea typeface="Calibri" pitchFamily="34" charset="-122"/>
                <a:cs typeface="Calibri" pitchFamily="34" charset="-120"/>
              </a:rPr>
              <a:t>GRAPES không phải tốt nhất ở đây</a:t>
            </a:r>
            <a:endParaRPr lang="en-US" sz="1150" dirty="0"/>
          </a:p>
        </p:txBody>
      </p:sp>
      <p:sp>
        <p:nvSpPr>
          <p:cNvPr id="16" name="Shape 13"/>
          <p:cNvSpPr/>
          <p:nvPr/>
        </p:nvSpPr>
        <p:spPr>
          <a:xfrm>
            <a:off x="6117336" y="3709767"/>
            <a:ext cx="2724912" cy="1115568"/>
          </a:xfrm>
          <a:prstGeom prst="rect">
            <a:avLst/>
          </a:prstGeom>
          <a:solidFill>
            <a:srgbClr val="E0E0E0"/>
          </a:solidFill>
          <a:ln w="12700">
            <a:solidFill>
              <a:srgbClr val="E0E0E0"/>
            </a:solidFill>
            <a:prstDash val="solid"/>
          </a:ln>
        </p:spPr>
        <p:txBody>
          <a:bodyPr/>
          <a:lstStyle/>
          <a:p>
            <a:endParaRPr lang="en-VN"/>
          </a:p>
        </p:txBody>
      </p:sp>
      <p:sp>
        <p:nvSpPr>
          <p:cNvPr id="17" name="Shape 14"/>
          <p:cNvSpPr/>
          <p:nvPr/>
        </p:nvSpPr>
        <p:spPr>
          <a:xfrm>
            <a:off x="6080760" y="3734800"/>
            <a:ext cx="2724912" cy="1115568"/>
          </a:xfrm>
          <a:prstGeom prst="rect">
            <a:avLst/>
          </a:prstGeom>
          <a:solidFill>
            <a:srgbClr val="FFFFFF"/>
          </a:solidFill>
          <a:ln w="25400">
            <a:solidFill>
              <a:srgbClr val="1C7293"/>
            </a:solidFill>
            <a:prstDash val="solid"/>
          </a:ln>
        </p:spPr>
        <p:txBody>
          <a:bodyPr/>
          <a:lstStyle/>
          <a:p>
            <a:endParaRPr lang="en-VN"/>
          </a:p>
        </p:txBody>
      </p:sp>
      <p:sp>
        <p:nvSpPr>
          <p:cNvPr id="5" name="Shape 15"/>
          <p:cNvSpPr/>
          <p:nvPr/>
        </p:nvSpPr>
        <p:spPr>
          <a:xfrm>
            <a:off x="6080760" y="3682335"/>
            <a:ext cx="2724912" cy="365760"/>
          </a:xfrm>
          <a:prstGeom prst="rect">
            <a:avLst/>
          </a:prstGeom>
          <a:solidFill>
            <a:srgbClr val="1C7293"/>
          </a:solidFill>
          <a:ln w="12700">
            <a:solidFill>
              <a:srgbClr val="1C7293"/>
            </a:solidFill>
            <a:prstDash val="solid"/>
          </a:ln>
        </p:spPr>
        <p:txBody>
          <a:bodyPr/>
          <a:lstStyle/>
          <a:p>
            <a:endParaRPr lang="en-VN"/>
          </a:p>
        </p:txBody>
      </p:sp>
      <p:sp>
        <p:nvSpPr>
          <p:cNvPr id="19" name="Text 16"/>
          <p:cNvSpPr/>
          <p:nvPr/>
        </p:nvSpPr>
        <p:spPr>
          <a:xfrm>
            <a:off x="6080760" y="3682335"/>
            <a:ext cx="2724912"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Nhận xét 3</a:t>
            </a:r>
            <a:endParaRPr lang="en-US" sz="1200" dirty="0"/>
          </a:p>
        </p:txBody>
      </p:sp>
      <p:sp>
        <p:nvSpPr>
          <p:cNvPr id="20" name="Text 17"/>
          <p:cNvSpPr/>
          <p:nvPr/>
        </p:nvSpPr>
        <p:spPr>
          <a:xfrm>
            <a:off x="6172200" y="4075527"/>
            <a:ext cx="2542032" cy="685800"/>
          </a:xfrm>
          <a:prstGeom prst="rect">
            <a:avLst/>
          </a:prstGeom>
          <a:noFill/>
          <a:ln/>
        </p:spPr>
        <p:txBody>
          <a:bodyPr wrap="square" rtlCol="0" anchor="ctr"/>
          <a:lstStyle/>
          <a:p>
            <a:pPr marL="0" indent="0" algn="ctr">
              <a:buNone/>
            </a:pPr>
            <a:r>
              <a:rPr lang="en-US" sz="1150" dirty="0">
                <a:solidFill>
                  <a:srgbClr val="1A2B3C"/>
                </a:solidFill>
                <a:latin typeface="Calibri" pitchFamily="34" charset="0"/>
                <a:ea typeface="Calibri" pitchFamily="34" charset="-122"/>
                <a:cs typeface="Calibri" pitchFamily="34" charset="-120"/>
              </a:rPr>
              <a:t>GAS thắng Flickr (49,96) nhưng</a:t>
            </a:r>
            <a:endParaRPr lang="en-US" sz="1150" dirty="0"/>
          </a:p>
          <a:p>
            <a:pPr marL="0" indent="0" algn="ctr">
              <a:buNone/>
            </a:pPr>
            <a:r>
              <a:rPr lang="en-US" sz="1150" dirty="0">
                <a:solidFill>
                  <a:srgbClr val="1A2B3C"/>
                </a:solidFill>
                <a:latin typeface="Calibri" pitchFamily="34" charset="0"/>
                <a:ea typeface="Calibri" pitchFamily="34" charset="-122"/>
                <a:cs typeface="Calibri" pitchFamily="34" charset="-120"/>
              </a:rPr>
              <a:t>cần bộ nhớ lưu trữ N embedding</a:t>
            </a:r>
            <a:endParaRPr lang="en-US" sz="1150" dirty="0"/>
          </a:p>
        </p:txBody>
      </p:sp>
      <p:sp>
        <p:nvSpPr>
          <p:cNvPr id="21" name="Text 18"/>
          <p:cNvSpPr/>
          <p:nvPr/>
        </p:nvSpPr>
        <p:spPr>
          <a:xfrm>
            <a:off x="228600" y="4974336"/>
            <a:ext cx="8686800" cy="182880"/>
          </a:xfrm>
          <a:prstGeom prst="rect">
            <a:avLst/>
          </a:prstGeom>
          <a:noFill/>
          <a:ln/>
        </p:spPr>
        <p:txBody>
          <a:bodyPr wrap="square" rtlCol="0" anchor="ctr"/>
          <a:lstStyle/>
          <a:p>
            <a:pPr marL="0" indent="0" algn="r">
              <a:buNone/>
            </a:pPr>
            <a:r>
              <a:rPr lang="en-US" sz="900" i="1" dirty="0">
                <a:solidFill>
                  <a:srgbClr val="5A6A78"/>
                </a:solidFill>
              </a:rPr>
              <a:t>① = tốt nhất trong nhóm sampling   Nguồn: Bảng 2, Younesian et al. TMLR 2024</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Thực Nghiệm Tái Hiện Của Học Viên</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20 / 29</a:t>
            </a:r>
            <a:endParaRPr lang="en-US" sz="1000" dirty="0"/>
          </a:p>
        </p:txBody>
      </p:sp>
      <p:sp>
        <p:nvSpPr>
          <p:cNvPr id="5" name="Text 3"/>
          <p:cNvSpPr/>
          <p:nvPr/>
        </p:nvSpPr>
        <p:spPr>
          <a:xfrm>
            <a:off x="256032" y="868680"/>
            <a:ext cx="1188720" cy="256032"/>
          </a:xfrm>
          <a:prstGeom prst="rect">
            <a:avLst/>
          </a:prstGeom>
          <a:noFill/>
          <a:ln/>
        </p:spPr>
        <p:txBody>
          <a:bodyPr wrap="square" rtlCol="0" anchor="ctr"/>
          <a:lstStyle/>
          <a:p>
            <a:pPr marL="0" indent="0">
              <a:buNone/>
            </a:pPr>
            <a:r>
              <a:rPr lang="en-US" sz="1050" b="1" dirty="0">
                <a:solidFill>
                  <a:srgbClr val="065A82"/>
                </a:solidFill>
                <a:latin typeface="Calibri" pitchFamily="34" charset="0"/>
                <a:ea typeface="Calibri" pitchFamily="34" charset="-122"/>
                <a:cs typeface="Calibri" pitchFamily="34" charset="-120"/>
              </a:rPr>
              <a:t>Lý do tái hiện</a:t>
            </a:r>
            <a:endParaRPr lang="en-US" sz="1050" dirty="0"/>
          </a:p>
        </p:txBody>
      </p:sp>
      <p:sp>
        <p:nvSpPr>
          <p:cNvPr id="6" name="Shape 4"/>
          <p:cNvSpPr/>
          <p:nvPr/>
        </p:nvSpPr>
        <p:spPr>
          <a:xfrm>
            <a:off x="256032" y="1133856"/>
            <a:ext cx="2816352" cy="932688"/>
          </a:xfrm>
          <a:prstGeom prst="rect">
            <a:avLst/>
          </a:prstGeom>
          <a:solidFill>
            <a:srgbClr val="EBF5FB"/>
          </a:solidFill>
          <a:ln w="19050">
            <a:solidFill>
              <a:srgbClr val="1C7293"/>
            </a:solidFill>
            <a:prstDash val="solid"/>
          </a:ln>
        </p:spPr>
        <p:txBody>
          <a:bodyPr/>
          <a:lstStyle/>
          <a:p>
            <a:endParaRPr lang="en-VN"/>
          </a:p>
        </p:txBody>
      </p:sp>
      <p:sp>
        <p:nvSpPr>
          <p:cNvPr id="7" name="Shape 5"/>
          <p:cNvSpPr/>
          <p:nvPr/>
        </p:nvSpPr>
        <p:spPr>
          <a:xfrm>
            <a:off x="256032" y="1133856"/>
            <a:ext cx="2816352" cy="256032"/>
          </a:xfrm>
          <a:prstGeom prst="rect">
            <a:avLst/>
          </a:prstGeom>
          <a:solidFill>
            <a:srgbClr val="1C7293"/>
          </a:solidFill>
          <a:ln w="12700">
            <a:solidFill>
              <a:srgbClr val="000000"/>
            </a:solidFill>
            <a:prstDash val="solid"/>
          </a:ln>
        </p:spPr>
        <p:txBody>
          <a:bodyPr/>
          <a:lstStyle/>
          <a:p>
            <a:endParaRPr lang="en-VN"/>
          </a:p>
        </p:txBody>
      </p:sp>
      <p:sp>
        <p:nvSpPr>
          <p:cNvPr id="8" name="Text 6"/>
          <p:cNvSpPr/>
          <p:nvPr/>
        </p:nvSpPr>
        <p:spPr>
          <a:xfrm>
            <a:off x="329184" y="1133856"/>
            <a:ext cx="2706624"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Kiểm chứng độc lập</a:t>
            </a:r>
            <a:endParaRPr lang="en-US" sz="1000" dirty="0"/>
          </a:p>
        </p:txBody>
      </p:sp>
      <p:sp>
        <p:nvSpPr>
          <p:cNvPr id="9" name="Text 7"/>
          <p:cNvSpPr/>
          <p:nvPr/>
        </p:nvSpPr>
        <p:spPr>
          <a:xfrm>
            <a:off x="329184" y="1408176"/>
            <a:ext cx="2670048" cy="621792"/>
          </a:xfrm>
          <a:prstGeom prst="rect">
            <a:avLst/>
          </a:prstGeom>
          <a:noFill/>
          <a:ln/>
        </p:spPr>
        <p:txBody>
          <a:bodyPr wrap="square" rtlCol="0" anchor="t"/>
          <a:lstStyle/>
          <a:p>
            <a:pPr marL="0" indent="0">
              <a:buNone/>
            </a:pPr>
            <a:r>
              <a:rPr lang="en-US" sz="950" dirty="0">
                <a:solidFill>
                  <a:srgbClr val="1A2B3C"/>
                </a:solidFill>
                <a:latin typeface="Calibri" pitchFamily="34" charset="0"/>
                <a:ea typeface="Calibri" pitchFamily="34" charset="-122"/>
                <a:cs typeface="Calibri" pitchFamily="34" charset="-120"/>
              </a:rPr>
              <a:t>Bài báo gốc dùng RTX A6000 49GB — môi trường không phổ biến. Cần xác nhận kết quả có tái hiện được trên phần cứng thực tế hơn (T4 15,6GB = ⅓ VRAM).</a:t>
            </a:r>
            <a:endParaRPr lang="en-US" sz="950" dirty="0"/>
          </a:p>
        </p:txBody>
      </p:sp>
      <p:sp>
        <p:nvSpPr>
          <p:cNvPr id="10" name="Shape 8"/>
          <p:cNvSpPr/>
          <p:nvPr/>
        </p:nvSpPr>
        <p:spPr>
          <a:xfrm>
            <a:off x="3182112" y="1133856"/>
            <a:ext cx="2816352" cy="932688"/>
          </a:xfrm>
          <a:prstGeom prst="rect">
            <a:avLst/>
          </a:prstGeom>
          <a:solidFill>
            <a:srgbClr val="FFF8E7"/>
          </a:solidFill>
          <a:ln w="19050">
            <a:solidFill>
              <a:srgbClr val="F4A261"/>
            </a:solidFill>
            <a:prstDash val="solid"/>
          </a:ln>
        </p:spPr>
        <p:txBody>
          <a:bodyPr/>
          <a:lstStyle/>
          <a:p>
            <a:endParaRPr lang="en-VN"/>
          </a:p>
        </p:txBody>
      </p:sp>
      <p:sp>
        <p:nvSpPr>
          <p:cNvPr id="11" name="Shape 9"/>
          <p:cNvSpPr/>
          <p:nvPr/>
        </p:nvSpPr>
        <p:spPr>
          <a:xfrm>
            <a:off x="3182112" y="1133856"/>
            <a:ext cx="2816352" cy="256032"/>
          </a:xfrm>
          <a:prstGeom prst="rect">
            <a:avLst/>
          </a:prstGeom>
          <a:solidFill>
            <a:srgbClr val="F4A261"/>
          </a:solidFill>
          <a:ln w="12700">
            <a:solidFill>
              <a:srgbClr val="000000"/>
            </a:solidFill>
            <a:prstDash val="solid"/>
          </a:ln>
        </p:spPr>
        <p:txBody>
          <a:bodyPr/>
          <a:lstStyle/>
          <a:p>
            <a:endParaRPr lang="en-VN"/>
          </a:p>
        </p:txBody>
      </p:sp>
      <p:sp>
        <p:nvSpPr>
          <p:cNvPr id="12" name="Text 10"/>
          <p:cNvSpPr/>
          <p:nvPr/>
        </p:nvSpPr>
        <p:spPr>
          <a:xfrm>
            <a:off x="3255264" y="1133856"/>
            <a:ext cx="2706624"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Kiểm tra scalability thực tế</a:t>
            </a:r>
            <a:endParaRPr lang="en-US" sz="1000" dirty="0"/>
          </a:p>
        </p:txBody>
      </p:sp>
      <p:sp>
        <p:nvSpPr>
          <p:cNvPr id="13" name="Text 11"/>
          <p:cNvSpPr/>
          <p:nvPr/>
        </p:nvSpPr>
        <p:spPr>
          <a:xfrm>
            <a:off x="3255264" y="1408176"/>
            <a:ext cx="2670048" cy="621792"/>
          </a:xfrm>
          <a:prstGeom prst="rect">
            <a:avLst/>
          </a:prstGeom>
          <a:noFill/>
          <a:ln/>
        </p:spPr>
        <p:txBody>
          <a:bodyPr wrap="square" rtlCol="0" anchor="t"/>
          <a:lstStyle/>
          <a:p>
            <a:pPr marL="0" indent="0">
              <a:buNone/>
            </a:pPr>
            <a:r>
              <a:rPr lang="en-US" sz="950" dirty="0">
                <a:solidFill>
                  <a:srgbClr val="1A2B3C"/>
                </a:solidFill>
                <a:latin typeface="Calibri" pitchFamily="34" charset="0"/>
                <a:ea typeface="Calibri" pitchFamily="34" charset="-122"/>
                <a:cs typeface="Calibri" pitchFamily="34" charset="-120"/>
              </a:rPr>
              <a:t>Bài báo claim GRAPES scalable — nhưng chưa có con số OOM/không OOM trên phần cứng tiêu chuẩn. ogbn-products (2,4M đỉnh, 61,9M cạnh) là test case cực đoan.</a:t>
            </a:r>
            <a:endParaRPr lang="en-US" sz="950" dirty="0"/>
          </a:p>
        </p:txBody>
      </p:sp>
      <p:sp>
        <p:nvSpPr>
          <p:cNvPr id="14" name="Shape 12"/>
          <p:cNvSpPr/>
          <p:nvPr/>
        </p:nvSpPr>
        <p:spPr>
          <a:xfrm>
            <a:off x="6108192" y="1133856"/>
            <a:ext cx="2816352" cy="932688"/>
          </a:xfrm>
          <a:prstGeom prst="rect">
            <a:avLst/>
          </a:prstGeom>
          <a:solidFill>
            <a:srgbClr val="E8F8F5"/>
          </a:solidFill>
          <a:ln w="19050">
            <a:solidFill>
              <a:srgbClr val="02C39A"/>
            </a:solidFill>
            <a:prstDash val="solid"/>
          </a:ln>
        </p:spPr>
        <p:txBody>
          <a:bodyPr/>
          <a:lstStyle/>
          <a:p>
            <a:endParaRPr lang="en-VN"/>
          </a:p>
        </p:txBody>
      </p:sp>
      <p:sp>
        <p:nvSpPr>
          <p:cNvPr id="15" name="Shape 13"/>
          <p:cNvSpPr/>
          <p:nvPr/>
        </p:nvSpPr>
        <p:spPr>
          <a:xfrm>
            <a:off x="6108192" y="1133856"/>
            <a:ext cx="2816352" cy="256032"/>
          </a:xfrm>
          <a:prstGeom prst="rect">
            <a:avLst/>
          </a:prstGeom>
          <a:solidFill>
            <a:srgbClr val="02C39A"/>
          </a:solidFill>
          <a:ln w="12700">
            <a:solidFill>
              <a:srgbClr val="000000"/>
            </a:solidFill>
            <a:prstDash val="solid"/>
          </a:ln>
        </p:spPr>
        <p:txBody>
          <a:bodyPr/>
          <a:lstStyle/>
          <a:p>
            <a:endParaRPr lang="en-VN"/>
          </a:p>
        </p:txBody>
      </p:sp>
      <p:sp>
        <p:nvSpPr>
          <p:cNvPr id="16" name="Text 14"/>
          <p:cNvSpPr/>
          <p:nvPr/>
        </p:nvSpPr>
        <p:spPr>
          <a:xfrm>
            <a:off x="6181344" y="1133856"/>
            <a:ext cx="2706624"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Cơ sở cho giai đoạn 2</a:t>
            </a:r>
            <a:endParaRPr lang="en-US" sz="1000" dirty="0"/>
          </a:p>
        </p:txBody>
      </p:sp>
      <p:sp>
        <p:nvSpPr>
          <p:cNvPr id="17" name="Text 15"/>
          <p:cNvSpPr/>
          <p:nvPr/>
        </p:nvSpPr>
        <p:spPr>
          <a:xfrm>
            <a:off x="6181344" y="1408176"/>
            <a:ext cx="2670048" cy="621792"/>
          </a:xfrm>
          <a:prstGeom prst="rect">
            <a:avLst/>
          </a:prstGeom>
          <a:noFill/>
          <a:ln/>
        </p:spPr>
        <p:txBody>
          <a:bodyPr wrap="square" rtlCol="0" anchor="t"/>
          <a:lstStyle/>
          <a:p>
            <a:pPr marL="0" indent="0">
              <a:buNone/>
            </a:pPr>
            <a:r>
              <a:rPr lang="en-US" sz="950" dirty="0">
                <a:solidFill>
                  <a:srgbClr val="1A2B3C"/>
                </a:solidFill>
                <a:latin typeface="Calibri" pitchFamily="34" charset="0"/>
                <a:ea typeface="Calibri" pitchFamily="34" charset="-122"/>
                <a:cs typeface="Calibri" pitchFamily="34" charset="-120"/>
              </a:rPr>
              <a:t>Tái hiện thành công = </a:t>
            </a:r>
            <a:r>
              <a:rPr lang="en-US" sz="950" dirty="0" err="1">
                <a:solidFill>
                  <a:srgbClr val="1A2B3C"/>
                </a:solidFill>
                <a:latin typeface="Calibri" pitchFamily="34" charset="0"/>
                <a:ea typeface="Calibri" pitchFamily="34" charset="-122"/>
                <a:cs typeface="Calibri" pitchFamily="34" charset="-120"/>
              </a:rPr>
              <a:t>hiểu</a:t>
            </a:r>
            <a:r>
              <a:rPr lang="en-US" sz="950" dirty="0">
                <a:solidFill>
                  <a:srgbClr val="1A2B3C"/>
                </a:solidFill>
                <a:latin typeface="Calibri" pitchFamily="34" charset="0"/>
                <a:ea typeface="Calibri" pitchFamily="34" charset="-122"/>
                <a:cs typeface="Calibri" pitchFamily="34" charset="-120"/>
              </a:rPr>
              <a:t> </a:t>
            </a:r>
            <a:r>
              <a:rPr lang="en-US" sz="950" dirty="0" err="1">
                <a:solidFill>
                  <a:srgbClr val="1A2B3C"/>
                </a:solidFill>
                <a:latin typeface="Calibri" pitchFamily="34" charset="0"/>
                <a:ea typeface="Calibri" pitchFamily="34" charset="-122"/>
                <a:cs typeface="Calibri" pitchFamily="34" charset="-120"/>
              </a:rPr>
              <a:t>rõ</a:t>
            </a:r>
            <a:r>
              <a:rPr lang="en-US" sz="950" dirty="0">
                <a:solidFill>
                  <a:srgbClr val="1A2B3C"/>
                </a:solidFill>
                <a:latin typeface="Calibri" pitchFamily="34" charset="0"/>
                <a:ea typeface="Calibri" pitchFamily="34" charset="-122"/>
                <a:cs typeface="Calibri" pitchFamily="34" charset="-120"/>
              </a:rPr>
              <a:t> codebase (GCN_S, GFlowNet, Gumbel Top-k). Đây là </a:t>
            </a:r>
            <a:r>
              <a:rPr lang="en-US" sz="950" dirty="0" err="1">
                <a:solidFill>
                  <a:srgbClr val="1A2B3C"/>
                </a:solidFill>
                <a:latin typeface="Calibri" pitchFamily="34" charset="0"/>
                <a:ea typeface="Calibri" pitchFamily="34" charset="-122"/>
                <a:cs typeface="Calibri" pitchFamily="34" charset="-120"/>
              </a:rPr>
              <a:t>điều</a:t>
            </a:r>
            <a:r>
              <a:rPr lang="en-US" sz="950" dirty="0">
                <a:solidFill>
                  <a:srgbClr val="1A2B3C"/>
                </a:solidFill>
                <a:latin typeface="Calibri" pitchFamily="34" charset="0"/>
                <a:ea typeface="Calibri" pitchFamily="34" charset="-122"/>
                <a:cs typeface="Calibri" pitchFamily="34" charset="-120"/>
              </a:rPr>
              <a:t> </a:t>
            </a:r>
            <a:r>
              <a:rPr lang="en-US" sz="950" dirty="0" err="1">
                <a:solidFill>
                  <a:srgbClr val="1A2B3C"/>
                </a:solidFill>
                <a:latin typeface="Calibri" pitchFamily="34" charset="0"/>
                <a:ea typeface="Calibri" pitchFamily="34" charset="-122"/>
                <a:cs typeface="Calibri" pitchFamily="34" charset="-120"/>
              </a:rPr>
              <a:t>kiện</a:t>
            </a:r>
            <a:r>
              <a:rPr lang="en-US" sz="950" dirty="0">
                <a:solidFill>
                  <a:srgbClr val="1A2B3C"/>
                </a:solidFill>
                <a:latin typeface="Calibri" pitchFamily="34" charset="0"/>
                <a:ea typeface="Calibri" pitchFamily="34" charset="-122"/>
                <a:cs typeface="Calibri" pitchFamily="34" charset="-120"/>
              </a:rPr>
              <a:t> để mở </a:t>
            </a:r>
            <a:r>
              <a:rPr lang="en-US" sz="950" dirty="0" err="1">
                <a:solidFill>
                  <a:srgbClr val="1A2B3C"/>
                </a:solidFill>
                <a:latin typeface="Calibri" pitchFamily="34" charset="0"/>
                <a:ea typeface="Calibri" pitchFamily="34" charset="-122"/>
                <a:cs typeface="Calibri" pitchFamily="34" charset="-120"/>
              </a:rPr>
              <a:t>rộng</a:t>
            </a:r>
            <a:r>
              <a:rPr lang="en-US" sz="950" dirty="0">
                <a:solidFill>
                  <a:srgbClr val="1A2B3C"/>
                </a:solidFill>
                <a:latin typeface="Calibri" pitchFamily="34" charset="0"/>
                <a:ea typeface="Calibri" pitchFamily="34" charset="-122"/>
                <a:cs typeface="Calibri" pitchFamily="34" charset="-120"/>
              </a:rPr>
              <a:t> </a:t>
            </a:r>
            <a:r>
              <a:rPr lang="en-US" sz="950" dirty="0" err="1">
                <a:solidFill>
                  <a:srgbClr val="1A2B3C"/>
                </a:solidFill>
                <a:latin typeface="Calibri" pitchFamily="34" charset="0"/>
                <a:ea typeface="Calibri" pitchFamily="34" charset="-122"/>
                <a:cs typeface="Calibri" pitchFamily="34" charset="-120"/>
              </a:rPr>
              <a:t>ở</a:t>
            </a:r>
            <a:r>
              <a:rPr lang="en-US" sz="950" dirty="0">
                <a:solidFill>
                  <a:srgbClr val="1A2B3C"/>
                </a:solidFill>
                <a:latin typeface="Calibri" pitchFamily="34" charset="0"/>
                <a:ea typeface="Calibri" pitchFamily="34" charset="-122"/>
                <a:cs typeface="Calibri" pitchFamily="34" charset="-120"/>
              </a:rPr>
              <a:t> giai đoạn 2.</a:t>
            </a:r>
            <a:endParaRPr lang="en-US" sz="950" dirty="0"/>
          </a:p>
        </p:txBody>
      </p:sp>
      <p:sp>
        <p:nvSpPr>
          <p:cNvPr id="18" name="Shape 16"/>
          <p:cNvSpPr/>
          <p:nvPr/>
        </p:nvSpPr>
        <p:spPr>
          <a:xfrm>
            <a:off x="256032" y="2139696"/>
            <a:ext cx="8631936" cy="274320"/>
          </a:xfrm>
          <a:prstGeom prst="rect">
            <a:avLst/>
          </a:prstGeom>
          <a:solidFill>
            <a:srgbClr val="F0F4F8"/>
          </a:solidFill>
          <a:ln w="10160">
            <a:solidFill>
              <a:srgbClr val="D0D8E0"/>
            </a:solidFill>
            <a:prstDash val="solid"/>
          </a:ln>
        </p:spPr>
        <p:txBody>
          <a:bodyPr/>
          <a:lstStyle/>
          <a:p>
            <a:endParaRPr lang="en-VN"/>
          </a:p>
        </p:txBody>
      </p:sp>
      <p:sp>
        <p:nvSpPr>
          <p:cNvPr id="19" name="Text 17"/>
          <p:cNvSpPr/>
          <p:nvPr/>
        </p:nvSpPr>
        <p:spPr>
          <a:xfrm>
            <a:off x="256032" y="2139696"/>
            <a:ext cx="8631936" cy="274320"/>
          </a:xfrm>
          <a:prstGeom prst="rect">
            <a:avLst/>
          </a:prstGeom>
          <a:noFill/>
          <a:ln/>
        </p:spPr>
        <p:txBody>
          <a:bodyPr wrap="square" rtlCol="0" anchor="ctr"/>
          <a:lstStyle/>
          <a:p>
            <a:pPr marL="0" indent="0" algn="ctr">
              <a:buNone/>
            </a:pPr>
            <a:r>
              <a:rPr lang="en-US" sz="1000" dirty="0">
                <a:solidFill>
                  <a:srgbClr val="1A2B3C"/>
                </a:solidFill>
                <a:latin typeface="Calibri" pitchFamily="34" charset="0"/>
                <a:ea typeface="Calibri" pitchFamily="34" charset="-122"/>
                <a:cs typeface="Calibri" pitchFamily="34" charset="-120"/>
              </a:rPr>
              <a:t>Môi trường: Google Colab  |  Tesla T4 15,6GB VRAM  |  PyTorch 2.11 + torch-geometric 2.7  |  4 datasets, 3 lần chạy/dataset</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256032" y="2468880"/>
          <a:ext cx="8631936" cy="1499616"/>
        </p:xfrm>
        <a:graphic>
          <a:graphicData uri="http://schemas.openxmlformats.org/drawingml/2006/table">
            <a:tbl>
              <a:tblPr/>
              <a:tblGrid>
                <a:gridCol w="19202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2322576">
                  <a:extLst>
                    <a:ext uri="{9D8B030D-6E8A-4147-A177-3AD203B41FA5}">
                      <a16:colId xmlns:a16="http://schemas.microsoft.com/office/drawing/2014/main" val="20004"/>
                    </a:ext>
                  </a:extLst>
                </a:gridCol>
              </a:tblGrid>
              <a:tr h="374904">
                <a:tc>
                  <a:txBody>
                    <a:bodyPr/>
                    <a:lstStyle/>
                    <a:p>
                      <a:pPr marL="0" indent="0" algn="ctr">
                        <a:buNone/>
                      </a:pPr>
                      <a:r>
                        <a:rPr lang="en-US" sz="1100" b="1" dirty="0">
                          <a:solidFill>
                            <a:srgbClr val="FFFFFF"/>
                          </a:solidFill>
                        </a:rPr>
                        <a:t>Phương pháp</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100" b="1" dirty="0">
                          <a:solidFill>
                            <a:srgbClr val="FFFFFF"/>
                          </a:solidFill>
                        </a:rPr>
                        <a:t>Cora</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100" b="1" dirty="0">
                          <a:solidFill>
                            <a:srgbClr val="FFFFFF"/>
                          </a:solidFill>
                        </a:rPr>
                        <a:t>CiteSeer</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100" b="1" dirty="0">
                          <a:solidFill>
                            <a:srgbClr val="FFFFFF"/>
                          </a:solidFill>
                        </a:rPr>
                        <a:t>ogbn-arxiv</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100" b="1" dirty="0">
                          <a:solidFill>
                            <a:srgbClr val="FFFFFF"/>
                          </a:solidFill>
                        </a:rPr>
                        <a:t>ogbn-products</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74904">
                <a:tc>
                  <a:txBody>
                    <a:bodyPr/>
                    <a:lstStyle/>
                    <a:p>
                      <a:pPr marL="0" indent="0" algn="ctr">
                        <a:buNone/>
                      </a:pPr>
                      <a:r>
                        <a:rPr lang="en-US" sz="1100" dirty="0">
                          <a:solidFill>
                            <a:srgbClr val="000000"/>
                          </a:solidFill>
                        </a:rPr>
                        <a:t>Random</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100" dirty="0">
                          <a:solidFill>
                            <a:srgbClr val="000000"/>
                          </a:solidFill>
                        </a:rPr>
                        <a:t>86,77±0,38</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100" dirty="0">
                          <a:solidFill>
                            <a:srgbClr val="000000"/>
                          </a:solidFill>
                        </a:rPr>
                        <a:t>79,00±0,82</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100" dirty="0">
                          <a:solidFill>
                            <a:srgbClr val="000000"/>
                          </a:solidFill>
                        </a:rPr>
                        <a:t>61,28±0,29</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100" dirty="0">
                          <a:solidFill>
                            <a:srgbClr val="000000"/>
                          </a:solidFill>
                        </a:rPr>
                        <a:t>—</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1"/>
                  </a:ext>
                </a:extLst>
              </a:tr>
              <a:tr h="374904">
                <a:tc>
                  <a:txBody>
                    <a:bodyPr/>
                    <a:lstStyle/>
                    <a:p>
                      <a:pPr marL="0" indent="0" algn="ctr">
                        <a:buNone/>
                      </a:pPr>
                      <a:r>
                        <a:rPr lang="en-US" sz="1100" b="1" dirty="0">
                          <a:solidFill>
                            <a:srgbClr val="063A25"/>
                          </a:solidFill>
                        </a:rPr>
                        <a:t>GRAPES-GFN</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100" b="1" dirty="0">
                          <a:solidFill>
                            <a:srgbClr val="063A25"/>
                          </a:solidFill>
                        </a:rPr>
                        <a:t>87,10±0,17</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100" b="1" dirty="0">
                          <a:solidFill>
                            <a:srgbClr val="063A25"/>
                          </a:solidFill>
                        </a:rPr>
                        <a:t>78,57±0,71</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100" b="1" dirty="0">
                          <a:solidFill>
                            <a:srgbClr val="063A25"/>
                          </a:solidFill>
                        </a:rPr>
                        <a:t>62,04±0,31</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100" b="1" dirty="0">
                          <a:solidFill>
                            <a:srgbClr val="063A25"/>
                          </a:solidFill>
                        </a:rPr>
                        <a:t>Chạy được (9/10 epoch)</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extLst>
                  <a:ext uri="{0D108BD9-81ED-4DB2-BD59-A6C34878D82A}">
                    <a16:rowId xmlns:a16="http://schemas.microsoft.com/office/drawing/2014/main" val="10002"/>
                  </a:ext>
                </a:extLst>
              </a:tr>
              <a:tr h="374904">
                <a:tc>
                  <a:txBody>
                    <a:bodyPr/>
                    <a:lstStyle/>
                    <a:p>
                      <a:pPr marL="0" indent="0" algn="ctr">
                        <a:buNone/>
                      </a:pPr>
                      <a:r>
                        <a:rPr lang="en-US" sz="1100" b="1" dirty="0">
                          <a:solidFill>
                            <a:srgbClr val="000000"/>
                          </a:solidFill>
                        </a:rPr>
                        <a:t>Δ (GFN − Random)</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0F4F8"/>
                    </a:solidFill>
                  </a:tcPr>
                </a:tc>
                <a:tc>
                  <a:txBody>
                    <a:bodyPr/>
                    <a:lstStyle/>
                    <a:p>
                      <a:pPr marL="0" indent="0" algn="ctr">
                        <a:buNone/>
                      </a:pPr>
                      <a:r>
                        <a:rPr lang="en-US" sz="1100" b="1" dirty="0">
                          <a:solidFill>
                            <a:srgbClr val="1A6B35"/>
                          </a:solidFill>
                        </a:rPr>
                        <a:t>+0,33</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E8F5E9"/>
                    </a:solidFill>
                  </a:tcPr>
                </a:tc>
                <a:tc>
                  <a:txBody>
                    <a:bodyPr/>
                    <a:lstStyle/>
                    <a:p>
                      <a:pPr marL="0" indent="0" algn="ctr">
                        <a:buNone/>
                      </a:pPr>
                      <a:r>
                        <a:rPr lang="en-US" sz="1100" dirty="0">
                          <a:solidFill>
                            <a:srgbClr val="7B4F00"/>
                          </a:solidFill>
                        </a:rPr>
                        <a:t>−0,43</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8E1"/>
                    </a:solidFill>
                  </a:tcPr>
                </a:tc>
                <a:tc>
                  <a:txBody>
                    <a:bodyPr/>
                    <a:lstStyle/>
                    <a:p>
                      <a:pPr marL="0" indent="0" algn="ctr">
                        <a:buNone/>
                      </a:pPr>
                      <a:r>
                        <a:rPr lang="en-US" sz="1100" b="1" dirty="0">
                          <a:solidFill>
                            <a:srgbClr val="1A6B35"/>
                          </a:solidFill>
                        </a:rPr>
                        <a:t>+0,76</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E8F5E9"/>
                    </a:solidFill>
                  </a:tcPr>
                </a:tc>
                <a:tc>
                  <a:txBody>
                    <a:bodyPr/>
                    <a:lstStyle/>
                    <a:p>
                      <a:pPr marL="0" indent="0" algn="ctr">
                        <a:buNone/>
                      </a:pPr>
                      <a:r>
                        <a:rPr lang="en-US" sz="1100" b="1" dirty="0">
                          <a:solidFill>
                            <a:srgbClr val="1A6B35"/>
                          </a:solidFill>
                        </a:rPr>
                        <a:t>Không OOM (15GB)</a:t>
                      </a:r>
                      <a:endParaRPr lang="en-US" sz="1100" dirty="0"/>
                    </a:p>
                  </a:txBody>
                  <a:tcPr marL="50800" marR="508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E8F5E9"/>
                    </a:solidFill>
                  </a:tcPr>
                </a:tc>
                <a:extLst>
                  <a:ext uri="{0D108BD9-81ED-4DB2-BD59-A6C34878D82A}">
                    <a16:rowId xmlns:a16="http://schemas.microsoft.com/office/drawing/2014/main" val="10003"/>
                  </a:ext>
                </a:extLst>
              </a:tr>
            </a:tbl>
          </a:graphicData>
        </a:graphic>
      </p:graphicFrame>
      <p:sp>
        <p:nvSpPr>
          <p:cNvPr id="21" name="Shape 18"/>
          <p:cNvSpPr/>
          <p:nvPr/>
        </p:nvSpPr>
        <p:spPr>
          <a:xfrm>
            <a:off x="256032" y="4078224"/>
            <a:ext cx="8631936" cy="676656"/>
          </a:xfrm>
          <a:prstGeom prst="rect">
            <a:avLst/>
          </a:prstGeom>
          <a:solidFill>
            <a:srgbClr val="EAF4FB"/>
          </a:solidFill>
          <a:ln w="25400">
            <a:solidFill>
              <a:srgbClr val="1C7293"/>
            </a:solidFill>
            <a:prstDash val="solid"/>
          </a:ln>
        </p:spPr>
        <p:txBody>
          <a:bodyPr/>
          <a:lstStyle/>
          <a:p>
            <a:endParaRPr lang="en-VN"/>
          </a:p>
        </p:txBody>
      </p:sp>
      <p:sp>
        <p:nvSpPr>
          <p:cNvPr id="22" name="Text 19"/>
          <p:cNvSpPr/>
          <p:nvPr/>
        </p:nvSpPr>
        <p:spPr>
          <a:xfrm>
            <a:off x="384048" y="4078224"/>
            <a:ext cx="8375904" cy="676656"/>
          </a:xfrm>
          <a:prstGeom prst="rect">
            <a:avLst/>
          </a:prstGeom>
          <a:noFill/>
          <a:ln/>
        </p:spPr>
        <p:txBody>
          <a:bodyPr wrap="square" rtlCol="0" anchor="ctr"/>
          <a:lstStyle/>
          <a:p>
            <a:pPr marL="0" indent="0">
              <a:buNone/>
            </a:pPr>
            <a:r>
              <a:rPr lang="en-US" sz="1150" b="1" dirty="0">
                <a:solidFill>
                  <a:srgbClr val="065A82"/>
                </a:solidFill>
                <a:latin typeface="Calibri" pitchFamily="34" charset="0"/>
                <a:ea typeface="Calibri" pitchFamily="34" charset="-122"/>
                <a:cs typeface="Calibri" pitchFamily="34" charset="-120"/>
              </a:rPr>
              <a:t>Phát hiện quan trọng nhất: </a:t>
            </a:r>
            <a:r>
              <a:rPr lang="en-US" sz="1150" dirty="0">
                <a:solidFill>
                  <a:srgbClr val="065A82"/>
                </a:solidFill>
                <a:latin typeface="Calibri" pitchFamily="34" charset="0"/>
                <a:ea typeface="Calibri" pitchFamily="34" charset="-122"/>
                <a:cs typeface="Calibri" pitchFamily="34" charset="-120"/>
              </a:rPr>
              <a:t>GRAPES chạy không OOM trên ogbn-products (2,4M đỉnh, 61,9M cạnh) trên Tesla T4 15,6GB — bằng ⅓ VRAM bài báo gốc. 9/10 epoch ổn định. |Δ| ≤ 0,76 F1 → tái hiện xác nhận thành công.</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Chi Phí Bộ Nhớ &amp; Thời Gian Thực Tế (Bảng 5.6)</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21 / 29</a:t>
            </a:r>
            <a:endParaRPr lang="en-US" sz="1000" dirty="0"/>
          </a:p>
        </p:txBody>
      </p:sp>
      <p:sp>
        <p:nvSpPr>
          <p:cNvPr id="5" name="Shape 3"/>
          <p:cNvSpPr/>
          <p:nvPr/>
        </p:nvSpPr>
        <p:spPr>
          <a:xfrm>
            <a:off x="228600" y="868680"/>
            <a:ext cx="8686800" cy="502920"/>
          </a:xfrm>
          <a:prstGeom prst="rect">
            <a:avLst/>
          </a:prstGeom>
          <a:solidFill>
            <a:srgbClr val="F1F5F9"/>
          </a:solidFill>
          <a:ln w="12700">
            <a:solidFill>
              <a:srgbClr val="F1F5F9"/>
            </a:solidFill>
            <a:prstDash val="solid"/>
          </a:ln>
        </p:spPr>
        <p:txBody>
          <a:bodyPr/>
          <a:lstStyle/>
          <a:p>
            <a:endParaRPr lang="en-VN"/>
          </a:p>
        </p:txBody>
      </p:sp>
      <p:sp>
        <p:nvSpPr>
          <p:cNvPr id="6" name="Text 4"/>
          <p:cNvSpPr/>
          <p:nvPr/>
        </p:nvSpPr>
        <p:spPr>
          <a:xfrm>
            <a:off x="228600" y="868680"/>
            <a:ext cx="8686800" cy="502920"/>
          </a:xfrm>
          <a:prstGeom prst="rect">
            <a:avLst/>
          </a:prstGeom>
          <a:noFill/>
          <a:ln/>
        </p:spPr>
        <p:txBody>
          <a:bodyPr wrap="square" rtlCol="0" anchor="ctr"/>
          <a:lstStyle/>
          <a:p>
            <a:pPr marL="0" indent="0" algn="ctr">
              <a:buNone/>
            </a:pPr>
            <a:r>
              <a:rPr lang="en-US" sz="1250" dirty="0">
                <a:solidFill>
                  <a:srgbClr val="1A2B3C"/>
                </a:solidFill>
                <a:latin typeface="Calibri" pitchFamily="34" charset="0"/>
                <a:ea typeface="Calibri" pitchFamily="34" charset="-122"/>
                <a:cs typeface="Calibri" pitchFamily="34" charset="-120"/>
              </a:rPr>
              <a:t>Môi trường: Google Colab  |  Tesla T4 15,6GB  |  Đo 3 lần, lấy trung bình ± độ lệch chuẩn</a:t>
            </a:r>
            <a:endParaRPr lang="en-US" sz="1250" dirty="0"/>
          </a:p>
        </p:txBody>
      </p:sp>
      <p:sp>
        <p:nvSpPr>
          <p:cNvPr id="7" name="Text 5"/>
          <p:cNvSpPr/>
          <p:nvPr/>
        </p:nvSpPr>
        <p:spPr>
          <a:xfrm>
            <a:off x="228600" y="1435608"/>
            <a:ext cx="8686800" cy="292608"/>
          </a:xfrm>
          <a:prstGeom prst="rect">
            <a:avLst/>
          </a:prstGeom>
          <a:noFill/>
          <a:ln/>
        </p:spPr>
        <p:txBody>
          <a:bodyPr wrap="square"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So Sánh Bộ Nhớ GPU &amp; Thời Gian Mỗi Epoch: GRAPES-GFN vs Random</a:t>
            </a:r>
            <a:endParaRPr lang="en-US" sz="12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228600" y="1764792"/>
          <a:ext cx="8686800" cy="1719072"/>
        </p:xfrm>
        <a:graphic>
          <a:graphicData uri="http://schemas.openxmlformats.org/drawingml/2006/table">
            <a:tbl>
              <a:tblPr/>
              <a:tblGrid>
                <a:gridCol w="13716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tblGrid>
              <a:tr h="429768">
                <a:tc>
                  <a:txBody>
                    <a:bodyPr/>
                    <a:lstStyle/>
                    <a:p>
                      <a:pPr marL="0" indent="0" algn="ctr">
                        <a:buNone/>
                      </a:pPr>
                      <a:r>
                        <a:rPr lang="en-US" sz="1250" b="1" dirty="0">
                          <a:solidFill>
                            <a:srgbClr val="FFFFFF"/>
                          </a:solidFill>
                        </a:rPr>
                        <a:t>Dataset</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250" b="1" dirty="0">
                          <a:solidFill>
                            <a:srgbClr val="FFFFFF"/>
                          </a:solidFill>
                        </a:rPr>
                        <a:t>Bộ nhớ GRAPES (MB)</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250" b="1" dirty="0">
                          <a:solidFill>
                            <a:srgbClr val="FFFFFF"/>
                          </a:solidFill>
                        </a:rPr>
                        <a:t>Bộ nhớ Random (MB)</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250" b="1" dirty="0">
                          <a:solidFill>
                            <a:srgbClr val="FFFFFF"/>
                          </a:solidFill>
                        </a:rPr>
                        <a:t>Tỉ lệ bộ nhớ</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250" b="1" dirty="0">
                          <a:solidFill>
                            <a:srgbClr val="FFFFFF"/>
                          </a:solidFill>
                        </a:rPr>
                        <a:t>T. gian GRAPES</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tc>
                  <a:txBody>
                    <a:bodyPr/>
                    <a:lstStyle/>
                    <a:p>
                      <a:pPr marL="0" indent="0" algn="ctr">
                        <a:buNone/>
                      </a:pPr>
                      <a:r>
                        <a:rPr lang="en-US" sz="1250" b="1" dirty="0">
                          <a:solidFill>
                            <a:srgbClr val="FFFFFF"/>
                          </a:solidFill>
                        </a:rPr>
                        <a:t>T. gian Random</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429768">
                <a:tc>
                  <a:txBody>
                    <a:bodyPr/>
                    <a:lstStyle/>
                    <a:p>
                      <a:pPr marL="0" indent="0" algn="ctr">
                        <a:buNone/>
                      </a:pPr>
                      <a:r>
                        <a:rPr lang="en-US" sz="1250" dirty="0">
                          <a:solidFill>
                            <a:srgbClr val="000000"/>
                          </a:solidFill>
                        </a:rPr>
                        <a:t>Cora</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250" dirty="0">
                          <a:solidFill>
                            <a:srgbClr val="000000"/>
                          </a:solidFill>
                        </a:rPr>
                        <a:t>65,8 ± 5,5</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250" dirty="0">
                          <a:solidFill>
                            <a:srgbClr val="000000"/>
                          </a:solidFill>
                        </a:rPr>
                        <a:t>29,0 ± 0,5</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250" b="1" dirty="0">
                          <a:solidFill>
                            <a:srgbClr val="7B4F00"/>
                          </a:solidFill>
                        </a:rPr>
                        <a:t>2,3×</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3E0"/>
                    </a:solidFill>
                  </a:tcPr>
                </a:tc>
                <a:tc>
                  <a:txBody>
                    <a:bodyPr/>
                    <a:lstStyle/>
                    <a:p>
                      <a:pPr marL="0" indent="0" algn="ctr">
                        <a:buNone/>
                      </a:pPr>
                      <a:r>
                        <a:rPr lang="en-US" sz="1250" dirty="0">
                          <a:solidFill>
                            <a:srgbClr val="000000"/>
                          </a:solidFill>
                        </a:rPr>
                        <a:t>56 giây</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250" dirty="0">
                          <a:solidFill>
                            <a:srgbClr val="000000"/>
                          </a:solidFill>
                        </a:rPr>
                        <a:t>31 giây (1,8×)</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1"/>
                  </a:ext>
                </a:extLst>
              </a:tr>
              <a:tr h="429768">
                <a:tc>
                  <a:txBody>
                    <a:bodyPr/>
                    <a:lstStyle/>
                    <a:p>
                      <a:pPr marL="0" indent="0" algn="ctr">
                        <a:buNone/>
                      </a:pPr>
                      <a:r>
                        <a:rPr lang="en-US" sz="1250" dirty="0">
                          <a:solidFill>
                            <a:srgbClr val="000000"/>
                          </a:solidFill>
                        </a:rPr>
                        <a:t>CiteSeer</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250" dirty="0">
                          <a:solidFill>
                            <a:srgbClr val="000000"/>
                          </a:solidFill>
                        </a:rPr>
                        <a:t>120,6 ± 19,0</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250" dirty="0">
                          <a:solidFill>
                            <a:srgbClr val="000000"/>
                          </a:solidFill>
                        </a:rPr>
                        <a:t>45,1 ± 2,7</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250" b="1" dirty="0">
                          <a:solidFill>
                            <a:srgbClr val="7B4F00"/>
                          </a:solidFill>
                        </a:rPr>
                        <a:t>2,7×</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3E0"/>
                    </a:solidFill>
                  </a:tcPr>
                </a:tc>
                <a:tc>
                  <a:txBody>
                    <a:bodyPr/>
                    <a:lstStyle/>
                    <a:p>
                      <a:pPr marL="0" indent="0" algn="ctr">
                        <a:buNone/>
                      </a:pPr>
                      <a:r>
                        <a:rPr lang="en-US" sz="1250" dirty="0">
                          <a:solidFill>
                            <a:srgbClr val="000000"/>
                          </a:solidFill>
                        </a:rPr>
                        <a:t>95 giây</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tc>
                  <a:txBody>
                    <a:bodyPr/>
                    <a:lstStyle/>
                    <a:p>
                      <a:pPr marL="0" indent="0" algn="ctr">
                        <a:buNone/>
                      </a:pPr>
                      <a:r>
                        <a:rPr lang="en-US" sz="1250" dirty="0">
                          <a:solidFill>
                            <a:srgbClr val="000000"/>
                          </a:solidFill>
                        </a:rPr>
                        <a:t>56 giây (1,7×)</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tcPr>
                </a:tc>
                <a:extLst>
                  <a:ext uri="{0D108BD9-81ED-4DB2-BD59-A6C34878D82A}">
                    <a16:rowId xmlns:a16="http://schemas.microsoft.com/office/drawing/2014/main" val="10002"/>
                  </a:ext>
                </a:extLst>
              </a:tr>
              <a:tr h="429768">
                <a:tc>
                  <a:txBody>
                    <a:bodyPr/>
                    <a:lstStyle/>
                    <a:p>
                      <a:pPr marL="0" indent="0" algn="ctr">
                        <a:buNone/>
                      </a:pPr>
                      <a:r>
                        <a:rPr lang="en-US" sz="1250" b="1" dirty="0">
                          <a:solidFill>
                            <a:srgbClr val="063A25"/>
                          </a:solidFill>
                        </a:rPr>
                        <a:t>ogbn-arxiv</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250" b="1" dirty="0">
                          <a:solidFill>
                            <a:srgbClr val="063A25"/>
                          </a:solidFill>
                        </a:rPr>
                        <a:t>59,3 ± 9,5</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250" b="1" dirty="0">
                          <a:solidFill>
                            <a:srgbClr val="063A25"/>
                          </a:solidFill>
                        </a:rPr>
                        <a:t>18,7 ± 0,1</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250" b="1" dirty="0">
                          <a:solidFill>
                            <a:srgbClr val="063A25"/>
                          </a:solidFill>
                        </a:rPr>
                        <a:t>3,2×</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250" b="1" dirty="0">
                          <a:solidFill>
                            <a:srgbClr val="063A25"/>
                          </a:solidFill>
                        </a:rPr>
                        <a:t>11.114 giây</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tc>
                  <a:txBody>
                    <a:bodyPr/>
                    <a:lstStyle/>
                    <a:p>
                      <a:pPr marL="0" indent="0" algn="ctr">
                        <a:buNone/>
                      </a:pPr>
                      <a:r>
                        <a:rPr lang="en-US" sz="1250" b="1" dirty="0">
                          <a:solidFill>
                            <a:srgbClr val="063A25"/>
                          </a:solidFill>
                        </a:rPr>
                        <a:t>8.133 giây (1,4×)</a:t>
                      </a:r>
                      <a:endParaRPr lang="en-US" sz="1250" dirty="0"/>
                    </a:p>
                  </a:txBody>
                  <a:tcPr marL="50800" marR="50800" marT="38100" marB="381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02C39A">
                        <a:alpha val="60000"/>
                      </a:srgbClr>
                    </a:solidFill>
                  </a:tcPr>
                </a:tc>
                <a:extLst>
                  <a:ext uri="{0D108BD9-81ED-4DB2-BD59-A6C34878D82A}">
                    <a16:rowId xmlns:a16="http://schemas.microsoft.com/office/drawing/2014/main" val="10003"/>
                  </a:ext>
                </a:extLst>
              </a:tr>
            </a:tbl>
          </a:graphicData>
        </a:graphic>
      </p:graphicFrame>
      <p:sp>
        <p:nvSpPr>
          <p:cNvPr id="9" name="Shape 6"/>
          <p:cNvSpPr/>
          <p:nvPr/>
        </p:nvSpPr>
        <p:spPr>
          <a:xfrm>
            <a:off x="228600" y="3584448"/>
            <a:ext cx="8686800" cy="804672"/>
          </a:xfrm>
          <a:prstGeom prst="rect">
            <a:avLst/>
          </a:prstGeom>
          <a:solidFill>
            <a:srgbClr val="EAF4FB"/>
          </a:solidFill>
          <a:ln w="25400">
            <a:solidFill>
              <a:srgbClr val="1C7293"/>
            </a:solidFill>
            <a:prstDash val="solid"/>
          </a:ln>
        </p:spPr>
        <p:txBody>
          <a:bodyPr/>
          <a:lstStyle/>
          <a:p>
            <a:endParaRPr lang="en-VN"/>
          </a:p>
        </p:txBody>
      </p:sp>
      <p:sp>
        <p:nvSpPr>
          <p:cNvPr id="10" name="Text 7"/>
          <p:cNvSpPr/>
          <p:nvPr/>
        </p:nvSpPr>
        <p:spPr>
          <a:xfrm>
            <a:off x="365760" y="3584448"/>
            <a:ext cx="8412480" cy="804672"/>
          </a:xfrm>
          <a:prstGeom prst="rect">
            <a:avLst/>
          </a:prstGeom>
          <a:noFill/>
          <a:ln/>
        </p:spPr>
        <p:txBody>
          <a:bodyPr wrap="square"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Chi phí của lấy mẫu thích ứng: </a:t>
            </a:r>
            <a:r>
              <a:rPr lang="en-US" sz="1250" dirty="0">
                <a:solidFill>
                  <a:srgbClr val="065A82"/>
                </a:solidFill>
                <a:latin typeface="Calibri" pitchFamily="34" charset="0"/>
                <a:ea typeface="Calibri" pitchFamily="34" charset="-122"/>
                <a:cs typeface="Calibri" pitchFamily="34" charset="-120"/>
              </a:rPr>
              <a:t>GRAPES tốn thêm 2,3–3,2× bộ nhớ và 1,4–1,8× thời gian so với Random do phải duy trì mạng lấy mẫu GCN_S song song. Đây là đánh đổi cần cân nhắc khi triển khai trên hệ thống bị giới hạn tài nguyên.</a:t>
            </a:r>
            <a:endParaRPr lang="en-US" sz="1250" dirty="0"/>
          </a:p>
        </p:txBody>
      </p:sp>
      <p:sp>
        <p:nvSpPr>
          <p:cNvPr id="11" name="Shape 8"/>
          <p:cNvSpPr/>
          <p:nvPr/>
        </p:nvSpPr>
        <p:spPr>
          <a:xfrm>
            <a:off x="228600" y="4443984"/>
            <a:ext cx="8686800" cy="384048"/>
          </a:xfrm>
          <a:prstGeom prst="rect">
            <a:avLst/>
          </a:prstGeom>
          <a:solidFill>
            <a:srgbClr val="F1F5F9"/>
          </a:solidFill>
          <a:ln w="12700">
            <a:solidFill>
              <a:srgbClr val="D4D4D4"/>
            </a:solidFill>
            <a:prstDash val="solid"/>
          </a:ln>
        </p:spPr>
        <p:txBody>
          <a:bodyPr/>
          <a:lstStyle/>
          <a:p>
            <a:endParaRPr lang="en-VN"/>
          </a:p>
        </p:txBody>
      </p:sp>
      <p:sp>
        <p:nvSpPr>
          <p:cNvPr id="12" name="Text 9"/>
          <p:cNvSpPr/>
          <p:nvPr/>
        </p:nvSpPr>
        <p:spPr>
          <a:xfrm>
            <a:off x="365760" y="4443984"/>
            <a:ext cx="8412480" cy="384048"/>
          </a:xfrm>
          <a:prstGeom prst="rect">
            <a:avLst/>
          </a:prstGeom>
          <a:noFill/>
          <a:ln/>
        </p:spPr>
        <p:txBody>
          <a:bodyPr wrap="square" rtlCol="0" anchor="ctr"/>
          <a:lstStyle/>
          <a:p>
            <a:pPr marL="0" indent="0" algn="ctr">
              <a:buNone/>
            </a:pPr>
            <a:r>
              <a:rPr lang="en-US" sz="1100" b="1" i="1" dirty="0">
                <a:solidFill>
                  <a:srgbClr val="1C7293"/>
                </a:solidFill>
                <a:latin typeface="Calibri" pitchFamily="34" charset="0"/>
                <a:ea typeface="Calibri" pitchFamily="34" charset="-122"/>
                <a:cs typeface="Calibri" pitchFamily="34" charset="-120"/>
              </a:rPr>
              <a:t>ogbn-products (2,4M đỉnh, 61,9M cạnh): 9/10 epoch hoàn thành trên T4 15,6GB — không OOM dù chỉ bằng 1/3 VRAM RTX A6000</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Kết Luận: Ưu Điểm &amp; Nhược Điểm</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22 / 29</a:t>
            </a:r>
            <a:endParaRPr lang="en-US" sz="1000" dirty="0"/>
          </a:p>
        </p:txBody>
      </p:sp>
      <p:sp>
        <p:nvSpPr>
          <p:cNvPr id="5" name="Shape 3"/>
          <p:cNvSpPr/>
          <p:nvPr/>
        </p:nvSpPr>
        <p:spPr>
          <a:xfrm>
            <a:off x="228600" y="914400"/>
            <a:ext cx="4206240" cy="457200"/>
          </a:xfrm>
          <a:prstGeom prst="rect">
            <a:avLst/>
          </a:prstGeom>
          <a:solidFill>
            <a:srgbClr val="2D6A4F"/>
          </a:solidFill>
          <a:ln w="12700">
            <a:solidFill>
              <a:srgbClr val="2D6A4F"/>
            </a:solidFill>
            <a:prstDash val="solid"/>
          </a:ln>
        </p:spPr>
        <p:txBody>
          <a:bodyPr/>
          <a:lstStyle/>
          <a:p>
            <a:endParaRPr lang="en-VN"/>
          </a:p>
        </p:txBody>
      </p:sp>
      <p:sp>
        <p:nvSpPr>
          <p:cNvPr id="6" name="Text 4"/>
          <p:cNvSpPr/>
          <p:nvPr/>
        </p:nvSpPr>
        <p:spPr>
          <a:xfrm>
            <a:off x="228600" y="914400"/>
            <a:ext cx="420624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  Ưu Điểm</a:t>
            </a:r>
            <a:endParaRPr lang="en-US" sz="1600" dirty="0"/>
          </a:p>
        </p:txBody>
      </p:sp>
      <p:sp>
        <p:nvSpPr>
          <p:cNvPr id="7" name="Text 5"/>
          <p:cNvSpPr/>
          <p:nvPr/>
        </p:nvSpPr>
        <p:spPr>
          <a:xfrm>
            <a:off x="228600" y="1417320"/>
            <a:ext cx="4206240" cy="2423160"/>
          </a:xfrm>
          <a:prstGeom prst="rect">
            <a:avLst/>
          </a:prstGeom>
          <a:noFill/>
          <a:ln/>
        </p:spPr>
        <p:txBody>
          <a:bodyPr wrap="square" rtlCol="0" anchor="ctr"/>
          <a:lstStyle/>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Lấy mẫu THÍCH ỨNG học được — tổng quát hóa tốt hơn giữa các đồ thị và tác vụ</a:t>
            </a:r>
            <a:endParaRPr lang="en-US" sz="1350" dirty="0"/>
          </a:p>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Chạy được trên đồ thị hàng triệu đỉnh — nơi full-graph GCN và GAS bị OOM</a:t>
            </a:r>
            <a:endParaRPr lang="en-US" sz="1350" dirty="0"/>
          </a:p>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Bền vững khi kích thước mẫu giảm mạnh — độ lệch chuẩn nhỏ nhất</a:t>
            </a:r>
            <a:endParaRPr lang="en-US" sz="1350" dirty="0"/>
          </a:p>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Đặc biệt hiệu quả trên heterophily đa nhãn (#1 trên 4/5 dataset)</a:t>
            </a:r>
            <a:endParaRPr lang="en-US" sz="1350" dirty="0"/>
          </a:p>
        </p:txBody>
      </p:sp>
      <p:sp>
        <p:nvSpPr>
          <p:cNvPr id="8" name="Shape 6"/>
          <p:cNvSpPr/>
          <p:nvPr/>
        </p:nvSpPr>
        <p:spPr>
          <a:xfrm>
            <a:off x="4526280" y="960120"/>
            <a:ext cx="0" cy="2880360"/>
          </a:xfrm>
          <a:prstGeom prst="line">
            <a:avLst/>
          </a:prstGeom>
          <a:noFill/>
          <a:ln w="19050">
            <a:solidFill>
              <a:srgbClr val="E2E8F0"/>
            </a:solidFill>
            <a:prstDash val="solid"/>
          </a:ln>
        </p:spPr>
        <p:txBody>
          <a:bodyPr/>
          <a:lstStyle/>
          <a:p>
            <a:endParaRPr lang="en-VN"/>
          </a:p>
        </p:txBody>
      </p:sp>
      <p:sp>
        <p:nvSpPr>
          <p:cNvPr id="9" name="Shape 7"/>
          <p:cNvSpPr/>
          <p:nvPr/>
        </p:nvSpPr>
        <p:spPr>
          <a:xfrm>
            <a:off x="4709160" y="914400"/>
            <a:ext cx="4206240" cy="457200"/>
          </a:xfrm>
          <a:prstGeom prst="rect">
            <a:avLst/>
          </a:prstGeom>
          <a:solidFill>
            <a:srgbClr val="9B2226"/>
          </a:solidFill>
          <a:ln w="12700">
            <a:solidFill>
              <a:srgbClr val="9B2226"/>
            </a:solidFill>
            <a:prstDash val="solid"/>
          </a:ln>
        </p:spPr>
        <p:txBody>
          <a:bodyPr/>
          <a:lstStyle/>
          <a:p>
            <a:endParaRPr lang="en-VN"/>
          </a:p>
        </p:txBody>
      </p:sp>
      <p:sp>
        <p:nvSpPr>
          <p:cNvPr id="10" name="Text 8"/>
          <p:cNvSpPr/>
          <p:nvPr/>
        </p:nvSpPr>
        <p:spPr>
          <a:xfrm>
            <a:off x="4709160" y="914400"/>
            <a:ext cx="420624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  Nhược Điểm</a:t>
            </a:r>
            <a:endParaRPr lang="en-US" sz="1600" dirty="0"/>
          </a:p>
        </p:txBody>
      </p:sp>
      <mc:AlternateContent xmlns:mc="http://schemas.openxmlformats.org/markup-compatibility/2006" xmlns:a14="http://schemas.microsoft.com/office/drawing/2010/main">
        <mc:Choice Requires="a14">
          <p:sp>
            <p:nvSpPr>
              <p:cNvPr id="11" name="Text 9"/>
              <p:cNvSpPr/>
              <p:nvPr/>
            </p:nvSpPr>
            <p:spPr>
              <a:xfrm>
                <a:off x="4709160" y="1417320"/>
                <a:ext cx="4206240" cy="2423160"/>
              </a:xfrm>
              <a:prstGeom prst="rect">
                <a:avLst/>
              </a:prstGeom>
              <a:noFill/>
              <a:ln/>
            </p:spPr>
            <p:txBody>
              <a:bodyPr wrap="square" rtlCol="0" anchor="ctr"/>
              <a:lstStyle/>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Chi phí huấn luyện tăng thêm do mạng lấy mẫu </a:t>
                </a:r>
                <a14:m>
                  <m:oMath xmlns:m="http://schemas.openxmlformats.org/officeDocument/2006/math">
                    <m:r>
                      <a:rPr lang="en-US" sz="1350" i="1" dirty="0" smtClean="0">
                        <a:solidFill>
                          <a:srgbClr val="1A2B3C"/>
                        </a:solidFill>
                        <a:latin typeface="Cambria Math" panose="02040503050406030204" pitchFamily="18" charset="0"/>
                        <a:ea typeface="Calibri" pitchFamily="34" charset="-122"/>
                        <a:cs typeface="Calibri" pitchFamily="34" charset="-120"/>
                      </a:rPr>
                      <m:t>𝐺𝐶</m:t>
                    </m:r>
                    <m:sSub>
                      <m:sSubPr>
                        <m:ctrlPr>
                          <a:rPr lang="en-US" sz="1350" i="1" dirty="0" smtClean="0">
                            <a:solidFill>
                              <a:srgbClr val="1A2B3C"/>
                            </a:solidFill>
                            <a:latin typeface="Cambria Math" panose="02040503050406030204" pitchFamily="18" charset="0"/>
                            <a:ea typeface="Calibri" pitchFamily="34" charset="-122"/>
                            <a:cs typeface="Calibri" pitchFamily="34" charset="-120"/>
                          </a:rPr>
                        </m:ctrlPr>
                      </m:sSubPr>
                      <m:e>
                        <m:r>
                          <a:rPr lang="en-US" sz="1350" i="1" dirty="0" smtClean="0">
                            <a:solidFill>
                              <a:srgbClr val="1A2B3C"/>
                            </a:solidFill>
                            <a:latin typeface="Cambria Math" panose="02040503050406030204" pitchFamily="18" charset="0"/>
                            <a:ea typeface="Calibri" pitchFamily="34" charset="-122"/>
                            <a:cs typeface="Calibri" pitchFamily="34" charset="-120"/>
                          </a:rPr>
                          <m:t>𝑁</m:t>
                        </m:r>
                      </m:e>
                      <m:sub>
                        <m:r>
                          <a:rPr lang="en-US" sz="1350" i="1" dirty="0" smtClean="0">
                            <a:solidFill>
                              <a:srgbClr val="1A2B3C"/>
                            </a:solidFill>
                            <a:latin typeface="Cambria Math" panose="02040503050406030204" pitchFamily="18" charset="0"/>
                            <a:ea typeface="Calibri" pitchFamily="34" charset="-122"/>
                            <a:cs typeface="Calibri" pitchFamily="34" charset="-120"/>
                          </a:rPr>
                          <m:t>𝑆</m:t>
                        </m:r>
                      </m:sub>
                    </m:sSub>
                  </m:oMath>
                </a14:m>
                <a:r>
                  <a:rPr lang="en-US" sz="1350" dirty="0">
                    <a:solidFill>
                      <a:srgbClr val="1A2B3C"/>
                    </a:solidFill>
                    <a:latin typeface="Calibri" pitchFamily="34" charset="0"/>
                    <a:ea typeface="Calibri" pitchFamily="34" charset="-122"/>
                    <a:cs typeface="Calibri" pitchFamily="34" charset="-120"/>
                  </a:rPr>
                  <a:t> thứ hai</a:t>
                </a:r>
                <a:endParaRPr lang="en-US" sz="1350" dirty="0"/>
              </a:p>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Ổn định GFlowNet — nhạy cảm với thiết kế hàm phần thưởng và siêu tham số</a:t>
                </a:r>
                <a:endParaRPr lang="en-US" sz="1350" dirty="0"/>
              </a:p>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Chỉ đánh giá node classification — chưa kiểm chứng trên link prediction / gợi ý</a:t>
                </a:r>
                <a:endParaRPr lang="en-US" sz="1350" dirty="0"/>
              </a:p>
              <a:p>
                <a:pPr marL="342900" indent="-342900">
                  <a:spcAft>
                    <a:spcPts val="800"/>
                  </a:spcAft>
                  <a:buSzPct val="100000"/>
                  <a:buChar char="•"/>
                </a:pPr>
                <a:r>
                  <a:rPr lang="en-US" sz="1350" dirty="0">
                    <a:solidFill>
                      <a:srgbClr val="1A2B3C"/>
                    </a:solidFill>
                    <a:latin typeface="Calibri" pitchFamily="34" charset="0"/>
                    <a:ea typeface="Calibri" pitchFamily="34" charset="-122"/>
                    <a:cs typeface="Calibri" pitchFamily="34" charset="-120"/>
                  </a:rPr>
                  <a:t>Lấy mẫu đỉnh — chưa kiểm soát trực tiếp số cạnh, có thể là nút thắt trên đồ thị dày</a:t>
                </a:r>
                <a:endParaRPr lang="en-US" sz="1350" dirty="0"/>
              </a:p>
            </p:txBody>
          </p:sp>
        </mc:Choice>
        <mc:Fallback xmlns="">
          <p:sp>
            <p:nvSpPr>
              <p:cNvPr id="11" name="Text 9"/>
              <p:cNvSpPr>
                <a:spLocks noRot="1" noChangeAspect="1" noMove="1" noResize="1" noEditPoints="1" noAdjustHandles="1" noChangeArrowheads="1" noChangeShapeType="1" noTextEdit="1"/>
              </p:cNvSpPr>
              <p:nvPr/>
            </p:nvSpPr>
            <p:spPr>
              <a:xfrm>
                <a:off x="4709160" y="1417320"/>
                <a:ext cx="4206240" cy="2423160"/>
              </a:xfrm>
              <a:prstGeom prst="rect">
                <a:avLst/>
              </a:prstGeom>
              <a:blipFill>
                <a:blip r:embed="rId3"/>
                <a:stretch>
                  <a:fillRect l="-602" r="-904"/>
                </a:stretch>
              </a:blipFill>
              <a:ln/>
            </p:spPr>
            <p:txBody>
              <a:bodyPr/>
              <a:lstStyle/>
              <a:p>
                <a:r>
                  <a:rPr lang="en-VN">
                    <a:noFill/>
                  </a:rPr>
                  <a:t> </a:t>
                </a:r>
              </a:p>
            </p:txBody>
          </p:sp>
        </mc:Fallback>
      </mc:AlternateContent>
      <p:sp>
        <p:nvSpPr>
          <p:cNvPr id="12" name="Shape 10"/>
          <p:cNvSpPr/>
          <p:nvPr/>
        </p:nvSpPr>
        <p:spPr>
          <a:xfrm>
            <a:off x="228600" y="4005072"/>
            <a:ext cx="8686800" cy="822960"/>
          </a:xfrm>
          <a:prstGeom prst="rect">
            <a:avLst/>
          </a:prstGeom>
          <a:solidFill>
            <a:srgbClr val="EAF4FB"/>
          </a:solidFill>
          <a:ln w="19050">
            <a:solidFill>
              <a:srgbClr val="1C7293"/>
            </a:solidFill>
            <a:prstDash val="solid"/>
          </a:ln>
        </p:spPr>
        <p:txBody>
          <a:bodyPr/>
          <a:lstStyle/>
          <a:p>
            <a:endParaRPr lang="en-VN"/>
          </a:p>
        </p:txBody>
      </p:sp>
      <p:sp>
        <p:nvSpPr>
          <p:cNvPr id="13" name="Text 11"/>
          <p:cNvSpPr/>
          <p:nvPr/>
        </p:nvSpPr>
        <p:spPr>
          <a:xfrm>
            <a:off x="365760" y="4005072"/>
            <a:ext cx="8412480" cy="822960"/>
          </a:xfrm>
          <a:prstGeom prst="rect">
            <a:avLst/>
          </a:prstGeom>
          <a:noFill/>
          <a:ln/>
        </p:spPr>
        <p:txBody>
          <a:bodyPr wrap="square" rtlCol="0" anchor="ctr"/>
          <a:lstStyle/>
          <a:p>
            <a:pPr marL="0" indent="0" algn="ctr">
              <a:buNone/>
            </a:pPr>
            <a:r>
              <a:rPr lang="en-US" sz="1300" i="1" dirty="0">
                <a:solidFill>
                  <a:srgbClr val="065A82"/>
                </a:solidFill>
                <a:latin typeface="Calibri" pitchFamily="34" charset="0"/>
                <a:ea typeface="Calibri" pitchFamily="34" charset="-122"/>
                <a:cs typeface="Calibri" pitchFamily="34" charset="-120"/>
              </a:rPr>
              <a:t>GRAPES là bước tiến theo hướng lấy mẫu thích ứng có cơ sở lý thuyết. Scalability so với full-graph training là điểm mạnh rõ ràng; đánh đổi là chi phí cao hơn so với sampling đơn giản. Các nhược điểm chính là xuất phát điểm cho 3 hướng nghiên cứu tiếp theo.</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23 / 29</a:t>
            </a:r>
            <a:endParaRPr lang="en-US" sz="1000" dirty="0"/>
          </a:p>
        </p:txBody>
      </p:sp>
      <p:sp>
        <p:nvSpPr>
          <p:cNvPr id="3" name="Shape 1"/>
          <p:cNvSpPr/>
          <p:nvPr/>
        </p:nvSpPr>
        <p:spPr>
          <a:xfrm>
            <a:off x="0" y="0"/>
            <a:ext cx="9144000" cy="804672"/>
          </a:xfrm>
          <a:prstGeom prst="rect">
            <a:avLst/>
          </a:prstGeom>
          <a:solidFill>
            <a:srgbClr val="0A4D62"/>
          </a:solidFill>
          <a:ln w="12700">
            <a:solidFill>
              <a:srgbClr val="0A4D62"/>
            </a:solidFill>
            <a:prstDash val="solid"/>
          </a:ln>
        </p:spPr>
        <p:txBody>
          <a:bodyPr/>
          <a:lstStyle/>
          <a:p>
            <a:endParaRPr lang="en-VN"/>
          </a:p>
        </p:txBody>
      </p:sp>
      <p:sp>
        <p:nvSpPr>
          <p:cNvPr id="4" name="Shape 2"/>
          <p:cNvSpPr/>
          <p:nvPr/>
        </p:nvSpPr>
        <p:spPr>
          <a:xfrm>
            <a:off x="0" y="0"/>
            <a:ext cx="594360" cy="804672"/>
          </a:xfrm>
          <a:prstGeom prst="rect">
            <a:avLst/>
          </a:prstGeom>
          <a:solidFill>
            <a:srgbClr val="02C39A"/>
          </a:solidFill>
          <a:ln w="12700">
            <a:solidFill>
              <a:srgbClr val="02C39A"/>
            </a:solidFill>
            <a:prstDash val="solid"/>
          </a:ln>
        </p:spPr>
        <p:txBody>
          <a:bodyPr/>
          <a:lstStyle/>
          <a:p>
            <a:endParaRPr lang="en-VN"/>
          </a:p>
        </p:txBody>
      </p:sp>
      <p:sp>
        <p:nvSpPr>
          <p:cNvPr id="5" name="Text 3"/>
          <p:cNvSpPr/>
          <p:nvPr/>
        </p:nvSpPr>
        <p:spPr>
          <a:xfrm>
            <a:off x="0" y="0"/>
            <a:ext cx="594360" cy="804672"/>
          </a:xfrm>
          <a:prstGeom prst="rect">
            <a:avLst/>
          </a:prstGeom>
          <a:noFill/>
          <a:ln/>
        </p:spPr>
        <p:txBody>
          <a:bodyPr wrap="square" rtlCol="0" anchor="ctr"/>
          <a:lstStyle/>
          <a:p>
            <a:pPr marL="0" indent="0" algn="ctr">
              <a:buNone/>
            </a:pPr>
            <a:r>
              <a:rPr lang="en-US" sz="2600" b="1" dirty="0">
                <a:solidFill>
                  <a:srgbClr val="065A82"/>
                </a:solidFill>
                <a:latin typeface="Calibri" pitchFamily="34" charset="0"/>
                <a:ea typeface="Calibri" pitchFamily="34" charset="-122"/>
                <a:cs typeface="Calibri" pitchFamily="34" charset="-120"/>
              </a:rPr>
              <a:t>01</a:t>
            </a:r>
            <a:endParaRPr lang="en-US" sz="2600" dirty="0"/>
          </a:p>
        </p:txBody>
      </p:sp>
      <p:sp>
        <p:nvSpPr>
          <p:cNvPr id="6" name="Text 4"/>
          <p:cNvSpPr/>
          <p:nvPr/>
        </p:nvSpPr>
        <p:spPr>
          <a:xfrm>
            <a:off x="685800" y="73152"/>
            <a:ext cx="8229600" cy="65836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Hướng 1 — Áp Dụng Cho Hệ Thống Gợi Ý</a:t>
            </a:r>
            <a:endParaRPr lang="en-US" sz="2200" dirty="0"/>
          </a:p>
        </p:txBody>
      </p:sp>
      <p:sp>
        <p:nvSpPr>
          <p:cNvPr id="7" name="Shape 5"/>
          <p:cNvSpPr/>
          <p:nvPr/>
        </p:nvSpPr>
        <p:spPr>
          <a:xfrm>
            <a:off x="256032" y="914400"/>
            <a:ext cx="2816352" cy="3895344"/>
          </a:xfrm>
          <a:prstGeom prst="rect">
            <a:avLst/>
          </a:prstGeom>
          <a:solidFill>
            <a:srgbClr val="082840"/>
          </a:solidFill>
          <a:ln w="22860">
            <a:solidFill>
              <a:srgbClr val="1C7293"/>
            </a:solidFill>
            <a:prstDash val="solid"/>
          </a:ln>
        </p:spPr>
        <p:txBody>
          <a:bodyPr/>
          <a:lstStyle/>
          <a:p>
            <a:endParaRPr lang="en-VN"/>
          </a:p>
        </p:txBody>
      </p:sp>
      <p:sp>
        <p:nvSpPr>
          <p:cNvPr id="8" name="Shape 6"/>
          <p:cNvSpPr/>
          <p:nvPr/>
        </p:nvSpPr>
        <p:spPr>
          <a:xfrm>
            <a:off x="256032" y="914400"/>
            <a:ext cx="2816352" cy="347472"/>
          </a:xfrm>
          <a:prstGeom prst="rect">
            <a:avLst/>
          </a:prstGeom>
          <a:solidFill>
            <a:srgbClr val="1C7293"/>
          </a:solidFill>
          <a:ln w="12700">
            <a:solidFill>
              <a:srgbClr val="000000"/>
            </a:solidFill>
            <a:prstDash val="solid"/>
          </a:ln>
        </p:spPr>
        <p:txBody>
          <a:bodyPr/>
          <a:lstStyle/>
          <a:p>
            <a:endParaRPr lang="en-VN"/>
          </a:p>
        </p:txBody>
      </p:sp>
      <p:sp>
        <p:nvSpPr>
          <p:cNvPr id="9" name="Text 7"/>
          <p:cNvSpPr/>
          <p:nvPr/>
        </p:nvSpPr>
        <p:spPr>
          <a:xfrm>
            <a:off x="329184" y="914400"/>
            <a:ext cx="2670048"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Tại sao hướng này?</a:t>
            </a:r>
            <a:endParaRPr lang="en-US" sz="1200" dirty="0"/>
          </a:p>
        </p:txBody>
      </p:sp>
      <p:sp>
        <p:nvSpPr>
          <p:cNvPr id="10" name="Text 8"/>
          <p:cNvSpPr/>
          <p:nvPr/>
        </p:nvSpPr>
        <p:spPr>
          <a:xfrm>
            <a:off x="365760" y="1335024"/>
            <a:ext cx="2596896" cy="749808"/>
          </a:xfrm>
          <a:prstGeom prst="rect">
            <a:avLst/>
          </a:prstGeom>
          <a:noFill/>
          <a:ln/>
        </p:spPr>
        <p:txBody>
          <a:bodyPr wrap="square" rtlCol="0" anchor="t"/>
          <a:lstStyle/>
          <a:p>
            <a:pPr marL="0" indent="0">
              <a:buNone/>
            </a:pPr>
            <a:r>
              <a:rPr lang="en-US" sz="1100" dirty="0">
                <a:solidFill>
                  <a:srgbClr val="A8D8EA"/>
                </a:solidFill>
                <a:latin typeface="Calibri" pitchFamily="34" charset="0"/>
                <a:ea typeface="Calibri" pitchFamily="34" charset="-122"/>
                <a:cs typeface="Calibri" pitchFamily="34" charset="-120"/>
              </a:rPr>
              <a:t>GRAPES chỉ kiểm chứng trên node classification — bài báo gốc chưa bao giờ test recommendation.</a:t>
            </a:r>
            <a:endParaRPr lang="en-US" sz="1100" dirty="0"/>
          </a:p>
        </p:txBody>
      </p:sp>
      <p:sp>
        <p:nvSpPr>
          <p:cNvPr id="11" name="Text 9"/>
          <p:cNvSpPr/>
          <p:nvPr/>
        </p:nvSpPr>
        <p:spPr>
          <a:xfrm>
            <a:off x="365760" y="2139696"/>
            <a:ext cx="2596896" cy="749808"/>
          </a:xfrm>
          <a:prstGeom prst="rect">
            <a:avLst/>
          </a:prstGeom>
          <a:noFill/>
          <a:ln/>
        </p:spPr>
        <p:txBody>
          <a:bodyPr wrap="square" rtlCol="0" anchor="t"/>
          <a:lstStyle/>
          <a:p>
            <a:pPr marL="0" indent="0">
              <a:buNone/>
            </a:pPr>
            <a:r>
              <a:rPr lang="en-US" sz="1100" dirty="0">
                <a:solidFill>
                  <a:srgbClr val="A8D8EA"/>
                </a:solidFill>
                <a:latin typeface="Calibri" pitchFamily="34" charset="0"/>
                <a:ea typeface="Calibri" pitchFamily="34" charset="-122"/>
                <a:cs typeface="Calibri" pitchFamily="34" charset="-120"/>
              </a:rPr>
              <a:t>Hệ thống gợi ý là ứng dụng GNN phổ biến nhất trong thực tế (Spotify, Amazon, Pinterest).</a:t>
            </a:r>
            <a:endParaRPr lang="en-US" sz="1100" dirty="0"/>
          </a:p>
        </p:txBody>
      </p:sp>
      <p:sp>
        <p:nvSpPr>
          <p:cNvPr id="12" name="Text 10"/>
          <p:cNvSpPr/>
          <p:nvPr/>
        </p:nvSpPr>
        <p:spPr>
          <a:xfrm>
            <a:off x="365760" y="2944368"/>
            <a:ext cx="2596896" cy="749808"/>
          </a:xfrm>
          <a:prstGeom prst="rect">
            <a:avLst/>
          </a:prstGeom>
          <a:noFill/>
          <a:ln/>
        </p:spPr>
        <p:txBody>
          <a:bodyPr wrap="square" rtlCol="0" anchor="t"/>
          <a:lstStyle/>
          <a:p>
            <a:pPr marL="0" indent="0">
              <a:buNone/>
            </a:pPr>
            <a:r>
              <a:rPr lang="en-US" sz="1100" dirty="0">
                <a:solidFill>
                  <a:srgbClr val="A8D8EA"/>
                </a:solidFill>
                <a:latin typeface="Calibri" pitchFamily="34" charset="0"/>
                <a:ea typeface="Calibri" pitchFamily="34" charset="-122"/>
                <a:cs typeface="Calibri" pitchFamily="34" charset="-120"/>
              </a:rPr>
              <a:t>Bài báo GRAPES xác nhận: phương pháp "applicable to link prediction tasks".</a:t>
            </a:r>
            <a:endParaRPr lang="en-US" sz="1100" dirty="0"/>
          </a:p>
        </p:txBody>
      </p:sp>
      <p:sp>
        <p:nvSpPr>
          <p:cNvPr id="13" name="Text 11"/>
          <p:cNvSpPr/>
          <p:nvPr/>
        </p:nvSpPr>
        <p:spPr>
          <a:xfrm>
            <a:off x="365760" y="3749040"/>
            <a:ext cx="2596896" cy="749808"/>
          </a:xfrm>
          <a:prstGeom prst="rect">
            <a:avLst/>
          </a:prstGeom>
          <a:noFill/>
          <a:ln/>
        </p:spPr>
        <p:txBody>
          <a:bodyPr wrap="square" rtlCol="0" anchor="t"/>
          <a:lstStyle/>
          <a:p>
            <a:pPr marL="0" indent="0">
              <a:buNone/>
            </a:pPr>
            <a:r>
              <a:rPr lang="en-US" sz="1100" dirty="0">
                <a:solidFill>
                  <a:srgbClr val="A8D8EA"/>
                </a:solidFill>
                <a:latin typeface="Calibri" pitchFamily="34" charset="0"/>
                <a:ea typeface="Calibri" pitchFamily="34" charset="-122"/>
                <a:cs typeface="Calibri" pitchFamily="34" charset="-120"/>
              </a:rPr>
              <a:t>Nhược điểm đo được ở giai đoạn 1 (chi phí sampling) cần được kiểm chứng trên bài toán thực tế hơn.</a:t>
            </a:r>
            <a:endParaRPr lang="en-US" sz="1100" dirty="0"/>
          </a:p>
        </p:txBody>
      </p:sp>
      <p:sp>
        <p:nvSpPr>
          <p:cNvPr id="14" name="Shape 12"/>
          <p:cNvSpPr/>
          <p:nvPr/>
        </p:nvSpPr>
        <p:spPr>
          <a:xfrm>
            <a:off x="3163824" y="914400"/>
            <a:ext cx="2816352" cy="3895344"/>
          </a:xfrm>
          <a:prstGeom prst="rect">
            <a:avLst/>
          </a:prstGeom>
          <a:solidFill>
            <a:srgbClr val="082840"/>
          </a:solidFill>
          <a:ln w="22860">
            <a:solidFill>
              <a:srgbClr val="02C39A"/>
            </a:solidFill>
            <a:prstDash val="solid"/>
          </a:ln>
        </p:spPr>
        <p:txBody>
          <a:bodyPr/>
          <a:lstStyle/>
          <a:p>
            <a:endParaRPr lang="en-VN"/>
          </a:p>
        </p:txBody>
      </p:sp>
      <p:sp>
        <p:nvSpPr>
          <p:cNvPr id="15" name="Shape 13"/>
          <p:cNvSpPr/>
          <p:nvPr/>
        </p:nvSpPr>
        <p:spPr>
          <a:xfrm>
            <a:off x="3163824" y="914400"/>
            <a:ext cx="2816352" cy="347472"/>
          </a:xfrm>
          <a:prstGeom prst="rect">
            <a:avLst/>
          </a:prstGeom>
          <a:solidFill>
            <a:srgbClr val="02C39A"/>
          </a:solidFill>
          <a:ln w="12700">
            <a:solidFill>
              <a:srgbClr val="000000"/>
            </a:solidFill>
            <a:prstDash val="solid"/>
          </a:ln>
        </p:spPr>
        <p:txBody>
          <a:bodyPr/>
          <a:lstStyle/>
          <a:p>
            <a:endParaRPr lang="en-VN"/>
          </a:p>
        </p:txBody>
      </p:sp>
      <p:sp>
        <p:nvSpPr>
          <p:cNvPr id="16" name="Text 14"/>
          <p:cNvSpPr/>
          <p:nvPr/>
        </p:nvSpPr>
        <p:spPr>
          <a:xfrm>
            <a:off x="3236976" y="914400"/>
            <a:ext cx="2670048"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Đề xuất cụ thể</a:t>
            </a:r>
            <a:endParaRPr lang="en-US" sz="1200" dirty="0"/>
          </a:p>
        </p:txBody>
      </p:sp>
      <p:sp>
        <p:nvSpPr>
          <p:cNvPr id="17" name="Text 15"/>
          <p:cNvSpPr/>
          <p:nvPr/>
        </p:nvSpPr>
        <p:spPr>
          <a:xfrm>
            <a:off x="3273552" y="1335024"/>
            <a:ext cx="2596896" cy="749808"/>
          </a:xfrm>
          <a:prstGeom prst="rect">
            <a:avLst/>
          </a:prstGeom>
          <a:noFill/>
          <a:ln/>
        </p:spPr>
        <p:txBody>
          <a:bodyPr wrap="square" rtlCol="0" anchor="t"/>
          <a:lstStyle/>
          <a:p>
            <a:pPr marL="0" indent="0">
              <a:buNone/>
            </a:pPr>
            <a:r>
              <a:rPr lang="en-US" sz="1100" dirty="0">
                <a:solidFill>
                  <a:srgbClr val="B8F0D8"/>
                </a:solidFill>
                <a:latin typeface="Calibri" pitchFamily="34" charset="0"/>
                <a:ea typeface="Calibri" pitchFamily="34" charset="-122"/>
                <a:cs typeface="Calibri" pitchFamily="34" charset="-120"/>
              </a:rPr>
              <a:t>① Đầu vào: đồ thị hai phía G = (U ∪ I, E) thay đồ thị đồng nhất.</a:t>
            </a:r>
            <a:endParaRPr lang="en-US" sz="1100" dirty="0"/>
          </a:p>
        </p:txBody>
      </p:sp>
      <mc:AlternateContent xmlns:mc="http://schemas.openxmlformats.org/markup-compatibility/2006" xmlns:a14="http://schemas.microsoft.com/office/drawing/2010/main">
        <mc:Choice Requires="a14">
          <p:sp>
            <p:nvSpPr>
              <p:cNvPr id="18" name="Text 16"/>
              <p:cNvSpPr/>
              <p:nvPr/>
            </p:nvSpPr>
            <p:spPr>
              <a:xfrm>
                <a:off x="3273552" y="2139696"/>
                <a:ext cx="2596896" cy="749808"/>
              </a:xfrm>
              <a:prstGeom prst="rect">
                <a:avLst/>
              </a:prstGeom>
              <a:noFill/>
              <a:ln/>
            </p:spPr>
            <p:txBody>
              <a:bodyPr wrap="square" rtlCol="0" anchor="t"/>
              <a:lstStyle/>
              <a:p>
                <a:pPr marL="0" indent="0">
                  <a:buNone/>
                </a:pPr>
                <a:r>
                  <a:rPr lang="en-US" sz="1100" dirty="0">
                    <a:solidFill>
                      <a:srgbClr val="B8F0D8"/>
                    </a:solidFill>
                    <a:latin typeface="Calibri" pitchFamily="34" charset="0"/>
                    <a:ea typeface="Calibri" pitchFamily="34" charset="-122"/>
                    <a:cs typeface="Calibri" pitchFamily="34" charset="-120"/>
                  </a:rPr>
                  <a:t>② </a:t>
                </a:r>
                <a14:m>
                  <m:oMath xmlns:m="http://schemas.openxmlformats.org/officeDocument/2006/math">
                    <m:r>
                      <a:rPr lang="en-US" sz="1100" i="1" dirty="0" smtClean="0">
                        <a:solidFill>
                          <a:srgbClr val="B8F0D8"/>
                        </a:solidFill>
                        <a:latin typeface="Cambria Math" panose="02040503050406030204" pitchFamily="18" charset="0"/>
                        <a:ea typeface="Calibri" pitchFamily="34" charset="-122"/>
                        <a:cs typeface="Calibri" pitchFamily="34" charset="-120"/>
                      </a:rPr>
                      <m:t>𝐺𝐶</m:t>
                    </m:r>
                    <m:sSub>
                      <m:sSubPr>
                        <m:ctrlPr>
                          <a:rPr lang="en-US" sz="1100" i="1" dirty="0" smtClean="0">
                            <a:solidFill>
                              <a:srgbClr val="B8F0D8"/>
                            </a:solidFill>
                            <a:latin typeface="Cambria Math" panose="02040503050406030204" pitchFamily="18" charset="0"/>
                            <a:ea typeface="Calibri" pitchFamily="34" charset="-122"/>
                            <a:cs typeface="Calibri" pitchFamily="34" charset="-120"/>
                          </a:rPr>
                        </m:ctrlPr>
                      </m:sSubPr>
                      <m:e>
                        <m:r>
                          <a:rPr lang="en-US" sz="1100" i="1" dirty="0" smtClean="0">
                            <a:solidFill>
                              <a:srgbClr val="B8F0D8"/>
                            </a:solidFill>
                            <a:latin typeface="Cambria Math" panose="02040503050406030204" pitchFamily="18" charset="0"/>
                            <a:ea typeface="Calibri" pitchFamily="34" charset="-122"/>
                            <a:cs typeface="Calibri" pitchFamily="34" charset="-120"/>
                          </a:rPr>
                          <m:t>𝑁</m:t>
                        </m:r>
                      </m:e>
                      <m:sub>
                        <m:r>
                          <a:rPr lang="en-US" sz="1100" i="1" dirty="0" smtClean="0">
                            <a:solidFill>
                              <a:srgbClr val="B8F0D8"/>
                            </a:solidFill>
                            <a:latin typeface="Cambria Math" panose="02040503050406030204" pitchFamily="18" charset="0"/>
                            <a:ea typeface="Calibri" pitchFamily="34" charset="-122"/>
                            <a:cs typeface="Calibri" pitchFamily="34" charset="-120"/>
                          </a:rPr>
                          <m:t>𝐶</m:t>
                        </m:r>
                      </m:sub>
                    </m:sSub>
                  </m:oMath>
                </a14:m>
                <a:r>
                  <a:rPr lang="en-US" sz="1100" dirty="0">
                    <a:solidFill>
                      <a:srgbClr val="B8F0D8"/>
                    </a:solidFill>
                    <a:latin typeface="Calibri" pitchFamily="34" charset="0"/>
                    <a:ea typeface="Calibri" pitchFamily="34" charset="-122"/>
                    <a:cs typeface="Calibri" pitchFamily="34" charset="-120"/>
                  </a:rPr>
                  <a:t>: thay Softmax bằng BPR Loss — chuẩn cho link prediction.</a:t>
                </a:r>
                <a:endParaRPr lang="en-US" sz="1100" dirty="0"/>
              </a:p>
            </p:txBody>
          </p:sp>
        </mc:Choice>
        <mc:Fallback xmlns="">
          <p:sp>
            <p:nvSpPr>
              <p:cNvPr id="18" name="Text 16"/>
              <p:cNvSpPr>
                <a:spLocks noRot="1" noChangeAspect="1" noMove="1" noResize="1" noEditPoints="1" noAdjustHandles="1" noChangeArrowheads="1" noChangeShapeType="1" noTextEdit="1"/>
              </p:cNvSpPr>
              <p:nvPr/>
            </p:nvSpPr>
            <p:spPr>
              <a:xfrm>
                <a:off x="3273552" y="2139696"/>
                <a:ext cx="2596896" cy="749808"/>
              </a:xfrm>
              <a:prstGeom prst="rect">
                <a:avLst/>
              </a:prstGeom>
              <a:blipFill>
                <a:blip r:embed="rId3"/>
                <a:stretch>
                  <a:fillRect/>
                </a:stretch>
              </a:blipFill>
              <a:ln/>
            </p:spPr>
            <p:txBody>
              <a:bodyPr/>
              <a:lstStyle/>
              <a:p>
                <a:r>
                  <a:rPr lang="en-VN">
                    <a:noFill/>
                  </a:rPr>
                  <a:t> </a:t>
                </a:r>
              </a:p>
            </p:txBody>
          </p:sp>
        </mc:Fallback>
      </mc:AlternateContent>
      <p:sp>
        <p:nvSpPr>
          <p:cNvPr id="19" name="Text 17"/>
          <p:cNvSpPr/>
          <p:nvPr/>
        </p:nvSpPr>
        <p:spPr>
          <a:xfrm>
            <a:off x="3273552" y="2944368"/>
            <a:ext cx="2596896" cy="749808"/>
          </a:xfrm>
          <a:prstGeom prst="rect">
            <a:avLst/>
          </a:prstGeom>
          <a:noFill/>
          <a:ln/>
        </p:spPr>
        <p:txBody>
          <a:bodyPr wrap="square" rtlCol="0" anchor="t"/>
          <a:lstStyle/>
          <a:p>
            <a:pPr marL="0" indent="0">
              <a:buNone/>
            </a:pPr>
            <a:r>
              <a:rPr lang="en-US" sz="1100" dirty="0">
                <a:solidFill>
                  <a:srgbClr val="B8F0D8"/>
                </a:solidFill>
                <a:latin typeface="Calibri" pitchFamily="34" charset="0"/>
                <a:ea typeface="Calibri" pitchFamily="34" charset="-122"/>
                <a:cs typeface="Calibri" pitchFamily="34" charset="-120"/>
              </a:rPr>
              <a:t>③ Reward GFlowNet: R = exp(−α · L_BPR).</a:t>
            </a:r>
            <a:endParaRPr lang="en-US" sz="1100" dirty="0"/>
          </a:p>
        </p:txBody>
      </p:sp>
      <mc:AlternateContent xmlns:mc="http://schemas.openxmlformats.org/markup-compatibility/2006" xmlns:a14="http://schemas.microsoft.com/office/drawing/2010/main">
        <mc:Choice Requires="a14">
          <p:sp>
            <p:nvSpPr>
              <p:cNvPr id="20" name="Text 18"/>
              <p:cNvSpPr/>
              <p:nvPr/>
            </p:nvSpPr>
            <p:spPr>
              <a:xfrm>
                <a:off x="3273552" y="3749040"/>
                <a:ext cx="2596896" cy="749808"/>
              </a:xfrm>
              <a:prstGeom prst="rect">
                <a:avLst/>
              </a:prstGeom>
              <a:noFill/>
              <a:ln/>
            </p:spPr>
            <p:txBody>
              <a:bodyPr wrap="square" rtlCol="0" anchor="t"/>
              <a:lstStyle/>
              <a:p>
                <a:pPr marL="0" indent="0">
                  <a:buNone/>
                </a:pPr>
                <a:r>
                  <a:rPr lang="en-US" sz="1100" dirty="0">
                    <a:solidFill>
                      <a:srgbClr val="B8F0D8"/>
                    </a:solidFill>
                    <a:latin typeface="Calibri" pitchFamily="34" charset="0"/>
                    <a:ea typeface="Calibri" pitchFamily="34" charset="-122"/>
                    <a:cs typeface="Calibri" pitchFamily="34" charset="-120"/>
                  </a:rPr>
                  <a:t>④ </a:t>
                </a:r>
                <a14:m>
                  <m:oMath xmlns:m="http://schemas.openxmlformats.org/officeDocument/2006/math">
                    <m:r>
                      <a:rPr lang="en-US" sz="1100" i="1" dirty="0" smtClean="0">
                        <a:solidFill>
                          <a:srgbClr val="B8F0D8"/>
                        </a:solidFill>
                        <a:latin typeface="Cambria Math" panose="02040503050406030204" pitchFamily="18" charset="0"/>
                        <a:ea typeface="Calibri" pitchFamily="34" charset="-122"/>
                        <a:cs typeface="Calibri" pitchFamily="34" charset="-120"/>
                      </a:rPr>
                      <m:t>𝐺𝐶</m:t>
                    </m:r>
                    <m:sSub>
                      <m:sSubPr>
                        <m:ctrlPr>
                          <a:rPr lang="en-US" sz="1100" i="1" dirty="0" smtClean="0">
                            <a:solidFill>
                              <a:srgbClr val="B8F0D8"/>
                            </a:solidFill>
                            <a:latin typeface="Cambria Math" panose="02040503050406030204" pitchFamily="18" charset="0"/>
                            <a:ea typeface="Calibri" pitchFamily="34" charset="-122"/>
                            <a:cs typeface="Calibri" pitchFamily="34" charset="-120"/>
                          </a:rPr>
                        </m:ctrlPr>
                      </m:sSubPr>
                      <m:e>
                        <m:r>
                          <a:rPr lang="en-US" sz="1100" i="1" dirty="0" smtClean="0">
                            <a:solidFill>
                              <a:srgbClr val="B8F0D8"/>
                            </a:solidFill>
                            <a:latin typeface="Cambria Math" panose="02040503050406030204" pitchFamily="18" charset="0"/>
                            <a:ea typeface="Calibri" pitchFamily="34" charset="-122"/>
                            <a:cs typeface="Calibri" pitchFamily="34" charset="-120"/>
                          </a:rPr>
                          <m:t>𝑁</m:t>
                        </m:r>
                      </m:e>
                      <m:sub>
                        <m:r>
                          <a:rPr lang="en-US" sz="1100" i="1" dirty="0" smtClean="0">
                            <a:solidFill>
                              <a:srgbClr val="B8F0D8"/>
                            </a:solidFill>
                            <a:latin typeface="Cambria Math" panose="02040503050406030204" pitchFamily="18" charset="0"/>
                            <a:ea typeface="Calibri" pitchFamily="34" charset="-122"/>
                            <a:cs typeface="Calibri" pitchFamily="34" charset="-120"/>
                          </a:rPr>
                          <m:t>𝑆</m:t>
                        </m:r>
                      </m:sub>
                    </m:sSub>
                  </m:oMath>
                </a14:m>
                <a:r>
                  <a:rPr lang="en-US" sz="1100" dirty="0">
                    <a:solidFill>
                      <a:srgbClr val="B8F0D8"/>
                    </a:solidFill>
                    <a:latin typeface="Calibri" pitchFamily="34" charset="0"/>
                    <a:ea typeface="Calibri" pitchFamily="34" charset="-122"/>
                    <a:cs typeface="Calibri" pitchFamily="34" charset="-120"/>
                  </a:rPr>
                  <a:t> + GFlowNet: giữ nguyên hoàn toàn — đây là đóng góp cốt lõi của GRAPES.</a:t>
                </a:r>
                <a:endParaRPr lang="en-US" sz="1100" dirty="0"/>
              </a:p>
            </p:txBody>
          </p:sp>
        </mc:Choice>
        <mc:Fallback xmlns="">
          <p:sp>
            <p:nvSpPr>
              <p:cNvPr id="20" name="Text 18"/>
              <p:cNvSpPr>
                <a:spLocks noRot="1" noChangeAspect="1" noMove="1" noResize="1" noEditPoints="1" noAdjustHandles="1" noChangeArrowheads="1" noChangeShapeType="1" noTextEdit="1"/>
              </p:cNvSpPr>
              <p:nvPr/>
            </p:nvSpPr>
            <p:spPr>
              <a:xfrm>
                <a:off x="3273552" y="3749040"/>
                <a:ext cx="2596896" cy="749808"/>
              </a:xfrm>
              <a:prstGeom prst="rect">
                <a:avLst/>
              </a:prstGeom>
              <a:blipFill>
                <a:blip r:embed="rId4"/>
                <a:stretch>
                  <a:fillRect/>
                </a:stretch>
              </a:blipFill>
              <a:ln/>
            </p:spPr>
            <p:txBody>
              <a:bodyPr/>
              <a:lstStyle/>
              <a:p>
                <a:r>
                  <a:rPr lang="en-VN">
                    <a:noFill/>
                  </a:rPr>
                  <a:t> </a:t>
                </a:r>
              </a:p>
            </p:txBody>
          </p:sp>
        </mc:Fallback>
      </mc:AlternateContent>
      <p:sp>
        <p:nvSpPr>
          <p:cNvPr id="21" name="Shape 19"/>
          <p:cNvSpPr/>
          <p:nvPr/>
        </p:nvSpPr>
        <p:spPr>
          <a:xfrm>
            <a:off x="6071616" y="914400"/>
            <a:ext cx="2816352" cy="3895344"/>
          </a:xfrm>
          <a:prstGeom prst="rect">
            <a:avLst/>
          </a:prstGeom>
          <a:solidFill>
            <a:srgbClr val="082840"/>
          </a:solidFill>
          <a:ln w="22860">
            <a:solidFill>
              <a:srgbClr val="1A8C4E"/>
            </a:solidFill>
            <a:prstDash val="solid"/>
          </a:ln>
        </p:spPr>
        <p:txBody>
          <a:bodyPr/>
          <a:lstStyle/>
          <a:p>
            <a:endParaRPr lang="en-VN"/>
          </a:p>
        </p:txBody>
      </p:sp>
      <p:sp>
        <p:nvSpPr>
          <p:cNvPr id="22" name="Shape 20"/>
          <p:cNvSpPr/>
          <p:nvPr/>
        </p:nvSpPr>
        <p:spPr>
          <a:xfrm>
            <a:off x="6071616" y="914400"/>
            <a:ext cx="2816352" cy="347472"/>
          </a:xfrm>
          <a:prstGeom prst="rect">
            <a:avLst/>
          </a:prstGeom>
          <a:solidFill>
            <a:srgbClr val="1A8C4E"/>
          </a:solidFill>
          <a:ln w="12700">
            <a:solidFill>
              <a:srgbClr val="000000"/>
            </a:solidFill>
            <a:prstDash val="solid"/>
          </a:ln>
        </p:spPr>
        <p:txBody>
          <a:bodyPr/>
          <a:lstStyle/>
          <a:p>
            <a:endParaRPr lang="en-VN"/>
          </a:p>
        </p:txBody>
      </p:sp>
      <p:sp>
        <p:nvSpPr>
          <p:cNvPr id="23" name="Text 21"/>
          <p:cNvSpPr/>
          <p:nvPr/>
        </p:nvSpPr>
        <p:spPr>
          <a:xfrm>
            <a:off x="6144768" y="914400"/>
            <a:ext cx="2670048"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Tính khả thi</a:t>
            </a:r>
            <a:endParaRPr lang="en-US" sz="1200" dirty="0"/>
          </a:p>
        </p:txBody>
      </p:sp>
      <p:sp>
        <p:nvSpPr>
          <p:cNvPr id="24" name="Text 22"/>
          <p:cNvSpPr/>
          <p:nvPr/>
        </p:nvSpPr>
        <p:spPr>
          <a:xfrm>
            <a:off x="6181344" y="1335024"/>
            <a:ext cx="2596896" cy="749808"/>
          </a:xfrm>
          <a:prstGeom prst="rect">
            <a:avLst/>
          </a:prstGeom>
          <a:noFill/>
          <a:ln/>
        </p:spPr>
        <p:txBody>
          <a:bodyPr wrap="square" rtlCol="0" anchor="t"/>
          <a:lstStyle/>
          <a:p>
            <a:pPr marL="0" indent="0">
              <a:buNone/>
            </a:pPr>
            <a:r>
              <a:rPr lang="en-US" sz="1100" dirty="0">
                <a:solidFill>
                  <a:srgbClr val="B0E8C4"/>
                </a:solidFill>
                <a:latin typeface="Calibri" pitchFamily="34" charset="0"/>
                <a:ea typeface="Calibri" pitchFamily="34" charset="-122"/>
                <a:cs typeface="Calibri" pitchFamily="34" charset="-120"/>
              </a:rPr>
              <a:t>● Codebase GRAPES nắm rõ từ giai đoạn 1 — không cần viết lại.</a:t>
            </a:r>
            <a:endParaRPr lang="en-US" sz="1100" dirty="0"/>
          </a:p>
        </p:txBody>
      </p:sp>
      <p:sp>
        <p:nvSpPr>
          <p:cNvPr id="25" name="Text 23"/>
          <p:cNvSpPr/>
          <p:nvPr/>
        </p:nvSpPr>
        <p:spPr>
          <a:xfrm>
            <a:off x="6181344" y="2139696"/>
            <a:ext cx="2596896" cy="749808"/>
          </a:xfrm>
          <a:prstGeom prst="rect">
            <a:avLst/>
          </a:prstGeom>
          <a:noFill/>
          <a:ln/>
        </p:spPr>
        <p:txBody>
          <a:bodyPr wrap="square" rtlCol="0" anchor="t"/>
          <a:lstStyle/>
          <a:p>
            <a:pPr marL="0" indent="0">
              <a:buNone/>
            </a:pPr>
            <a:r>
              <a:rPr lang="en-US" sz="1100" dirty="0">
                <a:solidFill>
                  <a:srgbClr val="B0E8C4"/>
                </a:solidFill>
                <a:latin typeface="Calibri" pitchFamily="34" charset="0"/>
                <a:ea typeface="Calibri" pitchFamily="34" charset="-122"/>
                <a:cs typeface="Calibri" pitchFamily="34" charset="-120"/>
              </a:rPr>
              <a:t>● Amazon Reviews'23 public, metadata đầy đủ, chuẩn benchmark.</a:t>
            </a:r>
            <a:endParaRPr lang="en-US" sz="1100" dirty="0"/>
          </a:p>
        </p:txBody>
      </p:sp>
      <p:sp>
        <p:nvSpPr>
          <p:cNvPr id="26" name="Text 24"/>
          <p:cNvSpPr/>
          <p:nvPr/>
        </p:nvSpPr>
        <p:spPr>
          <a:xfrm>
            <a:off x="6181344" y="2944368"/>
            <a:ext cx="2596896" cy="749808"/>
          </a:xfrm>
          <a:prstGeom prst="rect">
            <a:avLst/>
          </a:prstGeom>
          <a:noFill/>
          <a:ln/>
        </p:spPr>
        <p:txBody>
          <a:bodyPr wrap="square" rtlCol="0" anchor="t"/>
          <a:lstStyle/>
          <a:p>
            <a:pPr marL="0" indent="0">
              <a:buNone/>
            </a:pPr>
            <a:r>
              <a:rPr lang="en-US" sz="1100" dirty="0">
                <a:solidFill>
                  <a:srgbClr val="B0E8C4"/>
                </a:solidFill>
                <a:latin typeface="Calibri" pitchFamily="34" charset="0"/>
                <a:ea typeface="Calibri" pitchFamily="34" charset="-122"/>
                <a:cs typeface="Calibri" pitchFamily="34" charset="-120"/>
              </a:rPr>
              <a:t>● BPR Loss: </a:t>
            </a:r>
            <a:r>
              <a:rPr lang="en-US" sz="1100" dirty="0" err="1">
                <a:solidFill>
                  <a:srgbClr val="B0E8C4"/>
                </a:solidFill>
                <a:latin typeface="Calibri" pitchFamily="34" charset="0"/>
                <a:ea typeface="Calibri" pitchFamily="34" charset="-122"/>
                <a:cs typeface="Calibri" pitchFamily="34" charset="-120"/>
              </a:rPr>
              <a:t>có</a:t>
            </a:r>
            <a:r>
              <a:rPr lang="en-US" sz="1100" dirty="0">
                <a:solidFill>
                  <a:srgbClr val="B0E8C4"/>
                </a:solidFill>
                <a:latin typeface="Calibri" pitchFamily="34" charset="0"/>
                <a:ea typeface="Calibri" pitchFamily="34" charset="-122"/>
                <a:cs typeface="Calibri" pitchFamily="34" charset="-120"/>
              </a:rPr>
              <a:t> </a:t>
            </a:r>
            <a:r>
              <a:rPr lang="en-US" sz="1100" dirty="0" err="1">
                <a:solidFill>
                  <a:srgbClr val="B0E8C4"/>
                </a:solidFill>
                <a:latin typeface="Calibri" pitchFamily="34" charset="0"/>
                <a:ea typeface="Calibri" pitchFamily="34" charset="-122"/>
                <a:cs typeface="Calibri" pitchFamily="34" charset="-120"/>
              </a:rPr>
              <a:t>sẵn</a:t>
            </a:r>
            <a:r>
              <a:rPr lang="en-US" sz="1100" dirty="0">
                <a:solidFill>
                  <a:srgbClr val="B0E8C4"/>
                </a:solidFill>
                <a:latin typeface="Calibri" pitchFamily="34" charset="0"/>
                <a:ea typeface="Calibri" pitchFamily="34" charset="-122"/>
                <a:cs typeface="Calibri" pitchFamily="34" charset="-120"/>
              </a:rPr>
              <a:t> </a:t>
            </a:r>
            <a:r>
              <a:rPr lang="en-US" sz="1100" dirty="0" err="1">
                <a:solidFill>
                  <a:srgbClr val="B0E8C4"/>
                </a:solidFill>
                <a:latin typeface="Calibri" pitchFamily="34" charset="0"/>
                <a:ea typeface="Calibri" pitchFamily="34" charset="-122"/>
                <a:cs typeface="Calibri" pitchFamily="34" charset="-120"/>
              </a:rPr>
              <a:t>trong</a:t>
            </a:r>
            <a:r>
              <a:rPr lang="en-US" sz="1100" dirty="0">
                <a:solidFill>
                  <a:srgbClr val="B0E8C4"/>
                </a:solidFill>
                <a:latin typeface="Calibri" pitchFamily="34" charset="0"/>
                <a:ea typeface="Calibri" pitchFamily="34" charset="-122"/>
                <a:cs typeface="Calibri" pitchFamily="34" charset="-120"/>
              </a:rPr>
              <a:t> </a:t>
            </a:r>
            <a:r>
              <a:rPr lang="en-US" sz="1100" dirty="0" err="1">
                <a:solidFill>
                  <a:srgbClr val="B0E8C4"/>
                </a:solidFill>
                <a:latin typeface="Calibri" pitchFamily="34" charset="0"/>
                <a:ea typeface="Calibri" pitchFamily="34" charset="-122"/>
                <a:cs typeface="Calibri" pitchFamily="34" charset="-120"/>
              </a:rPr>
              <a:t>PyTorch</a:t>
            </a:r>
            <a:r>
              <a:rPr lang="en-US" sz="1100" dirty="0">
                <a:solidFill>
                  <a:srgbClr val="B0E8C4"/>
                </a:solidFill>
                <a:latin typeface="Calibri" pitchFamily="34" charset="0"/>
                <a:ea typeface="Calibri" pitchFamily="34" charset="-122"/>
                <a:cs typeface="Calibri" pitchFamily="34" charset="-120"/>
              </a:rPr>
              <a:t>, đã có trong mọi GNN recommendation repo.</a:t>
            </a:r>
            <a:endParaRPr lang="en-US" sz="1100" dirty="0"/>
          </a:p>
        </p:txBody>
      </p:sp>
      <p:sp>
        <p:nvSpPr>
          <p:cNvPr id="27" name="Text 25"/>
          <p:cNvSpPr/>
          <p:nvPr/>
        </p:nvSpPr>
        <p:spPr>
          <a:xfrm>
            <a:off x="6181344" y="3749040"/>
            <a:ext cx="2596896" cy="749808"/>
          </a:xfrm>
          <a:prstGeom prst="rect">
            <a:avLst/>
          </a:prstGeom>
          <a:noFill/>
          <a:ln/>
        </p:spPr>
        <p:txBody>
          <a:bodyPr wrap="square" rtlCol="0" anchor="t"/>
          <a:lstStyle/>
          <a:p>
            <a:pPr marL="0" indent="0">
              <a:buNone/>
            </a:pPr>
            <a:r>
              <a:rPr lang="en-US" sz="1100" dirty="0">
                <a:solidFill>
                  <a:srgbClr val="B0E8C4"/>
                </a:solidFill>
                <a:latin typeface="Calibri" pitchFamily="34" charset="0"/>
                <a:ea typeface="Calibri" pitchFamily="34" charset="-122"/>
                <a:cs typeface="Calibri" pitchFamily="34" charset="-120"/>
              </a:rPr>
              <a:t>● Baselines: LightGCN, NGCF, PinSage đều open-source, PyG.</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24 / 29</a:t>
            </a:r>
            <a:endParaRPr lang="en-US" sz="1000" dirty="0"/>
          </a:p>
        </p:txBody>
      </p:sp>
      <p:sp>
        <p:nvSpPr>
          <p:cNvPr id="3" name="Shape 1"/>
          <p:cNvSpPr/>
          <p:nvPr/>
        </p:nvSpPr>
        <p:spPr>
          <a:xfrm>
            <a:off x="0" y="0"/>
            <a:ext cx="9144000" cy="804672"/>
          </a:xfrm>
          <a:prstGeom prst="rect">
            <a:avLst/>
          </a:prstGeom>
          <a:solidFill>
            <a:srgbClr val="0A4D62"/>
          </a:solidFill>
          <a:ln w="12700">
            <a:solidFill>
              <a:srgbClr val="0A4D62"/>
            </a:solidFill>
            <a:prstDash val="solid"/>
          </a:ln>
        </p:spPr>
        <p:txBody>
          <a:bodyPr/>
          <a:lstStyle/>
          <a:p>
            <a:endParaRPr lang="en-VN"/>
          </a:p>
        </p:txBody>
      </p:sp>
      <p:sp>
        <p:nvSpPr>
          <p:cNvPr id="4" name="Shape 2"/>
          <p:cNvSpPr/>
          <p:nvPr/>
        </p:nvSpPr>
        <p:spPr>
          <a:xfrm>
            <a:off x="0" y="0"/>
            <a:ext cx="594360" cy="804672"/>
          </a:xfrm>
          <a:prstGeom prst="rect">
            <a:avLst/>
          </a:prstGeom>
          <a:solidFill>
            <a:srgbClr val="F4A261"/>
          </a:solidFill>
          <a:ln w="12700">
            <a:solidFill>
              <a:srgbClr val="F4A261"/>
            </a:solidFill>
            <a:prstDash val="solid"/>
          </a:ln>
        </p:spPr>
        <p:txBody>
          <a:bodyPr/>
          <a:lstStyle/>
          <a:p>
            <a:endParaRPr lang="en-VN"/>
          </a:p>
        </p:txBody>
      </p:sp>
      <p:sp>
        <p:nvSpPr>
          <p:cNvPr id="5" name="Text 3"/>
          <p:cNvSpPr/>
          <p:nvPr/>
        </p:nvSpPr>
        <p:spPr>
          <a:xfrm>
            <a:off x="0" y="0"/>
            <a:ext cx="594360" cy="804672"/>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02</a:t>
            </a:r>
            <a:endParaRPr lang="en-US" sz="2600" dirty="0"/>
          </a:p>
        </p:txBody>
      </p:sp>
      <p:sp>
        <p:nvSpPr>
          <p:cNvPr id="6" name="Text 4"/>
          <p:cNvSpPr/>
          <p:nvPr/>
        </p:nvSpPr>
        <p:spPr>
          <a:xfrm>
            <a:off x="685800" y="73152"/>
            <a:ext cx="8229600" cy="65836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Hướng 2 — Khi Nào Nên Dùng GRAPES?</a:t>
            </a:r>
            <a:endParaRPr lang="en-US" sz="2200" dirty="0"/>
          </a:p>
        </p:txBody>
      </p:sp>
      <p:sp>
        <p:nvSpPr>
          <p:cNvPr id="7" name="Shape 5"/>
          <p:cNvSpPr/>
          <p:nvPr/>
        </p:nvSpPr>
        <p:spPr>
          <a:xfrm>
            <a:off x="256032" y="914400"/>
            <a:ext cx="2816352" cy="3895344"/>
          </a:xfrm>
          <a:prstGeom prst="rect">
            <a:avLst/>
          </a:prstGeom>
          <a:solidFill>
            <a:srgbClr val="1A0E04"/>
          </a:solidFill>
          <a:ln w="22860">
            <a:solidFill>
              <a:srgbClr val="B55A1C"/>
            </a:solidFill>
            <a:prstDash val="solid"/>
          </a:ln>
        </p:spPr>
        <p:txBody>
          <a:bodyPr/>
          <a:lstStyle/>
          <a:p>
            <a:endParaRPr lang="en-VN"/>
          </a:p>
        </p:txBody>
      </p:sp>
      <p:sp>
        <p:nvSpPr>
          <p:cNvPr id="8" name="Shape 6"/>
          <p:cNvSpPr/>
          <p:nvPr/>
        </p:nvSpPr>
        <p:spPr>
          <a:xfrm>
            <a:off x="256032" y="914400"/>
            <a:ext cx="2816352" cy="347472"/>
          </a:xfrm>
          <a:prstGeom prst="rect">
            <a:avLst/>
          </a:prstGeom>
          <a:solidFill>
            <a:srgbClr val="B55A1C"/>
          </a:solidFill>
          <a:ln w="12700">
            <a:solidFill>
              <a:srgbClr val="000000"/>
            </a:solidFill>
            <a:prstDash val="solid"/>
          </a:ln>
        </p:spPr>
        <p:txBody>
          <a:bodyPr/>
          <a:lstStyle/>
          <a:p>
            <a:endParaRPr lang="en-VN"/>
          </a:p>
        </p:txBody>
      </p:sp>
      <p:sp>
        <p:nvSpPr>
          <p:cNvPr id="9" name="Text 7"/>
          <p:cNvSpPr/>
          <p:nvPr/>
        </p:nvSpPr>
        <p:spPr>
          <a:xfrm>
            <a:off x="329184" y="914400"/>
            <a:ext cx="2670048"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Tại sao hướng này?</a:t>
            </a:r>
            <a:endParaRPr lang="en-US" sz="1200" dirty="0"/>
          </a:p>
        </p:txBody>
      </p:sp>
      <p:sp>
        <p:nvSpPr>
          <p:cNvPr id="10" name="Text 8"/>
          <p:cNvSpPr/>
          <p:nvPr/>
        </p:nvSpPr>
        <p:spPr>
          <a:xfrm>
            <a:off x="365760" y="1335024"/>
            <a:ext cx="2596896" cy="749808"/>
          </a:xfrm>
          <a:prstGeom prst="rect">
            <a:avLst/>
          </a:prstGeom>
          <a:noFill/>
          <a:ln/>
        </p:spPr>
        <p:txBody>
          <a:bodyPr wrap="square" rtlCol="0" anchor="t"/>
          <a:lstStyle/>
          <a:p>
            <a:pPr marL="0" indent="0">
              <a:buNone/>
            </a:pPr>
            <a:r>
              <a:rPr lang="en-US" sz="1100" dirty="0">
                <a:solidFill>
                  <a:srgbClr val="F5D5B5"/>
                </a:solidFill>
                <a:latin typeface="Calibri" pitchFamily="34" charset="0"/>
                <a:ea typeface="Calibri" pitchFamily="34" charset="-122"/>
                <a:cs typeface="Calibri" pitchFamily="34" charset="-120"/>
              </a:rPr>
              <a:t>Sau 12 dataset, không có quy luật chung. Người dùng hiện tại phải thử-sai — tốn thời gian và tài nguyên.</a:t>
            </a:r>
            <a:endParaRPr lang="en-US" sz="1100" dirty="0"/>
          </a:p>
        </p:txBody>
      </p:sp>
      <p:sp>
        <p:nvSpPr>
          <p:cNvPr id="11" name="Text 9"/>
          <p:cNvSpPr/>
          <p:nvPr/>
        </p:nvSpPr>
        <p:spPr>
          <a:xfrm>
            <a:off x="365760" y="2139696"/>
            <a:ext cx="2596896" cy="749808"/>
          </a:xfrm>
          <a:prstGeom prst="rect">
            <a:avLst/>
          </a:prstGeom>
          <a:noFill/>
          <a:ln/>
        </p:spPr>
        <p:txBody>
          <a:bodyPr wrap="square" rtlCol="0" anchor="t"/>
          <a:lstStyle/>
          <a:p>
            <a:pPr marL="0" indent="0">
              <a:buNone/>
            </a:pPr>
            <a:r>
              <a:rPr lang="en-US" sz="1100" dirty="0">
                <a:solidFill>
                  <a:srgbClr val="F5D5B5"/>
                </a:solidFill>
                <a:latin typeface="Calibri" pitchFamily="34" charset="0"/>
                <a:ea typeface="Calibri" pitchFamily="34" charset="-122"/>
                <a:cs typeface="Calibri" pitchFamily="34" charset="-120"/>
              </a:rPr>
              <a:t>ΔF1 dao động từ −3,7 (GRAPES tệ hơn) đến +3,0 (GRAPES tốt hơn) — không thể đoán được.</a:t>
            </a:r>
            <a:endParaRPr lang="en-US" sz="1100" dirty="0"/>
          </a:p>
        </p:txBody>
      </p:sp>
      <p:sp>
        <p:nvSpPr>
          <p:cNvPr id="12" name="Text 10"/>
          <p:cNvSpPr/>
          <p:nvPr/>
        </p:nvSpPr>
        <p:spPr>
          <a:xfrm>
            <a:off x="365760" y="2944368"/>
            <a:ext cx="2596896" cy="749808"/>
          </a:xfrm>
          <a:prstGeom prst="rect">
            <a:avLst/>
          </a:prstGeom>
          <a:noFill/>
          <a:ln/>
        </p:spPr>
        <p:txBody>
          <a:bodyPr wrap="square" rtlCol="0" anchor="t"/>
          <a:lstStyle/>
          <a:p>
            <a:pPr marL="0" indent="0">
              <a:buNone/>
            </a:pPr>
            <a:r>
              <a:rPr lang="en-US" sz="1100" dirty="0">
                <a:solidFill>
                  <a:srgbClr val="F5D5B5"/>
                </a:solidFill>
                <a:latin typeface="Calibri" pitchFamily="34" charset="0"/>
                <a:ea typeface="Calibri" pitchFamily="34" charset="-122"/>
                <a:cs typeface="Calibri" pitchFamily="34" charset="-120"/>
              </a:rPr>
              <a:t>Thiếu hướng dẫn thực hành: "nên dùng GRAPES khi đồ thị có đặc trưng gì?"</a:t>
            </a:r>
            <a:endParaRPr lang="en-US" sz="1100" dirty="0"/>
          </a:p>
        </p:txBody>
      </p:sp>
      <p:sp>
        <p:nvSpPr>
          <p:cNvPr id="13" name="Text 11"/>
          <p:cNvSpPr/>
          <p:nvPr/>
        </p:nvSpPr>
        <p:spPr>
          <a:xfrm>
            <a:off x="365760" y="3749040"/>
            <a:ext cx="2596896" cy="749808"/>
          </a:xfrm>
          <a:prstGeom prst="rect">
            <a:avLst/>
          </a:prstGeom>
          <a:noFill/>
          <a:ln/>
        </p:spPr>
        <p:txBody>
          <a:bodyPr wrap="square" rtlCol="0" anchor="t"/>
          <a:lstStyle/>
          <a:p>
            <a:pPr marL="0" indent="0">
              <a:buNone/>
            </a:pPr>
            <a:r>
              <a:rPr lang="en-US" sz="1100" dirty="0">
                <a:solidFill>
                  <a:srgbClr val="F5D5B5"/>
                </a:solidFill>
                <a:latin typeface="Calibri" pitchFamily="34" charset="0"/>
                <a:ea typeface="Calibri" pitchFamily="34" charset="-122"/>
                <a:cs typeface="Calibri" pitchFamily="34" charset="-120"/>
              </a:rPr>
              <a:t>Dữ liệu đã có sẵn từ giai đoạn 1 → cơ hội phân tích ngay.</a:t>
            </a:r>
            <a:endParaRPr lang="en-US" sz="1100" dirty="0"/>
          </a:p>
        </p:txBody>
      </p:sp>
      <p:sp>
        <p:nvSpPr>
          <p:cNvPr id="14" name="Shape 12"/>
          <p:cNvSpPr/>
          <p:nvPr/>
        </p:nvSpPr>
        <p:spPr>
          <a:xfrm>
            <a:off x="3163824" y="914400"/>
            <a:ext cx="2816352" cy="3895344"/>
          </a:xfrm>
          <a:prstGeom prst="rect">
            <a:avLst/>
          </a:prstGeom>
          <a:solidFill>
            <a:srgbClr val="1A0E04"/>
          </a:solidFill>
          <a:ln w="22860">
            <a:solidFill>
              <a:srgbClr val="F4A261"/>
            </a:solidFill>
            <a:prstDash val="solid"/>
          </a:ln>
        </p:spPr>
        <p:txBody>
          <a:bodyPr/>
          <a:lstStyle/>
          <a:p>
            <a:endParaRPr lang="en-VN"/>
          </a:p>
        </p:txBody>
      </p:sp>
      <p:sp>
        <p:nvSpPr>
          <p:cNvPr id="15" name="Shape 13"/>
          <p:cNvSpPr/>
          <p:nvPr/>
        </p:nvSpPr>
        <p:spPr>
          <a:xfrm>
            <a:off x="3163824" y="914400"/>
            <a:ext cx="2816352" cy="347472"/>
          </a:xfrm>
          <a:prstGeom prst="rect">
            <a:avLst/>
          </a:prstGeom>
          <a:solidFill>
            <a:srgbClr val="F4A261"/>
          </a:solidFill>
          <a:ln w="12700">
            <a:solidFill>
              <a:srgbClr val="000000"/>
            </a:solidFill>
            <a:prstDash val="solid"/>
          </a:ln>
        </p:spPr>
        <p:txBody>
          <a:bodyPr/>
          <a:lstStyle/>
          <a:p>
            <a:endParaRPr lang="en-VN"/>
          </a:p>
        </p:txBody>
      </p:sp>
      <p:sp>
        <p:nvSpPr>
          <p:cNvPr id="16" name="Text 14"/>
          <p:cNvSpPr/>
          <p:nvPr/>
        </p:nvSpPr>
        <p:spPr>
          <a:xfrm>
            <a:off x="3236976" y="914400"/>
            <a:ext cx="2670048"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Đề xuất cụ thể</a:t>
            </a:r>
            <a:endParaRPr lang="en-US" sz="1200" dirty="0"/>
          </a:p>
        </p:txBody>
      </p:sp>
      <p:sp>
        <p:nvSpPr>
          <p:cNvPr id="17" name="Text 15"/>
          <p:cNvSpPr/>
          <p:nvPr/>
        </p:nvSpPr>
        <p:spPr>
          <a:xfrm>
            <a:off x="3273552" y="1335024"/>
            <a:ext cx="2596896" cy="749808"/>
          </a:xfrm>
          <a:prstGeom prst="rect">
            <a:avLst/>
          </a:prstGeom>
          <a:noFill/>
          <a:ln/>
        </p:spPr>
        <p:txBody>
          <a:bodyPr wrap="square" rtlCol="0" anchor="t"/>
          <a:lstStyle/>
          <a:p>
            <a:pPr marL="0" indent="0">
              <a:buNone/>
            </a:pPr>
            <a:r>
              <a:rPr lang="en-US" sz="1100" dirty="0">
                <a:solidFill>
                  <a:srgbClr val="FDE8CC"/>
                </a:solidFill>
                <a:latin typeface="Calibri" pitchFamily="34" charset="0"/>
                <a:ea typeface="Calibri" pitchFamily="34" charset="-122"/>
                <a:cs typeface="Calibri" pitchFamily="34" charset="-120"/>
              </a:rPr>
              <a:t>① Trích đặc trưng đồ thị từ 12 dataset: homophily ratio, bậc TB, phương sai bậc, số lớp nhãn.</a:t>
            </a:r>
            <a:endParaRPr lang="en-US" sz="1100" dirty="0"/>
          </a:p>
        </p:txBody>
      </p:sp>
      <mc:AlternateContent xmlns:mc="http://schemas.openxmlformats.org/markup-compatibility/2006" xmlns:a14="http://schemas.microsoft.com/office/drawing/2010/main">
        <mc:Choice Requires="a14">
          <p:sp>
            <p:nvSpPr>
              <p:cNvPr id="18" name="Text 16"/>
              <p:cNvSpPr/>
              <p:nvPr/>
            </p:nvSpPr>
            <p:spPr>
              <a:xfrm>
                <a:off x="3273552" y="2139696"/>
                <a:ext cx="2596896" cy="749808"/>
              </a:xfrm>
              <a:prstGeom prst="rect">
                <a:avLst/>
              </a:prstGeom>
              <a:noFill/>
              <a:ln/>
            </p:spPr>
            <p:txBody>
              <a:bodyPr wrap="square" rtlCol="0" anchor="t"/>
              <a:lstStyle/>
              <a:p>
                <a:r>
                  <a:rPr lang="en-US" sz="1100" dirty="0">
                    <a:solidFill>
                      <a:srgbClr val="FDE8CC"/>
                    </a:solidFill>
                    <a:latin typeface="Calibri" pitchFamily="34" charset="0"/>
                    <a:ea typeface="Calibri" pitchFamily="34" charset="-122"/>
                    <a:cs typeface="Calibri" pitchFamily="34" charset="-120"/>
                  </a:rPr>
                  <a:t>② Tính ΔF1 = </a:t>
                </a:r>
                <a14:m>
                  <m:oMath xmlns:m="http://schemas.openxmlformats.org/officeDocument/2006/math">
                    <m:r>
                      <a:rPr lang="en-US" sz="1100" i="1" dirty="0" smtClean="0">
                        <a:solidFill>
                          <a:srgbClr val="FDE8CC"/>
                        </a:solidFill>
                        <a:latin typeface="Cambria Math" panose="02040503050406030204" pitchFamily="18" charset="0"/>
                        <a:ea typeface="Calibri" pitchFamily="34" charset="-122"/>
                        <a:cs typeface="Calibri" pitchFamily="34" charset="-120"/>
                      </a:rPr>
                      <m:t>𝐹</m:t>
                    </m:r>
                    <m:sSub>
                      <m:sSubPr>
                        <m:ctrlPr>
                          <a:rPr lang="en-US" sz="1100" i="1" dirty="0" smtClean="0">
                            <a:solidFill>
                              <a:srgbClr val="FDE8CC"/>
                            </a:solidFill>
                            <a:latin typeface="Cambria Math" panose="02040503050406030204" pitchFamily="18" charset="0"/>
                            <a:ea typeface="Calibri" pitchFamily="34" charset="-122"/>
                            <a:cs typeface="Calibri" pitchFamily="34" charset="-120"/>
                          </a:rPr>
                        </m:ctrlPr>
                      </m:sSubPr>
                      <m:e>
                        <m:r>
                          <a:rPr lang="en-US" sz="1100" i="1" dirty="0" smtClean="0">
                            <a:solidFill>
                              <a:srgbClr val="FDE8CC"/>
                            </a:solidFill>
                            <a:latin typeface="Cambria Math" panose="02040503050406030204" pitchFamily="18" charset="0"/>
                            <a:ea typeface="Calibri" pitchFamily="34" charset="-122"/>
                            <a:cs typeface="Calibri" pitchFamily="34" charset="-120"/>
                          </a:rPr>
                          <m:t>1</m:t>
                        </m:r>
                      </m:e>
                      <m:sub>
                        <m:r>
                          <a:rPr lang="en-US" sz="1100" i="1" dirty="0">
                            <a:solidFill>
                              <a:srgbClr val="FDE8CC"/>
                            </a:solidFill>
                            <a:latin typeface="Cambria Math" panose="02040503050406030204" pitchFamily="18" charset="0"/>
                            <a:ea typeface="Calibri" pitchFamily="34" charset="-122"/>
                            <a:cs typeface="Calibri" pitchFamily="34" charset="-120"/>
                          </a:rPr>
                          <m:t>𝐺𝑅𝐴𝑃𝐸𝑆</m:t>
                        </m:r>
                      </m:sub>
                    </m:sSub>
                    <m:r>
                      <a:rPr lang="en-US" sz="1100" b="0" i="1" dirty="0" smtClean="0">
                        <a:solidFill>
                          <a:srgbClr val="FDE8CC"/>
                        </a:solidFill>
                        <a:latin typeface="Cambria Math" panose="02040503050406030204" pitchFamily="18" charset="0"/>
                        <a:ea typeface="Calibri" pitchFamily="34" charset="-122"/>
                        <a:cs typeface="Calibri" pitchFamily="34" charset="-120"/>
                      </a:rPr>
                      <m:t>=</m:t>
                    </m:r>
                    <m:r>
                      <a:rPr lang="en-US" sz="1100" i="1" dirty="0" smtClean="0">
                        <a:solidFill>
                          <a:srgbClr val="FDE8CC"/>
                        </a:solidFill>
                        <a:latin typeface="Cambria Math" panose="02040503050406030204" pitchFamily="18" charset="0"/>
                        <a:ea typeface="Calibri" pitchFamily="34" charset="-122"/>
                        <a:cs typeface="Calibri" pitchFamily="34" charset="-120"/>
                      </a:rPr>
                      <m:t> − </m:t>
                    </m:r>
                    <m:r>
                      <a:rPr lang="en-US" sz="1100" i="1" dirty="0" smtClean="0">
                        <a:solidFill>
                          <a:srgbClr val="FDE8CC"/>
                        </a:solidFill>
                        <a:latin typeface="Cambria Math" panose="02040503050406030204" pitchFamily="18" charset="0"/>
                        <a:ea typeface="Calibri" pitchFamily="34" charset="-122"/>
                        <a:cs typeface="Calibri" pitchFamily="34" charset="-120"/>
                      </a:rPr>
                      <m:t>𝐹</m:t>
                    </m:r>
                    <m:sSub>
                      <m:sSubPr>
                        <m:ctrlPr>
                          <a:rPr lang="en-US" sz="1100" i="1" dirty="0" smtClean="0">
                            <a:solidFill>
                              <a:srgbClr val="FDE8CC"/>
                            </a:solidFill>
                            <a:latin typeface="Cambria Math" panose="02040503050406030204" pitchFamily="18" charset="0"/>
                            <a:ea typeface="Calibri" pitchFamily="34" charset="-122"/>
                            <a:cs typeface="Calibri" pitchFamily="34" charset="-120"/>
                          </a:rPr>
                        </m:ctrlPr>
                      </m:sSubPr>
                      <m:e>
                        <m:r>
                          <a:rPr lang="en-US" sz="1100" i="1" dirty="0" smtClean="0">
                            <a:solidFill>
                              <a:srgbClr val="FDE8CC"/>
                            </a:solidFill>
                            <a:latin typeface="Cambria Math" panose="02040503050406030204" pitchFamily="18" charset="0"/>
                            <a:ea typeface="Calibri" pitchFamily="34" charset="-122"/>
                            <a:cs typeface="Calibri" pitchFamily="34" charset="-120"/>
                          </a:rPr>
                          <m:t>1</m:t>
                        </m:r>
                      </m:e>
                      <m:sub>
                        <m:r>
                          <a:rPr lang="en-US" sz="1100" i="1" dirty="0">
                            <a:solidFill>
                              <a:srgbClr val="FDE8CC"/>
                            </a:solidFill>
                            <a:latin typeface="Cambria Math" panose="02040503050406030204" pitchFamily="18" charset="0"/>
                            <a:ea typeface="Calibri" pitchFamily="34" charset="-122"/>
                            <a:cs typeface="Calibri" pitchFamily="34" charset="-120"/>
                          </a:rPr>
                          <m:t>𝑅𝑎𝑛𝑑𝑜𝑚</m:t>
                        </m:r>
                      </m:sub>
                    </m:sSub>
                  </m:oMath>
                </a14:m>
                <a:r>
                  <a:rPr lang="en-US" sz="1100" dirty="0">
                    <a:solidFill>
                      <a:srgbClr val="FDE8CC"/>
                    </a:solidFill>
                    <a:latin typeface="Calibri" pitchFamily="34" charset="0"/>
                    <a:ea typeface="Calibri" pitchFamily="34" charset="-122"/>
                    <a:cs typeface="Calibri" pitchFamily="34" charset="-120"/>
                  </a:rPr>
                  <a:t> trên từng dataset.</a:t>
                </a:r>
                <a:endParaRPr lang="en-US" sz="1100" dirty="0"/>
              </a:p>
            </p:txBody>
          </p:sp>
        </mc:Choice>
        <mc:Fallback xmlns="">
          <p:sp>
            <p:nvSpPr>
              <p:cNvPr id="18" name="Text 16"/>
              <p:cNvSpPr>
                <a:spLocks noRot="1" noChangeAspect="1" noMove="1" noResize="1" noEditPoints="1" noAdjustHandles="1" noChangeArrowheads="1" noChangeShapeType="1" noTextEdit="1"/>
              </p:cNvSpPr>
              <p:nvPr/>
            </p:nvSpPr>
            <p:spPr>
              <a:xfrm>
                <a:off x="3273552" y="2139696"/>
                <a:ext cx="2596896" cy="749808"/>
              </a:xfrm>
              <a:prstGeom prst="rect">
                <a:avLst/>
              </a:prstGeom>
              <a:blipFill>
                <a:blip r:embed="rId3"/>
                <a:stretch>
                  <a:fillRect/>
                </a:stretch>
              </a:blipFill>
              <a:ln/>
            </p:spPr>
            <p:txBody>
              <a:bodyPr/>
              <a:lstStyle/>
              <a:p>
                <a:r>
                  <a:rPr lang="en-VN">
                    <a:noFill/>
                  </a:rPr>
                  <a:t> </a:t>
                </a:r>
              </a:p>
            </p:txBody>
          </p:sp>
        </mc:Fallback>
      </mc:AlternateContent>
      <p:sp>
        <p:nvSpPr>
          <p:cNvPr id="19" name="Text 17"/>
          <p:cNvSpPr/>
          <p:nvPr/>
        </p:nvSpPr>
        <p:spPr>
          <a:xfrm>
            <a:off x="3273552" y="2944368"/>
            <a:ext cx="2596896" cy="749808"/>
          </a:xfrm>
          <a:prstGeom prst="rect">
            <a:avLst/>
          </a:prstGeom>
          <a:noFill/>
          <a:ln/>
        </p:spPr>
        <p:txBody>
          <a:bodyPr wrap="square" rtlCol="0" anchor="t"/>
          <a:lstStyle/>
          <a:p>
            <a:pPr marL="0" indent="0">
              <a:buNone/>
            </a:pPr>
            <a:r>
              <a:rPr lang="en-US" sz="1100" dirty="0">
                <a:solidFill>
                  <a:srgbClr val="FDE8CC"/>
                </a:solidFill>
                <a:latin typeface="Calibri" pitchFamily="34" charset="0"/>
                <a:ea typeface="Calibri" pitchFamily="34" charset="-122"/>
                <a:cs typeface="Calibri" pitchFamily="34" charset="-120"/>
              </a:rPr>
              <a:t>③ Tìm tương quan (Pearson, Spearman) giữa đặc trưng và ΔF1.</a:t>
            </a:r>
            <a:endParaRPr lang="en-US" sz="1100" dirty="0"/>
          </a:p>
        </p:txBody>
      </p:sp>
      <p:sp>
        <p:nvSpPr>
          <p:cNvPr id="20" name="Text 18"/>
          <p:cNvSpPr/>
          <p:nvPr/>
        </p:nvSpPr>
        <p:spPr>
          <a:xfrm>
            <a:off x="3273552" y="3749040"/>
            <a:ext cx="2596896" cy="749808"/>
          </a:xfrm>
          <a:prstGeom prst="rect">
            <a:avLst/>
          </a:prstGeom>
          <a:noFill/>
          <a:ln/>
        </p:spPr>
        <p:txBody>
          <a:bodyPr wrap="square" rtlCol="0" anchor="t"/>
          <a:lstStyle/>
          <a:p>
            <a:pPr marL="0" indent="0">
              <a:buNone/>
            </a:pPr>
            <a:r>
              <a:rPr lang="en-US" sz="1100" dirty="0">
                <a:solidFill>
                  <a:srgbClr val="FDE8CC"/>
                </a:solidFill>
                <a:latin typeface="Calibri" pitchFamily="34" charset="0"/>
                <a:ea typeface="Calibri" pitchFamily="34" charset="-122"/>
                <a:cs typeface="Calibri" pitchFamily="34" charset="-120"/>
              </a:rPr>
              <a:t>④ Xây dựng decision rule: "nếu homophily &lt; 0.3 → dùng GRAPES".</a:t>
            </a:r>
            <a:endParaRPr lang="en-US" sz="1100" dirty="0"/>
          </a:p>
        </p:txBody>
      </p:sp>
      <p:sp>
        <p:nvSpPr>
          <p:cNvPr id="21" name="Shape 19"/>
          <p:cNvSpPr/>
          <p:nvPr/>
        </p:nvSpPr>
        <p:spPr>
          <a:xfrm>
            <a:off x="6071616" y="914400"/>
            <a:ext cx="2816352" cy="3895344"/>
          </a:xfrm>
          <a:prstGeom prst="rect">
            <a:avLst/>
          </a:prstGeom>
          <a:solidFill>
            <a:srgbClr val="1A0E04"/>
          </a:solidFill>
          <a:ln w="22860">
            <a:solidFill>
              <a:srgbClr val="1A8C4E"/>
            </a:solidFill>
            <a:prstDash val="solid"/>
          </a:ln>
        </p:spPr>
        <p:txBody>
          <a:bodyPr/>
          <a:lstStyle/>
          <a:p>
            <a:endParaRPr lang="en-VN"/>
          </a:p>
        </p:txBody>
      </p:sp>
      <p:sp>
        <p:nvSpPr>
          <p:cNvPr id="22" name="Shape 20"/>
          <p:cNvSpPr/>
          <p:nvPr/>
        </p:nvSpPr>
        <p:spPr>
          <a:xfrm>
            <a:off x="6071616" y="914400"/>
            <a:ext cx="2816352" cy="347472"/>
          </a:xfrm>
          <a:prstGeom prst="rect">
            <a:avLst/>
          </a:prstGeom>
          <a:solidFill>
            <a:srgbClr val="1A8C4E"/>
          </a:solidFill>
          <a:ln w="12700">
            <a:solidFill>
              <a:srgbClr val="000000"/>
            </a:solidFill>
            <a:prstDash val="solid"/>
          </a:ln>
        </p:spPr>
        <p:txBody>
          <a:bodyPr/>
          <a:lstStyle/>
          <a:p>
            <a:endParaRPr lang="en-VN"/>
          </a:p>
        </p:txBody>
      </p:sp>
      <p:sp>
        <p:nvSpPr>
          <p:cNvPr id="23" name="Text 21"/>
          <p:cNvSpPr/>
          <p:nvPr/>
        </p:nvSpPr>
        <p:spPr>
          <a:xfrm>
            <a:off x="6144768" y="914400"/>
            <a:ext cx="2670048"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Tính khả thi</a:t>
            </a:r>
            <a:endParaRPr lang="en-US" sz="1200" dirty="0"/>
          </a:p>
        </p:txBody>
      </p:sp>
      <p:sp>
        <p:nvSpPr>
          <p:cNvPr id="24" name="Text 22"/>
          <p:cNvSpPr/>
          <p:nvPr/>
        </p:nvSpPr>
        <p:spPr>
          <a:xfrm>
            <a:off x="6181344" y="1335024"/>
            <a:ext cx="2596896" cy="749808"/>
          </a:xfrm>
          <a:prstGeom prst="rect">
            <a:avLst/>
          </a:prstGeom>
          <a:noFill/>
          <a:ln/>
        </p:spPr>
        <p:txBody>
          <a:bodyPr wrap="square" rtlCol="0" anchor="t"/>
          <a:lstStyle/>
          <a:p>
            <a:pPr marL="0" indent="0">
              <a:buNone/>
            </a:pPr>
            <a:r>
              <a:rPr lang="en-US" sz="1100" dirty="0">
                <a:solidFill>
                  <a:srgbClr val="B0E8C4"/>
                </a:solidFill>
                <a:latin typeface="Calibri" pitchFamily="34" charset="0"/>
                <a:ea typeface="Calibri" pitchFamily="34" charset="-122"/>
                <a:cs typeface="Calibri" pitchFamily="34" charset="-120"/>
              </a:rPr>
              <a:t>● 12 datasets + kết quả F1 đã có từ giai đoạn 1.</a:t>
            </a:r>
            <a:endParaRPr lang="en-US" sz="1100" dirty="0"/>
          </a:p>
        </p:txBody>
      </p:sp>
      <p:sp>
        <p:nvSpPr>
          <p:cNvPr id="25" name="Text 23"/>
          <p:cNvSpPr/>
          <p:nvPr/>
        </p:nvSpPr>
        <p:spPr>
          <a:xfrm>
            <a:off x="6181344" y="2139696"/>
            <a:ext cx="2596896" cy="749808"/>
          </a:xfrm>
          <a:prstGeom prst="rect">
            <a:avLst/>
          </a:prstGeom>
          <a:noFill/>
          <a:ln/>
        </p:spPr>
        <p:txBody>
          <a:bodyPr wrap="square" rtlCol="0" anchor="t"/>
          <a:lstStyle/>
          <a:p>
            <a:pPr marL="0" indent="0">
              <a:buNone/>
            </a:pPr>
            <a:r>
              <a:rPr lang="en-US" sz="1100" dirty="0">
                <a:solidFill>
                  <a:srgbClr val="B0E8C4"/>
                </a:solidFill>
                <a:latin typeface="Calibri" pitchFamily="34" charset="0"/>
                <a:ea typeface="Calibri" pitchFamily="34" charset="-122"/>
                <a:cs typeface="Calibri" pitchFamily="34" charset="-120"/>
              </a:rPr>
              <a:t>● Không cần train mới — chỉ phân tích thống kê.</a:t>
            </a:r>
            <a:endParaRPr lang="en-US" sz="1100" dirty="0"/>
          </a:p>
        </p:txBody>
      </p:sp>
      <p:sp>
        <p:nvSpPr>
          <p:cNvPr id="26" name="Text 24"/>
          <p:cNvSpPr/>
          <p:nvPr/>
        </p:nvSpPr>
        <p:spPr>
          <a:xfrm>
            <a:off x="6181344" y="2944368"/>
            <a:ext cx="2596896" cy="749808"/>
          </a:xfrm>
          <a:prstGeom prst="rect">
            <a:avLst/>
          </a:prstGeom>
          <a:noFill/>
          <a:ln/>
        </p:spPr>
        <p:txBody>
          <a:bodyPr wrap="square" rtlCol="0" anchor="t"/>
          <a:lstStyle/>
          <a:p>
            <a:pPr marL="0" indent="0">
              <a:buNone/>
            </a:pPr>
            <a:r>
              <a:rPr lang="en-US" sz="1100" dirty="0">
                <a:solidFill>
                  <a:srgbClr val="B0E8C4"/>
                </a:solidFill>
                <a:latin typeface="Calibri" pitchFamily="34" charset="0"/>
                <a:ea typeface="Calibri" pitchFamily="34" charset="-122"/>
                <a:cs typeface="Calibri" pitchFamily="34" charset="-120"/>
              </a:rPr>
              <a:t>● Công cụ: pandas, scipy, sklearn — không cần GPU.</a:t>
            </a:r>
            <a:endParaRPr lang="en-US" sz="1100" dirty="0"/>
          </a:p>
        </p:txBody>
      </p:sp>
      <p:sp>
        <p:nvSpPr>
          <p:cNvPr id="27" name="Text 25"/>
          <p:cNvSpPr/>
          <p:nvPr/>
        </p:nvSpPr>
        <p:spPr>
          <a:xfrm>
            <a:off x="6181344" y="3749040"/>
            <a:ext cx="2596896" cy="749808"/>
          </a:xfrm>
          <a:prstGeom prst="rect">
            <a:avLst/>
          </a:prstGeom>
          <a:noFill/>
          <a:ln/>
        </p:spPr>
        <p:txBody>
          <a:bodyPr wrap="square" rtlCol="0" anchor="t"/>
          <a:lstStyle/>
          <a:p>
            <a:pPr marL="0" indent="0">
              <a:buNone/>
            </a:pPr>
            <a:r>
              <a:rPr lang="en-US" sz="1100" dirty="0">
                <a:solidFill>
                  <a:srgbClr val="B0E8C4"/>
                </a:solidFill>
                <a:latin typeface="Calibri" pitchFamily="34" charset="0"/>
                <a:ea typeface="Calibri" pitchFamily="34" charset="-122"/>
                <a:cs typeface="Calibri" pitchFamily="34" charset="-120"/>
              </a:rPr>
              <a:t>● Khối lượng nhỏ: ước tính 2–3 tuần phân tích.</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25 / 29</a:t>
            </a:r>
            <a:endParaRPr lang="en-US" sz="1000" dirty="0"/>
          </a:p>
        </p:txBody>
      </p:sp>
      <p:sp>
        <p:nvSpPr>
          <p:cNvPr id="3" name="Shape 1"/>
          <p:cNvSpPr/>
          <p:nvPr/>
        </p:nvSpPr>
        <p:spPr>
          <a:xfrm>
            <a:off x="0" y="0"/>
            <a:ext cx="9144000" cy="804672"/>
          </a:xfrm>
          <a:prstGeom prst="rect">
            <a:avLst/>
          </a:prstGeom>
          <a:solidFill>
            <a:srgbClr val="0A4D62"/>
          </a:solidFill>
          <a:ln w="12700">
            <a:solidFill>
              <a:srgbClr val="0A4D62"/>
            </a:solidFill>
            <a:prstDash val="solid"/>
          </a:ln>
        </p:spPr>
        <p:txBody>
          <a:bodyPr/>
          <a:lstStyle/>
          <a:p>
            <a:endParaRPr lang="en-VN"/>
          </a:p>
        </p:txBody>
      </p:sp>
      <p:sp>
        <p:nvSpPr>
          <p:cNvPr id="4" name="Shape 2"/>
          <p:cNvSpPr/>
          <p:nvPr/>
        </p:nvSpPr>
        <p:spPr>
          <a:xfrm>
            <a:off x="0" y="0"/>
            <a:ext cx="594360" cy="804672"/>
          </a:xfrm>
          <a:prstGeom prst="rect">
            <a:avLst/>
          </a:prstGeom>
          <a:solidFill>
            <a:srgbClr val="9B2226"/>
          </a:solidFill>
          <a:ln w="12700">
            <a:solidFill>
              <a:srgbClr val="9B2226"/>
            </a:solidFill>
            <a:prstDash val="solid"/>
          </a:ln>
        </p:spPr>
        <p:txBody>
          <a:bodyPr/>
          <a:lstStyle/>
          <a:p>
            <a:endParaRPr lang="en-VN"/>
          </a:p>
        </p:txBody>
      </p:sp>
      <p:sp>
        <p:nvSpPr>
          <p:cNvPr id="5" name="Text 3"/>
          <p:cNvSpPr/>
          <p:nvPr/>
        </p:nvSpPr>
        <p:spPr>
          <a:xfrm>
            <a:off x="0" y="0"/>
            <a:ext cx="594360" cy="804672"/>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03</a:t>
            </a:r>
            <a:endParaRPr lang="en-US" sz="2600" dirty="0"/>
          </a:p>
        </p:txBody>
      </p:sp>
      <p:sp>
        <p:nvSpPr>
          <p:cNvPr id="6" name="Text 4"/>
          <p:cNvSpPr/>
          <p:nvPr/>
        </p:nvSpPr>
        <p:spPr>
          <a:xfrm>
            <a:off x="685800" y="73152"/>
            <a:ext cx="8229600" cy="65836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Hướng 3 — Tối Ưu Cho Đồ Thị Kết Nối Đa Dạng</a:t>
            </a:r>
            <a:endParaRPr lang="en-US" sz="2200" dirty="0"/>
          </a:p>
        </p:txBody>
      </p:sp>
      <p:sp>
        <p:nvSpPr>
          <p:cNvPr id="7" name="Shape 5"/>
          <p:cNvSpPr/>
          <p:nvPr/>
        </p:nvSpPr>
        <p:spPr>
          <a:xfrm>
            <a:off x="256032" y="914400"/>
            <a:ext cx="2816352" cy="3895344"/>
          </a:xfrm>
          <a:prstGeom prst="rect">
            <a:avLst/>
          </a:prstGeom>
          <a:solidFill>
            <a:srgbClr val="1A0505"/>
          </a:solidFill>
          <a:ln w="22860">
            <a:solidFill>
              <a:srgbClr val="882020"/>
            </a:solidFill>
            <a:prstDash val="solid"/>
          </a:ln>
        </p:spPr>
        <p:txBody>
          <a:bodyPr/>
          <a:lstStyle/>
          <a:p>
            <a:endParaRPr lang="en-VN"/>
          </a:p>
        </p:txBody>
      </p:sp>
      <p:sp>
        <p:nvSpPr>
          <p:cNvPr id="8" name="Shape 6"/>
          <p:cNvSpPr/>
          <p:nvPr/>
        </p:nvSpPr>
        <p:spPr>
          <a:xfrm>
            <a:off x="256032" y="914400"/>
            <a:ext cx="2816352" cy="347472"/>
          </a:xfrm>
          <a:prstGeom prst="rect">
            <a:avLst/>
          </a:prstGeom>
          <a:solidFill>
            <a:srgbClr val="882020"/>
          </a:solidFill>
          <a:ln w="12700">
            <a:solidFill>
              <a:srgbClr val="000000"/>
            </a:solidFill>
            <a:prstDash val="solid"/>
          </a:ln>
        </p:spPr>
        <p:txBody>
          <a:bodyPr/>
          <a:lstStyle/>
          <a:p>
            <a:endParaRPr lang="en-VN"/>
          </a:p>
        </p:txBody>
      </p:sp>
      <p:sp>
        <p:nvSpPr>
          <p:cNvPr id="9" name="Text 7"/>
          <p:cNvSpPr/>
          <p:nvPr/>
        </p:nvSpPr>
        <p:spPr>
          <a:xfrm>
            <a:off x="329184" y="914400"/>
            <a:ext cx="2670048"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Tại sao hướng này?</a:t>
            </a:r>
            <a:endParaRPr lang="en-US" sz="1200" dirty="0"/>
          </a:p>
        </p:txBody>
      </p:sp>
      <p:sp>
        <p:nvSpPr>
          <p:cNvPr id="10" name="Text 8"/>
          <p:cNvSpPr/>
          <p:nvPr/>
        </p:nvSpPr>
        <p:spPr>
          <a:xfrm>
            <a:off x="365760" y="1335024"/>
            <a:ext cx="2596896" cy="749808"/>
          </a:xfrm>
          <a:prstGeom prst="rect">
            <a:avLst/>
          </a:prstGeom>
          <a:noFill/>
          <a:ln/>
        </p:spPr>
        <p:txBody>
          <a:bodyPr wrap="square" rtlCol="0" anchor="t"/>
          <a:lstStyle/>
          <a:p>
            <a:pPr marL="0" indent="0">
              <a:buNone/>
            </a:pPr>
            <a:r>
              <a:rPr lang="en-US" sz="1100" dirty="0">
                <a:solidFill>
                  <a:srgbClr val="F0C8C8"/>
                </a:solidFill>
                <a:latin typeface="Calibri" pitchFamily="34" charset="0"/>
                <a:ea typeface="Calibri" pitchFamily="34" charset="-122"/>
                <a:cs typeface="Calibri" pitchFamily="34" charset="-120"/>
              </a:rPr>
              <a:t>GRAPES xếp hạng #1 trên 4/5 heterophily dataset — rõ ràng có lợi thế trên loại đồ thị này.</a:t>
            </a:r>
            <a:endParaRPr lang="en-US" sz="1100" dirty="0"/>
          </a:p>
        </p:txBody>
      </p:sp>
      <p:sp>
        <p:nvSpPr>
          <p:cNvPr id="11" name="Text 9"/>
          <p:cNvSpPr/>
          <p:nvPr/>
        </p:nvSpPr>
        <p:spPr>
          <a:xfrm>
            <a:off x="365760" y="2139696"/>
            <a:ext cx="2596896" cy="749808"/>
          </a:xfrm>
          <a:prstGeom prst="rect">
            <a:avLst/>
          </a:prstGeom>
          <a:noFill/>
          <a:ln/>
        </p:spPr>
        <p:txBody>
          <a:bodyPr wrap="square" rtlCol="0" anchor="t"/>
          <a:lstStyle/>
          <a:p>
            <a:pPr marL="0" indent="0">
              <a:buNone/>
            </a:pPr>
            <a:r>
              <a:rPr lang="en-US" sz="1100" dirty="0">
                <a:solidFill>
                  <a:srgbClr val="F0C8C8"/>
                </a:solidFill>
                <a:latin typeface="Calibri" pitchFamily="34" charset="0"/>
                <a:ea typeface="Calibri" pitchFamily="34" charset="-122"/>
                <a:cs typeface="Calibri" pitchFamily="34" charset="-120"/>
              </a:rPr>
              <a:t>GCN tổng hợp thông tin đồng đều từ mọi lân cận → mất tín hiệu phân biệt trên heterophily.</a:t>
            </a:r>
            <a:endParaRPr lang="en-US" sz="1100" dirty="0"/>
          </a:p>
        </p:txBody>
      </p:sp>
      <mc:AlternateContent xmlns:mc="http://schemas.openxmlformats.org/markup-compatibility/2006" xmlns:a14="http://schemas.microsoft.com/office/drawing/2010/main">
        <mc:Choice Requires="a14">
          <p:sp>
            <p:nvSpPr>
              <p:cNvPr id="12" name="Text 10"/>
              <p:cNvSpPr/>
              <p:nvPr/>
            </p:nvSpPr>
            <p:spPr>
              <a:xfrm>
                <a:off x="365760" y="2944368"/>
                <a:ext cx="2596896" cy="749808"/>
              </a:xfrm>
              <a:prstGeom prst="rect">
                <a:avLst/>
              </a:prstGeom>
              <a:noFill/>
              <a:ln/>
            </p:spPr>
            <p:txBody>
              <a:bodyPr wrap="square" rtlCol="0" anchor="t"/>
              <a:lstStyle/>
              <a:p>
                <a:pPr marL="0" indent="0">
                  <a:buNone/>
                </a:pPr>
                <a:r>
                  <a:rPr lang="en-US" sz="1100" dirty="0">
                    <a:solidFill>
                      <a:srgbClr val="F0C8C8"/>
                    </a:solidFill>
                    <a:latin typeface="Calibri" pitchFamily="34" charset="0"/>
                    <a:ea typeface="Calibri" pitchFamily="34" charset="-122"/>
                    <a:cs typeface="Calibri" pitchFamily="34" charset="-120"/>
                  </a:rPr>
                  <a:t>Câu hỏi: nếu thay </a:t>
                </a:r>
                <a14:m>
                  <m:oMath xmlns:m="http://schemas.openxmlformats.org/officeDocument/2006/math">
                    <m:r>
                      <a:rPr lang="en-US" sz="1100" i="1" dirty="0" smtClean="0">
                        <a:solidFill>
                          <a:srgbClr val="F0C8C8"/>
                        </a:solidFill>
                        <a:latin typeface="Cambria Math" panose="02040503050406030204" pitchFamily="18" charset="0"/>
                        <a:ea typeface="Calibri" pitchFamily="34" charset="-122"/>
                        <a:cs typeface="Calibri" pitchFamily="34" charset="-120"/>
                      </a:rPr>
                      <m:t>𝐺𝐶</m:t>
                    </m:r>
                    <m:sSub>
                      <m:sSubPr>
                        <m:ctrlPr>
                          <a:rPr lang="en-US" sz="1100" i="1" dirty="0" smtClean="0">
                            <a:solidFill>
                              <a:srgbClr val="F0C8C8"/>
                            </a:solidFill>
                            <a:latin typeface="Cambria Math" panose="02040503050406030204" pitchFamily="18" charset="0"/>
                            <a:ea typeface="Calibri" pitchFamily="34" charset="-122"/>
                            <a:cs typeface="Calibri" pitchFamily="34" charset="-120"/>
                          </a:rPr>
                        </m:ctrlPr>
                      </m:sSubPr>
                      <m:e>
                        <m:r>
                          <a:rPr lang="en-US" sz="1100" i="1" dirty="0" smtClean="0">
                            <a:solidFill>
                              <a:srgbClr val="F0C8C8"/>
                            </a:solidFill>
                            <a:latin typeface="Cambria Math" panose="02040503050406030204" pitchFamily="18" charset="0"/>
                            <a:ea typeface="Calibri" pitchFamily="34" charset="-122"/>
                            <a:cs typeface="Calibri" pitchFamily="34" charset="-120"/>
                          </a:rPr>
                          <m:t>𝑁</m:t>
                        </m:r>
                      </m:e>
                      <m:sub>
                        <m:r>
                          <a:rPr lang="en-US" sz="1100" i="1" dirty="0" smtClean="0">
                            <a:solidFill>
                              <a:srgbClr val="F0C8C8"/>
                            </a:solidFill>
                            <a:latin typeface="Cambria Math" panose="02040503050406030204" pitchFamily="18" charset="0"/>
                            <a:ea typeface="Calibri" pitchFamily="34" charset="-122"/>
                            <a:cs typeface="Calibri" pitchFamily="34" charset="-120"/>
                          </a:rPr>
                          <m:t>𝐶</m:t>
                        </m:r>
                      </m:sub>
                    </m:sSub>
                  </m:oMath>
                </a14:m>
                <a:r>
                  <a:rPr lang="en-US" sz="1100" dirty="0">
                    <a:solidFill>
                      <a:srgbClr val="F0C8C8"/>
                    </a:solidFill>
                    <a:latin typeface="Calibri" pitchFamily="34" charset="0"/>
                    <a:ea typeface="Calibri" pitchFamily="34" charset="-122"/>
                    <a:cs typeface="Calibri" pitchFamily="34" charset="-120"/>
                  </a:rPr>
                  <a:t> bằng kiến trúc phù hợp heterophily hơn, GRAPES có cải thiện thêm không?</a:t>
                </a:r>
                <a:endParaRPr lang="en-US" sz="1100" dirty="0"/>
              </a:p>
            </p:txBody>
          </p:sp>
        </mc:Choice>
        <mc:Fallback xmlns="">
          <p:sp>
            <p:nvSpPr>
              <p:cNvPr id="12" name="Text 10"/>
              <p:cNvSpPr>
                <a:spLocks noRot="1" noChangeAspect="1" noMove="1" noResize="1" noEditPoints="1" noAdjustHandles="1" noChangeArrowheads="1" noChangeShapeType="1" noTextEdit="1"/>
              </p:cNvSpPr>
              <p:nvPr/>
            </p:nvSpPr>
            <p:spPr>
              <a:xfrm>
                <a:off x="365760" y="2944368"/>
                <a:ext cx="2596896" cy="749808"/>
              </a:xfrm>
              <a:prstGeom prst="rect">
                <a:avLst/>
              </a:prstGeom>
              <a:blipFill>
                <a:blip r:embed="rId3"/>
                <a:stretch>
                  <a:fillRect/>
                </a:stretch>
              </a:blip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3" name="Text 11"/>
              <p:cNvSpPr/>
              <p:nvPr/>
            </p:nvSpPr>
            <p:spPr>
              <a:xfrm>
                <a:off x="365760" y="3749040"/>
                <a:ext cx="2596896" cy="749808"/>
              </a:xfrm>
              <a:prstGeom prst="rect">
                <a:avLst/>
              </a:prstGeom>
              <a:noFill/>
              <a:ln/>
            </p:spPr>
            <p:txBody>
              <a:bodyPr wrap="square" rtlCol="0" anchor="t"/>
              <a:lstStyle/>
              <a:p>
                <a:pPr marL="0" indent="0">
                  <a:buNone/>
                </a:pPr>
                <a:r>
                  <a:rPr lang="en-US" sz="1100" dirty="0">
                    <a:solidFill>
                      <a:srgbClr val="F0C8C8"/>
                    </a:solidFill>
                    <a:latin typeface="Calibri" pitchFamily="34" charset="0"/>
                    <a:ea typeface="Calibri" pitchFamily="34" charset="-122"/>
                    <a:cs typeface="Calibri" pitchFamily="34" charset="-120"/>
                  </a:rPr>
                  <a:t>Không xung đột với </a:t>
                </a:r>
                <a14:m>
                  <m:oMath xmlns:m="http://schemas.openxmlformats.org/officeDocument/2006/math">
                    <m:r>
                      <a:rPr lang="en-US" sz="1100" i="1" dirty="0" smtClean="0">
                        <a:solidFill>
                          <a:srgbClr val="F0C8C8"/>
                        </a:solidFill>
                        <a:latin typeface="Cambria Math" panose="02040503050406030204" pitchFamily="18" charset="0"/>
                        <a:ea typeface="Calibri" pitchFamily="34" charset="-122"/>
                        <a:cs typeface="Calibri" pitchFamily="34" charset="-120"/>
                      </a:rPr>
                      <m:t>𝐺𝐶</m:t>
                    </m:r>
                    <m:sSub>
                      <m:sSubPr>
                        <m:ctrlPr>
                          <a:rPr lang="en-US" sz="1100" i="1" dirty="0" smtClean="0">
                            <a:solidFill>
                              <a:srgbClr val="F0C8C8"/>
                            </a:solidFill>
                            <a:latin typeface="Cambria Math" panose="02040503050406030204" pitchFamily="18" charset="0"/>
                            <a:ea typeface="Calibri" pitchFamily="34" charset="-122"/>
                            <a:cs typeface="Calibri" pitchFamily="34" charset="-120"/>
                          </a:rPr>
                        </m:ctrlPr>
                      </m:sSubPr>
                      <m:e>
                        <m:r>
                          <a:rPr lang="en-US" sz="1100" i="1" dirty="0" smtClean="0">
                            <a:solidFill>
                              <a:srgbClr val="F0C8C8"/>
                            </a:solidFill>
                            <a:latin typeface="Cambria Math" panose="02040503050406030204" pitchFamily="18" charset="0"/>
                            <a:ea typeface="Calibri" pitchFamily="34" charset="-122"/>
                            <a:cs typeface="Calibri" pitchFamily="34" charset="-120"/>
                          </a:rPr>
                          <m:t>𝑁</m:t>
                        </m:r>
                      </m:e>
                      <m:sub>
                        <m:r>
                          <a:rPr lang="en-US" sz="1100" i="1" dirty="0" smtClean="0">
                            <a:solidFill>
                              <a:srgbClr val="F0C8C8"/>
                            </a:solidFill>
                            <a:latin typeface="Cambria Math" panose="02040503050406030204" pitchFamily="18" charset="0"/>
                            <a:ea typeface="Calibri" pitchFamily="34" charset="-122"/>
                            <a:cs typeface="Calibri" pitchFamily="34" charset="-120"/>
                          </a:rPr>
                          <m:t>𝑆</m:t>
                        </m:r>
                      </m:sub>
                    </m:sSub>
                  </m:oMath>
                </a14:m>
                <a:r>
                  <a:rPr lang="en-US" sz="1100" dirty="0">
                    <a:solidFill>
                      <a:srgbClr val="F0C8C8"/>
                    </a:solidFill>
                    <a:latin typeface="Calibri" pitchFamily="34" charset="0"/>
                    <a:ea typeface="Calibri" pitchFamily="34" charset="-122"/>
                    <a:cs typeface="Calibri" pitchFamily="34" charset="-120"/>
                  </a:rPr>
                  <a:t> và GFlowNet — thay module độc lập.</a:t>
                </a:r>
                <a:endParaRPr lang="en-US" sz="1100" dirty="0"/>
              </a:p>
            </p:txBody>
          </p:sp>
        </mc:Choice>
        <mc:Fallback xmlns="">
          <p:sp>
            <p:nvSpPr>
              <p:cNvPr id="13" name="Text 11"/>
              <p:cNvSpPr>
                <a:spLocks noRot="1" noChangeAspect="1" noMove="1" noResize="1" noEditPoints="1" noAdjustHandles="1" noChangeArrowheads="1" noChangeShapeType="1" noTextEdit="1"/>
              </p:cNvSpPr>
              <p:nvPr/>
            </p:nvSpPr>
            <p:spPr>
              <a:xfrm>
                <a:off x="365760" y="3749040"/>
                <a:ext cx="2596896" cy="749808"/>
              </a:xfrm>
              <a:prstGeom prst="rect">
                <a:avLst/>
              </a:prstGeom>
              <a:blipFill>
                <a:blip r:embed="rId4"/>
                <a:stretch>
                  <a:fillRect/>
                </a:stretch>
              </a:blipFill>
              <a:ln/>
            </p:spPr>
            <p:txBody>
              <a:bodyPr/>
              <a:lstStyle/>
              <a:p>
                <a:r>
                  <a:rPr lang="en-VN">
                    <a:noFill/>
                  </a:rPr>
                  <a:t> </a:t>
                </a:r>
              </a:p>
            </p:txBody>
          </p:sp>
        </mc:Fallback>
      </mc:AlternateContent>
      <p:sp>
        <p:nvSpPr>
          <p:cNvPr id="14" name="Shape 12"/>
          <p:cNvSpPr/>
          <p:nvPr/>
        </p:nvSpPr>
        <p:spPr>
          <a:xfrm>
            <a:off x="3163824" y="914400"/>
            <a:ext cx="2816352" cy="3895344"/>
          </a:xfrm>
          <a:prstGeom prst="rect">
            <a:avLst/>
          </a:prstGeom>
          <a:solidFill>
            <a:srgbClr val="1A0505"/>
          </a:solidFill>
          <a:ln w="22860">
            <a:solidFill>
              <a:srgbClr val="9B2226"/>
            </a:solidFill>
            <a:prstDash val="solid"/>
          </a:ln>
        </p:spPr>
        <p:txBody>
          <a:bodyPr/>
          <a:lstStyle/>
          <a:p>
            <a:endParaRPr lang="en-VN"/>
          </a:p>
        </p:txBody>
      </p:sp>
      <p:sp>
        <p:nvSpPr>
          <p:cNvPr id="15" name="Shape 13"/>
          <p:cNvSpPr/>
          <p:nvPr/>
        </p:nvSpPr>
        <p:spPr>
          <a:xfrm>
            <a:off x="3163824" y="914400"/>
            <a:ext cx="2816352" cy="347472"/>
          </a:xfrm>
          <a:prstGeom prst="rect">
            <a:avLst/>
          </a:prstGeom>
          <a:solidFill>
            <a:srgbClr val="9B2226"/>
          </a:solidFill>
          <a:ln w="12700">
            <a:solidFill>
              <a:srgbClr val="000000"/>
            </a:solidFill>
            <a:prstDash val="solid"/>
          </a:ln>
        </p:spPr>
        <p:txBody>
          <a:bodyPr/>
          <a:lstStyle/>
          <a:p>
            <a:endParaRPr lang="en-VN"/>
          </a:p>
        </p:txBody>
      </p:sp>
      <p:sp>
        <p:nvSpPr>
          <p:cNvPr id="16" name="Text 14"/>
          <p:cNvSpPr/>
          <p:nvPr/>
        </p:nvSpPr>
        <p:spPr>
          <a:xfrm>
            <a:off x="3236976" y="914400"/>
            <a:ext cx="2670048"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Đề xuất cụ thể</a:t>
            </a:r>
            <a:endParaRPr lang="en-US" sz="1200" dirty="0"/>
          </a:p>
        </p:txBody>
      </p:sp>
      <mc:AlternateContent xmlns:mc="http://schemas.openxmlformats.org/markup-compatibility/2006" xmlns:a14="http://schemas.microsoft.com/office/drawing/2010/main">
        <mc:Choice Requires="a14">
          <p:sp>
            <p:nvSpPr>
              <p:cNvPr id="17" name="Text 15"/>
              <p:cNvSpPr/>
              <p:nvPr/>
            </p:nvSpPr>
            <p:spPr>
              <a:xfrm>
                <a:off x="3273552" y="1335024"/>
                <a:ext cx="2596896" cy="749808"/>
              </a:xfrm>
              <a:prstGeom prst="rect">
                <a:avLst/>
              </a:prstGeom>
              <a:noFill/>
              <a:ln/>
            </p:spPr>
            <p:txBody>
              <a:bodyPr wrap="square" rtlCol="0" anchor="t"/>
              <a:lstStyle/>
              <a:p>
                <a:pPr marL="0" indent="0">
                  <a:buNone/>
                </a:pPr>
                <a:r>
                  <a:rPr lang="en-US" sz="1100" dirty="0">
                    <a:solidFill>
                      <a:srgbClr val="FDD8D8"/>
                    </a:solidFill>
                    <a:latin typeface="Calibri" pitchFamily="34" charset="0"/>
                    <a:ea typeface="Calibri" pitchFamily="34" charset="-122"/>
                    <a:cs typeface="Calibri" pitchFamily="34" charset="-120"/>
                  </a:rPr>
                  <a:t>① Bước 1: thay </a:t>
                </a:r>
                <a14:m>
                  <m:oMath xmlns:m="http://schemas.openxmlformats.org/officeDocument/2006/math">
                    <m:r>
                      <a:rPr lang="en-US" sz="1100" i="1" dirty="0" smtClean="0">
                        <a:solidFill>
                          <a:srgbClr val="FDD8D8"/>
                        </a:solidFill>
                        <a:latin typeface="Cambria Math" panose="02040503050406030204" pitchFamily="18" charset="0"/>
                        <a:ea typeface="Calibri" pitchFamily="34" charset="-122"/>
                        <a:cs typeface="Calibri" pitchFamily="34" charset="-120"/>
                      </a:rPr>
                      <m:t>𝐺𝐶</m:t>
                    </m:r>
                    <m:sSub>
                      <m:sSubPr>
                        <m:ctrlPr>
                          <a:rPr lang="en-US" sz="1100" i="1" dirty="0" smtClean="0">
                            <a:solidFill>
                              <a:srgbClr val="FDD8D8"/>
                            </a:solidFill>
                            <a:latin typeface="Cambria Math" panose="02040503050406030204" pitchFamily="18" charset="0"/>
                            <a:ea typeface="Calibri" pitchFamily="34" charset="-122"/>
                            <a:cs typeface="Calibri" pitchFamily="34" charset="-120"/>
                          </a:rPr>
                        </m:ctrlPr>
                      </m:sSubPr>
                      <m:e>
                        <m:r>
                          <a:rPr lang="en-US" sz="1100" i="1" dirty="0" smtClean="0">
                            <a:solidFill>
                              <a:srgbClr val="FDD8D8"/>
                            </a:solidFill>
                            <a:latin typeface="Cambria Math" panose="02040503050406030204" pitchFamily="18" charset="0"/>
                            <a:ea typeface="Calibri" pitchFamily="34" charset="-122"/>
                            <a:cs typeface="Calibri" pitchFamily="34" charset="-120"/>
                          </a:rPr>
                          <m:t>𝑁</m:t>
                        </m:r>
                      </m:e>
                      <m:sub>
                        <m:r>
                          <a:rPr lang="en-US" sz="1100" i="1" dirty="0" smtClean="0">
                            <a:solidFill>
                              <a:srgbClr val="FDD8D8"/>
                            </a:solidFill>
                            <a:latin typeface="Cambria Math" panose="02040503050406030204" pitchFamily="18" charset="0"/>
                            <a:ea typeface="Calibri" pitchFamily="34" charset="-122"/>
                            <a:cs typeface="Calibri" pitchFamily="34" charset="-120"/>
                          </a:rPr>
                          <m:t>𝐶</m:t>
                        </m:r>
                      </m:sub>
                    </m:sSub>
                  </m:oMath>
                </a14:m>
                <a:r>
                  <a:rPr lang="en-US" sz="1100" dirty="0">
                    <a:solidFill>
                      <a:srgbClr val="FDD8D8"/>
                    </a:solidFill>
                    <a:latin typeface="Calibri" pitchFamily="34" charset="0"/>
                    <a:ea typeface="Calibri" pitchFamily="34" charset="-122"/>
                    <a:cs typeface="Calibri" pitchFamily="34" charset="-120"/>
                  </a:rPr>
                  <a:t> bằng GAT (Graph Attention Network) — học trọng số lân cận.</a:t>
                </a:r>
                <a:endParaRPr lang="en-US" sz="1100" dirty="0"/>
              </a:p>
            </p:txBody>
          </p:sp>
        </mc:Choice>
        <mc:Fallback xmlns="">
          <p:sp>
            <p:nvSpPr>
              <p:cNvPr id="17" name="Text 15"/>
              <p:cNvSpPr>
                <a:spLocks noRot="1" noChangeAspect="1" noMove="1" noResize="1" noEditPoints="1" noAdjustHandles="1" noChangeArrowheads="1" noChangeShapeType="1" noTextEdit="1"/>
              </p:cNvSpPr>
              <p:nvPr/>
            </p:nvSpPr>
            <p:spPr>
              <a:xfrm>
                <a:off x="3273552" y="1335024"/>
                <a:ext cx="2596896" cy="749808"/>
              </a:xfrm>
              <a:prstGeom prst="rect">
                <a:avLst/>
              </a:prstGeom>
              <a:blipFill>
                <a:blip r:embed="rId5"/>
                <a:stretch>
                  <a:fillRect/>
                </a:stretch>
              </a:blipFill>
              <a:ln/>
            </p:spPr>
            <p:txBody>
              <a:bodyPr/>
              <a:lstStyle/>
              <a:p>
                <a:r>
                  <a:rPr lang="en-VN">
                    <a:noFill/>
                  </a:rPr>
                  <a:t> </a:t>
                </a:r>
              </a:p>
            </p:txBody>
          </p:sp>
        </mc:Fallback>
      </mc:AlternateContent>
      <p:sp>
        <p:nvSpPr>
          <p:cNvPr id="18" name="Text 16"/>
          <p:cNvSpPr/>
          <p:nvPr/>
        </p:nvSpPr>
        <p:spPr>
          <a:xfrm>
            <a:off x="3273552" y="2139696"/>
            <a:ext cx="2596896" cy="749808"/>
          </a:xfrm>
          <a:prstGeom prst="rect">
            <a:avLst/>
          </a:prstGeom>
          <a:noFill/>
          <a:ln/>
        </p:spPr>
        <p:txBody>
          <a:bodyPr wrap="square" rtlCol="0" anchor="t"/>
          <a:lstStyle/>
          <a:p>
            <a:pPr marL="0" indent="0">
              <a:buNone/>
            </a:pPr>
            <a:r>
              <a:rPr lang="en-US" sz="1100" dirty="0">
                <a:solidFill>
                  <a:srgbClr val="FDD8D8"/>
                </a:solidFill>
                <a:latin typeface="Calibri" pitchFamily="34" charset="0"/>
                <a:ea typeface="Calibri" pitchFamily="34" charset="-122"/>
                <a:cs typeface="Calibri" pitchFamily="34" charset="-120"/>
              </a:rPr>
              <a:t>② Test trên 5 heterophily: BlogCat, Yelp, ogbn-proteins, snap-patents, Penn94.</a:t>
            </a:r>
            <a:endParaRPr lang="en-US" sz="1100" dirty="0"/>
          </a:p>
        </p:txBody>
      </p:sp>
      <mc:AlternateContent xmlns:mc="http://schemas.openxmlformats.org/markup-compatibility/2006" xmlns:a14="http://schemas.microsoft.com/office/drawing/2010/main">
        <mc:Choice Requires="a14">
          <p:sp>
            <p:nvSpPr>
              <p:cNvPr id="19" name="Text 17"/>
              <p:cNvSpPr/>
              <p:nvPr/>
            </p:nvSpPr>
            <p:spPr>
              <a:xfrm>
                <a:off x="3273552" y="2944368"/>
                <a:ext cx="2596896" cy="749808"/>
              </a:xfrm>
              <a:prstGeom prst="rect">
                <a:avLst/>
              </a:prstGeom>
              <a:noFill/>
              <a:ln/>
            </p:spPr>
            <p:txBody>
              <a:bodyPr wrap="square" rtlCol="0" anchor="t"/>
              <a:lstStyle/>
              <a:p>
                <a:pPr marL="0" indent="0">
                  <a:buNone/>
                </a:pPr>
                <a:r>
                  <a:rPr lang="en-US" sz="1100" dirty="0">
                    <a:solidFill>
                      <a:srgbClr val="FDD8D8"/>
                    </a:solidFill>
                    <a:latin typeface="Calibri" pitchFamily="34" charset="0"/>
                    <a:ea typeface="Calibri" pitchFamily="34" charset="-122"/>
                    <a:cs typeface="Calibri" pitchFamily="34" charset="-120"/>
                  </a:rPr>
                  <a:t>③ Đo ΔF1 so với </a:t>
                </a:r>
                <a14:m>
                  <m:oMath xmlns:m="http://schemas.openxmlformats.org/officeDocument/2006/math">
                    <m:r>
                      <a:rPr lang="en-US" sz="1100" i="1" dirty="0" smtClean="0">
                        <a:solidFill>
                          <a:srgbClr val="FDD8D8"/>
                        </a:solidFill>
                        <a:latin typeface="Cambria Math" panose="02040503050406030204" pitchFamily="18" charset="0"/>
                        <a:ea typeface="Calibri" pitchFamily="34" charset="-122"/>
                        <a:cs typeface="Calibri" pitchFamily="34" charset="-120"/>
                      </a:rPr>
                      <m:t>𝐺𝐶</m:t>
                    </m:r>
                    <m:sSub>
                      <m:sSubPr>
                        <m:ctrlPr>
                          <a:rPr lang="en-US" sz="1100" i="1" dirty="0" smtClean="0">
                            <a:solidFill>
                              <a:srgbClr val="FDD8D8"/>
                            </a:solidFill>
                            <a:latin typeface="Cambria Math" panose="02040503050406030204" pitchFamily="18" charset="0"/>
                            <a:ea typeface="Calibri" pitchFamily="34" charset="-122"/>
                            <a:cs typeface="Calibri" pitchFamily="34" charset="-120"/>
                          </a:rPr>
                        </m:ctrlPr>
                      </m:sSubPr>
                      <m:e>
                        <m:r>
                          <a:rPr lang="en-US" sz="1100" i="1" dirty="0" smtClean="0">
                            <a:solidFill>
                              <a:srgbClr val="FDD8D8"/>
                            </a:solidFill>
                            <a:latin typeface="Cambria Math" panose="02040503050406030204" pitchFamily="18" charset="0"/>
                            <a:ea typeface="Calibri" pitchFamily="34" charset="-122"/>
                            <a:cs typeface="Calibri" pitchFamily="34" charset="-120"/>
                          </a:rPr>
                          <m:t>𝑁</m:t>
                        </m:r>
                      </m:e>
                      <m:sub>
                        <m:r>
                          <a:rPr lang="en-US" sz="1100" i="1" dirty="0" smtClean="0">
                            <a:solidFill>
                              <a:srgbClr val="FDD8D8"/>
                            </a:solidFill>
                            <a:latin typeface="Cambria Math" panose="02040503050406030204" pitchFamily="18" charset="0"/>
                            <a:ea typeface="Calibri" pitchFamily="34" charset="-122"/>
                            <a:cs typeface="Calibri" pitchFamily="34" charset="-120"/>
                          </a:rPr>
                          <m:t>𝐶</m:t>
                        </m:r>
                      </m:sub>
                    </m:sSub>
                  </m:oMath>
                </a14:m>
                <a:r>
                  <a:rPr lang="en-US" sz="1100" dirty="0">
                    <a:solidFill>
                      <a:srgbClr val="FDD8D8"/>
                    </a:solidFill>
                    <a:latin typeface="Calibri" pitchFamily="34" charset="0"/>
                    <a:ea typeface="Calibri" pitchFamily="34" charset="-122"/>
                    <a:cs typeface="Calibri" pitchFamily="34" charset="-120"/>
                  </a:rPr>
                  <a:t> baseline trong cùng framework GRAPES.</a:t>
                </a:r>
                <a:endParaRPr lang="en-US" sz="1100" dirty="0"/>
              </a:p>
            </p:txBody>
          </p:sp>
        </mc:Choice>
        <mc:Fallback xmlns="">
          <p:sp>
            <p:nvSpPr>
              <p:cNvPr id="19" name="Text 17"/>
              <p:cNvSpPr>
                <a:spLocks noRot="1" noChangeAspect="1" noMove="1" noResize="1" noEditPoints="1" noAdjustHandles="1" noChangeArrowheads="1" noChangeShapeType="1" noTextEdit="1"/>
              </p:cNvSpPr>
              <p:nvPr/>
            </p:nvSpPr>
            <p:spPr>
              <a:xfrm>
                <a:off x="3273552" y="2944368"/>
                <a:ext cx="2596896" cy="749808"/>
              </a:xfrm>
              <a:prstGeom prst="rect">
                <a:avLst/>
              </a:prstGeom>
              <a:blipFill>
                <a:blip r:embed="rId6"/>
                <a:stretch>
                  <a:fillRect/>
                </a:stretch>
              </a:blipFill>
              <a:ln/>
            </p:spPr>
            <p:txBody>
              <a:bodyPr/>
              <a:lstStyle/>
              <a:p>
                <a:r>
                  <a:rPr lang="en-VN">
                    <a:noFill/>
                  </a:rPr>
                  <a:t> </a:t>
                </a:r>
              </a:p>
            </p:txBody>
          </p:sp>
        </mc:Fallback>
      </mc:AlternateContent>
      <p:sp>
        <p:nvSpPr>
          <p:cNvPr id="20" name="Text 18"/>
          <p:cNvSpPr/>
          <p:nvPr/>
        </p:nvSpPr>
        <p:spPr>
          <a:xfrm>
            <a:off x="3273552" y="3749040"/>
            <a:ext cx="2596896" cy="749808"/>
          </a:xfrm>
          <a:prstGeom prst="rect">
            <a:avLst/>
          </a:prstGeom>
          <a:noFill/>
          <a:ln/>
        </p:spPr>
        <p:txBody>
          <a:bodyPr wrap="square" rtlCol="0" anchor="t"/>
          <a:lstStyle/>
          <a:p>
            <a:pPr marL="0" indent="0">
              <a:buNone/>
            </a:pPr>
            <a:r>
              <a:rPr lang="en-US" sz="1100" dirty="0">
                <a:solidFill>
                  <a:srgbClr val="FDD8D8"/>
                </a:solidFill>
                <a:latin typeface="Calibri" pitchFamily="34" charset="0"/>
                <a:ea typeface="Calibri" pitchFamily="34" charset="-122"/>
                <a:cs typeface="Calibri" pitchFamily="34" charset="-120"/>
              </a:rPr>
              <a:t>④ Bước 2: nếu tốt → thử H2GCN, FAGCN, MixHop.</a:t>
            </a:r>
            <a:endParaRPr lang="en-US" sz="1100" dirty="0"/>
          </a:p>
        </p:txBody>
      </p:sp>
      <p:sp>
        <p:nvSpPr>
          <p:cNvPr id="21" name="Shape 19"/>
          <p:cNvSpPr/>
          <p:nvPr/>
        </p:nvSpPr>
        <p:spPr>
          <a:xfrm>
            <a:off x="6071616" y="914400"/>
            <a:ext cx="2816352" cy="3895344"/>
          </a:xfrm>
          <a:prstGeom prst="rect">
            <a:avLst/>
          </a:prstGeom>
          <a:solidFill>
            <a:srgbClr val="1A0505"/>
          </a:solidFill>
          <a:ln w="22860">
            <a:solidFill>
              <a:srgbClr val="1A8C4E"/>
            </a:solidFill>
            <a:prstDash val="solid"/>
          </a:ln>
        </p:spPr>
        <p:txBody>
          <a:bodyPr/>
          <a:lstStyle/>
          <a:p>
            <a:endParaRPr lang="en-VN" dirty="0"/>
          </a:p>
        </p:txBody>
      </p:sp>
      <p:sp>
        <p:nvSpPr>
          <p:cNvPr id="22" name="Shape 20"/>
          <p:cNvSpPr/>
          <p:nvPr/>
        </p:nvSpPr>
        <p:spPr>
          <a:xfrm>
            <a:off x="6071616" y="914400"/>
            <a:ext cx="2816352" cy="347472"/>
          </a:xfrm>
          <a:prstGeom prst="rect">
            <a:avLst/>
          </a:prstGeom>
          <a:solidFill>
            <a:srgbClr val="1A8C4E"/>
          </a:solidFill>
          <a:ln w="12700">
            <a:solidFill>
              <a:srgbClr val="000000"/>
            </a:solidFill>
            <a:prstDash val="solid"/>
          </a:ln>
        </p:spPr>
        <p:txBody>
          <a:bodyPr/>
          <a:lstStyle/>
          <a:p>
            <a:endParaRPr lang="en-VN"/>
          </a:p>
        </p:txBody>
      </p:sp>
      <p:sp>
        <p:nvSpPr>
          <p:cNvPr id="23" name="Text 21"/>
          <p:cNvSpPr/>
          <p:nvPr/>
        </p:nvSpPr>
        <p:spPr>
          <a:xfrm>
            <a:off x="6144768" y="914400"/>
            <a:ext cx="2670048"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Tính khả thi</a:t>
            </a:r>
            <a:endParaRPr lang="en-US" sz="1200" dirty="0"/>
          </a:p>
        </p:txBody>
      </p:sp>
      <p:sp>
        <p:nvSpPr>
          <p:cNvPr id="24" name="Text 22"/>
          <p:cNvSpPr/>
          <p:nvPr/>
        </p:nvSpPr>
        <p:spPr>
          <a:xfrm>
            <a:off x="6181344" y="1335024"/>
            <a:ext cx="2596896" cy="749808"/>
          </a:xfrm>
          <a:prstGeom prst="rect">
            <a:avLst/>
          </a:prstGeom>
          <a:noFill/>
          <a:ln/>
        </p:spPr>
        <p:txBody>
          <a:bodyPr wrap="square" rtlCol="0" anchor="t"/>
          <a:lstStyle/>
          <a:p>
            <a:pPr marL="0" indent="0">
              <a:buNone/>
            </a:pPr>
            <a:r>
              <a:rPr lang="en-US" sz="1100" dirty="0">
                <a:solidFill>
                  <a:srgbClr val="B0E8C4"/>
                </a:solidFill>
                <a:latin typeface="Calibri" pitchFamily="34" charset="0"/>
                <a:ea typeface="Calibri" pitchFamily="34" charset="-122"/>
                <a:cs typeface="Calibri" pitchFamily="34" charset="-120"/>
              </a:rPr>
              <a:t>● GAT có sẵn trong </a:t>
            </a:r>
            <a:r>
              <a:rPr lang="en-US" sz="1100" dirty="0" err="1">
                <a:solidFill>
                  <a:srgbClr val="B0E8C4"/>
                </a:solidFill>
                <a:latin typeface="Calibri" pitchFamily="34" charset="0"/>
                <a:ea typeface="Calibri" pitchFamily="34" charset="-122"/>
                <a:cs typeface="Calibri" pitchFamily="34" charset="-120"/>
              </a:rPr>
              <a:t>PyTorch</a:t>
            </a:r>
            <a:r>
              <a:rPr lang="en-US" sz="1100" dirty="0">
                <a:solidFill>
                  <a:srgbClr val="B0E8C4"/>
                </a:solidFill>
                <a:latin typeface="Calibri" pitchFamily="34" charset="0"/>
                <a:ea typeface="Calibri" pitchFamily="34" charset="-122"/>
                <a:cs typeface="Calibri" pitchFamily="34" charset="-120"/>
              </a:rPr>
              <a:t> Geometric.</a:t>
            </a:r>
            <a:endParaRPr lang="en-US" sz="1100" dirty="0"/>
          </a:p>
        </p:txBody>
      </p:sp>
      <mc:AlternateContent xmlns:mc="http://schemas.openxmlformats.org/markup-compatibility/2006" xmlns:a14="http://schemas.microsoft.com/office/drawing/2010/main">
        <mc:Choice Requires="a14">
          <p:sp>
            <p:nvSpPr>
              <p:cNvPr id="25" name="Text 23"/>
              <p:cNvSpPr/>
              <p:nvPr/>
            </p:nvSpPr>
            <p:spPr>
              <a:xfrm>
                <a:off x="6181344" y="2139696"/>
                <a:ext cx="2596896" cy="749808"/>
              </a:xfrm>
              <a:prstGeom prst="rect">
                <a:avLst/>
              </a:prstGeom>
              <a:noFill/>
              <a:ln/>
            </p:spPr>
            <p:txBody>
              <a:bodyPr wrap="square" rtlCol="0" anchor="t"/>
              <a:lstStyle/>
              <a:p>
                <a:pPr marL="0" indent="0">
                  <a:buNone/>
                </a:pPr>
                <a:r>
                  <a:rPr lang="en-US" sz="1100" dirty="0">
                    <a:solidFill>
                      <a:srgbClr val="B0E8C4"/>
                    </a:solidFill>
                    <a:latin typeface="Calibri" pitchFamily="34" charset="0"/>
                    <a:ea typeface="Calibri" pitchFamily="34" charset="-122"/>
                    <a:cs typeface="Calibri" pitchFamily="34" charset="-120"/>
                  </a:rPr>
                  <a:t>● </a:t>
                </a:r>
                <a14:m>
                  <m:oMath xmlns:m="http://schemas.openxmlformats.org/officeDocument/2006/math">
                    <m:r>
                      <a:rPr lang="en-US" sz="1100" i="1" dirty="0" smtClean="0">
                        <a:solidFill>
                          <a:srgbClr val="B0E8C4"/>
                        </a:solidFill>
                        <a:latin typeface="Cambria Math" panose="02040503050406030204" pitchFamily="18" charset="0"/>
                        <a:ea typeface="Calibri" pitchFamily="34" charset="-122"/>
                        <a:cs typeface="Calibri" pitchFamily="34" charset="-120"/>
                      </a:rPr>
                      <m:t>𝐺𝐶</m:t>
                    </m:r>
                    <m:sSub>
                      <m:sSubPr>
                        <m:ctrlPr>
                          <a:rPr lang="en-US" sz="1100" i="1" dirty="0" smtClean="0">
                            <a:solidFill>
                              <a:srgbClr val="B0E8C4"/>
                            </a:solidFill>
                            <a:latin typeface="Cambria Math" panose="02040503050406030204" pitchFamily="18" charset="0"/>
                            <a:ea typeface="Calibri" pitchFamily="34" charset="-122"/>
                            <a:cs typeface="Calibri" pitchFamily="34" charset="-120"/>
                          </a:rPr>
                        </m:ctrlPr>
                      </m:sSubPr>
                      <m:e>
                        <m:r>
                          <a:rPr lang="en-US" sz="1100" i="1" dirty="0" smtClean="0">
                            <a:solidFill>
                              <a:srgbClr val="B0E8C4"/>
                            </a:solidFill>
                            <a:latin typeface="Cambria Math" panose="02040503050406030204" pitchFamily="18" charset="0"/>
                            <a:ea typeface="Calibri" pitchFamily="34" charset="-122"/>
                            <a:cs typeface="Calibri" pitchFamily="34" charset="-120"/>
                          </a:rPr>
                          <m:t>𝑁</m:t>
                        </m:r>
                      </m:e>
                      <m:sub>
                        <m:r>
                          <a:rPr lang="en-US" sz="1100" i="1" dirty="0" smtClean="0">
                            <a:solidFill>
                              <a:srgbClr val="B0E8C4"/>
                            </a:solidFill>
                            <a:latin typeface="Cambria Math" panose="02040503050406030204" pitchFamily="18" charset="0"/>
                            <a:ea typeface="Calibri" pitchFamily="34" charset="-122"/>
                            <a:cs typeface="Calibri" pitchFamily="34" charset="-120"/>
                          </a:rPr>
                          <m:t>𝐶</m:t>
                        </m:r>
                      </m:sub>
                    </m:sSub>
                  </m:oMath>
                </a14:m>
                <a:r>
                  <a:rPr lang="en-US" sz="1100" dirty="0">
                    <a:solidFill>
                      <a:srgbClr val="B0E8C4"/>
                    </a:solidFill>
                    <a:latin typeface="Calibri" pitchFamily="34" charset="0"/>
                    <a:ea typeface="Calibri" pitchFamily="34" charset="-122"/>
                    <a:cs typeface="Calibri" pitchFamily="34" charset="-120"/>
                  </a:rPr>
                  <a:t> là module độc lập trong codebase — thay thế không ảnh hưởng </a:t>
                </a:r>
                <a14:m>
                  <m:oMath xmlns:m="http://schemas.openxmlformats.org/officeDocument/2006/math">
                    <m:r>
                      <a:rPr lang="en-US" sz="1100" i="1" dirty="0" smtClean="0">
                        <a:solidFill>
                          <a:srgbClr val="B0E8C4"/>
                        </a:solidFill>
                        <a:latin typeface="Cambria Math" panose="02040503050406030204" pitchFamily="18" charset="0"/>
                        <a:ea typeface="Calibri" pitchFamily="34" charset="-122"/>
                        <a:cs typeface="Calibri" pitchFamily="34" charset="-120"/>
                      </a:rPr>
                      <m:t>𝐺𝐶</m:t>
                    </m:r>
                    <m:sSub>
                      <m:sSubPr>
                        <m:ctrlPr>
                          <a:rPr lang="en-US" sz="1100" i="1" dirty="0" smtClean="0">
                            <a:solidFill>
                              <a:srgbClr val="B0E8C4"/>
                            </a:solidFill>
                            <a:latin typeface="Cambria Math" panose="02040503050406030204" pitchFamily="18" charset="0"/>
                            <a:ea typeface="Calibri" pitchFamily="34" charset="-122"/>
                            <a:cs typeface="Calibri" pitchFamily="34" charset="-120"/>
                          </a:rPr>
                        </m:ctrlPr>
                      </m:sSubPr>
                      <m:e>
                        <m:r>
                          <a:rPr lang="en-US" sz="1100" i="1" dirty="0" smtClean="0">
                            <a:solidFill>
                              <a:srgbClr val="B0E8C4"/>
                            </a:solidFill>
                            <a:latin typeface="Cambria Math" panose="02040503050406030204" pitchFamily="18" charset="0"/>
                            <a:ea typeface="Calibri" pitchFamily="34" charset="-122"/>
                            <a:cs typeface="Calibri" pitchFamily="34" charset="-120"/>
                          </a:rPr>
                          <m:t>𝑁</m:t>
                        </m:r>
                      </m:e>
                      <m:sub>
                        <m:r>
                          <a:rPr lang="en-US" sz="1100" i="1" dirty="0" smtClean="0">
                            <a:solidFill>
                              <a:srgbClr val="B0E8C4"/>
                            </a:solidFill>
                            <a:latin typeface="Cambria Math" panose="02040503050406030204" pitchFamily="18" charset="0"/>
                            <a:ea typeface="Calibri" pitchFamily="34" charset="-122"/>
                            <a:cs typeface="Calibri" pitchFamily="34" charset="-120"/>
                          </a:rPr>
                          <m:t>𝑆</m:t>
                        </m:r>
                      </m:sub>
                    </m:sSub>
                  </m:oMath>
                </a14:m>
                <a:r>
                  <a:rPr lang="en-US" sz="1100" dirty="0">
                    <a:solidFill>
                      <a:srgbClr val="B0E8C4"/>
                    </a:solidFill>
                    <a:latin typeface="Calibri" pitchFamily="34" charset="0"/>
                    <a:ea typeface="Calibri" pitchFamily="34" charset="-122"/>
                    <a:cs typeface="Calibri" pitchFamily="34" charset="-120"/>
                  </a:rPr>
                  <a:t>.</a:t>
                </a:r>
                <a:endParaRPr lang="en-US" sz="1100" dirty="0"/>
              </a:p>
            </p:txBody>
          </p:sp>
        </mc:Choice>
        <mc:Fallback xmlns="">
          <p:sp>
            <p:nvSpPr>
              <p:cNvPr id="25" name="Text 23"/>
              <p:cNvSpPr>
                <a:spLocks noRot="1" noChangeAspect="1" noMove="1" noResize="1" noEditPoints="1" noAdjustHandles="1" noChangeArrowheads="1" noChangeShapeType="1" noTextEdit="1"/>
              </p:cNvSpPr>
              <p:nvPr/>
            </p:nvSpPr>
            <p:spPr>
              <a:xfrm>
                <a:off x="6181344" y="2139696"/>
                <a:ext cx="2596896" cy="749808"/>
              </a:xfrm>
              <a:prstGeom prst="rect">
                <a:avLst/>
              </a:prstGeom>
              <a:blipFill>
                <a:blip r:embed="rId7"/>
                <a:stretch>
                  <a:fillRect r="-485"/>
                </a:stretch>
              </a:blipFill>
              <a:ln/>
            </p:spPr>
            <p:txBody>
              <a:bodyPr/>
              <a:lstStyle/>
              <a:p>
                <a:r>
                  <a:rPr lang="en-VN">
                    <a:noFill/>
                  </a:rPr>
                  <a:t> </a:t>
                </a:r>
              </a:p>
            </p:txBody>
          </p:sp>
        </mc:Fallback>
      </mc:AlternateContent>
      <p:sp>
        <p:nvSpPr>
          <p:cNvPr id="26" name="Text 24"/>
          <p:cNvSpPr/>
          <p:nvPr/>
        </p:nvSpPr>
        <p:spPr>
          <a:xfrm>
            <a:off x="6181344" y="2944368"/>
            <a:ext cx="2596896" cy="749808"/>
          </a:xfrm>
          <a:prstGeom prst="rect">
            <a:avLst/>
          </a:prstGeom>
          <a:noFill/>
          <a:ln/>
        </p:spPr>
        <p:txBody>
          <a:bodyPr wrap="square" rtlCol="0" anchor="t"/>
          <a:lstStyle/>
          <a:p>
            <a:pPr marL="0" indent="0">
              <a:buNone/>
            </a:pPr>
            <a:r>
              <a:rPr lang="en-US" sz="1100" dirty="0">
                <a:solidFill>
                  <a:srgbClr val="B0E8C4"/>
                </a:solidFill>
                <a:latin typeface="Calibri" pitchFamily="34" charset="0"/>
                <a:ea typeface="Calibri" pitchFamily="34" charset="-122"/>
                <a:cs typeface="Calibri" pitchFamily="34" charset="-120"/>
              </a:rPr>
              <a:t>● 5 heterophily datasets đã được setup ở giai đoạn 1.</a:t>
            </a:r>
            <a:endParaRPr lang="en-US" sz="1100" dirty="0"/>
          </a:p>
        </p:txBody>
      </p:sp>
      <p:sp>
        <p:nvSpPr>
          <p:cNvPr id="27" name="Text 25"/>
          <p:cNvSpPr/>
          <p:nvPr/>
        </p:nvSpPr>
        <p:spPr>
          <a:xfrm>
            <a:off x="6181344" y="3749040"/>
            <a:ext cx="2596896" cy="749808"/>
          </a:xfrm>
          <a:prstGeom prst="rect">
            <a:avLst/>
          </a:prstGeom>
          <a:noFill/>
          <a:ln/>
        </p:spPr>
        <p:txBody>
          <a:bodyPr wrap="square" rtlCol="0" anchor="t"/>
          <a:lstStyle/>
          <a:p>
            <a:pPr marL="0" indent="0">
              <a:buNone/>
            </a:pPr>
            <a:r>
              <a:rPr lang="en-US" sz="1100" dirty="0">
                <a:solidFill>
                  <a:srgbClr val="B0E8C4"/>
                </a:solidFill>
                <a:latin typeface="Calibri" pitchFamily="34" charset="0"/>
                <a:ea typeface="Calibri" pitchFamily="34" charset="-122"/>
                <a:cs typeface="Calibri" pitchFamily="34" charset="-120"/>
              </a:rPr>
              <a:t>● Rủi ro thấp: nếu GAT không cải thiện, kết quả đó tự nó là đóng góp mới.</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Giai Đoạn 2: GRAPES Áp Dụng Cho Hệ Thống Gợi Ý</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26 / 29</a:t>
            </a:r>
            <a:endParaRPr lang="en-US" sz="1000" dirty="0"/>
          </a:p>
        </p:txBody>
      </p:sp>
      <p:sp>
        <p:nvSpPr>
          <p:cNvPr id="5" name="Text 3"/>
          <p:cNvSpPr/>
          <p:nvPr/>
        </p:nvSpPr>
        <p:spPr>
          <a:xfrm>
            <a:off x="256032" y="914400"/>
            <a:ext cx="4206240" cy="329184"/>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Bộ Dữ Liệu: Amazon Reviews'23 (McAuley Lab, UCSD)</a:t>
            </a:r>
            <a:endParaRPr lang="en-US" sz="1200" dirty="0"/>
          </a:p>
        </p:txBody>
      </p:sp>
      <p:sp>
        <p:nvSpPr>
          <p:cNvPr id="6" name="Shape 4"/>
          <p:cNvSpPr/>
          <p:nvPr/>
        </p:nvSpPr>
        <p:spPr>
          <a:xfrm>
            <a:off x="256032" y="1280160"/>
            <a:ext cx="4206240" cy="1737360"/>
          </a:xfrm>
          <a:prstGeom prst="rect">
            <a:avLst/>
          </a:prstGeom>
          <a:solidFill>
            <a:srgbClr val="EAF4FB"/>
          </a:solidFill>
          <a:ln w="15240">
            <a:solidFill>
              <a:srgbClr val="1C7293"/>
            </a:solidFill>
            <a:prstDash val="solid"/>
          </a:ln>
        </p:spPr>
        <p:txBody>
          <a:bodyPr/>
          <a:lstStyle/>
          <a:p>
            <a:endParaRPr lang="en-VN"/>
          </a:p>
        </p:txBody>
      </p:sp>
      <p:sp>
        <p:nvSpPr>
          <p:cNvPr id="7" name="Shape 5"/>
          <p:cNvSpPr/>
          <p:nvPr/>
        </p:nvSpPr>
        <p:spPr>
          <a:xfrm>
            <a:off x="256032" y="1280160"/>
            <a:ext cx="4206240" cy="310896"/>
          </a:xfrm>
          <a:prstGeom prst="rect">
            <a:avLst/>
          </a:prstGeom>
          <a:solidFill>
            <a:srgbClr val="065A82"/>
          </a:solidFill>
          <a:ln w="12700">
            <a:solidFill>
              <a:srgbClr val="000000"/>
            </a:solidFill>
            <a:prstDash val="solid"/>
          </a:ln>
        </p:spPr>
        <p:txBody>
          <a:bodyPr/>
          <a:lstStyle/>
          <a:p>
            <a:endParaRPr lang="en-VN"/>
          </a:p>
        </p:txBody>
      </p:sp>
      <p:sp>
        <p:nvSpPr>
          <p:cNvPr id="8" name="Text 6"/>
          <p:cNvSpPr/>
          <p:nvPr/>
        </p:nvSpPr>
        <p:spPr>
          <a:xfrm>
            <a:off x="256032" y="1280160"/>
            <a:ext cx="960120" cy="31089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Danh mục</a:t>
            </a:r>
            <a:endParaRPr lang="en-US" sz="950" dirty="0"/>
          </a:p>
        </p:txBody>
      </p:sp>
      <p:sp>
        <p:nvSpPr>
          <p:cNvPr id="9" name="Text 7"/>
          <p:cNvSpPr/>
          <p:nvPr/>
        </p:nvSpPr>
        <p:spPr>
          <a:xfrm>
            <a:off x="1216152" y="1280160"/>
            <a:ext cx="731520" cy="31089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#User</a:t>
            </a:r>
            <a:endParaRPr lang="en-US" sz="950" dirty="0"/>
          </a:p>
        </p:txBody>
      </p:sp>
      <p:sp>
        <p:nvSpPr>
          <p:cNvPr id="10" name="Text 8"/>
          <p:cNvSpPr/>
          <p:nvPr/>
        </p:nvSpPr>
        <p:spPr>
          <a:xfrm>
            <a:off x="1947672" y="1280160"/>
            <a:ext cx="749808" cy="31089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#Item</a:t>
            </a:r>
            <a:endParaRPr lang="en-US" sz="950" dirty="0"/>
          </a:p>
        </p:txBody>
      </p:sp>
      <p:sp>
        <p:nvSpPr>
          <p:cNvPr id="11" name="Text 9"/>
          <p:cNvSpPr/>
          <p:nvPr/>
        </p:nvSpPr>
        <p:spPr>
          <a:xfrm>
            <a:off x="2697480" y="1280160"/>
            <a:ext cx="822960" cy="31089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#Rating</a:t>
            </a:r>
            <a:endParaRPr lang="en-US" sz="950" dirty="0"/>
          </a:p>
        </p:txBody>
      </p:sp>
      <p:sp>
        <p:nvSpPr>
          <p:cNvPr id="12" name="Text 10"/>
          <p:cNvSpPr/>
          <p:nvPr/>
        </p:nvSpPr>
        <p:spPr>
          <a:xfrm>
            <a:off x="3520440" y="1280160"/>
            <a:ext cx="941832" cy="31089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Đặc điểm</a:t>
            </a:r>
            <a:endParaRPr lang="en-US" sz="950" dirty="0"/>
          </a:p>
        </p:txBody>
      </p:sp>
      <p:sp>
        <p:nvSpPr>
          <p:cNvPr id="13" name="Shape 11"/>
          <p:cNvSpPr/>
          <p:nvPr/>
        </p:nvSpPr>
        <p:spPr>
          <a:xfrm>
            <a:off x="256032" y="1591056"/>
            <a:ext cx="4206240" cy="475488"/>
          </a:xfrm>
          <a:prstGeom prst="rect">
            <a:avLst/>
          </a:prstGeom>
          <a:solidFill>
            <a:srgbClr val="FFFFFF"/>
          </a:solidFill>
          <a:ln w="6350">
            <a:solidFill>
              <a:srgbClr val="1C7293"/>
            </a:solidFill>
            <a:prstDash val="solid"/>
          </a:ln>
        </p:spPr>
        <p:txBody>
          <a:bodyPr/>
          <a:lstStyle/>
          <a:p>
            <a:endParaRPr lang="en-VN"/>
          </a:p>
        </p:txBody>
      </p:sp>
      <p:sp>
        <p:nvSpPr>
          <p:cNvPr id="14" name="Text 12"/>
          <p:cNvSpPr/>
          <p:nvPr/>
        </p:nvSpPr>
        <p:spPr>
          <a:xfrm>
            <a:off x="292608" y="1591056"/>
            <a:ext cx="923544" cy="475488"/>
          </a:xfrm>
          <a:prstGeom prst="rect">
            <a:avLst/>
          </a:prstGeom>
          <a:noFill/>
          <a:ln/>
        </p:spPr>
        <p:txBody>
          <a:bodyPr wrap="square" rtlCol="0" anchor="ctr"/>
          <a:lstStyle/>
          <a:p>
            <a:pPr marL="0" indent="0" algn="l">
              <a:buNone/>
            </a:pPr>
            <a:r>
              <a:rPr lang="en-US" sz="950" dirty="0">
                <a:solidFill>
                  <a:srgbClr val="1A2B3C"/>
                </a:solidFill>
                <a:latin typeface="Calibri" pitchFamily="34" charset="0"/>
                <a:ea typeface="Calibri" pitchFamily="34" charset="-122"/>
                <a:cs typeface="Calibri" pitchFamily="34" charset="-120"/>
              </a:rPr>
              <a:t>Books</a:t>
            </a:r>
            <a:endParaRPr lang="en-US" sz="950" dirty="0"/>
          </a:p>
        </p:txBody>
      </p:sp>
      <p:sp>
        <p:nvSpPr>
          <p:cNvPr id="15" name="Text 13"/>
          <p:cNvSpPr/>
          <p:nvPr/>
        </p:nvSpPr>
        <p:spPr>
          <a:xfrm>
            <a:off x="1252728" y="1591056"/>
            <a:ext cx="694944" cy="475488"/>
          </a:xfrm>
          <a:prstGeom prst="rect">
            <a:avLst/>
          </a:prstGeom>
          <a:noFill/>
          <a:ln/>
        </p:spPr>
        <p:txBody>
          <a:bodyPr wrap="square"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10.3M</a:t>
            </a:r>
            <a:endParaRPr lang="en-US" sz="950" dirty="0"/>
          </a:p>
        </p:txBody>
      </p:sp>
      <p:sp>
        <p:nvSpPr>
          <p:cNvPr id="16" name="Text 14"/>
          <p:cNvSpPr/>
          <p:nvPr/>
        </p:nvSpPr>
        <p:spPr>
          <a:xfrm>
            <a:off x="1984248" y="1591056"/>
            <a:ext cx="713232" cy="475488"/>
          </a:xfrm>
          <a:prstGeom prst="rect">
            <a:avLst/>
          </a:prstGeom>
          <a:noFill/>
          <a:ln/>
        </p:spPr>
        <p:txBody>
          <a:bodyPr wrap="square"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4.4M</a:t>
            </a:r>
            <a:endParaRPr lang="en-US" sz="950" dirty="0"/>
          </a:p>
        </p:txBody>
      </p:sp>
      <p:sp>
        <p:nvSpPr>
          <p:cNvPr id="17" name="Text 15"/>
          <p:cNvSpPr/>
          <p:nvPr/>
        </p:nvSpPr>
        <p:spPr>
          <a:xfrm>
            <a:off x="2734056" y="1591056"/>
            <a:ext cx="786384" cy="475488"/>
          </a:xfrm>
          <a:prstGeom prst="rect">
            <a:avLst/>
          </a:prstGeom>
          <a:noFill/>
          <a:ln/>
        </p:spPr>
        <p:txBody>
          <a:bodyPr wrap="square"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29.5M</a:t>
            </a:r>
            <a:endParaRPr lang="en-US" sz="950" dirty="0"/>
          </a:p>
        </p:txBody>
      </p:sp>
      <p:sp>
        <p:nvSpPr>
          <p:cNvPr id="18" name="Text 16"/>
          <p:cNvSpPr/>
          <p:nvPr/>
        </p:nvSpPr>
        <p:spPr>
          <a:xfrm>
            <a:off x="3557016" y="1591056"/>
            <a:ext cx="905256" cy="475488"/>
          </a:xfrm>
          <a:prstGeom prst="rect">
            <a:avLst/>
          </a:prstGeom>
          <a:noFill/>
          <a:ln/>
        </p:spPr>
        <p:txBody>
          <a:bodyPr wrap="square"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Văn bản, thưa</a:t>
            </a:r>
            <a:endParaRPr lang="en-US" sz="950" dirty="0"/>
          </a:p>
        </p:txBody>
      </p:sp>
      <p:sp>
        <p:nvSpPr>
          <p:cNvPr id="19" name="Shape 17"/>
          <p:cNvSpPr/>
          <p:nvPr/>
        </p:nvSpPr>
        <p:spPr>
          <a:xfrm>
            <a:off x="256032" y="2066544"/>
            <a:ext cx="4206240" cy="475488"/>
          </a:xfrm>
          <a:prstGeom prst="rect">
            <a:avLst/>
          </a:prstGeom>
          <a:solidFill>
            <a:srgbClr val="F0F7FF"/>
          </a:solidFill>
          <a:ln w="6350">
            <a:solidFill>
              <a:srgbClr val="1C7293"/>
            </a:solidFill>
            <a:prstDash val="solid"/>
          </a:ln>
        </p:spPr>
        <p:txBody>
          <a:bodyPr/>
          <a:lstStyle/>
          <a:p>
            <a:endParaRPr lang="en-VN" dirty="0"/>
          </a:p>
        </p:txBody>
      </p:sp>
      <p:sp>
        <p:nvSpPr>
          <p:cNvPr id="20" name="Text 18"/>
          <p:cNvSpPr/>
          <p:nvPr/>
        </p:nvSpPr>
        <p:spPr>
          <a:xfrm>
            <a:off x="292608" y="2066544"/>
            <a:ext cx="923544" cy="475488"/>
          </a:xfrm>
          <a:prstGeom prst="rect">
            <a:avLst/>
          </a:prstGeom>
          <a:noFill/>
          <a:ln/>
        </p:spPr>
        <p:txBody>
          <a:bodyPr wrap="square" rtlCol="0" anchor="ctr"/>
          <a:lstStyle/>
          <a:p>
            <a:pPr marL="0" indent="0" algn="l">
              <a:buNone/>
            </a:pPr>
            <a:r>
              <a:rPr lang="en-US" sz="950" dirty="0">
                <a:solidFill>
                  <a:srgbClr val="1A2B3C"/>
                </a:solidFill>
                <a:latin typeface="Calibri" pitchFamily="34" charset="0"/>
                <a:ea typeface="Calibri" pitchFamily="34" charset="-122"/>
                <a:cs typeface="Calibri" pitchFamily="34" charset="-120"/>
              </a:rPr>
              <a:t>Clothing</a:t>
            </a:r>
            <a:endParaRPr lang="en-US" sz="950" dirty="0"/>
          </a:p>
        </p:txBody>
      </p:sp>
      <p:sp>
        <p:nvSpPr>
          <p:cNvPr id="21" name="Text 19"/>
          <p:cNvSpPr/>
          <p:nvPr/>
        </p:nvSpPr>
        <p:spPr>
          <a:xfrm>
            <a:off x="1252728" y="2066544"/>
            <a:ext cx="694944" cy="475488"/>
          </a:xfrm>
          <a:prstGeom prst="rect">
            <a:avLst/>
          </a:prstGeom>
          <a:noFill/>
          <a:ln/>
        </p:spPr>
        <p:txBody>
          <a:bodyPr wrap="square"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22.6M</a:t>
            </a:r>
            <a:endParaRPr lang="en-US" sz="950" dirty="0"/>
          </a:p>
        </p:txBody>
      </p:sp>
      <p:sp>
        <p:nvSpPr>
          <p:cNvPr id="22" name="Text 20"/>
          <p:cNvSpPr/>
          <p:nvPr/>
        </p:nvSpPr>
        <p:spPr>
          <a:xfrm>
            <a:off x="1984248" y="2066544"/>
            <a:ext cx="713232" cy="475488"/>
          </a:xfrm>
          <a:prstGeom prst="rect">
            <a:avLst/>
          </a:prstGeom>
          <a:noFill/>
          <a:ln/>
        </p:spPr>
        <p:txBody>
          <a:bodyPr wrap="square"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7.2M</a:t>
            </a:r>
            <a:endParaRPr lang="en-US" sz="950" dirty="0"/>
          </a:p>
        </p:txBody>
      </p:sp>
      <p:sp>
        <p:nvSpPr>
          <p:cNvPr id="23" name="Text 21"/>
          <p:cNvSpPr/>
          <p:nvPr/>
        </p:nvSpPr>
        <p:spPr>
          <a:xfrm>
            <a:off x="2734056" y="2066544"/>
            <a:ext cx="786384" cy="475488"/>
          </a:xfrm>
          <a:prstGeom prst="rect">
            <a:avLst/>
          </a:prstGeom>
          <a:noFill/>
          <a:ln/>
        </p:spPr>
        <p:txBody>
          <a:bodyPr wrap="square"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66.0M</a:t>
            </a:r>
            <a:endParaRPr lang="en-US" sz="950" dirty="0"/>
          </a:p>
        </p:txBody>
      </p:sp>
      <p:sp>
        <p:nvSpPr>
          <p:cNvPr id="24" name="Text 22"/>
          <p:cNvSpPr/>
          <p:nvPr/>
        </p:nvSpPr>
        <p:spPr>
          <a:xfrm>
            <a:off x="3557016" y="2066544"/>
            <a:ext cx="905256" cy="475488"/>
          </a:xfrm>
          <a:prstGeom prst="rect">
            <a:avLst/>
          </a:prstGeom>
          <a:noFill/>
          <a:ln/>
        </p:spPr>
        <p:txBody>
          <a:bodyPr wrap="square"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Long-tail</a:t>
            </a:r>
            <a:endParaRPr lang="en-US" sz="950" dirty="0"/>
          </a:p>
        </p:txBody>
      </p:sp>
      <p:sp>
        <p:nvSpPr>
          <p:cNvPr id="25" name="Shape 23"/>
          <p:cNvSpPr/>
          <p:nvPr/>
        </p:nvSpPr>
        <p:spPr>
          <a:xfrm>
            <a:off x="256032" y="2542032"/>
            <a:ext cx="4206240" cy="475488"/>
          </a:xfrm>
          <a:prstGeom prst="rect">
            <a:avLst/>
          </a:prstGeom>
          <a:solidFill>
            <a:srgbClr val="FFFFFF"/>
          </a:solidFill>
          <a:ln w="6350">
            <a:solidFill>
              <a:srgbClr val="1C7293"/>
            </a:solidFill>
            <a:prstDash val="solid"/>
          </a:ln>
        </p:spPr>
        <p:txBody>
          <a:bodyPr/>
          <a:lstStyle/>
          <a:p>
            <a:endParaRPr lang="en-VN"/>
          </a:p>
        </p:txBody>
      </p:sp>
      <p:sp>
        <p:nvSpPr>
          <p:cNvPr id="26" name="Text 24"/>
          <p:cNvSpPr/>
          <p:nvPr/>
        </p:nvSpPr>
        <p:spPr>
          <a:xfrm>
            <a:off x="292608" y="2542032"/>
            <a:ext cx="923544" cy="475488"/>
          </a:xfrm>
          <a:prstGeom prst="rect">
            <a:avLst/>
          </a:prstGeom>
          <a:noFill/>
          <a:ln/>
        </p:spPr>
        <p:txBody>
          <a:bodyPr wrap="square" rtlCol="0" anchor="ctr"/>
          <a:lstStyle/>
          <a:p>
            <a:pPr marL="0" indent="0" algn="l">
              <a:buNone/>
            </a:pPr>
            <a:r>
              <a:rPr lang="en-US" sz="950" dirty="0">
                <a:solidFill>
                  <a:srgbClr val="1A2B3C"/>
                </a:solidFill>
                <a:latin typeface="Calibri" pitchFamily="34" charset="0"/>
                <a:ea typeface="Calibri" pitchFamily="34" charset="-122"/>
                <a:cs typeface="Calibri" pitchFamily="34" charset="-120"/>
              </a:rPr>
              <a:t>Electronics</a:t>
            </a:r>
            <a:endParaRPr lang="en-US" sz="950" dirty="0"/>
          </a:p>
        </p:txBody>
      </p:sp>
      <p:sp>
        <p:nvSpPr>
          <p:cNvPr id="27" name="Text 25"/>
          <p:cNvSpPr/>
          <p:nvPr/>
        </p:nvSpPr>
        <p:spPr>
          <a:xfrm>
            <a:off x="1252728" y="2542032"/>
            <a:ext cx="694944" cy="475488"/>
          </a:xfrm>
          <a:prstGeom prst="rect">
            <a:avLst/>
          </a:prstGeom>
          <a:noFill/>
          <a:ln/>
        </p:spPr>
        <p:txBody>
          <a:bodyPr wrap="square"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18.3M</a:t>
            </a:r>
            <a:endParaRPr lang="en-US" sz="950" dirty="0"/>
          </a:p>
        </p:txBody>
      </p:sp>
      <p:sp>
        <p:nvSpPr>
          <p:cNvPr id="28" name="Text 26"/>
          <p:cNvSpPr/>
          <p:nvPr/>
        </p:nvSpPr>
        <p:spPr>
          <a:xfrm>
            <a:off x="1984248" y="2542032"/>
            <a:ext cx="713232" cy="475488"/>
          </a:xfrm>
          <a:prstGeom prst="rect">
            <a:avLst/>
          </a:prstGeom>
          <a:noFill/>
          <a:ln/>
        </p:spPr>
        <p:txBody>
          <a:bodyPr wrap="square"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1.6M</a:t>
            </a:r>
            <a:endParaRPr lang="en-US" sz="950" dirty="0"/>
          </a:p>
        </p:txBody>
      </p:sp>
      <p:sp>
        <p:nvSpPr>
          <p:cNvPr id="29" name="Text 27"/>
          <p:cNvSpPr/>
          <p:nvPr/>
        </p:nvSpPr>
        <p:spPr>
          <a:xfrm>
            <a:off x="2734056" y="2542032"/>
            <a:ext cx="786384" cy="475488"/>
          </a:xfrm>
          <a:prstGeom prst="rect">
            <a:avLst/>
          </a:prstGeom>
          <a:noFill/>
          <a:ln/>
        </p:spPr>
        <p:txBody>
          <a:bodyPr wrap="square"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43.9M</a:t>
            </a:r>
            <a:endParaRPr lang="en-US" sz="950" dirty="0"/>
          </a:p>
        </p:txBody>
      </p:sp>
      <p:sp>
        <p:nvSpPr>
          <p:cNvPr id="30" name="Text 28"/>
          <p:cNvSpPr/>
          <p:nvPr/>
        </p:nvSpPr>
        <p:spPr>
          <a:xfrm>
            <a:off x="3557016" y="2542032"/>
            <a:ext cx="905256" cy="475488"/>
          </a:xfrm>
          <a:prstGeom prst="rect">
            <a:avLst/>
          </a:prstGeom>
          <a:noFill/>
          <a:ln/>
        </p:spPr>
        <p:txBody>
          <a:bodyPr wrap="square" rtlCol="0" anchor="ctr"/>
          <a:lstStyle/>
          <a:p>
            <a:pPr marL="0" indent="0" algn="ctr">
              <a:buNone/>
            </a:pPr>
            <a:r>
              <a:rPr lang="en-US" sz="950" dirty="0">
                <a:solidFill>
                  <a:srgbClr val="1A2B3C"/>
                </a:solidFill>
                <a:latin typeface="Calibri" pitchFamily="34" charset="0"/>
                <a:ea typeface="Calibri" pitchFamily="34" charset="-122"/>
                <a:cs typeface="Calibri" pitchFamily="34" charset="-120"/>
              </a:rPr>
              <a:t>Bậc cao, dày</a:t>
            </a:r>
            <a:endParaRPr lang="en-US" sz="950" dirty="0"/>
          </a:p>
        </p:txBody>
      </p:sp>
      <p:sp>
        <p:nvSpPr>
          <p:cNvPr id="31" name="Text 29"/>
          <p:cNvSpPr/>
          <p:nvPr/>
        </p:nvSpPr>
        <p:spPr>
          <a:xfrm>
            <a:off x="256032" y="3054096"/>
            <a:ext cx="4206240" cy="201168"/>
          </a:xfrm>
          <a:prstGeom prst="rect">
            <a:avLst/>
          </a:prstGeom>
          <a:noFill/>
          <a:ln/>
        </p:spPr>
        <p:txBody>
          <a:bodyPr wrap="square" rtlCol="0" anchor="ctr"/>
          <a:lstStyle/>
          <a:p>
            <a:pPr marL="0" indent="0">
              <a:buNone/>
            </a:pPr>
            <a:r>
              <a:rPr lang="en-US" sz="750" i="1" dirty="0">
                <a:solidFill>
                  <a:srgbClr val="5A6A78"/>
                </a:solidFill>
                <a:latin typeface="Calibri" pitchFamily="34" charset="0"/>
                <a:ea typeface="Calibri" pitchFamily="34" charset="-122"/>
                <a:cs typeface="Calibri" pitchFamily="34" charset="-120"/>
              </a:rPr>
              <a:t>Nguồn: Amazon Reviews'23 — arXiv:2403.03952</a:t>
            </a:r>
            <a:endParaRPr lang="en-US" sz="750" dirty="0"/>
          </a:p>
        </p:txBody>
      </p:sp>
      <p:sp>
        <p:nvSpPr>
          <p:cNvPr id="32" name="Shape 30"/>
          <p:cNvSpPr/>
          <p:nvPr/>
        </p:nvSpPr>
        <p:spPr>
          <a:xfrm>
            <a:off x="256032" y="3310128"/>
            <a:ext cx="4206240" cy="731520"/>
          </a:xfrm>
          <a:prstGeom prst="rect">
            <a:avLst/>
          </a:prstGeom>
          <a:solidFill>
            <a:srgbClr val="FFF8E7"/>
          </a:solidFill>
          <a:ln w="19050">
            <a:solidFill>
              <a:srgbClr val="F4A261"/>
            </a:solidFill>
            <a:prstDash val="solid"/>
          </a:ln>
        </p:spPr>
        <p:txBody>
          <a:bodyPr/>
          <a:lstStyle/>
          <a:p>
            <a:endParaRPr lang="en-VN"/>
          </a:p>
        </p:txBody>
      </p:sp>
      <p:sp>
        <p:nvSpPr>
          <p:cNvPr id="33" name="Text 31"/>
          <p:cNvSpPr/>
          <p:nvPr/>
        </p:nvSpPr>
        <p:spPr>
          <a:xfrm>
            <a:off x="347472" y="3310128"/>
            <a:ext cx="4023360" cy="731520"/>
          </a:xfrm>
          <a:prstGeom prst="rect">
            <a:avLst/>
          </a:prstGeom>
          <a:noFill/>
          <a:ln/>
        </p:spPr>
        <p:txBody>
          <a:bodyPr wrap="square" rtlCol="0" anchor="ctr"/>
          <a:lstStyle/>
          <a:p>
            <a:pPr marL="0" indent="0">
              <a:buNone/>
            </a:pPr>
            <a:r>
              <a:rPr lang="en-US" sz="1000" b="1" dirty="0">
                <a:solidFill>
                  <a:srgbClr val="F4A261"/>
                </a:solidFill>
                <a:latin typeface="Calibri" pitchFamily="34" charset="0"/>
                <a:ea typeface="Calibri" pitchFamily="34" charset="-122"/>
                <a:cs typeface="Calibri" pitchFamily="34" charset="-120"/>
              </a:rPr>
              <a:t>Lý do chọn: </a:t>
            </a:r>
            <a:r>
              <a:rPr lang="en-US" sz="1000" dirty="0">
                <a:solidFill>
                  <a:srgbClr val="1A2B3C"/>
                </a:solidFill>
                <a:latin typeface="Calibri" pitchFamily="34" charset="0"/>
                <a:ea typeface="Calibri" pitchFamily="34" charset="-122"/>
                <a:cs typeface="Calibri" pitchFamily="34" charset="-120"/>
              </a:rPr>
              <a:t>Quy mô thực tế (10–23M user), metadata đầy đủ, chuẩn benchmark cho GNN </a:t>
            </a:r>
            <a:r>
              <a:rPr lang="en-US" sz="1000">
                <a:solidFill>
                  <a:srgbClr val="1A2B3C"/>
                </a:solidFill>
                <a:latin typeface="Calibri" pitchFamily="34" charset="0"/>
                <a:ea typeface="Calibri" pitchFamily="34" charset="-122"/>
                <a:cs typeface="Calibri" pitchFamily="34" charset="-120"/>
              </a:rPr>
              <a:t>recommendation. (May </a:t>
            </a:r>
            <a:r>
              <a:rPr lang="en-US" sz="1000" dirty="0">
                <a:solidFill>
                  <a:srgbClr val="1A2B3C"/>
                </a:solidFill>
                <a:latin typeface="Calibri" pitchFamily="34" charset="0"/>
                <a:ea typeface="Calibri" pitchFamily="34" charset="-122"/>
                <a:cs typeface="Calibri" pitchFamily="34" charset="-120"/>
              </a:rPr>
              <a:t>1996 – </a:t>
            </a:r>
            <a:r>
              <a:rPr lang="en-US" sz="1000">
                <a:solidFill>
                  <a:srgbClr val="1A2B3C"/>
                </a:solidFill>
                <a:latin typeface="Calibri" pitchFamily="34" charset="0"/>
                <a:ea typeface="Calibri" pitchFamily="34" charset="-122"/>
                <a:cs typeface="Calibri" pitchFamily="34" charset="-120"/>
              </a:rPr>
              <a:t>Sep 2023).</a:t>
            </a:r>
            <a:endParaRPr lang="en-US" sz="1000" dirty="0"/>
          </a:p>
        </p:txBody>
      </p:sp>
      <p:sp>
        <p:nvSpPr>
          <p:cNvPr id="34" name="Shape 32"/>
          <p:cNvSpPr/>
          <p:nvPr/>
        </p:nvSpPr>
        <p:spPr>
          <a:xfrm>
            <a:off x="4700016" y="886968"/>
            <a:ext cx="0" cy="3913632"/>
          </a:xfrm>
          <a:prstGeom prst="line">
            <a:avLst/>
          </a:prstGeom>
          <a:noFill/>
          <a:ln w="12700">
            <a:solidFill>
              <a:srgbClr val="E2E8F0"/>
            </a:solidFill>
            <a:prstDash val="solid"/>
          </a:ln>
        </p:spPr>
        <p:txBody>
          <a:bodyPr/>
          <a:lstStyle/>
          <a:p>
            <a:endParaRPr lang="en-VN"/>
          </a:p>
        </p:txBody>
      </p:sp>
      <p:sp>
        <p:nvSpPr>
          <p:cNvPr id="35" name="Text 33"/>
          <p:cNvSpPr/>
          <p:nvPr/>
        </p:nvSpPr>
        <p:spPr>
          <a:xfrm>
            <a:off x="4828032" y="914400"/>
            <a:ext cx="4059936" cy="329184"/>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Thích Nghi Kiến Trúc GRAPES</a:t>
            </a:r>
            <a:endParaRPr lang="en-US" sz="1200" dirty="0"/>
          </a:p>
        </p:txBody>
      </p:sp>
      <p:sp>
        <p:nvSpPr>
          <p:cNvPr id="36" name="Shape 34"/>
          <p:cNvSpPr/>
          <p:nvPr/>
        </p:nvSpPr>
        <p:spPr>
          <a:xfrm>
            <a:off x="4828032" y="1335024"/>
            <a:ext cx="822960" cy="658368"/>
          </a:xfrm>
          <a:prstGeom prst="rect">
            <a:avLst/>
          </a:prstGeom>
          <a:solidFill>
            <a:srgbClr val="1C7293"/>
          </a:solidFill>
          <a:ln w="12700">
            <a:solidFill>
              <a:srgbClr val="1C7293"/>
            </a:solidFill>
            <a:prstDash val="solid"/>
          </a:ln>
        </p:spPr>
        <p:txBody>
          <a:bodyPr/>
          <a:lstStyle/>
          <a:p>
            <a:endParaRPr lang="en-VN"/>
          </a:p>
        </p:txBody>
      </p:sp>
      <p:sp>
        <p:nvSpPr>
          <p:cNvPr id="37" name="Text 35"/>
          <p:cNvSpPr/>
          <p:nvPr/>
        </p:nvSpPr>
        <p:spPr>
          <a:xfrm>
            <a:off x="4828032" y="1335024"/>
            <a:ext cx="822960" cy="65836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Đầu vào G</a:t>
            </a:r>
            <a:endParaRPr lang="en-US" sz="900" dirty="0"/>
          </a:p>
        </p:txBody>
      </p:sp>
      <p:sp>
        <p:nvSpPr>
          <p:cNvPr id="38" name="Shape 36"/>
          <p:cNvSpPr/>
          <p:nvPr/>
        </p:nvSpPr>
        <p:spPr>
          <a:xfrm>
            <a:off x="5687568" y="1335024"/>
            <a:ext cx="1463040" cy="658368"/>
          </a:xfrm>
          <a:prstGeom prst="rect">
            <a:avLst/>
          </a:prstGeom>
          <a:solidFill>
            <a:srgbClr val="FFF0F0"/>
          </a:solidFill>
          <a:ln w="10160">
            <a:solidFill>
              <a:srgbClr val="D0D0D0"/>
            </a:solidFill>
            <a:prstDash val="solid"/>
          </a:ln>
        </p:spPr>
        <p:txBody>
          <a:bodyPr/>
          <a:lstStyle/>
          <a:p>
            <a:endParaRPr lang="en-VN"/>
          </a:p>
        </p:txBody>
      </p:sp>
      <p:sp>
        <p:nvSpPr>
          <p:cNvPr id="39" name="Text 37"/>
          <p:cNvSpPr/>
          <p:nvPr/>
        </p:nvSpPr>
        <p:spPr>
          <a:xfrm>
            <a:off x="5687568" y="1335024"/>
            <a:ext cx="1463040" cy="658368"/>
          </a:xfrm>
          <a:prstGeom prst="rect">
            <a:avLst/>
          </a:prstGeom>
          <a:noFill/>
          <a:ln/>
        </p:spPr>
        <p:txBody>
          <a:bodyPr wrap="square" rtlCol="0" anchor="ctr"/>
          <a:lstStyle/>
          <a:p>
            <a:pPr marL="0" indent="0" algn="ctr">
              <a:buNone/>
            </a:pPr>
            <a:r>
              <a:rPr lang="en-US" sz="850" dirty="0">
                <a:solidFill>
                  <a:srgbClr val="5A6A78"/>
                </a:solidFill>
                <a:latin typeface="Calibri" pitchFamily="34" charset="0"/>
                <a:ea typeface="Calibri" pitchFamily="34" charset="-122"/>
                <a:cs typeface="Calibri" pitchFamily="34" charset="-120"/>
              </a:rPr>
              <a:t>Đồ thị đồng nhất</a:t>
            </a:r>
            <a:endParaRPr lang="en-US" sz="850" dirty="0"/>
          </a:p>
          <a:p>
            <a:pPr algn="ctr"/>
            <a:r>
              <a:rPr lang="en-US" sz="850">
                <a:solidFill>
                  <a:srgbClr val="5A6A78"/>
                </a:solidFill>
                <a:latin typeface="Calibri" pitchFamily="34" charset="0"/>
                <a:ea typeface="Calibri" pitchFamily="34" charset="-122"/>
                <a:cs typeface="Calibri" pitchFamily="34" charset="-120"/>
              </a:rPr>
              <a:t>(phân loại đỉnh)</a:t>
            </a:r>
            <a:endParaRPr lang="en-US" sz="850" dirty="0"/>
          </a:p>
        </p:txBody>
      </p:sp>
      <p:sp>
        <p:nvSpPr>
          <p:cNvPr id="40" name="Shape 38"/>
          <p:cNvSpPr/>
          <p:nvPr/>
        </p:nvSpPr>
        <p:spPr>
          <a:xfrm>
            <a:off x="7178040" y="1664208"/>
            <a:ext cx="256032" cy="9144"/>
          </a:xfrm>
          <a:prstGeom prst="line">
            <a:avLst/>
          </a:prstGeom>
          <a:noFill/>
          <a:ln w="19050">
            <a:solidFill>
              <a:srgbClr val="F4A261"/>
            </a:solidFill>
            <a:prstDash val="solid"/>
            <a:tailEnd type="arrow"/>
          </a:ln>
        </p:spPr>
        <p:txBody>
          <a:bodyPr/>
          <a:lstStyle/>
          <a:p>
            <a:endParaRPr lang="en-VN"/>
          </a:p>
        </p:txBody>
      </p:sp>
      <p:sp>
        <p:nvSpPr>
          <p:cNvPr id="41" name="Shape 39"/>
          <p:cNvSpPr/>
          <p:nvPr/>
        </p:nvSpPr>
        <p:spPr>
          <a:xfrm>
            <a:off x="7470648" y="1335024"/>
            <a:ext cx="1417320" cy="658368"/>
          </a:xfrm>
          <a:prstGeom prst="rect">
            <a:avLst/>
          </a:prstGeom>
          <a:solidFill>
            <a:srgbClr val="EBF5FB"/>
          </a:solidFill>
          <a:ln w="19050">
            <a:solidFill>
              <a:srgbClr val="1C7293"/>
            </a:solidFill>
            <a:prstDash val="solid"/>
          </a:ln>
        </p:spPr>
        <p:txBody>
          <a:bodyPr/>
          <a:lstStyle/>
          <a:p>
            <a:endParaRPr lang="en-VN"/>
          </a:p>
        </p:txBody>
      </p:sp>
      <p:sp>
        <p:nvSpPr>
          <p:cNvPr id="42" name="Text 40"/>
          <p:cNvSpPr/>
          <p:nvPr/>
        </p:nvSpPr>
        <p:spPr>
          <a:xfrm>
            <a:off x="7470648" y="1335024"/>
            <a:ext cx="1417320" cy="658368"/>
          </a:xfrm>
          <a:prstGeom prst="rect">
            <a:avLst/>
          </a:prstGeom>
          <a:noFill/>
          <a:ln/>
        </p:spPr>
        <p:txBody>
          <a:bodyPr wrap="square" rtlCol="0" anchor="ctr"/>
          <a:lstStyle/>
          <a:p>
            <a:pPr marL="0" indent="0" algn="ctr">
              <a:buNone/>
            </a:pPr>
            <a:r>
              <a:rPr lang="en-US" sz="850" b="1" dirty="0">
                <a:solidFill>
                  <a:srgbClr val="1A2B3C"/>
                </a:solidFill>
                <a:latin typeface="Calibri" pitchFamily="34" charset="0"/>
                <a:ea typeface="Calibri" pitchFamily="34" charset="-122"/>
                <a:cs typeface="Calibri" pitchFamily="34" charset="-120"/>
              </a:rPr>
              <a:t>Đồ thị hai phía</a:t>
            </a:r>
            <a:endParaRPr lang="en-US" sz="850" dirty="0"/>
          </a:p>
          <a:p>
            <a:pPr marL="0" indent="0" algn="ctr">
              <a:buNone/>
            </a:pPr>
            <a:r>
              <a:rPr lang="en-US" sz="850" b="1" dirty="0">
                <a:solidFill>
                  <a:srgbClr val="1A2B3C"/>
                </a:solidFill>
                <a:latin typeface="Calibri" pitchFamily="34" charset="0"/>
                <a:ea typeface="Calibri" pitchFamily="34" charset="-122"/>
                <a:cs typeface="Calibri" pitchFamily="34" charset="-120"/>
              </a:rPr>
              <a:t>User ∪ Item</a:t>
            </a:r>
            <a:endParaRPr lang="en-US" sz="850" dirty="0"/>
          </a:p>
        </p:txBody>
      </p:sp>
      <p:sp>
        <p:nvSpPr>
          <p:cNvPr id="43" name="Shape 41"/>
          <p:cNvSpPr/>
          <p:nvPr/>
        </p:nvSpPr>
        <p:spPr>
          <a:xfrm>
            <a:off x="4828032" y="2084832"/>
            <a:ext cx="822960" cy="658368"/>
          </a:xfrm>
          <a:prstGeom prst="rect">
            <a:avLst/>
          </a:prstGeom>
          <a:solidFill>
            <a:srgbClr val="065A82"/>
          </a:solidFill>
          <a:ln w="12700">
            <a:solidFill>
              <a:srgbClr val="065A82"/>
            </a:solidFill>
            <a:prstDash val="solid"/>
          </a:ln>
        </p:spPr>
        <p:txBody>
          <a:bodyPr/>
          <a:lstStyle/>
          <a:p>
            <a:endParaRPr lang="en-VN"/>
          </a:p>
        </p:txBody>
      </p:sp>
      <mc:AlternateContent xmlns:mc="http://schemas.openxmlformats.org/markup-compatibility/2006" xmlns:a14="http://schemas.microsoft.com/office/drawing/2010/main">
        <mc:Choice Requires="a14">
          <p:sp>
            <p:nvSpPr>
              <p:cNvPr id="44" name="Text 42"/>
              <p:cNvSpPr/>
              <p:nvPr/>
            </p:nvSpPr>
            <p:spPr>
              <a:xfrm>
                <a:off x="4828032" y="2084832"/>
                <a:ext cx="822960" cy="658368"/>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r>
                        <a:rPr lang="en-US" sz="900" b="1" i="1" dirty="0" smtClean="0">
                          <a:solidFill>
                            <a:srgbClr val="FFFFFF"/>
                          </a:solidFill>
                          <a:latin typeface="Cambria Math" panose="02040503050406030204" pitchFamily="18" charset="0"/>
                          <a:ea typeface="Calibri" pitchFamily="34" charset="-122"/>
                          <a:cs typeface="Calibri" pitchFamily="34" charset="-120"/>
                        </a:rPr>
                        <m:t>𝑮𝑪</m:t>
                      </m:r>
                      <m:sSub>
                        <m:sSubPr>
                          <m:ctrlPr>
                            <a:rPr lang="en-US" sz="900" b="1" i="1" dirty="0" smtClean="0">
                              <a:solidFill>
                                <a:srgbClr val="FFFFFF"/>
                              </a:solidFill>
                              <a:latin typeface="Cambria Math" panose="02040503050406030204" pitchFamily="18" charset="0"/>
                              <a:ea typeface="Calibri" pitchFamily="34" charset="-122"/>
                              <a:cs typeface="Calibri" pitchFamily="34" charset="-120"/>
                            </a:rPr>
                          </m:ctrlPr>
                        </m:sSubPr>
                        <m:e>
                          <m:r>
                            <a:rPr lang="en-US" sz="900" b="1" i="1" dirty="0" smtClean="0">
                              <a:solidFill>
                                <a:srgbClr val="FFFFFF"/>
                              </a:solidFill>
                              <a:latin typeface="Cambria Math" panose="02040503050406030204" pitchFamily="18" charset="0"/>
                              <a:ea typeface="Calibri" pitchFamily="34" charset="-122"/>
                              <a:cs typeface="Calibri" pitchFamily="34" charset="-120"/>
                            </a:rPr>
                            <m:t>𝑵</m:t>
                          </m:r>
                        </m:e>
                        <m:sub>
                          <m:r>
                            <a:rPr lang="en-US" sz="900" b="1" i="1" dirty="0" smtClean="0">
                              <a:solidFill>
                                <a:srgbClr val="FFFFFF"/>
                              </a:solidFill>
                              <a:latin typeface="Cambria Math" panose="02040503050406030204" pitchFamily="18" charset="0"/>
                              <a:ea typeface="Calibri" pitchFamily="34" charset="-122"/>
                              <a:cs typeface="Calibri" pitchFamily="34" charset="-120"/>
                            </a:rPr>
                            <m:t>𝑪</m:t>
                          </m:r>
                        </m:sub>
                      </m:sSub>
                    </m:oMath>
                  </m:oMathPara>
                </a14:m>
                <a:endParaRPr lang="en-US" sz="900" dirty="0"/>
              </a:p>
            </p:txBody>
          </p:sp>
        </mc:Choice>
        <mc:Fallback xmlns="">
          <p:sp>
            <p:nvSpPr>
              <p:cNvPr id="44" name="Text 42"/>
              <p:cNvSpPr>
                <a:spLocks noRot="1" noChangeAspect="1" noMove="1" noResize="1" noEditPoints="1" noAdjustHandles="1" noChangeArrowheads="1" noChangeShapeType="1" noTextEdit="1"/>
              </p:cNvSpPr>
              <p:nvPr/>
            </p:nvSpPr>
            <p:spPr>
              <a:xfrm>
                <a:off x="4828032" y="2084832"/>
                <a:ext cx="822960" cy="658368"/>
              </a:xfrm>
              <a:prstGeom prst="rect">
                <a:avLst/>
              </a:prstGeom>
              <a:blipFill>
                <a:blip r:embed="rId3"/>
                <a:stretch>
                  <a:fillRect/>
                </a:stretch>
              </a:blipFill>
              <a:ln/>
            </p:spPr>
            <p:txBody>
              <a:bodyPr/>
              <a:lstStyle/>
              <a:p>
                <a:r>
                  <a:rPr lang="en-VN">
                    <a:noFill/>
                  </a:rPr>
                  <a:t> </a:t>
                </a:r>
              </a:p>
            </p:txBody>
          </p:sp>
        </mc:Fallback>
      </mc:AlternateContent>
      <p:sp>
        <p:nvSpPr>
          <p:cNvPr id="45" name="Shape 43"/>
          <p:cNvSpPr/>
          <p:nvPr/>
        </p:nvSpPr>
        <p:spPr>
          <a:xfrm>
            <a:off x="5687568" y="2084832"/>
            <a:ext cx="1463040" cy="658368"/>
          </a:xfrm>
          <a:prstGeom prst="rect">
            <a:avLst/>
          </a:prstGeom>
          <a:solidFill>
            <a:srgbClr val="FFF0F0"/>
          </a:solidFill>
          <a:ln w="10160">
            <a:solidFill>
              <a:srgbClr val="D0D0D0"/>
            </a:solidFill>
            <a:prstDash val="solid"/>
          </a:ln>
        </p:spPr>
        <p:txBody>
          <a:bodyPr/>
          <a:lstStyle/>
          <a:p>
            <a:endParaRPr lang="en-VN"/>
          </a:p>
        </p:txBody>
      </p:sp>
      <p:sp>
        <p:nvSpPr>
          <p:cNvPr id="46" name="Text 44"/>
          <p:cNvSpPr/>
          <p:nvPr/>
        </p:nvSpPr>
        <p:spPr>
          <a:xfrm>
            <a:off x="5687568" y="2084832"/>
            <a:ext cx="1463040" cy="658368"/>
          </a:xfrm>
          <a:prstGeom prst="rect">
            <a:avLst/>
          </a:prstGeom>
          <a:noFill/>
          <a:ln/>
        </p:spPr>
        <p:txBody>
          <a:bodyPr wrap="square" rtlCol="0" anchor="ctr"/>
          <a:lstStyle/>
          <a:p>
            <a:pPr marL="0" indent="0" algn="ctr">
              <a:buNone/>
            </a:pPr>
            <a:r>
              <a:rPr lang="en-US" sz="850" dirty="0">
                <a:solidFill>
                  <a:srgbClr val="5A6A78"/>
                </a:solidFill>
                <a:latin typeface="Calibri" pitchFamily="34" charset="0"/>
                <a:ea typeface="Calibri" pitchFamily="34" charset="-122"/>
                <a:cs typeface="Calibri" pitchFamily="34" charset="-120"/>
              </a:rPr>
              <a:t>Softmax loss</a:t>
            </a:r>
            <a:endParaRPr lang="en-US" sz="850" dirty="0"/>
          </a:p>
          <a:p>
            <a:pPr marL="0" indent="0" algn="ctr">
              <a:buNone/>
            </a:pPr>
            <a:r>
              <a:rPr lang="en-US" sz="850" dirty="0">
                <a:solidFill>
                  <a:srgbClr val="5A6A78"/>
                </a:solidFill>
                <a:latin typeface="Calibri" pitchFamily="34" charset="0"/>
                <a:ea typeface="Calibri" pitchFamily="34" charset="-122"/>
                <a:cs typeface="Calibri" pitchFamily="34" charset="-120"/>
              </a:rPr>
              <a:t>(phân loại đỉnh)</a:t>
            </a:r>
            <a:endParaRPr lang="en-US" sz="850" dirty="0"/>
          </a:p>
        </p:txBody>
      </p:sp>
      <p:sp>
        <p:nvSpPr>
          <p:cNvPr id="47" name="Shape 45"/>
          <p:cNvSpPr/>
          <p:nvPr/>
        </p:nvSpPr>
        <p:spPr>
          <a:xfrm>
            <a:off x="7178040" y="2414016"/>
            <a:ext cx="256032" cy="9144"/>
          </a:xfrm>
          <a:prstGeom prst="line">
            <a:avLst/>
          </a:prstGeom>
          <a:noFill/>
          <a:ln w="19050">
            <a:solidFill>
              <a:srgbClr val="F4A261"/>
            </a:solidFill>
            <a:prstDash val="solid"/>
            <a:tailEnd type="arrow"/>
          </a:ln>
        </p:spPr>
        <p:txBody>
          <a:bodyPr/>
          <a:lstStyle/>
          <a:p>
            <a:endParaRPr lang="en-VN"/>
          </a:p>
        </p:txBody>
      </p:sp>
      <p:sp>
        <p:nvSpPr>
          <p:cNvPr id="48" name="Shape 46"/>
          <p:cNvSpPr/>
          <p:nvPr/>
        </p:nvSpPr>
        <p:spPr>
          <a:xfrm>
            <a:off x="7470648" y="2084832"/>
            <a:ext cx="1417320" cy="658368"/>
          </a:xfrm>
          <a:prstGeom prst="rect">
            <a:avLst/>
          </a:prstGeom>
          <a:solidFill>
            <a:srgbClr val="EBF5FB"/>
          </a:solidFill>
          <a:ln w="19050">
            <a:solidFill>
              <a:srgbClr val="065A82"/>
            </a:solidFill>
            <a:prstDash val="solid"/>
          </a:ln>
        </p:spPr>
        <p:txBody>
          <a:bodyPr/>
          <a:lstStyle/>
          <a:p>
            <a:endParaRPr lang="en-VN"/>
          </a:p>
        </p:txBody>
      </p:sp>
      <p:sp>
        <p:nvSpPr>
          <p:cNvPr id="49" name="Text 47"/>
          <p:cNvSpPr/>
          <p:nvPr/>
        </p:nvSpPr>
        <p:spPr>
          <a:xfrm>
            <a:off x="7470648" y="2084832"/>
            <a:ext cx="1417320" cy="658368"/>
          </a:xfrm>
          <a:prstGeom prst="rect">
            <a:avLst/>
          </a:prstGeom>
          <a:noFill/>
          <a:ln/>
        </p:spPr>
        <p:txBody>
          <a:bodyPr wrap="square" rtlCol="0" anchor="ctr"/>
          <a:lstStyle/>
          <a:p>
            <a:pPr marL="0" indent="0" algn="ctr">
              <a:buNone/>
            </a:pPr>
            <a:r>
              <a:rPr lang="en-US" sz="850" b="1" dirty="0">
                <a:solidFill>
                  <a:srgbClr val="1A2B3C"/>
                </a:solidFill>
                <a:latin typeface="Calibri" pitchFamily="34" charset="0"/>
                <a:ea typeface="Calibri" pitchFamily="34" charset="-122"/>
                <a:cs typeface="Calibri" pitchFamily="34" charset="-120"/>
              </a:rPr>
              <a:t>BPR Loss</a:t>
            </a:r>
            <a:endParaRPr lang="en-US" sz="850" dirty="0"/>
          </a:p>
          <a:p>
            <a:pPr marL="0" indent="0" algn="ctr">
              <a:buNone/>
            </a:pPr>
            <a:r>
              <a:rPr lang="en-US" sz="850" b="1" dirty="0">
                <a:solidFill>
                  <a:srgbClr val="1A2B3C"/>
                </a:solidFill>
                <a:latin typeface="Calibri" pitchFamily="34" charset="0"/>
                <a:ea typeface="Calibri" pitchFamily="34" charset="-122"/>
                <a:cs typeface="Calibri" pitchFamily="34" charset="-120"/>
              </a:rPr>
              <a:t>(link prediction)</a:t>
            </a:r>
            <a:endParaRPr lang="en-US" sz="850" dirty="0"/>
          </a:p>
        </p:txBody>
      </p:sp>
      <p:sp>
        <p:nvSpPr>
          <p:cNvPr id="50" name="Shape 48"/>
          <p:cNvSpPr/>
          <p:nvPr/>
        </p:nvSpPr>
        <p:spPr>
          <a:xfrm>
            <a:off x="4828032" y="2834640"/>
            <a:ext cx="822960" cy="658368"/>
          </a:xfrm>
          <a:prstGeom prst="rect">
            <a:avLst/>
          </a:prstGeom>
          <a:solidFill>
            <a:srgbClr val="02C39A"/>
          </a:solidFill>
          <a:ln w="12700">
            <a:solidFill>
              <a:srgbClr val="02C39A"/>
            </a:solidFill>
            <a:prstDash val="solid"/>
          </a:ln>
        </p:spPr>
        <p:txBody>
          <a:bodyPr/>
          <a:lstStyle/>
          <a:p>
            <a:endParaRPr lang="en-VN"/>
          </a:p>
        </p:txBody>
      </p:sp>
      <p:sp>
        <p:nvSpPr>
          <p:cNvPr id="51" name="Text 49"/>
          <p:cNvSpPr/>
          <p:nvPr/>
        </p:nvSpPr>
        <p:spPr>
          <a:xfrm>
            <a:off x="4828032" y="2834640"/>
            <a:ext cx="822960" cy="65836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Reward</a:t>
            </a:r>
            <a:endParaRPr lang="en-US" sz="900" dirty="0"/>
          </a:p>
        </p:txBody>
      </p:sp>
      <p:sp>
        <p:nvSpPr>
          <p:cNvPr id="52" name="Shape 50"/>
          <p:cNvSpPr/>
          <p:nvPr/>
        </p:nvSpPr>
        <p:spPr>
          <a:xfrm>
            <a:off x="5687568" y="2834640"/>
            <a:ext cx="1463040" cy="658368"/>
          </a:xfrm>
          <a:prstGeom prst="rect">
            <a:avLst/>
          </a:prstGeom>
          <a:solidFill>
            <a:srgbClr val="FFF0F0"/>
          </a:solidFill>
          <a:ln w="10160">
            <a:solidFill>
              <a:srgbClr val="D0D0D0"/>
            </a:solidFill>
            <a:prstDash val="solid"/>
          </a:ln>
        </p:spPr>
        <p:txBody>
          <a:bodyPr/>
          <a:lstStyle/>
          <a:p>
            <a:endParaRPr lang="en-VN"/>
          </a:p>
        </p:txBody>
      </p:sp>
      <mc:AlternateContent xmlns:mc="http://schemas.openxmlformats.org/markup-compatibility/2006" xmlns:a14="http://schemas.microsoft.com/office/drawing/2010/main">
        <mc:Choice Requires="a14">
          <p:sp>
            <p:nvSpPr>
              <p:cNvPr id="53" name="Text 51"/>
              <p:cNvSpPr/>
              <p:nvPr/>
            </p:nvSpPr>
            <p:spPr>
              <a:xfrm>
                <a:off x="5687568" y="2834640"/>
                <a:ext cx="1463040" cy="658368"/>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r>
                        <a:rPr lang="en-US" sz="850" i="1" smtClean="0">
                          <a:solidFill>
                            <a:srgbClr val="5A6A78"/>
                          </a:solidFill>
                          <a:latin typeface="Cambria Math" panose="02040503050406030204" pitchFamily="18" charset="0"/>
                          <a:ea typeface="Calibri" pitchFamily="34" charset="-122"/>
                          <a:cs typeface="Calibri" pitchFamily="34" charset="-120"/>
                        </a:rPr>
                        <m:t>𝑅</m:t>
                      </m:r>
                      <m:r>
                        <a:rPr lang="en-US" sz="850" i="1" smtClean="0">
                          <a:solidFill>
                            <a:srgbClr val="5A6A78"/>
                          </a:solidFill>
                          <a:latin typeface="Cambria Math" panose="02040503050406030204" pitchFamily="18" charset="0"/>
                          <a:ea typeface="Calibri" pitchFamily="34" charset="-122"/>
                          <a:cs typeface="Calibri" pitchFamily="34" charset="-120"/>
                        </a:rPr>
                        <m:t>=</m:t>
                      </m:r>
                      <m:func>
                        <m:funcPr>
                          <m:ctrlPr>
                            <a:rPr lang="en-US" sz="850" i="1" smtClean="0">
                              <a:solidFill>
                                <a:srgbClr val="5A6A78"/>
                              </a:solidFill>
                              <a:latin typeface="Cambria Math" panose="02040503050406030204" pitchFamily="18" charset="0"/>
                              <a:ea typeface="Calibri" pitchFamily="34" charset="-122"/>
                              <a:cs typeface="Calibri" pitchFamily="34" charset="-120"/>
                            </a:rPr>
                          </m:ctrlPr>
                        </m:funcPr>
                        <m:fName>
                          <m:r>
                            <m:rPr>
                              <m:sty m:val="p"/>
                            </m:rPr>
                            <a:rPr lang="en-US" sz="850" i="0" smtClean="0">
                              <a:solidFill>
                                <a:srgbClr val="5A6A78"/>
                              </a:solidFill>
                              <a:latin typeface="Cambria Math" panose="02040503050406030204" pitchFamily="18" charset="0"/>
                              <a:ea typeface="Calibri" pitchFamily="34" charset="-122"/>
                              <a:cs typeface="Calibri" pitchFamily="34" charset="-120"/>
                            </a:rPr>
                            <m:t>exp</m:t>
                          </m:r>
                        </m:fName>
                        <m:e>
                          <m:d>
                            <m:dPr>
                              <m:ctrlPr>
                                <a:rPr lang="en-US" sz="850" i="1" smtClean="0">
                                  <a:solidFill>
                                    <a:srgbClr val="5A6A78"/>
                                  </a:solidFill>
                                  <a:latin typeface="Cambria Math" panose="02040503050406030204" pitchFamily="18" charset="0"/>
                                  <a:ea typeface="Calibri" pitchFamily="34" charset="-122"/>
                                  <a:cs typeface="Calibri" pitchFamily="34" charset="-120"/>
                                </a:rPr>
                              </m:ctrlPr>
                            </m:dPr>
                            <m:e>
                              <m:r>
                                <a:rPr lang="en-US" sz="850" i="1" smtClean="0">
                                  <a:solidFill>
                                    <a:srgbClr val="5A6A78"/>
                                  </a:solidFill>
                                  <a:latin typeface="Cambria Math" panose="02040503050406030204" pitchFamily="18" charset="0"/>
                                  <a:ea typeface="Calibri" pitchFamily="34" charset="-122"/>
                                  <a:cs typeface="Calibri" pitchFamily="34" charset="-120"/>
                                </a:rPr>
                                <m:t>−</m:t>
                              </m:r>
                              <m:r>
                                <a:rPr lang="en-US" sz="850" i="1" smtClean="0">
                                  <a:solidFill>
                                    <a:srgbClr val="5A6A78"/>
                                  </a:solidFill>
                                  <a:latin typeface="Cambria Math" panose="02040503050406030204" pitchFamily="18" charset="0"/>
                                  <a:ea typeface="Calibri" pitchFamily="34" charset="-122"/>
                                  <a:cs typeface="Calibri" pitchFamily="34" charset="-120"/>
                                </a:rPr>
                                <m:t>𝛼</m:t>
                              </m:r>
                              <m:r>
                                <a:rPr lang="en-US" sz="850" i="1" smtClean="0">
                                  <a:solidFill>
                                    <a:srgbClr val="5A6A78"/>
                                  </a:solidFill>
                                  <a:latin typeface="Cambria Math" panose="02040503050406030204" pitchFamily="18" charset="0"/>
                                  <a:ea typeface="Calibri" pitchFamily="34" charset="-122"/>
                                  <a:cs typeface="Calibri" pitchFamily="34" charset="-120"/>
                                </a:rPr>
                                <m:t>⋅</m:t>
                              </m:r>
                              <m:sSub>
                                <m:sSubPr>
                                  <m:ctrlPr>
                                    <a:rPr lang="en-US" sz="850" i="1" smtClean="0">
                                      <a:solidFill>
                                        <a:srgbClr val="5A6A78"/>
                                      </a:solidFill>
                                      <a:latin typeface="Cambria Math" panose="02040503050406030204" pitchFamily="18" charset="0"/>
                                      <a:ea typeface="Calibri" pitchFamily="34" charset="-122"/>
                                      <a:cs typeface="Calibri" pitchFamily="34" charset="-120"/>
                                    </a:rPr>
                                  </m:ctrlPr>
                                </m:sSubPr>
                                <m:e>
                                  <m:r>
                                    <a:rPr lang="en-US" sz="850" i="1">
                                      <a:solidFill>
                                        <a:srgbClr val="5A6A78"/>
                                      </a:solidFill>
                                      <a:latin typeface="Cambria Math" panose="02040503050406030204" pitchFamily="18" charset="0"/>
                                      <a:ea typeface="Calibri" pitchFamily="34" charset="-122"/>
                                      <a:cs typeface="Calibri" pitchFamily="34" charset="-120"/>
                                    </a:rPr>
                                    <m:t>𝐿</m:t>
                                  </m:r>
                                </m:e>
                                <m:sub>
                                  <m:r>
                                    <a:rPr lang="en-US" sz="850" i="1" smtClean="0">
                                      <a:solidFill>
                                        <a:srgbClr val="5A6A78"/>
                                      </a:solidFill>
                                      <a:latin typeface="Cambria Math" panose="02040503050406030204" pitchFamily="18" charset="0"/>
                                      <a:ea typeface="Calibri" pitchFamily="34" charset="-122"/>
                                      <a:cs typeface="Calibri" pitchFamily="34" charset="-120"/>
                                    </a:rPr>
                                    <m:t>𝐶</m:t>
                                  </m:r>
                                </m:sub>
                              </m:sSub>
                            </m:e>
                          </m:d>
                        </m:e>
                      </m:func>
                    </m:oMath>
                  </m:oMathPara>
                </a14:m>
                <a:endParaRPr/>
              </a:p>
            </p:txBody>
          </p:sp>
        </mc:Choice>
        <mc:Fallback xmlns="">
          <p:sp>
            <p:nvSpPr>
              <p:cNvPr id="53" name="Text 51"/>
              <p:cNvSpPr>
                <a:spLocks noRot="1" noChangeAspect="1" noMove="1" noResize="1" noEditPoints="1" noAdjustHandles="1" noChangeArrowheads="1" noChangeShapeType="1" noTextEdit="1"/>
              </p:cNvSpPr>
              <p:nvPr/>
            </p:nvSpPr>
            <p:spPr>
              <a:xfrm>
                <a:off x="5687568" y="2834640"/>
                <a:ext cx="1463040" cy="658368"/>
              </a:xfrm>
              <a:prstGeom prst="rect">
                <a:avLst/>
              </a:prstGeom>
              <a:blipFill>
                <a:blip r:embed="rId4"/>
                <a:stretch>
                  <a:fillRect/>
                </a:stretch>
              </a:blipFill>
              <a:ln/>
            </p:spPr>
            <p:txBody>
              <a:bodyPr/>
              <a:lstStyle/>
              <a:p>
                <a:r>
                  <a:rPr lang="en-VN">
                    <a:noFill/>
                  </a:rPr>
                  <a:t> </a:t>
                </a:r>
              </a:p>
            </p:txBody>
          </p:sp>
        </mc:Fallback>
      </mc:AlternateContent>
      <p:sp>
        <p:nvSpPr>
          <p:cNvPr id="54" name="Shape 52"/>
          <p:cNvSpPr/>
          <p:nvPr/>
        </p:nvSpPr>
        <p:spPr>
          <a:xfrm>
            <a:off x="7178040" y="3163824"/>
            <a:ext cx="256032" cy="9144"/>
          </a:xfrm>
          <a:prstGeom prst="line">
            <a:avLst/>
          </a:prstGeom>
          <a:noFill/>
          <a:ln w="19050">
            <a:solidFill>
              <a:srgbClr val="F4A261"/>
            </a:solidFill>
            <a:prstDash val="solid"/>
            <a:tailEnd type="arrow"/>
          </a:ln>
        </p:spPr>
        <p:txBody>
          <a:bodyPr/>
          <a:lstStyle/>
          <a:p>
            <a:endParaRPr lang="en-VN"/>
          </a:p>
        </p:txBody>
      </p:sp>
      <p:sp>
        <p:nvSpPr>
          <p:cNvPr id="55" name="Shape 53"/>
          <p:cNvSpPr/>
          <p:nvPr/>
        </p:nvSpPr>
        <p:spPr>
          <a:xfrm>
            <a:off x="7470648" y="2834640"/>
            <a:ext cx="1417320" cy="658368"/>
          </a:xfrm>
          <a:prstGeom prst="rect">
            <a:avLst/>
          </a:prstGeom>
          <a:solidFill>
            <a:srgbClr val="EBF5FB"/>
          </a:solidFill>
          <a:ln w="19050">
            <a:solidFill>
              <a:srgbClr val="02C39A"/>
            </a:solidFill>
            <a:prstDash val="solid"/>
          </a:ln>
        </p:spPr>
        <p:txBody>
          <a:bodyPr/>
          <a:lstStyle/>
          <a:p>
            <a:endParaRPr lang="en-VN"/>
          </a:p>
        </p:txBody>
      </p:sp>
      <mc:AlternateContent xmlns:mc="http://schemas.openxmlformats.org/markup-compatibility/2006" xmlns:a14="http://schemas.microsoft.com/office/drawing/2010/main">
        <mc:Choice Requires="a14">
          <p:sp>
            <p:nvSpPr>
              <p:cNvPr id="56" name="Text 54"/>
              <p:cNvSpPr/>
              <p:nvPr/>
            </p:nvSpPr>
            <p:spPr>
              <a:xfrm>
                <a:off x="7470648" y="2834640"/>
                <a:ext cx="1417320" cy="658368"/>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r>
                        <a:rPr lang="en-US" sz="850" b="1" i="1" smtClean="0">
                          <a:solidFill>
                            <a:srgbClr val="1A2B3C"/>
                          </a:solidFill>
                          <a:latin typeface="Cambria Math" panose="02040503050406030204" pitchFamily="18" charset="0"/>
                          <a:ea typeface="Calibri" pitchFamily="34" charset="-122"/>
                          <a:cs typeface="Calibri" pitchFamily="34" charset="-120"/>
                        </a:rPr>
                        <m:t>𝑹</m:t>
                      </m:r>
                      <m:r>
                        <a:rPr lang="en-US" sz="850" b="1" i="1" smtClean="0">
                          <a:solidFill>
                            <a:srgbClr val="1A2B3C"/>
                          </a:solidFill>
                          <a:latin typeface="Cambria Math" panose="02040503050406030204" pitchFamily="18" charset="0"/>
                          <a:ea typeface="Calibri" pitchFamily="34" charset="-122"/>
                          <a:cs typeface="Calibri" pitchFamily="34" charset="-120"/>
                        </a:rPr>
                        <m:t>=</m:t>
                      </m:r>
                      <m:func>
                        <m:funcPr>
                          <m:ctrlPr>
                            <a:rPr lang="en-US" sz="850" b="1" i="1" smtClean="0">
                              <a:solidFill>
                                <a:srgbClr val="1A2B3C"/>
                              </a:solidFill>
                              <a:latin typeface="Cambria Math" panose="02040503050406030204" pitchFamily="18" charset="0"/>
                              <a:ea typeface="Calibri" pitchFamily="34" charset="-122"/>
                              <a:cs typeface="Calibri" pitchFamily="34" charset="-120"/>
                            </a:rPr>
                          </m:ctrlPr>
                        </m:funcPr>
                        <m:fName>
                          <m:r>
                            <m:rPr>
                              <m:sty m:val="p"/>
                            </m:rPr>
                            <a:rPr lang="en-US" sz="850" b="0" i="0" smtClean="0">
                              <a:solidFill>
                                <a:srgbClr val="1A2B3C"/>
                              </a:solidFill>
                              <a:latin typeface="Cambria Math" panose="02040503050406030204" pitchFamily="18" charset="0"/>
                              <a:ea typeface="Calibri" pitchFamily="34" charset="-122"/>
                              <a:cs typeface="Calibri" pitchFamily="34" charset="-120"/>
                            </a:rPr>
                            <m:t>exp</m:t>
                          </m:r>
                        </m:fName>
                        <m:e>
                          <m:d>
                            <m:dPr>
                              <m:ctrlPr>
                                <a:rPr lang="en-US" sz="850" b="1" i="1" smtClean="0">
                                  <a:solidFill>
                                    <a:srgbClr val="1A2B3C"/>
                                  </a:solidFill>
                                  <a:latin typeface="Cambria Math" panose="02040503050406030204" pitchFamily="18" charset="0"/>
                                  <a:ea typeface="Calibri" pitchFamily="34" charset="-122"/>
                                  <a:cs typeface="Calibri" pitchFamily="34" charset="-120"/>
                                </a:rPr>
                              </m:ctrlPr>
                            </m:dPr>
                            <m:e>
                              <m:r>
                                <a:rPr lang="en-US" sz="850" b="1" i="1" smtClean="0">
                                  <a:solidFill>
                                    <a:srgbClr val="1A2B3C"/>
                                  </a:solidFill>
                                  <a:latin typeface="Cambria Math" panose="02040503050406030204" pitchFamily="18" charset="0"/>
                                  <a:ea typeface="Calibri" pitchFamily="34" charset="-122"/>
                                  <a:cs typeface="Calibri" pitchFamily="34" charset="-120"/>
                                </a:rPr>
                                <m:t>−</m:t>
                              </m:r>
                              <m:r>
                                <a:rPr lang="en-US" sz="850" b="1" i="1" smtClean="0">
                                  <a:solidFill>
                                    <a:srgbClr val="1A2B3C"/>
                                  </a:solidFill>
                                  <a:latin typeface="Cambria Math" panose="02040503050406030204" pitchFamily="18" charset="0"/>
                                  <a:ea typeface="Calibri" pitchFamily="34" charset="-122"/>
                                  <a:cs typeface="Calibri" pitchFamily="34" charset="-120"/>
                                </a:rPr>
                                <m:t>𝜶</m:t>
                              </m:r>
                              <m:r>
                                <a:rPr lang="en-US" sz="850" b="1" i="1" smtClean="0">
                                  <a:solidFill>
                                    <a:srgbClr val="1A2B3C"/>
                                  </a:solidFill>
                                  <a:latin typeface="Cambria Math" panose="02040503050406030204" pitchFamily="18" charset="0"/>
                                  <a:ea typeface="Calibri" pitchFamily="34" charset="-122"/>
                                  <a:cs typeface="Calibri" pitchFamily="34" charset="-120"/>
                                </a:rPr>
                                <m:t>⋅</m:t>
                              </m:r>
                              <m:sSub>
                                <m:sSubPr>
                                  <m:ctrlPr>
                                    <a:rPr lang="en-US" sz="850" b="1" i="1" smtClean="0">
                                      <a:solidFill>
                                        <a:srgbClr val="1A2B3C"/>
                                      </a:solidFill>
                                      <a:latin typeface="Cambria Math" panose="02040503050406030204" pitchFamily="18" charset="0"/>
                                      <a:ea typeface="Calibri" pitchFamily="34" charset="-122"/>
                                      <a:cs typeface="Calibri" pitchFamily="34" charset="-120"/>
                                    </a:rPr>
                                  </m:ctrlPr>
                                </m:sSubPr>
                                <m:e>
                                  <m:r>
                                    <a:rPr lang="en-US" sz="850" b="1" i="1" smtClean="0">
                                      <a:solidFill>
                                        <a:srgbClr val="1A2B3C"/>
                                      </a:solidFill>
                                      <a:latin typeface="Cambria Math" panose="02040503050406030204" pitchFamily="18" charset="0"/>
                                      <a:ea typeface="Calibri" pitchFamily="34" charset="-122"/>
                                      <a:cs typeface="Calibri" pitchFamily="34" charset="-120"/>
                                    </a:rPr>
                                    <m:t>𝑳</m:t>
                                  </m:r>
                                </m:e>
                                <m:sub>
                                  <m:r>
                                    <a:rPr lang="en-US" sz="850" b="1" i="1" smtClean="0">
                                      <a:solidFill>
                                        <a:srgbClr val="1A2B3C"/>
                                      </a:solidFill>
                                      <a:latin typeface="Cambria Math" panose="02040503050406030204" pitchFamily="18" charset="0"/>
                                      <a:ea typeface="Calibri" pitchFamily="34" charset="-122"/>
                                      <a:cs typeface="Calibri" pitchFamily="34" charset="-120"/>
                                    </a:rPr>
                                    <m:t>𝑩𝑷𝑹</m:t>
                                  </m:r>
                                </m:sub>
                              </m:sSub>
                            </m:e>
                          </m:d>
                        </m:e>
                      </m:func>
                    </m:oMath>
                  </m:oMathPara>
                </a14:m>
                <a:endParaRPr lang="en-US" sz="850" dirty="0"/>
              </a:p>
            </p:txBody>
          </p:sp>
        </mc:Choice>
        <mc:Fallback xmlns="">
          <p:sp>
            <p:nvSpPr>
              <p:cNvPr id="56" name="Text 54"/>
              <p:cNvSpPr>
                <a:spLocks noRot="1" noChangeAspect="1" noMove="1" noResize="1" noEditPoints="1" noAdjustHandles="1" noChangeArrowheads="1" noChangeShapeType="1" noTextEdit="1"/>
              </p:cNvSpPr>
              <p:nvPr/>
            </p:nvSpPr>
            <p:spPr>
              <a:xfrm>
                <a:off x="7470648" y="2834640"/>
                <a:ext cx="1417320" cy="658368"/>
              </a:xfrm>
              <a:prstGeom prst="rect">
                <a:avLst/>
              </a:prstGeom>
              <a:blipFill>
                <a:blip r:embed="rId5"/>
                <a:stretch>
                  <a:fillRect/>
                </a:stretch>
              </a:blipFill>
              <a:ln/>
            </p:spPr>
            <p:txBody>
              <a:bodyPr/>
              <a:lstStyle/>
              <a:p>
                <a:r>
                  <a:rPr lang="en-VN">
                    <a:noFill/>
                  </a:rPr>
                  <a:t> </a:t>
                </a:r>
              </a:p>
            </p:txBody>
          </p:sp>
        </mc:Fallback>
      </mc:AlternateContent>
      <p:sp>
        <p:nvSpPr>
          <p:cNvPr id="57" name="Shape 55"/>
          <p:cNvSpPr/>
          <p:nvPr/>
        </p:nvSpPr>
        <p:spPr>
          <a:xfrm>
            <a:off x="4828032" y="3584448"/>
            <a:ext cx="822960" cy="658368"/>
          </a:xfrm>
          <a:prstGeom prst="rect">
            <a:avLst/>
          </a:prstGeom>
          <a:solidFill>
            <a:srgbClr val="F4A261"/>
          </a:solidFill>
          <a:ln w="12700">
            <a:solidFill>
              <a:srgbClr val="F4A261"/>
            </a:solidFill>
            <a:prstDash val="solid"/>
          </a:ln>
        </p:spPr>
        <p:txBody>
          <a:bodyPr/>
          <a:lstStyle/>
          <a:p>
            <a:endParaRPr lang="en-VN"/>
          </a:p>
        </p:txBody>
      </p:sp>
      <p:sp>
        <p:nvSpPr>
          <p:cNvPr id="58" name="Text 56"/>
          <p:cNvSpPr/>
          <p:nvPr/>
        </p:nvSpPr>
        <p:spPr>
          <a:xfrm>
            <a:off x="4828032" y="3584448"/>
            <a:ext cx="822960" cy="65836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Metric</a:t>
            </a:r>
            <a:endParaRPr lang="en-US" sz="900" dirty="0"/>
          </a:p>
        </p:txBody>
      </p:sp>
      <p:sp>
        <p:nvSpPr>
          <p:cNvPr id="59" name="Shape 57"/>
          <p:cNvSpPr/>
          <p:nvPr/>
        </p:nvSpPr>
        <p:spPr>
          <a:xfrm>
            <a:off x="5687568" y="3584448"/>
            <a:ext cx="1463040" cy="658368"/>
          </a:xfrm>
          <a:prstGeom prst="rect">
            <a:avLst/>
          </a:prstGeom>
          <a:solidFill>
            <a:srgbClr val="FFF0F0"/>
          </a:solidFill>
          <a:ln w="10160">
            <a:solidFill>
              <a:srgbClr val="D0D0D0"/>
            </a:solidFill>
            <a:prstDash val="solid"/>
          </a:ln>
        </p:spPr>
        <p:txBody>
          <a:bodyPr/>
          <a:lstStyle/>
          <a:p>
            <a:endParaRPr lang="en-VN"/>
          </a:p>
        </p:txBody>
      </p:sp>
      <p:sp>
        <p:nvSpPr>
          <p:cNvPr id="60" name="Text 58"/>
          <p:cNvSpPr/>
          <p:nvPr/>
        </p:nvSpPr>
        <p:spPr>
          <a:xfrm>
            <a:off x="5687568" y="3584448"/>
            <a:ext cx="1463040" cy="658368"/>
          </a:xfrm>
          <a:prstGeom prst="rect">
            <a:avLst/>
          </a:prstGeom>
          <a:noFill/>
          <a:ln/>
        </p:spPr>
        <p:txBody>
          <a:bodyPr wrap="square" rtlCol="0" anchor="ctr"/>
          <a:lstStyle/>
          <a:p>
            <a:pPr marL="0" indent="0" algn="ctr">
              <a:buNone/>
            </a:pPr>
            <a:r>
              <a:rPr lang="en-US" sz="850" dirty="0">
                <a:solidFill>
                  <a:srgbClr val="5A6A78"/>
                </a:solidFill>
                <a:latin typeface="Calibri" pitchFamily="34" charset="0"/>
                <a:ea typeface="Calibri" pitchFamily="34" charset="-122"/>
                <a:cs typeface="Calibri" pitchFamily="34" charset="-120"/>
              </a:rPr>
              <a:t>F1-score</a:t>
            </a:r>
            <a:endParaRPr lang="en-US" sz="850" dirty="0"/>
          </a:p>
        </p:txBody>
      </p:sp>
      <p:sp>
        <p:nvSpPr>
          <p:cNvPr id="61" name="Shape 59"/>
          <p:cNvSpPr/>
          <p:nvPr/>
        </p:nvSpPr>
        <p:spPr>
          <a:xfrm>
            <a:off x="7178040" y="3913632"/>
            <a:ext cx="256032" cy="9144"/>
          </a:xfrm>
          <a:prstGeom prst="line">
            <a:avLst/>
          </a:prstGeom>
          <a:noFill/>
          <a:ln w="19050">
            <a:solidFill>
              <a:srgbClr val="F4A261"/>
            </a:solidFill>
            <a:prstDash val="solid"/>
            <a:tailEnd type="arrow"/>
          </a:ln>
        </p:spPr>
        <p:txBody>
          <a:bodyPr/>
          <a:lstStyle/>
          <a:p>
            <a:endParaRPr lang="en-VN"/>
          </a:p>
        </p:txBody>
      </p:sp>
      <p:sp>
        <p:nvSpPr>
          <p:cNvPr id="62" name="Shape 60"/>
          <p:cNvSpPr/>
          <p:nvPr/>
        </p:nvSpPr>
        <p:spPr>
          <a:xfrm>
            <a:off x="7470648" y="3584448"/>
            <a:ext cx="1417320" cy="658368"/>
          </a:xfrm>
          <a:prstGeom prst="rect">
            <a:avLst/>
          </a:prstGeom>
          <a:solidFill>
            <a:srgbClr val="EBF5FB"/>
          </a:solidFill>
          <a:ln w="19050">
            <a:solidFill>
              <a:srgbClr val="F4A261"/>
            </a:solidFill>
            <a:prstDash val="solid"/>
          </a:ln>
        </p:spPr>
        <p:txBody>
          <a:bodyPr/>
          <a:lstStyle/>
          <a:p>
            <a:endParaRPr lang="en-VN"/>
          </a:p>
        </p:txBody>
      </p:sp>
      <p:sp>
        <p:nvSpPr>
          <p:cNvPr id="63" name="Text 61"/>
          <p:cNvSpPr/>
          <p:nvPr/>
        </p:nvSpPr>
        <p:spPr>
          <a:xfrm>
            <a:off x="7470648" y="3584448"/>
            <a:ext cx="1417320" cy="658368"/>
          </a:xfrm>
          <a:prstGeom prst="rect">
            <a:avLst/>
          </a:prstGeom>
          <a:noFill/>
          <a:ln/>
        </p:spPr>
        <p:txBody>
          <a:bodyPr wrap="square" rtlCol="0" anchor="ctr"/>
          <a:lstStyle/>
          <a:p>
            <a:pPr marL="0" indent="0" algn="ctr">
              <a:buNone/>
            </a:pPr>
            <a:r>
              <a:rPr lang="en-US" sz="850" b="1" dirty="0">
                <a:solidFill>
                  <a:srgbClr val="1A2B3C"/>
                </a:solidFill>
                <a:latin typeface="Calibri" pitchFamily="34" charset="0"/>
                <a:ea typeface="Calibri" pitchFamily="34" charset="-122"/>
                <a:cs typeface="Calibri" pitchFamily="34" charset="-120"/>
              </a:rPr>
              <a:t>Recall@K</a:t>
            </a:r>
            <a:endParaRPr lang="en-US" sz="850" dirty="0"/>
          </a:p>
          <a:p>
            <a:pPr marL="0" indent="0" algn="ctr">
              <a:buNone/>
            </a:pPr>
            <a:r>
              <a:rPr lang="en-US" sz="850" b="1" dirty="0">
                <a:solidFill>
                  <a:srgbClr val="1A2B3C"/>
                </a:solidFill>
                <a:latin typeface="Calibri" pitchFamily="34" charset="0"/>
                <a:ea typeface="Calibri" pitchFamily="34" charset="-122"/>
                <a:cs typeface="Calibri" pitchFamily="34" charset="-120"/>
              </a:rPr>
              <a:t>NDCG@K</a:t>
            </a:r>
            <a:endParaRPr lang="en-US" sz="850" dirty="0"/>
          </a:p>
        </p:txBody>
      </p:sp>
      <p:sp>
        <p:nvSpPr>
          <p:cNvPr id="64" name="Shape 62"/>
          <p:cNvSpPr/>
          <p:nvPr/>
        </p:nvSpPr>
        <p:spPr>
          <a:xfrm>
            <a:off x="4828032" y="4370832"/>
            <a:ext cx="4059936" cy="347472"/>
          </a:xfrm>
          <a:prstGeom prst="rect">
            <a:avLst/>
          </a:prstGeom>
          <a:solidFill>
            <a:srgbClr val="E8F8F5"/>
          </a:solidFill>
          <a:ln w="12700">
            <a:solidFill>
              <a:srgbClr val="02C39A"/>
            </a:solidFill>
            <a:prstDash val="solid"/>
          </a:ln>
        </p:spPr>
        <p:txBody>
          <a:bodyPr/>
          <a:lstStyle/>
          <a:p>
            <a:endParaRPr lang="en-VN"/>
          </a:p>
        </p:txBody>
      </p:sp>
      <mc:AlternateContent xmlns:mc="http://schemas.openxmlformats.org/markup-compatibility/2006" xmlns:a14="http://schemas.microsoft.com/office/drawing/2010/main">
        <mc:Choice Requires="a14">
          <p:sp>
            <p:nvSpPr>
              <p:cNvPr id="65" name="Text 63"/>
              <p:cNvSpPr/>
              <p:nvPr/>
            </p:nvSpPr>
            <p:spPr>
              <a:xfrm>
                <a:off x="4828032" y="4370832"/>
                <a:ext cx="4059936" cy="347472"/>
              </a:xfrm>
              <a:prstGeom prst="rect">
                <a:avLst/>
              </a:prstGeom>
              <a:noFill/>
              <a:ln/>
            </p:spPr>
            <p:txBody>
              <a:bodyPr wrap="square" rtlCol="0" anchor="ctr"/>
              <a:lstStyle/>
              <a:p>
                <a:pPr marL="0" indent="0" algn="ctr">
                  <a:buNone/>
                </a:pPr>
                <a14:m>
                  <m:oMath xmlns:m="http://schemas.openxmlformats.org/officeDocument/2006/math">
                    <m:r>
                      <a:rPr lang="en-US" sz="950" i="1" dirty="0" smtClean="0">
                        <a:solidFill>
                          <a:srgbClr val="1C7293"/>
                        </a:solidFill>
                        <a:latin typeface="Cambria Math" panose="02040503050406030204" pitchFamily="18" charset="0"/>
                        <a:ea typeface="Calibri" pitchFamily="34" charset="-122"/>
                        <a:cs typeface="Calibri" pitchFamily="34" charset="-120"/>
                      </a:rPr>
                      <m:t>𝐺𝐶</m:t>
                    </m:r>
                    <m:sSub>
                      <m:sSubPr>
                        <m:ctrlPr>
                          <a:rPr lang="en-US" sz="950" i="1" dirty="0" smtClean="0">
                            <a:solidFill>
                              <a:srgbClr val="1C7293"/>
                            </a:solidFill>
                            <a:latin typeface="Cambria Math" panose="02040503050406030204" pitchFamily="18" charset="0"/>
                            <a:ea typeface="Calibri" pitchFamily="34" charset="-122"/>
                            <a:cs typeface="Calibri" pitchFamily="34" charset="-120"/>
                          </a:rPr>
                        </m:ctrlPr>
                      </m:sSubPr>
                      <m:e>
                        <m:r>
                          <a:rPr lang="en-US" sz="950" i="1" dirty="0" smtClean="0">
                            <a:solidFill>
                              <a:srgbClr val="1C7293"/>
                            </a:solidFill>
                            <a:latin typeface="Cambria Math" panose="02040503050406030204" pitchFamily="18" charset="0"/>
                            <a:ea typeface="Calibri" pitchFamily="34" charset="-122"/>
                            <a:cs typeface="Calibri" pitchFamily="34" charset="-120"/>
                          </a:rPr>
                          <m:t>𝑁</m:t>
                        </m:r>
                      </m:e>
                      <m:sub>
                        <m:r>
                          <a:rPr lang="en-US" sz="950" i="1" dirty="0" smtClean="0">
                            <a:solidFill>
                              <a:srgbClr val="1C7293"/>
                            </a:solidFill>
                            <a:latin typeface="Cambria Math" panose="02040503050406030204" pitchFamily="18" charset="0"/>
                            <a:ea typeface="Calibri" pitchFamily="34" charset="-122"/>
                            <a:cs typeface="Calibri" pitchFamily="34" charset="-120"/>
                          </a:rPr>
                          <m:t>𝑆</m:t>
                        </m:r>
                      </m:sub>
                    </m:sSub>
                  </m:oMath>
                </a14:m>
                <a:r>
                  <a:rPr lang="en-US" sz="950" dirty="0">
                    <a:solidFill>
                      <a:srgbClr val="1C7293"/>
                    </a:solidFill>
                    <a:latin typeface="Calibri" pitchFamily="34" charset="0"/>
                    <a:ea typeface="Calibri" pitchFamily="34" charset="-122"/>
                    <a:cs typeface="Calibri" pitchFamily="34" charset="-120"/>
                  </a:rPr>
                  <a:t> (Sampler) và GFlowNet giữ nguyên — chỉ thích nghi 3 thành phần trên</a:t>
                </a:r>
                <a:endParaRPr lang="en-US" sz="950" dirty="0"/>
              </a:p>
            </p:txBody>
          </p:sp>
        </mc:Choice>
        <mc:Fallback xmlns="">
          <p:sp>
            <p:nvSpPr>
              <p:cNvPr id="65" name="Text 63"/>
              <p:cNvSpPr>
                <a:spLocks noRot="1" noChangeAspect="1" noMove="1" noResize="1" noEditPoints="1" noAdjustHandles="1" noChangeArrowheads="1" noChangeShapeType="1" noTextEdit="1"/>
              </p:cNvSpPr>
              <p:nvPr/>
            </p:nvSpPr>
            <p:spPr>
              <a:xfrm>
                <a:off x="4828032" y="4370832"/>
                <a:ext cx="4059936" cy="347472"/>
              </a:xfrm>
              <a:prstGeom prst="rect">
                <a:avLst/>
              </a:prstGeom>
              <a:blipFill>
                <a:blip r:embed="rId6"/>
                <a:stretch>
                  <a:fillRect/>
                </a:stretch>
              </a:blipFill>
              <a:ln/>
            </p:spPr>
            <p:txBody>
              <a:bodyPr/>
              <a:lstStyle/>
              <a:p>
                <a:r>
                  <a:rPr lang="en-VN">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Luồng Dữ Liệu Chi Tiết: GRAPES Cho Hệ Thống Gợi Ý</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27 / 29</a:t>
            </a:r>
            <a:endParaRPr lang="en-US" sz="1000" dirty="0"/>
          </a:p>
        </p:txBody>
      </p:sp>
      <p:sp>
        <p:nvSpPr>
          <p:cNvPr id="5" name="Shape 3"/>
          <p:cNvSpPr/>
          <p:nvPr/>
        </p:nvSpPr>
        <p:spPr>
          <a:xfrm>
            <a:off x="201168" y="877824"/>
            <a:ext cx="5559552" cy="457200"/>
          </a:xfrm>
          <a:prstGeom prst="rect">
            <a:avLst/>
          </a:prstGeom>
          <a:solidFill>
            <a:srgbClr val="FFF9F0"/>
          </a:solidFill>
          <a:ln w="22860">
            <a:solidFill>
              <a:srgbClr val="F4A261"/>
            </a:solidFill>
            <a:prstDash val="solid"/>
          </a:ln>
        </p:spPr>
        <p:txBody>
          <a:bodyPr/>
          <a:lstStyle/>
          <a:p>
            <a:endParaRPr lang="en-VN"/>
          </a:p>
        </p:txBody>
      </p:sp>
      <p:sp>
        <p:nvSpPr>
          <p:cNvPr id="6" name="Text 4"/>
          <p:cNvSpPr/>
          <p:nvPr/>
        </p:nvSpPr>
        <p:spPr>
          <a:xfrm>
            <a:off x="310896" y="877824"/>
            <a:ext cx="5340096" cy="457200"/>
          </a:xfrm>
          <a:prstGeom prst="rect">
            <a:avLst/>
          </a:prstGeom>
          <a:noFill/>
          <a:ln/>
        </p:spPr>
        <p:txBody>
          <a:bodyPr wrap="square" rtlCol="0" anchor="ctr"/>
          <a:lstStyle/>
          <a:p>
            <a:pPr marL="0" indent="0">
              <a:buNone/>
            </a:pPr>
            <a:r>
              <a:rPr lang="en-US" sz="1150" b="1" dirty="0">
                <a:solidFill>
                  <a:srgbClr val="F4A261"/>
                </a:solidFill>
                <a:latin typeface="Calibri" pitchFamily="34" charset="0"/>
                <a:ea typeface="Calibri" pitchFamily="34" charset="-122"/>
                <a:cs typeface="Calibri" pitchFamily="34" charset="-120"/>
              </a:rPr>
              <a:t>① Tiền xử lý  </a:t>
            </a:r>
            <a:r>
              <a:rPr lang="en-US" sz="1150" dirty="0">
                <a:solidFill>
                  <a:srgbClr val="1A2B3C"/>
                </a:solidFill>
                <a:latin typeface="Calibri" pitchFamily="34" charset="0"/>
                <a:ea typeface="Calibri" pitchFamily="34" charset="-122"/>
                <a:cs typeface="Calibri" pitchFamily="34" charset="-120"/>
              </a:rPr>
              <a:t>5-core filter (user/item ≥ 5 tương tác)   |   Timestamp split: train 80% / val 10% / test 10%   |   ID mapping</a:t>
            </a:r>
            <a:endParaRPr lang="en-US" sz="1150" dirty="0"/>
          </a:p>
        </p:txBody>
      </p:sp>
      <p:sp>
        <p:nvSpPr>
          <p:cNvPr id="7" name="Shape 5"/>
          <p:cNvSpPr/>
          <p:nvPr/>
        </p:nvSpPr>
        <p:spPr>
          <a:xfrm>
            <a:off x="2980944" y="1335024"/>
            <a:ext cx="9144" cy="128016"/>
          </a:xfrm>
          <a:prstGeom prst="line">
            <a:avLst/>
          </a:prstGeom>
          <a:noFill/>
          <a:ln w="25400">
            <a:solidFill>
              <a:srgbClr val="1C7293"/>
            </a:solidFill>
            <a:prstDash val="solid"/>
            <a:tailEnd type="arrow"/>
          </a:ln>
        </p:spPr>
        <p:txBody>
          <a:bodyPr/>
          <a:lstStyle/>
          <a:p>
            <a:endParaRPr lang="en-VN"/>
          </a:p>
        </p:txBody>
      </p:sp>
      <p:sp>
        <p:nvSpPr>
          <p:cNvPr id="8" name="Shape 6"/>
          <p:cNvSpPr/>
          <p:nvPr/>
        </p:nvSpPr>
        <p:spPr>
          <a:xfrm>
            <a:off x="201168" y="1463040"/>
            <a:ext cx="5559552" cy="457200"/>
          </a:xfrm>
          <a:prstGeom prst="rect">
            <a:avLst/>
          </a:prstGeom>
          <a:solidFill>
            <a:srgbClr val="EBF5FB"/>
          </a:solidFill>
          <a:ln w="22860">
            <a:solidFill>
              <a:srgbClr val="1C7293"/>
            </a:solidFill>
            <a:prstDash val="solid"/>
          </a:ln>
        </p:spPr>
        <p:txBody>
          <a:bodyPr/>
          <a:lstStyle/>
          <a:p>
            <a:endParaRPr lang="en-VN"/>
          </a:p>
        </p:txBody>
      </p:sp>
      <p:sp>
        <p:nvSpPr>
          <p:cNvPr id="9" name="Text 7"/>
          <p:cNvSpPr/>
          <p:nvPr/>
        </p:nvSpPr>
        <p:spPr>
          <a:xfrm>
            <a:off x="310896" y="1463040"/>
            <a:ext cx="5340096" cy="457200"/>
          </a:xfrm>
          <a:prstGeom prst="rect">
            <a:avLst/>
          </a:prstGeom>
          <a:noFill/>
          <a:ln/>
        </p:spPr>
        <p:txBody>
          <a:bodyPr wrap="square" rtlCol="0" anchor="ctr"/>
          <a:lstStyle/>
          <a:p>
            <a:pPr marL="0" indent="0">
              <a:buNone/>
            </a:pPr>
            <a:r>
              <a:rPr lang="en-US" sz="1150" b="1" dirty="0">
                <a:solidFill>
                  <a:srgbClr val="1C7293"/>
                </a:solidFill>
                <a:latin typeface="Calibri" pitchFamily="34" charset="0"/>
                <a:ea typeface="Calibri" pitchFamily="34" charset="-122"/>
                <a:cs typeface="Calibri" pitchFamily="34" charset="-120"/>
              </a:rPr>
              <a:t>② Đồ thị hai phía  G = (U ∪ I, E)  </a:t>
            </a:r>
            <a:r>
              <a:rPr lang="en-US" sz="1150" dirty="0">
                <a:solidFill>
                  <a:srgbClr val="1A2B3C"/>
                </a:solidFill>
                <a:latin typeface="Calibri" pitchFamily="34" charset="0"/>
                <a:ea typeface="Calibri" pitchFamily="34" charset="-122"/>
                <a:cs typeface="Calibri" pitchFamily="34" charset="-120"/>
              </a:rPr>
              <a:t>Đỉnh: User + Item   |   Cạnh: tương tác rating   |   |V| = |U|+|I|,  |E| = #ratings</a:t>
            </a:r>
            <a:endParaRPr lang="en-US" sz="1150" dirty="0"/>
          </a:p>
        </p:txBody>
      </p:sp>
      <p:sp>
        <p:nvSpPr>
          <p:cNvPr id="10" name="Shape 8"/>
          <p:cNvSpPr/>
          <p:nvPr/>
        </p:nvSpPr>
        <p:spPr>
          <a:xfrm>
            <a:off x="2980944" y="1920240"/>
            <a:ext cx="9144" cy="128016"/>
          </a:xfrm>
          <a:prstGeom prst="line">
            <a:avLst/>
          </a:prstGeom>
          <a:noFill/>
          <a:ln w="25400">
            <a:solidFill>
              <a:srgbClr val="1C7293"/>
            </a:solidFill>
            <a:prstDash val="solid"/>
            <a:tailEnd type="arrow"/>
          </a:ln>
        </p:spPr>
        <p:txBody>
          <a:bodyPr/>
          <a:lstStyle/>
          <a:p>
            <a:endParaRPr lang="en-VN"/>
          </a:p>
        </p:txBody>
      </p:sp>
      <p:sp>
        <p:nvSpPr>
          <p:cNvPr id="11" name="Shape 9"/>
          <p:cNvSpPr/>
          <p:nvPr/>
        </p:nvSpPr>
        <p:spPr>
          <a:xfrm>
            <a:off x="201168" y="2048256"/>
            <a:ext cx="5559552" cy="457200"/>
          </a:xfrm>
          <a:prstGeom prst="rect">
            <a:avLst/>
          </a:prstGeom>
          <a:solidFill>
            <a:srgbClr val="F3F6F9"/>
          </a:solidFill>
          <a:ln w="15240">
            <a:solidFill>
              <a:srgbClr val="5A6A78"/>
            </a:solidFill>
            <a:prstDash val="solid"/>
          </a:ln>
        </p:spPr>
        <p:txBody>
          <a:bodyPr/>
          <a:lstStyle/>
          <a:p>
            <a:endParaRPr lang="en-VN"/>
          </a:p>
        </p:txBody>
      </p:sp>
      <p:sp>
        <p:nvSpPr>
          <p:cNvPr id="12" name="Text 10"/>
          <p:cNvSpPr/>
          <p:nvPr/>
        </p:nvSpPr>
        <p:spPr>
          <a:xfrm>
            <a:off x="310896" y="2048256"/>
            <a:ext cx="5340096" cy="457200"/>
          </a:xfrm>
          <a:prstGeom prst="rect">
            <a:avLst/>
          </a:prstGeom>
          <a:noFill/>
          <a:ln/>
        </p:spPr>
        <p:txBody>
          <a:bodyPr wrap="square" rtlCol="0" anchor="ctr"/>
          <a:lstStyle/>
          <a:p>
            <a:pPr marL="0" indent="0">
              <a:buNone/>
            </a:pPr>
            <a:r>
              <a:rPr lang="en-US" sz="1150" b="1" dirty="0">
                <a:solidFill>
                  <a:srgbClr val="5A6A78"/>
                </a:solidFill>
                <a:latin typeface="Calibri" pitchFamily="34" charset="0"/>
                <a:ea typeface="Calibri" pitchFamily="34" charset="-122"/>
                <a:cs typeface="Calibri" pitchFamily="34" charset="-120"/>
              </a:rPr>
              <a:t>③ Mini-batch  </a:t>
            </a:r>
            <a:r>
              <a:rPr lang="en-US" sz="1150" dirty="0">
                <a:solidFill>
                  <a:srgbClr val="1A2B3C"/>
                </a:solidFill>
                <a:latin typeface="Calibri" pitchFamily="34" charset="0"/>
                <a:ea typeface="Calibri" pitchFamily="34" charset="-122"/>
                <a:cs typeface="Calibri" pitchFamily="34" charset="-120"/>
              </a:rPr>
              <a:t>B ⊂ U  (|B| = 512 users)   →   xác định L-hop neighborhood N^L(B)   →   tập ứng viên lân cận C</a:t>
            </a:r>
            <a:endParaRPr lang="en-US" sz="1150" dirty="0"/>
          </a:p>
        </p:txBody>
      </p:sp>
      <p:sp>
        <p:nvSpPr>
          <p:cNvPr id="13" name="Shape 11"/>
          <p:cNvSpPr/>
          <p:nvPr/>
        </p:nvSpPr>
        <p:spPr>
          <a:xfrm>
            <a:off x="2980944" y="2505456"/>
            <a:ext cx="9144" cy="128016"/>
          </a:xfrm>
          <a:prstGeom prst="line">
            <a:avLst/>
          </a:prstGeom>
          <a:noFill/>
          <a:ln w="25400">
            <a:solidFill>
              <a:srgbClr val="1C7293"/>
            </a:solidFill>
            <a:prstDash val="solid"/>
            <a:tailEnd type="arrow"/>
          </a:ln>
        </p:spPr>
        <p:txBody>
          <a:bodyPr/>
          <a:lstStyle/>
          <a:p>
            <a:endParaRPr lang="en-VN"/>
          </a:p>
        </p:txBody>
      </p:sp>
      <p:sp>
        <p:nvSpPr>
          <p:cNvPr id="14" name="Shape 12"/>
          <p:cNvSpPr/>
          <p:nvPr/>
        </p:nvSpPr>
        <p:spPr>
          <a:xfrm>
            <a:off x="201168" y="2633472"/>
            <a:ext cx="5559552" cy="457200"/>
          </a:xfrm>
          <a:prstGeom prst="rect">
            <a:avLst/>
          </a:prstGeom>
          <a:solidFill>
            <a:srgbClr val="E5F0FF"/>
          </a:solidFill>
          <a:ln w="31750">
            <a:solidFill>
              <a:srgbClr val="065A82"/>
            </a:solidFill>
            <a:prstDash val="solid"/>
          </a:ln>
        </p:spPr>
        <p:txBody>
          <a:bodyPr/>
          <a:lstStyle/>
          <a:p>
            <a:endParaRPr lang="en-VN"/>
          </a:p>
        </p:txBody>
      </p:sp>
      <mc:AlternateContent xmlns:mc="http://schemas.openxmlformats.org/markup-compatibility/2006" xmlns:a14="http://schemas.microsoft.com/office/drawing/2010/main">
        <mc:Choice Requires="a14">
          <p:sp>
            <p:nvSpPr>
              <p:cNvPr id="15" name="Text 13"/>
              <p:cNvSpPr/>
              <p:nvPr/>
            </p:nvSpPr>
            <p:spPr>
              <a:xfrm>
                <a:off x="310896" y="2633472"/>
                <a:ext cx="5340096" cy="457200"/>
              </a:xfrm>
              <a:prstGeom prst="rect">
                <a:avLst/>
              </a:prstGeom>
              <a:noFill/>
              <a:ln/>
            </p:spPr>
            <p:txBody>
              <a:bodyPr wrap="square" rtlCol="0" anchor="ctr"/>
              <a:lstStyle/>
              <a:p>
                <a:r>
                  <a:rPr lang="en-US" sz="1150" b="1" dirty="0">
                    <a:solidFill>
                      <a:srgbClr val="065A82"/>
                    </a:solidFill>
                    <a:latin typeface="Calibri" pitchFamily="34" charset="0"/>
                    <a:ea typeface="Calibri" pitchFamily="34" charset="-122"/>
                    <a:cs typeface="Calibri" pitchFamily="34" charset="-120"/>
                  </a:rPr>
                  <a:t>④ </a:t>
                </a:r>
                <a14:m>
                  <m:oMath xmlns:m="http://schemas.openxmlformats.org/officeDocument/2006/math">
                    <m:r>
                      <a:rPr lang="en-US" sz="1150" b="1" i="1" dirty="0" smtClean="0">
                        <a:solidFill>
                          <a:srgbClr val="065A82"/>
                        </a:solidFill>
                        <a:latin typeface="Cambria Math" panose="02040503050406030204" pitchFamily="18" charset="0"/>
                        <a:ea typeface="Calibri" pitchFamily="34" charset="-122"/>
                        <a:cs typeface="Calibri" pitchFamily="34" charset="-120"/>
                      </a:rPr>
                      <m:t>𝑮𝑪</m:t>
                    </m:r>
                    <m:sSub>
                      <m:sSubPr>
                        <m:ctrlPr>
                          <a:rPr lang="en-US" sz="1150" b="1" i="1" dirty="0" smtClean="0">
                            <a:solidFill>
                              <a:srgbClr val="065A82"/>
                            </a:solidFill>
                            <a:latin typeface="Cambria Math" panose="02040503050406030204" pitchFamily="18" charset="0"/>
                            <a:ea typeface="Calibri" pitchFamily="34" charset="-122"/>
                            <a:cs typeface="Calibri" pitchFamily="34" charset="-120"/>
                          </a:rPr>
                        </m:ctrlPr>
                      </m:sSubPr>
                      <m:e>
                        <m:r>
                          <a:rPr lang="en-US" sz="1150" b="1" i="1" dirty="0" smtClean="0">
                            <a:solidFill>
                              <a:srgbClr val="065A82"/>
                            </a:solidFill>
                            <a:latin typeface="Cambria Math" panose="02040503050406030204" pitchFamily="18" charset="0"/>
                            <a:ea typeface="Calibri" pitchFamily="34" charset="-122"/>
                            <a:cs typeface="Calibri" pitchFamily="34" charset="-120"/>
                          </a:rPr>
                          <m:t>𝑵</m:t>
                        </m:r>
                      </m:e>
                      <m:sub>
                        <m:r>
                          <a:rPr lang="en-US" sz="1150" b="1" i="1" dirty="0" smtClean="0">
                            <a:solidFill>
                              <a:srgbClr val="065A82"/>
                            </a:solidFill>
                            <a:latin typeface="Cambria Math" panose="02040503050406030204" pitchFamily="18" charset="0"/>
                            <a:ea typeface="Calibri" pitchFamily="34" charset="-122"/>
                            <a:cs typeface="Calibri" pitchFamily="34" charset="-120"/>
                          </a:rPr>
                          <m:t>𝑺</m:t>
                        </m:r>
                      </m:sub>
                    </m:sSub>
                  </m:oMath>
                </a14:m>
                <a:r>
                  <a:rPr lang="en-US" sz="1150" b="1" dirty="0">
                    <a:solidFill>
                      <a:srgbClr val="065A82"/>
                    </a:solidFill>
                    <a:latin typeface="Calibri" pitchFamily="34" charset="0"/>
                    <a:ea typeface="Calibri" pitchFamily="34" charset="-122"/>
                    <a:cs typeface="Calibri" pitchFamily="34" charset="-120"/>
                  </a:rPr>
                  <a:t>— </a:t>
                </a:r>
                <a:r>
                  <a:rPr lang="en-US" sz="1150" b="1">
                    <a:solidFill>
                      <a:srgbClr val="065A82"/>
                    </a:solidFill>
                    <a:latin typeface="Calibri" pitchFamily="34" charset="0"/>
                    <a:ea typeface="Calibri" pitchFamily="34" charset="-122"/>
                    <a:cs typeface="Calibri" pitchFamily="34" charset="-120"/>
                  </a:rPr>
                  <a:t>Sampler  </a:t>
                </a:r>
                <a14:m>
                  <m:oMath xmlns:m="http://schemas.openxmlformats.org/officeDocument/2006/math">
                    <m:sSubSup>
                      <m:sSubSupPr>
                        <m:ctrlPr>
                          <a:rPr lang="en-US" sz="1150" i="1" smtClean="0">
                            <a:solidFill>
                              <a:srgbClr val="1A2B3C"/>
                            </a:solidFill>
                            <a:latin typeface="Cambria Math" panose="02040503050406030204" pitchFamily="18" charset="0"/>
                            <a:ea typeface="Calibri" pitchFamily="34" charset="-122"/>
                            <a:cs typeface="Calibri" pitchFamily="34" charset="-120"/>
                          </a:rPr>
                        </m:ctrlPr>
                      </m:sSubSupPr>
                      <m:e>
                        <m:r>
                          <a:rPr lang="en-US" sz="1150" i="1" smtClean="0">
                            <a:solidFill>
                              <a:srgbClr val="1A2B3C"/>
                            </a:solidFill>
                            <a:latin typeface="Cambria Math" panose="02040503050406030204" pitchFamily="18" charset="0"/>
                            <a:ea typeface="Calibri" pitchFamily="34" charset="-122"/>
                            <a:cs typeface="Calibri" pitchFamily="34" charset="-120"/>
                          </a:rPr>
                          <m:t>h</m:t>
                        </m:r>
                      </m:e>
                      <m:sub>
                        <m:r>
                          <a:rPr lang="en-US" sz="1150" i="1" smtClean="0">
                            <a:solidFill>
                              <a:srgbClr val="1A2B3C"/>
                            </a:solidFill>
                            <a:latin typeface="Cambria Math" panose="02040503050406030204" pitchFamily="18" charset="0"/>
                            <a:ea typeface="Calibri" pitchFamily="34" charset="-122"/>
                            <a:cs typeface="Calibri" pitchFamily="34" charset="-120"/>
                          </a:rPr>
                          <m:t>𝑣</m:t>
                        </m:r>
                      </m:sub>
                      <m:sup>
                        <m:d>
                          <m:dPr>
                            <m:ctrlPr>
                              <a:rPr lang="en-US" sz="1150" i="1" smtClean="0">
                                <a:solidFill>
                                  <a:srgbClr val="1A2B3C"/>
                                </a:solidFill>
                                <a:latin typeface="Cambria Math" panose="02040503050406030204" pitchFamily="18" charset="0"/>
                                <a:ea typeface="Calibri" pitchFamily="34" charset="-122"/>
                                <a:cs typeface="Calibri" pitchFamily="34" charset="-120"/>
                              </a:rPr>
                            </m:ctrlPr>
                          </m:dPr>
                          <m:e>
                            <m:r>
                              <a:rPr lang="en-US" sz="1150" i="1" smtClean="0">
                                <a:solidFill>
                                  <a:srgbClr val="1A2B3C"/>
                                </a:solidFill>
                                <a:latin typeface="Cambria Math" panose="02040503050406030204" pitchFamily="18" charset="0"/>
                                <a:ea typeface="Calibri" pitchFamily="34" charset="-122"/>
                                <a:cs typeface="Calibri" pitchFamily="34" charset="-120"/>
                              </a:rPr>
                              <m:t>0</m:t>
                            </m:r>
                          </m:e>
                        </m:d>
                      </m:sup>
                    </m:sSubSup>
                    <m:r>
                      <m:rPr>
                        <m:lit/>
                      </m:rPr>
                      <a:rPr lang="en-US" sz="1150" i="1">
                        <a:solidFill>
                          <a:srgbClr val="1A2B3C"/>
                        </a:solidFill>
                        <a:latin typeface="Cambria Math" panose="02040503050406030204" pitchFamily="18" charset="0"/>
                        <a:ea typeface="Calibri" pitchFamily="34" charset="-122"/>
                        <a:cs typeface="Calibri" pitchFamily="34" charset="-120"/>
                      </a:rPr>
                      <m:t>;</m:t>
                    </m:r>
                    <m:r>
                      <a:rPr lang="en-US" sz="1150" i="1">
                        <a:solidFill>
                          <a:srgbClr val="1A2B3C"/>
                        </a:solidFill>
                        <a:latin typeface="Cambria Math" panose="02040503050406030204" pitchFamily="18" charset="0"/>
                        <a:ea typeface="Calibri" pitchFamily="34" charset="-122"/>
                        <a:cs typeface="Calibri" pitchFamily="34" charset="-120"/>
                      </a:rPr>
                      <m:t>∀</m:t>
                    </m:r>
                    <m:r>
                      <a:rPr lang="en-US" sz="1150" i="1">
                        <a:solidFill>
                          <a:srgbClr val="1A2B3C"/>
                        </a:solidFill>
                        <a:latin typeface="Cambria Math" panose="02040503050406030204" pitchFamily="18" charset="0"/>
                        <a:ea typeface="Calibri" pitchFamily="34" charset="-122"/>
                        <a:cs typeface="Calibri" pitchFamily="34" charset="-120"/>
                      </a:rPr>
                      <m:t>𝑣</m:t>
                    </m:r>
                    <m:r>
                      <a:rPr lang="en-US" sz="1150" i="1">
                        <a:solidFill>
                          <a:srgbClr val="1A2B3C"/>
                        </a:solidFill>
                        <a:latin typeface="Cambria Math" panose="02040503050406030204" pitchFamily="18" charset="0"/>
                        <a:ea typeface="Calibri" pitchFamily="34" charset="-122"/>
                        <a:cs typeface="Calibri" pitchFamily="34" charset="-120"/>
                      </a:rPr>
                      <m:t>∈</m:t>
                    </m:r>
                    <m:r>
                      <a:rPr lang="en-US" sz="1150" i="1">
                        <a:solidFill>
                          <a:srgbClr val="1A2B3C"/>
                        </a:solidFill>
                        <a:latin typeface="Cambria Math" panose="02040503050406030204" pitchFamily="18" charset="0"/>
                        <a:ea typeface="Calibri" pitchFamily="34" charset="-122"/>
                        <a:cs typeface="Calibri" pitchFamily="34" charset="-120"/>
                      </a:rPr>
                      <m:t>𝐶</m:t>
                    </m:r>
                    <m:r>
                      <a:rPr lang="en-US" sz="1150" i="1">
                        <a:solidFill>
                          <a:srgbClr val="1A2B3C"/>
                        </a:solidFill>
                        <a:latin typeface="Cambria Math" panose="02040503050406030204" pitchFamily="18" charset="0"/>
                        <a:ea typeface="Calibri" pitchFamily="34" charset="-122"/>
                        <a:cs typeface="Calibri" pitchFamily="34" charset="-120"/>
                      </a:rPr>
                      <m:t>→</m:t>
                    </m:r>
                    <m:sSub>
                      <m:sSubPr>
                        <m:ctrlPr>
                          <a:rPr lang="en-US" sz="1150" i="1">
                            <a:solidFill>
                              <a:srgbClr val="1A2B3C"/>
                            </a:solidFill>
                            <a:latin typeface="Cambria Math" panose="02040503050406030204" pitchFamily="18" charset="0"/>
                            <a:ea typeface="Calibri" pitchFamily="34" charset="-122"/>
                            <a:cs typeface="Calibri" pitchFamily="34" charset="-120"/>
                          </a:rPr>
                        </m:ctrlPr>
                      </m:sSubPr>
                      <m:e>
                        <m:r>
                          <a:rPr lang="en-US" sz="1150" i="1">
                            <a:solidFill>
                              <a:srgbClr val="1A2B3C"/>
                            </a:solidFill>
                            <a:latin typeface="Cambria Math" panose="02040503050406030204" pitchFamily="18" charset="0"/>
                            <a:ea typeface="Calibri" pitchFamily="34" charset="-122"/>
                            <a:cs typeface="Calibri" pitchFamily="34" charset="-120"/>
                          </a:rPr>
                          <m:t>𝑝</m:t>
                        </m:r>
                      </m:e>
                      <m:sub>
                        <m:r>
                          <a:rPr lang="en-US" sz="1150" i="1">
                            <a:solidFill>
                              <a:srgbClr val="1A2B3C"/>
                            </a:solidFill>
                            <a:latin typeface="Cambria Math" panose="02040503050406030204" pitchFamily="18" charset="0"/>
                            <a:ea typeface="Calibri" pitchFamily="34" charset="-122"/>
                            <a:cs typeface="Calibri" pitchFamily="34" charset="-120"/>
                          </a:rPr>
                          <m:t>𝑣</m:t>
                        </m:r>
                      </m:sub>
                    </m:sSub>
                    <m:r>
                      <a:rPr lang="en-US" sz="1150" i="1">
                        <a:solidFill>
                          <a:srgbClr val="1A2B3C"/>
                        </a:solidFill>
                        <a:latin typeface="Cambria Math" panose="02040503050406030204" pitchFamily="18" charset="0"/>
                        <a:ea typeface="Calibri" pitchFamily="34" charset="-122"/>
                        <a:cs typeface="Calibri" pitchFamily="34" charset="-120"/>
                      </a:rPr>
                      <m:t>∈</m:t>
                    </m:r>
                    <m:d>
                      <m:dPr>
                        <m:begChr m:val="["/>
                        <m:endChr m:val="]"/>
                        <m:ctrlPr>
                          <a:rPr lang="en-US" sz="1150" i="1">
                            <a:solidFill>
                              <a:srgbClr val="1A2B3C"/>
                            </a:solidFill>
                            <a:latin typeface="Cambria Math" panose="02040503050406030204" pitchFamily="18" charset="0"/>
                            <a:ea typeface="Calibri" pitchFamily="34" charset="-122"/>
                            <a:cs typeface="Calibri" pitchFamily="34" charset="-120"/>
                          </a:rPr>
                        </m:ctrlPr>
                      </m:dPr>
                      <m:e>
                        <m:r>
                          <a:rPr lang="en-US" sz="1150" i="1">
                            <a:solidFill>
                              <a:srgbClr val="1A2B3C"/>
                            </a:solidFill>
                            <a:latin typeface="Cambria Math" panose="02040503050406030204" pitchFamily="18" charset="0"/>
                            <a:ea typeface="Calibri" pitchFamily="34" charset="-122"/>
                            <a:cs typeface="Calibri" pitchFamily="34" charset="-120"/>
                          </a:rPr>
                          <m:t>0,1</m:t>
                        </m:r>
                      </m:e>
                    </m:d>
                  </m:oMath>
                </a14:m>
                <a:r>
                  <a:rPr lang="en-US" sz="1150">
                    <a:solidFill>
                      <a:srgbClr val="1A2B3C"/>
                    </a:solidFill>
                    <a:latin typeface="Calibri" pitchFamily="34" charset="0"/>
                    <a:ea typeface="Calibri" pitchFamily="34" charset="-122"/>
                    <a:cs typeface="Calibri" pitchFamily="34" charset="-120"/>
                  </a:rPr>
                  <a:t>  </a:t>
                </a:r>
                <a:r>
                  <a:rPr lang="en-US" sz="1150" dirty="0">
                    <a:solidFill>
                      <a:srgbClr val="1A2B3C"/>
                    </a:solidFill>
                    <a:latin typeface="Calibri" pitchFamily="34" charset="0"/>
                    <a:ea typeface="Calibri" pitchFamily="34" charset="-122"/>
                    <a:cs typeface="Calibri" pitchFamily="34" charset="-120"/>
                  </a:rPr>
                  <a:t>(xác suất quan trọng mỗi ứng viên)</a:t>
                </a:r>
                <a:endParaRPr lang="en-US" sz="1150" dirty="0"/>
              </a:p>
            </p:txBody>
          </p:sp>
        </mc:Choice>
        <mc:Fallback xmlns="">
          <p:sp>
            <p:nvSpPr>
              <p:cNvPr id="15" name="Text 13"/>
              <p:cNvSpPr>
                <a:spLocks noRot="1" noChangeAspect="1" noMove="1" noResize="1" noEditPoints="1" noAdjustHandles="1" noChangeArrowheads="1" noChangeShapeType="1" noTextEdit="1"/>
              </p:cNvSpPr>
              <p:nvPr/>
            </p:nvSpPr>
            <p:spPr>
              <a:xfrm>
                <a:off x="310896" y="2633472"/>
                <a:ext cx="5340096" cy="457200"/>
              </a:xfrm>
              <a:prstGeom prst="rect">
                <a:avLst/>
              </a:prstGeom>
              <a:blipFill>
                <a:blip r:embed="rId3"/>
                <a:stretch>
                  <a:fillRect/>
                </a:stretch>
              </a:blipFill>
              <a:ln/>
            </p:spPr>
            <p:txBody>
              <a:bodyPr/>
              <a:lstStyle/>
              <a:p>
                <a:r>
                  <a:rPr lang="en-VN">
                    <a:noFill/>
                  </a:rPr>
                  <a:t> </a:t>
                </a:r>
              </a:p>
            </p:txBody>
          </p:sp>
        </mc:Fallback>
      </mc:AlternateContent>
      <p:sp>
        <p:nvSpPr>
          <p:cNvPr id="16" name="Shape 14"/>
          <p:cNvSpPr/>
          <p:nvPr/>
        </p:nvSpPr>
        <p:spPr>
          <a:xfrm>
            <a:off x="2980944" y="3090672"/>
            <a:ext cx="9144" cy="201168"/>
          </a:xfrm>
          <a:prstGeom prst="line">
            <a:avLst/>
          </a:prstGeom>
          <a:noFill/>
          <a:ln w="25400">
            <a:solidFill>
              <a:srgbClr val="F4A261"/>
            </a:solidFill>
            <a:prstDash val="solid"/>
            <a:tailEnd type="arrow"/>
          </a:ln>
        </p:spPr>
        <p:txBody>
          <a:bodyPr/>
          <a:lstStyle/>
          <a:p>
            <a:endParaRPr lang="en-VN"/>
          </a:p>
        </p:txBody>
      </p:sp>
      <p:sp>
        <p:nvSpPr>
          <p:cNvPr id="17" name="Text 15"/>
          <p:cNvSpPr/>
          <p:nvPr/>
        </p:nvSpPr>
        <p:spPr>
          <a:xfrm>
            <a:off x="310896" y="3099816"/>
            <a:ext cx="5340096" cy="182880"/>
          </a:xfrm>
          <a:prstGeom prst="rect">
            <a:avLst/>
          </a:prstGeom>
          <a:noFill/>
          <a:ln/>
        </p:spPr>
        <p:txBody>
          <a:bodyPr wrap="square" rtlCol="0" anchor="ctr"/>
          <a:lstStyle/>
          <a:p>
            <a:pPr marL="0" indent="0" algn="ctr">
              <a:buNone/>
            </a:pPr>
            <a:r>
              <a:rPr lang="en-US" sz="900" i="1" dirty="0">
                <a:solidFill>
                  <a:srgbClr val="F4A261"/>
                </a:solidFill>
                <a:latin typeface="Calibri" pitchFamily="34" charset="0"/>
                <a:ea typeface="Calibri" pitchFamily="34" charset="-122"/>
                <a:cs typeface="Calibri" pitchFamily="34" charset="-120"/>
              </a:rPr>
              <a:t>Gumbel Top-k — làm mượt phép chọn rời rạc bằng nhiễu Gumbel để gradient truyền ngược</a:t>
            </a:r>
            <a:endParaRPr lang="en-US" sz="900" dirty="0"/>
          </a:p>
        </p:txBody>
      </p:sp>
      <p:sp>
        <p:nvSpPr>
          <p:cNvPr id="18" name="Shape 16"/>
          <p:cNvSpPr/>
          <p:nvPr/>
        </p:nvSpPr>
        <p:spPr>
          <a:xfrm>
            <a:off x="201168" y="3291840"/>
            <a:ext cx="5559552" cy="457200"/>
          </a:xfrm>
          <a:prstGeom prst="rect">
            <a:avLst/>
          </a:prstGeom>
          <a:solidFill>
            <a:srgbClr val="E8F8F5"/>
          </a:solidFill>
          <a:ln w="22860">
            <a:solidFill>
              <a:srgbClr val="02C39A"/>
            </a:solidFill>
            <a:prstDash val="solid"/>
          </a:ln>
        </p:spPr>
        <p:txBody>
          <a:bodyPr/>
          <a:lstStyle/>
          <a:p>
            <a:endParaRPr lang="en-VN"/>
          </a:p>
        </p:txBody>
      </p:sp>
      <mc:AlternateContent xmlns:mc="http://schemas.openxmlformats.org/markup-compatibility/2006" xmlns:a14="http://schemas.microsoft.com/office/drawing/2010/main">
        <mc:Choice Requires="a14">
          <p:sp>
            <p:nvSpPr>
              <p:cNvPr id="19" name="Text 17"/>
              <p:cNvSpPr/>
              <p:nvPr/>
            </p:nvSpPr>
            <p:spPr>
              <a:xfrm>
                <a:off x="310896" y="3291840"/>
                <a:ext cx="5340096" cy="457200"/>
              </a:xfrm>
              <a:prstGeom prst="rect">
                <a:avLst/>
              </a:prstGeom>
              <a:noFill/>
              <a:ln/>
            </p:spPr>
            <p:txBody>
              <a:bodyPr wrap="square" rtlCol="0" anchor="ctr"/>
              <a:lstStyle/>
              <a:p>
                <a:pPr marL="0" indent="0">
                  <a:buNone/>
                </a:pPr>
                <a:r>
                  <a:rPr lang="en-US" sz="1150" b="1" dirty="0">
                    <a:solidFill>
                      <a:srgbClr val="02C39A"/>
                    </a:solidFill>
                    <a:latin typeface="Calibri" pitchFamily="34" charset="0"/>
                    <a:ea typeface="Calibri" pitchFamily="34" charset="-122"/>
                    <a:cs typeface="Calibri" pitchFamily="34" charset="-120"/>
                  </a:rPr>
                  <a:t>⑤ </a:t>
                </a:r>
                <a14:m>
                  <m:oMath xmlns:m="http://schemas.openxmlformats.org/officeDocument/2006/math">
                    <m:sSub>
                      <m:sSubPr>
                        <m:ctrlPr>
                          <a:rPr lang="en-US" sz="1150" b="1" i="1" dirty="0" smtClean="0">
                            <a:solidFill>
                              <a:srgbClr val="02C39A"/>
                            </a:solidFill>
                            <a:latin typeface="Cambria Math" panose="02040503050406030204" pitchFamily="18" charset="0"/>
                            <a:ea typeface="Calibri" pitchFamily="34" charset="-122"/>
                            <a:cs typeface="Calibri" pitchFamily="34" charset="-120"/>
                          </a:rPr>
                        </m:ctrlPr>
                      </m:sSubPr>
                      <m:e>
                        <m:r>
                          <a:rPr lang="en-US" sz="1150" b="1" i="1" dirty="0" smtClean="0">
                            <a:solidFill>
                              <a:srgbClr val="02C39A"/>
                            </a:solidFill>
                            <a:latin typeface="Cambria Math" panose="02040503050406030204" pitchFamily="18" charset="0"/>
                            <a:ea typeface="Calibri" pitchFamily="34" charset="-122"/>
                            <a:cs typeface="Calibri" pitchFamily="34" charset="-120"/>
                          </a:rPr>
                          <m:t>𝑮</m:t>
                        </m:r>
                      </m:e>
                      <m:sub>
                        <m:r>
                          <a:rPr lang="en-US" sz="1150" b="1" i="1" dirty="0" smtClean="0">
                            <a:solidFill>
                              <a:srgbClr val="02C39A"/>
                            </a:solidFill>
                            <a:latin typeface="Cambria Math" panose="02040503050406030204" pitchFamily="18" charset="0"/>
                            <a:ea typeface="Calibri" pitchFamily="34" charset="-122"/>
                            <a:cs typeface="Calibri" pitchFamily="34" charset="-120"/>
                          </a:rPr>
                          <m:t>𝒔</m:t>
                        </m:r>
                      </m:sub>
                    </m:sSub>
                  </m:oMath>
                </a14:m>
                <a:r>
                  <a:rPr lang="en-US" sz="1150" b="1" dirty="0">
                    <a:solidFill>
                      <a:srgbClr val="02C39A"/>
                    </a:solidFill>
                    <a:latin typeface="Calibri" pitchFamily="34" charset="0"/>
                    <a:ea typeface="Calibri" pitchFamily="34" charset="-122"/>
                    <a:cs typeface="Calibri" pitchFamily="34" charset="-120"/>
                  </a:rPr>
                  <a:t> — Sampled Subgraph  </a:t>
                </a:r>
                <a:r>
                  <a:rPr lang="en-US" sz="1150" dirty="0">
                    <a:solidFill>
                      <a:srgbClr val="1A2B3C"/>
                    </a:solidFill>
                    <a:latin typeface="Calibri" pitchFamily="34" charset="0"/>
                    <a:ea typeface="Calibri" pitchFamily="34" charset="-122"/>
                    <a:cs typeface="Calibri" pitchFamily="34" charset="-120"/>
                  </a:rPr>
                  <a:t>k đỉnh quan trọng nhất mỗi hop   |   kích thước cố định — không phụ thuộc bậc đỉnh d̄</a:t>
                </a:r>
                <a:endParaRPr lang="en-US" sz="1150" dirty="0"/>
              </a:p>
            </p:txBody>
          </p:sp>
        </mc:Choice>
        <mc:Fallback xmlns="">
          <p:sp>
            <p:nvSpPr>
              <p:cNvPr id="19" name="Text 17"/>
              <p:cNvSpPr>
                <a:spLocks noRot="1" noChangeAspect="1" noMove="1" noResize="1" noEditPoints="1" noAdjustHandles="1" noChangeArrowheads="1" noChangeShapeType="1" noTextEdit="1"/>
              </p:cNvSpPr>
              <p:nvPr/>
            </p:nvSpPr>
            <p:spPr>
              <a:xfrm>
                <a:off x="310896" y="3291840"/>
                <a:ext cx="5340096" cy="457200"/>
              </a:xfrm>
              <a:prstGeom prst="rect">
                <a:avLst/>
              </a:prstGeom>
              <a:blipFill>
                <a:blip r:embed="rId4"/>
                <a:stretch>
                  <a:fillRect b="-8108"/>
                </a:stretch>
              </a:blipFill>
              <a:ln/>
            </p:spPr>
            <p:txBody>
              <a:bodyPr/>
              <a:lstStyle/>
              <a:p>
                <a:r>
                  <a:rPr lang="en-VN">
                    <a:noFill/>
                  </a:rPr>
                  <a:t> </a:t>
                </a:r>
              </a:p>
            </p:txBody>
          </p:sp>
        </mc:Fallback>
      </mc:AlternateContent>
      <p:sp>
        <p:nvSpPr>
          <p:cNvPr id="20" name="Shape 18"/>
          <p:cNvSpPr/>
          <p:nvPr/>
        </p:nvSpPr>
        <p:spPr>
          <a:xfrm>
            <a:off x="2980944" y="3749040"/>
            <a:ext cx="9144" cy="128016"/>
          </a:xfrm>
          <a:prstGeom prst="line">
            <a:avLst/>
          </a:prstGeom>
          <a:noFill/>
          <a:ln w="25400">
            <a:solidFill>
              <a:srgbClr val="1C7293"/>
            </a:solidFill>
            <a:prstDash val="solid"/>
            <a:tailEnd type="arrow"/>
          </a:ln>
        </p:spPr>
        <p:txBody>
          <a:bodyPr/>
          <a:lstStyle/>
          <a:p>
            <a:endParaRPr lang="en-VN"/>
          </a:p>
        </p:txBody>
      </p:sp>
      <p:sp>
        <p:nvSpPr>
          <p:cNvPr id="21" name="Shape 19"/>
          <p:cNvSpPr/>
          <p:nvPr/>
        </p:nvSpPr>
        <p:spPr>
          <a:xfrm>
            <a:off x="201168" y="3877056"/>
            <a:ext cx="5559552" cy="457200"/>
          </a:xfrm>
          <a:prstGeom prst="rect">
            <a:avLst/>
          </a:prstGeom>
          <a:solidFill>
            <a:srgbClr val="065A82"/>
          </a:solidFill>
          <a:ln w="12700">
            <a:solidFill>
              <a:srgbClr val="065A82"/>
            </a:solidFill>
            <a:prstDash val="solid"/>
          </a:ln>
        </p:spPr>
        <p:txBody>
          <a:bodyPr/>
          <a:lstStyle/>
          <a:p>
            <a:endParaRPr lang="en-VN"/>
          </a:p>
        </p:txBody>
      </p:sp>
      <mc:AlternateContent xmlns:mc="http://schemas.openxmlformats.org/markup-compatibility/2006" xmlns:a14="http://schemas.microsoft.com/office/drawing/2010/main">
        <mc:Choice Requires="a14">
          <p:sp>
            <p:nvSpPr>
              <p:cNvPr id="22" name="Text 20"/>
              <p:cNvSpPr/>
              <p:nvPr/>
            </p:nvSpPr>
            <p:spPr>
              <a:xfrm>
                <a:off x="310896" y="3877056"/>
                <a:ext cx="5340096" cy="457200"/>
              </a:xfrm>
              <a:prstGeom prst="rect">
                <a:avLst/>
              </a:prstGeom>
              <a:noFill/>
              <a:ln/>
            </p:spPr>
            <p:txBody>
              <a:bodyPr wrap="square" rtlCol="0" anchor="ctr"/>
              <a:lstStyle/>
              <a:p>
                <a:r>
                  <a:rPr lang="en-US" sz="1150" b="1" dirty="0">
                    <a:solidFill>
                      <a:srgbClr val="02C39A"/>
                    </a:solidFill>
                    <a:latin typeface="Calibri" pitchFamily="34" charset="0"/>
                    <a:ea typeface="Calibri" pitchFamily="34" charset="-122"/>
                    <a:cs typeface="Calibri" pitchFamily="34" charset="-120"/>
                  </a:rPr>
                  <a:t>⑥ </a:t>
                </a:r>
                <a14:m>
                  <m:oMath xmlns:m="http://schemas.openxmlformats.org/officeDocument/2006/math">
                    <m:r>
                      <a:rPr lang="en-US" sz="1150" b="1" i="1" dirty="0" smtClean="0">
                        <a:solidFill>
                          <a:srgbClr val="02C39A"/>
                        </a:solidFill>
                        <a:latin typeface="Cambria Math" panose="02040503050406030204" pitchFamily="18" charset="0"/>
                        <a:ea typeface="Calibri" pitchFamily="34" charset="-122"/>
                        <a:cs typeface="Calibri" pitchFamily="34" charset="-120"/>
                      </a:rPr>
                      <m:t>𝑮𝑪</m:t>
                    </m:r>
                    <m:sSub>
                      <m:sSubPr>
                        <m:ctrlPr>
                          <a:rPr lang="en-US" sz="1150" b="1" i="1" dirty="0" smtClean="0">
                            <a:solidFill>
                              <a:srgbClr val="02C39A"/>
                            </a:solidFill>
                            <a:latin typeface="Cambria Math" panose="02040503050406030204" pitchFamily="18" charset="0"/>
                            <a:ea typeface="Calibri" pitchFamily="34" charset="-122"/>
                            <a:cs typeface="Calibri" pitchFamily="34" charset="-120"/>
                          </a:rPr>
                        </m:ctrlPr>
                      </m:sSubPr>
                      <m:e>
                        <m:r>
                          <a:rPr lang="en-US" sz="1150" b="1" i="1" dirty="0" smtClean="0">
                            <a:solidFill>
                              <a:srgbClr val="02C39A"/>
                            </a:solidFill>
                            <a:latin typeface="Cambria Math" panose="02040503050406030204" pitchFamily="18" charset="0"/>
                            <a:ea typeface="Calibri" pitchFamily="34" charset="-122"/>
                            <a:cs typeface="Calibri" pitchFamily="34" charset="-120"/>
                          </a:rPr>
                          <m:t>𝑵</m:t>
                        </m:r>
                      </m:e>
                      <m:sub>
                        <m:r>
                          <a:rPr lang="en-US" sz="1150" b="1" i="1" dirty="0" smtClean="0">
                            <a:solidFill>
                              <a:srgbClr val="02C39A"/>
                            </a:solidFill>
                            <a:latin typeface="Cambria Math" panose="02040503050406030204" pitchFamily="18" charset="0"/>
                            <a:ea typeface="Calibri" pitchFamily="34" charset="-122"/>
                            <a:cs typeface="Calibri" pitchFamily="34" charset="-120"/>
                          </a:rPr>
                          <m:t>𝑪</m:t>
                        </m:r>
                      </m:sub>
                    </m:sSub>
                  </m:oMath>
                </a14:m>
                <a:r>
                  <a:rPr lang="en-US" sz="1150" b="1" dirty="0">
                    <a:solidFill>
                      <a:srgbClr val="02C39A"/>
                    </a:solidFill>
                    <a:latin typeface="Calibri" pitchFamily="34" charset="0"/>
                    <a:ea typeface="Calibri" pitchFamily="34" charset="-122"/>
                    <a:cs typeface="Calibri" pitchFamily="34" charset="-120"/>
                  </a:rPr>
                  <a:t> — Link </a:t>
                </a:r>
                <a:r>
                  <a:rPr lang="en-US" sz="1150" b="1">
                    <a:solidFill>
                      <a:srgbClr val="02C39A"/>
                    </a:solidFill>
                    <a:latin typeface="Calibri" pitchFamily="34" charset="0"/>
                    <a:ea typeface="Calibri" pitchFamily="34" charset="-122"/>
                    <a:cs typeface="Calibri" pitchFamily="34" charset="-120"/>
                  </a:rPr>
                  <a:t>Predictor  </a:t>
                </a:r>
                <a14:m>
                  <m:oMath xmlns:m="http://schemas.openxmlformats.org/officeDocument/2006/math">
                    <m:sSub>
                      <m:sSubPr>
                        <m:ctrlPr>
                          <a:rPr lang="en-US" sz="1150" i="1" smtClean="0">
                            <a:solidFill>
                              <a:srgbClr val="FFFFFF"/>
                            </a:solidFill>
                            <a:latin typeface="Cambria Math" panose="02040503050406030204" pitchFamily="18" charset="0"/>
                            <a:ea typeface="Calibri" pitchFamily="34" charset="-122"/>
                            <a:cs typeface="Calibri" pitchFamily="34" charset="-120"/>
                          </a:rPr>
                        </m:ctrlPr>
                      </m:sSubPr>
                      <m:e>
                        <m:r>
                          <a:rPr lang="en-US" sz="1150" i="1" smtClean="0">
                            <a:solidFill>
                              <a:srgbClr val="FFFFFF"/>
                            </a:solidFill>
                            <a:latin typeface="Cambria Math" panose="02040503050406030204" pitchFamily="18" charset="0"/>
                            <a:ea typeface="Calibri" pitchFamily="34" charset="-122"/>
                            <a:cs typeface="Calibri" pitchFamily="34" charset="-120"/>
                          </a:rPr>
                          <m:t>𝑒</m:t>
                        </m:r>
                      </m:e>
                      <m:sub>
                        <m:r>
                          <a:rPr lang="en-US" sz="1150" i="1" smtClean="0">
                            <a:solidFill>
                              <a:srgbClr val="FFFFFF"/>
                            </a:solidFill>
                            <a:latin typeface="Cambria Math" panose="02040503050406030204" pitchFamily="18" charset="0"/>
                            <a:ea typeface="Calibri" pitchFamily="34" charset="-122"/>
                            <a:cs typeface="Calibri" pitchFamily="34" charset="-120"/>
                          </a:rPr>
                          <m:t>𝑢</m:t>
                        </m:r>
                      </m:sub>
                    </m:sSub>
                    <m:r>
                      <a:rPr lang="en-US" sz="1150" i="1" smtClean="0">
                        <a:solidFill>
                          <a:srgbClr val="FFFFFF"/>
                        </a:solidFill>
                        <a:latin typeface="Cambria Math" panose="02040503050406030204" pitchFamily="18" charset="0"/>
                        <a:ea typeface="Calibri" pitchFamily="34" charset="-122"/>
                        <a:cs typeface="Calibri" pitchFamily="34" charset="-120"/>
                      </a:rPr>
                      <m:t>⋅</m:t>
                    </m:r>
                    <m:sSub>
                      <m:sSubPr>
                        <m:ctrlPr>
                          <a:rPr lang="en-US" sz="1150" i="1" smtClean="0">
                            <a:solidFill>
                              <a:srgbClr val="FFFFFF"/>
                            </a:solidFill>
                            <a:latin typeface="Cambria Math" panose="02040503050406030204" pitchFamily="18" charset="0"/>
                            <a:ea typeface="Calibri" pitchFamily="34" charset="-122"/>
                            <a:cs typeface="Calibri" pitchFamily="34" charset="-120"/>
                          </a:rPr>
                        </m:ctrlPr>
                      </m:sSubPr>
                      <m:e>
                        <m:r>
                          <a:rPr lang="en-US" sz="1150" i="1" smtClean="0">
                            <a:solidFill>
                              <a:srgbClr val="FFFFFF"/>
                            </a:solidFill>
                            <a:latin typeface="Cambria Math" panose="02040503050406030204" pitchFamily="18" charset="0"/>
                            <a:ea typeface="Calibri" pitchFamily="34" charset="-122"/>
                            <a:cs typeface="Calibri" pitchFamily="34" charset="-120"/>
                          </a:rPr>
                          <m:t>𝑒</m:t>
                        </m:r>
                      </m:e>
                      <m:sub>
                        <m:r>
                          <a:rPr lang="en-US" sz="1150" i="1" smtClean="0">
                            <a:solidFill>
                              <a:srgbClr val="FFFFFF"/>
                            </a:solidFill>
                            <a:latin typeface="Cambria Math" panose="02040503050406030204" pitchFamily="18" charset="0"/>
                            <a:ea typeface="Calibri" pitchFamily="34" charset="-122"/>
                            <a:cs typeface="Calibri" pitchFamily="34" charset="-120"/>
                          </a:rPr>
                          <m:t>𝑖</m:t>
                        </m:r>
                      </m:sub>
                    </m:sSub>
                    <m:r>
                      <a:rPr lang="en-US" sz="1150" i="1" smtClean="0">
                        <a:solidFill>
                          <a:srgbClr val="FFFFFF"/>
                        </a:solidFill>
                        <a:latin typeface="Cambria Math" panose="02040503050406030204" pitchFamily="18" charset="0"/>
                        <a:ea typeface="Calibri" pitchFamily="34" charset="-122"/>
                        <a:cs typeface="Calibri" pitchFamily="34" charset="-120"/>
                      </a:rPr>
                      <m:t>=</m:t>
                    </m:r>
                    <m:acc>
                      <m:accPr>
                        <m:chr m:val="̂"/>
                        <m:ctrlPr>
                          <a:rPr lang="en-US" sz="1150" i="1" smtClean="0">
                            <a:solidFill>
                              <a:srgbClr val="FFFFFF"/>
                            </a:solidFill>
                            <a:latin typeface="Cambria Math" panose="02040503050406030204" pitchFamily="18" charset="0"/>
                            <a:ea typeface="Calibri" pitchFamily="34" charset="-122"/>
                            <a:cs typeface="Calibri" pitchFamily="34" charset="-120"/>
                          </a:rPr>
                        </m:ctrlPr>
                      </m:accPr>
                      <m:e>
                        <m:sSub>
                          <m:sSubPr>
                            <m:ctrlPr>
                              <a:rPr lang="en-US" sz="1150" i="1" smtClean="0">
                                <a:solidFill>
                                  <a:srgbClr val="FFFFFF"/>
                                </a:solidFill>
                                <a:latin typeface="Cambria Math" panose="02040503050406030204" pitchFamily="18" charset="0"/>
                                <a:ea typeface="Calibri" pitchFamily="34" charset="-122"/>
                                <a:cs typeface="Calibri" pitchFamily="34" charset="-120"/>
                              </a:rPr>
                            </m:ctrlPr>
                          </m:sSubPr>
                          <m:e>
                            <m:r>
                              <a:rPr lang="en-US" sz="1150" i="1" smtClean="0">
                                <a:solidFill>
                                  <a:srgbClr val="FFFFFF"/>
                                </a:solidFill>
                                <a:latin typeface="Cambria Math" panose="02040503050406030204" pitchFamily="18" charset="0"/>
                                <a:ea typeface="Calibri" pitchFamily="34" charset="-122"/>
                                <a:cs typeface="Calibri" pitchFamily="34" charset="-120"/>
                              </a:rPr>
                              <m:t>𝑦</m:t>
                            </m:r>
                          </m:e>
                          <m:sub>
                            <m:r>
                              <a:rPr lang="en-US" sz="1150" i="1" smtClean="0">
                                <a:solidFill>
                                  <a:srgbClr val="FFFFFF"/>
                                </a:solidFill>
                                <a:latin typeface="Cambria Math" panose="02040503050406030204" pitchFamily="18" charset="0"/>
                                <a:ea typeface="Calibri" pitchFamily="34" charset="-122"/>
                                <a:cs typeface="Calibri" pitchFamily="34" charset="-120"/>
                              </a:rPr>
                              <m:t>𝑢𝑖</m:t>
                            </m:r>
                          </m:sub>
                        </m:sSub>
                      </m:e>
                    </m:acc>
                  </m:oMath>
                </a14:m>
                <a:r>
                  <a:rPr lang="en-US" sz="1150">
                    <a:solidFill>
                      <a:srgbClr val="FFFFFF"/>
                    </a:solidFill>
                    <a:latin typeface="Calibri" pitchFamily="34" charset="0"/>
                    <a:ea typeface="Calibri" pitchFamily="34" charset="-122"/>
                    <a:cs typeface="Calibri" pitchFamily="34" charset="-120"/>
                  </a:rPr>
                  <a:t>   |   </a:t>
                </a:r>
                <a14:m>
                  <m:oMath xmlns:m="http://schemas.openxmlformats.org/officeDocument/2006/math">
                    <m:sSub>
                      <m:sSubPr>
                        <m:ctrlPr>
                          <a:rPr lang="en-US" sz="1150" b="1" i="1" smtClean="0">
                            <a:solidFill>
                              <a:srgbClr val="F4A261"/>
                            </a:solidFill>
                            <a:latin typeface="Cambria Math" panose="02040503050406030204" pitchFamily="18" charset="0"/>
                            <a:ea typeface="Calibri" pitchFamily="34" charset="-122"/>
                            <a:cs typeface="Calibri" pitchFamily="34" charset="-120"/>
                          </a:rPr>
                        </m:ctrlPr>
                      </m:sSubPr>
                      <m:e>
                        <m:r>
                          <a:rPr lang="en-US" sz="1150" b="1" i="1" smtClean="0">
                            <a:solidFill>
                              <a:srgbClr val="F4A261"/>
                            </a:solidFill>
                            <a:latin typeface="Cambria Math" panose="02040503050406030204" pitchFamily="18" charset="0"/>
                            <a:ea typeface="Calibri" pitchFamily="34" charset="-122"/>
                            <a:cs typeface="Calibri" pitchFamily="34" charset="-120"/>
                          </a:rPr>
                          <m:t>𝑳</m:t>
                        </m:r>
                      </m:e>
                      <m:sub>
                        <m:r>
                          <a:rPr lang="en-US" sz="1150" b="1" i="1" smtClean="0">
                            <a:solidFill>
                              <a:srgbClr val="F4A261"/>
                            </a:solidFill>
                            <a:latin typeface="Cambria Math" panose="02040503050406030204" pitchFamily="18" charset="0"/>
                            <a:ea typeface="Calibri" pitchFamily="34" charset="-122"/>
                            <a:cs typeface="Calibri" pitchFamily="34" charset="-120"/>
                          </a:rPr>
                          <m:t>𝑩𝑷𝑹</m:t>
                        </m:r>
                      </m:sub>
                    </m:sSub>
                    <m:r>
                      <a:rPr lang="en-US" sz="1150" b="1" i="1" smtClean="0">
                        <a:solidFill>
                          <a:srgbClr val="F4A261"/>
                        </a:solidFill>
                        <a:latin typeface="Cambria Math" panose="02040503050406030204" pitchFamily="18" charset="0"/>
                        <a:ea typeface="Calibri" pitchFamily="34" charset="-122"/>
                        <a:cs typeface="Calibri" pitchFamily="34" charset="-120"/>
                      </a:rPr>
                      <m:t>=−</m:t>
                    </m:r>
                    <m:nary>
                      <m:naryPr>
                        <m:chr m:val="∑"/>
                        <m:subHide m:val="on"/>
                        <m:supHide m:val="on"/>
                        <m:ctrlPr>
                          <a:rPr lang="en-US" sz="1150" b="1" i="1" smtClean="0">
                            <a:solidFill>
                              <a:srgbClr val="F4A261"/>
                            </a:solidFill>
                            <a:latin typeface="Cambria Math" panose="02040503050406030204" pitchFamily="18" charset="0"/>
                            <a:ea typeface="Calibri" pitchFamily="34" charset="-122"/>
                            <a:cs typeface="Calibri" pitchFamily="34" charset="-120"/>
                          </a:rPr>
                        </m:ctrlPr>
                      </m:naryPr>
                      <m:sub/>
                      <m:sup/>
                      <m:e>
                        <m:func>
                          <m:funcPr>
                            <m:ctrlPr>
                              <a:rPr lang="en-US" sz="1150" b="1" i="1" smtClean="0">
                                <a:solidFill>
                                  <a:srgbClr val="F4A261"/>
                                </a:solidFill>
                                <a:latin typeface="Cambria Math" panose="02040503050406030204" pitchFamily="18" charset="0"/>
                                <a:ea typeface="Calibri" pitchFamily="34" charset="-122"/>
                                <a:cs typeface="Calibri" pitchFamily="34" charset="-120"/>
                              </a:rPr>
                            </m:ctrlPr>
                          </m:funcPr>
                          <m:fName>
                            <m:r>
                              <m:rPr>
                                <m:sty m:val="p"/>
                              </m:rPr>
                              <a:rPr lang="en-US" sz="1150" b="0" i="0" smtClean="0">
                                <a:solidFill>
                                  <a:srgbClr val="F4A261"/>
                                </a:solidFill>
                                <a:latin typeface="Cambria Math" panose="02040503050406030204" pitchFamily="18" charset="0"/>
                                <a:ea typeface="Calibri" pitchFamily="34" charset="-122"/>
                                <a:cs typeface="Calibri" pitchFamily="34" charset="-120"/>
                              </a:rPr>
                              <m:t>log</m:t>
                            </m:r>
                          </m:fName>
                          <m:e>
                            <m:r>
                              <a:rPr lang="en-US" sz="1150" b="1" i="1" smtClean="0">
                                <a:solidFill>
                                  <a:srgbClr val="F4A261"/>
                                </a:solidFill>
                                <a:latin typeface="Cambria Math" panose="02040503050406030204" pitchFamily="18" charset="0"/>
                                <a:ea typeface="Calibri" pitchFamily="34" charset="-122"/>
                                <a:cs typeface="Calibri" pitchFamily="34" charset="-120"/>
                              </a:rPr>
                              <m:t>𝝈</m:t>
                            </m:r>
                            <m:d>
                              <m:dPr>
                                <m:ctrlPr>
                                  <a:rPr lang="en-US" sz="1150" b="1" i="1" smtClean="0">
                                    <a:solidFill>
                                      <a:srgbClr val="F4A261"/>
                                    </a:solidFill>
                                    <a:latin typeface="Cambria Math" panose="02040503050406030204" pitchFamily="18" charset="0"/>
                                    <a:ea typeface="Calibri" pitchFamily="34" charset="-122"/>
                                    <a:cs typeface="Calibri" pitchFamily="34" charset="-120"/>
                                  </a:rPr>
                                </m:ctrlPr>
                              </m:dPr>
                              <m:e>
                                <m:acc>
                                  <m:accPr>
                                    <m:chr m:val="̂"/>
                                    <m:ctrlPr>
                                      <a:rPr lang="en-US" sz="1150" b="1" i="1" smtClean="0">
                                        <a:solidFill>
                                          <a:srgbClr val="F4A261"/>
                                        </a:solidFill>
                                        <a:latin typeface="Cambria Math" panose="02040503050406030204" pitchFamily="18" charset="0"/>
                                        <a:ea typeface="Calibri" pitchFamily="34" charset="-122"/>
                                        <a:cs typeface="Calibri" pitchFamily="34" charset="-120"/>
                                      </a:rPr>
                                    </m:ctrlPr>
                                  </m:accPr>
                                  <m:e>
                                    <m:sSub>
                                      <m:sSubPr>
                                        <m:ctrlPr>
                                          <a:rPr lang="en-US" sz="1150" b="1" i="1" smtClean="0">
                                            <a:solidFill>
                                              <a:srgbClr val="F4A261"/>
                                            </a:solidFill>
                                            <a:latin typeface="Cambria Math" panose="02040503050406030204" pitchFamily="18" charset="0"/>
                                            <a:ea typeface="Calibri" pitchFamily="34" charset="-122"/>
                                            <a:cs typeface="Calibri" pitchFamily="34" charset="-120"/>
                                          </a:rPr>
                                        </m:ctrlPr>
                                      </m:sSubPr>
                                      <m:e>
                                        <m:r>
                                          <a:rPr lang="en-US" sz="1150" b="1" i="1" smtClean="0">
                                            <a:solidFill>
                                              <a:srgbClr val="F4A261"/>
                                            </a:solidFill>
                                            <a:latin typeface="Cambria Math" panose="02040503050406030204" pitchFamily="18" charset="0"/>
                                            <a:ea typeface="Calibri" pitchFamily="34" charset="-122"/>
                                            <a:cs typeface="Calibri" pitchFamily="34" charset="-120"/>
                                          </a:rPr>
                                          <m:t>𝒚</m:t>
                                        </m:r>
                                      </m:e>
                                      <m:sub>
                                        <m:r>
                                          <a:rPr lang="en-US" sz="1150" b="1" i="1" smtClean="0">
                                            <a:solidFill>
                                              <a:srgbClr val="F4A261"/>
                                            </a:solidFill>
                                            <a:latin typeface="Cambria Math" panose="02040503050406030204" pitchFamily="18" charset="0"/>
                                            <a:ea typeface="Calibri" pitchFamily="34" charset="-122"/>
                                            <a:cs typeface="Calibri" pitchFamily="34" charset="-120"/>
                                          </a:rPr>
                                          <m:t>𝒖</m:t>
                                        </m:r>
                                        <m:r>
                                          <a:rPr lang="en-US" sz="1150" b="1" i="1" smtClean="0">
                                            <a:solidFill>
                                              <a:srgbClr val="F4A261"/>
                                            </a:solidFill>
                                            <a:latin typeface="Cambria Math" panose="02040503050406030204" pitchFamily="18" charset="0"/>
                                            <a:ea typeface="Calibri" pitchFamily="34" charset="-122"/>
                                            <a:cs typeface="Calibri" pitchFamily="34" charset="-120"/>
                                          </a:rPr>
                                          <m:t>,</m:t>
                                        </m:r>
                                        <m:sSup>
                                          <m:sSupPr>
                                            <m:ctrlPr>
                                              <a:rPr lang="en-US" sz="1150" b="1" i="1" smtClean="0">
                                                <a:solidFill>
                                                  <a:srgbClr val="F4A261"/>
                                                </a:solidFill>
                                                <a:latin typeface="Cambria Math" panose="02040503050406030204" pitchFamily="18" charset="0"/>
                                                <a:ea typeface="Calibri" pitchFamily="34" charset="-122"/>
                                                <a:cs typeface="Calibri" pitchFamily="34" charset="-120"/>
                                              </a:rPr>
                                            </m:ctrlPr>
                                          </m:sSupPr>
                                          <m:e>
                                            <m:r>
                                              <a:rPr lang="en-US" sz="1150" b="1" i="1" smtClean="0">
                                                <a:solidFill>
                                                  <a:srgbClr val="F4A261"/>
                                                </a:solidFill>
                                                <a:latin typeface="Cambria Math" panose="02040503050406030204" pitchFamily="18" charset="0"/>
                                                <a:ea typeface="Calibri" pitchFamily="34" charset="-122"/>
                                                <a:cs typeface="Calibri" pitchFamily="34" charset="-120"/>
                                              </a:rPr>
                                              <m:t>𝒊</m:t>
                                            </m:r>
                                          </m:e>
                                          <m:sup>
                                            <m:r>
                                              <a:rPr lang="en-US" sz="1150" b="1" i="1" smtClean="0">
                                                <a:solidFill>
                                                  <a:srgbClr val="F4A261"/>
                                                </a:solidFill>
                                                <a:latin typeface="Cambria Math" panose="02040503050406030204" pitchFamily="18" charset="0"/>
                                                <a:ea typeface="Calibri" pitchFamily="34" charset="-122"/>
                                                <a:cs typeface="Calibri" pitchFamily="34" charset="-120"/>
                                              </a:rPr>
                                              <m:t>+</m:t>
                                            </m:r>
                                          </m:sup>
                                        </m:sSup>
                                      </m:sub>
                                    </m:sSub>
                                  </m:e>
                                </m:acc>
                                <m:r>
                                  <a:rPr lang="en-US" sz="1150" b="1" i="1" smtClean="0">
                                    <a:solidFill>
                                      <a:srgbClr val="F4A261"/>
                                    </a:solidFill>
                                    <a:latin typeface="Cambria Math" panose="02040503050406030204" pitchFamily="18" charset="0"/>
                                    <a:ea typeface="Calibri" pitchFamily="34" charset="-122"/>
                                    <a:cs typeface="Calibri" pitchFamily="34" charset="-120"/>
                                  </a:rPr>
                                  <m:t>−</m:t>
                                </m:r>
                                <m:acc>
                                  <m:accPr>
                                    <m:chr m:val="̂"/>
                                    <m:ctrlPr>
                                      <a:rPr lang="en-US" sz="1150" b="1" i="1" smtClean="0">
                                        <a:solidFill>
                                          <a:srgbClr val="F4A261"/>
                                        </a:solidFill>
                                        <a:latin typeface="Cambria Math" panose="02040503050406030204" pitchFamily="18" charset="0"/>
                                        <a:ea typeface="Calibri" pitchFamily="34" charset="-122"/>
                                        <a:cs typeface="Calibri" pitchFamily="34" charset="-120"/>
                                      </a:rPr>
                                    </m:ctrlPr>
                                  </m:accPr>
                                  <m:e>
                                    <m:sSub>
                                      <m:sSubPr>
                                        <m:ctrlPr>
                                          <a:rPr lang="en-US" sz="1150" b="1" i="1" smtClean="0">
                                            <a:solidFill>
                                              <a:srgbClr val="F4A261"/>
                                            </a:solidFill>
                                            <a:latin typeface="Cambria Math" panose="02040503050406030204" pitchFamily="18" charset="0"/>
                                            <a:ea typeface="Calibri" pitchFamily="34" charset="-122"/>
                                            <a:cs typeface="Calibri" pitchFamily="34" charset="-120"/>
                                          </a:rPr>
                                        </m:ctrlPr>
                                      </m:sSubPr>
                                      <m:e>
                                        <m:r>
                                          <a:rPr lang="en-US" sz="1150" b="1" i="1" smtClean="0">
                                            <a:solidFill>
                                              <a:srgbClr val="F4A261"/>
                                            </a:solidFill>
                                            <a:latin typeface="Cambria Math" panose="02040503050406030204" pitchFamily="18" charset="0"/>
                                            <a:ea typeface="Calibri" pitchFamily="34" charset="-122"/>
                                            <a:cs typeface="Calibri" pitchFamily="34" charset="-120"/>
                                          </a:rPr>
                                          <m:t>𝒚</m:t>
                                        </m:r>
                                      </m:e>
                                      <m:sub>
                                        <m:r>
                                          <a:rPr lang="en-US" sz="1150" b="1" i="1" smtClean="0">
                                            <a:solidFill>
                                              <a:srgbClr val="F4A261"/>
                                            </a:solidFill>
                                            <a:latin typeface="Cambria Math" panose="02040503050406030204" pitchFamily="18" charset="0"/>
                                            <a:ea typeface="Calibri" pitchFamily="34" charset="-122"/>
                                            <a:cs typeface="Calibri" pitchFamily="34" charset="-120"/>
                                          </a:rPr>
                                          <m:t>𝒖</m:t>
                                        </m:r>
                                        <m:r>
                                          <a:rPr lang="en-US" sz="1150" b="1" i="1" smtClean="0">
                                            <a:solidFill>
                                              <a:srgbClr val="F4A261"/>
                                            </a:solidFill>
                                            <a:latin typeface="Cambria Math" panose="02040503050406030204" pitchFamily="18" charset="0"/>
                                            <a:ea typeface="Calibri" pitchFamily="34" charset="-122"/>
                                            <a:cs typeface="Calibri" pitchFamily="34" charset="-120"/>
                                          </a:rPr>
                                          <m:t>,</m:t>
                                        </m:r>
                                        <m:sSup>
                                          <m:sSupPr>
                                            <m:ctrlPr>
                                              <a:rPr lang="en-US" sz="1150" b="1" i="1" smtClean="0">
                                                <a:solidFill>
                                                  <a:srgbClr val="F4A261"/>
                                                </a:solidFill>
                                                <a:latin typeface="Cambria Math" panose="02040503050406030204" pitchFamily="18" charset="0"/>
                                                <a:ea typeface="Calibri" pitchFamily="34" charset="-122"/>
                                                <a:cs typeface="Calibri" pitchFamily="34" charset="-120"/>
                                              </a:rPr>
                                            </m:ctrlPr>
                                          </m:sSupPr>
                                          <m:e>
                                            <m:r>
                                              <a:rPr lang="en-US" sz="1150" b="1" i="1" smtClean="0">
                                                <a:solidFill>
                                                  <a:srgbClr val="F4A261"/>
                                                </a:solidFill>
                                                <a:latin typeface="Cambria Math" panose="02040503050406030204" pitchFamily="18" charset="0"/>
                                                <a:ea typeface="Calibri" pitchFamily="34" charset="-122"/>
                                                <a:cs typeface="Calibri" pitchFamily="34" charset="-120"/>
                                              </a:rPr>
                                              <m:t>𝒊</m:t>
                                            </m:r>
                                          </m:e>
                                          <m:sup>
                                            <m:r>
                                              <a:rPr lang="en-US" sz="1150" b="1" i="1" smtClean="0">
                                                <a:solidFill>
                                                  <a:srgbClr val="F4A261"/>
                                                </a:solidFill>
                                                <a:latin typeface="Cambria Math" panose="02040503050406030204" pitchFamily="18" charset="0"/>
                                                <a:ea typeface="Calibri" pitchFamily="34" charset="-122"/>
                                                <a:cs typeface="Calibri" pitchFamily="34" charset="-120"/>
                                              </a:rPr>
                                              <m:t>−</m:t>
                                            </m:r>
                                          </m:sup>
                                        </m:sSup>
                                      </m:sub>
                                    </m:sSub>
                                  </m:e>
                                </m:acc>
                              </m:e>
                            </m:d>
                          </m:e>
                        </m:func>
                      </m:e>
                    </m:nary>
                  </m:oMath>
                </a14:m>
                <a:endParaRPr lang="en-US" sz="1150" dirty="0"/>
              </a:p>
            </p:txBody>
          </p:sp>
        </mc:Choice>
        <mc:Fallback xmlns="">
          <p:sp>
            <p:nvSpPr>
              <p:cNvPr id="22" name="Text 20"/>
              <p:cNvSpPr>
                <a:spLocks noRot="1" noChangeAspect="1" noMove="1" noResize="1" noEditPoints="1" noAdjustHandles="1" noChangeArrowheads="1" noChangeShapeType="1" noTextEdit="1"/>
              </p:cNvSpPr>
              <p:nvPr/>
            </p:nvSpPr>
            <p:spPr>
              <a:xfrm>
                <a:off x="310896" y="3877056"/>
                <a:ext cx="5340096" cy="457200"/>
              </a:xfrm>
              <a:prstGeom prst="rect">
                <a:avLst/>
              </a:prstGeom>
              <a:blipFill>
                <a:blip r:embed="rId5"/>
                <a:stretch>
                  <a:fillRect t="-32432" b="-62162"/>
                </a:stretch>
              </a:blipFill>
              <a:ln/>
            </p:spPr>
            <p:txBody>
              <a:bodyPr/>
              <a:lstStyle/>
              <a:p>
                <a:r>
                  <a:rPr lang="en-VN">
                    <a:noFill/>
                  </a:rPr>
                  <a:t> </a:t>
                </a:r>
              </a:p>
            </p:txBody>
          </p:sp>
        </mc:Fallback>
      </mc:AlternateContent>
      <p:sp>
        <p:nvSpPr>
          <p:cNvPr id="23" name="Shape 21"/>
          <p:cNvSpPr/>
          <p:nvPr/>
        </p:nvSpPr>
        <p:spPr>
          <a:xfrm>
            <a:off x="2980944" y="4334256"/>
            <a:ext cx="9144" cy="128016"/>
          </a:xfrm>
          <a:prstGeom prst="line">
            <a:avLst/>
          </a:prstGeom>
          <a:noFill/>
          <a:ln w="25400">
            <a:solidFill>
              <a:srgbClr val="1C7293"/>
            </a:solidFill>
            <a:prstDash val="solid"/>
            <a:tailEnd type="arrow"/>
          </a:ln>
        </p:spPr>
        <p:txBody>
          <a:bodyPr/>
          <a:lstStyle/>
          <a:p>
            <a:endParaRPr lang="en-VN"/>
          </a:p>
        </p:txBody>
      </p:sp>
      <p:sp>
        <p:nvSpPr>
          <p:cNvPr id="24" name="Shape 22"/>
          <p:cNvSpPr/>
          <p:nvPr/>
        </p:nvSpPr>
        <p:spPr>
          <a:xfrm>
            <a:off x="201168" y="4462272"/>
            <a:ext cx="5559552" cy="457200"/>
          </a:xfrm>
          <a:prstGeom prst="rect">
            <a:avLst/>
          </a:prstGeom>
          <a:solidFill>
            <a:srgbClr val="E8F8F5"/>
          </a:solidFill>
          <a:ln w="31750">
            <a:solidFill>
              <a:srgbClr val="02C39A"/>
            </a:solidFill>
            <a:prstDash val="solid"/>
          </a:ln>
        </p:spPr>
        <p:txBody>
          <a:bodyPr/>
          <a:lstStyle/>
          <a:p>
            <a:endParaRPr lang="en-VN"/>
          </a:p>
        </p:txBody>
      </p:sp>
      <p:sp>
        <p:nvSpPr>
          <p:cNvPr id="25" name="Text 23"/>
          <p:cNvSpPr/>
          <p:nvPr/>
        </p:nvSpPr>
        <p:spPr>
          <a:xfrm>
            <a:off x="310896" y="4462272"/>
            <a:ext cx="5340096" cy="457200"/>
          </a:xfrm>
          <a:prstGeom prst="rect">
            <a:avLst/>
          </a:prstGeom>
          <a:noFill/>
          <a:ln/>
        </p:spPr>
        <p:txBody>
          <a:bodyPr wrap="square" rtlCol="0" anchor="ctr"/>
          <a:lstStyle/>
          <a:p>
            <a:pPr marL="0" indent="0">
              <a:buNone/>
            </a:pPr>
            <a:r>
              <a:rPr lang="en-US" sz="1150" b="1" dirty="0">
                <a:solidFill>
                  <a:srgbClr val="1C7293"/>
                </a:solidFill>
                <a:latin typeface="Calibri" pitchFamily="34" charset="0"/>
                <a:ea typeface="Calibri" pitchFamily="34" charset="-122"/>
                <a:cs typeface="Calibri" pitchFamily="34" charset="-120"/>
              </a:rPr>
              <a:t>⑦ Đánh giá  </a:t>
            </a:r>
            <a:r>
              <a:rPr lang="en-US" sz="1150" dirty="0">
                <a:solidFill>
                  <a:srgbClr val="1A2B3C"/>
                </a:solidFill>
                <a:latin typeface="Calibri" pitchFamily="34" charset="0"/>
                <a:ea typeface="Calibri" pitchFamily="34" charset="-122"/>
                <a:cs typeface="Calibri" pitchFamily="34" charset="-120"/>
              </a:rPr>
              <a:t>Recall@K   NDCG@K   Precision@K   |   Baselines: LightGCN, NGCF, PinSage, Random Sampling</a:t>
            </a:r>
            <a:endParaRPr lang="en-US" sz="1150" dirty="0"/>
          </a:p>
        </p:txBody>
      </p:sp>
      <p:sp>
        <p:nvSpPr>
          <p:cNvPr id="26" name="Shape 24"/>
          <p:cNvSpPr/>
          <p:nvPr/>
        </p:nvSpPr>
        <p:spPr>
          <a:xfrm>
            <a:off x="5998464" y="2566017"/>
            <a:ext cx="2907792" cy="2286000"/>
          </a:xfrm>
          <a:prstGeom prst="rect">
            <a:avLst/>
          </a:prstGeom>
          <a:solidFill>
            <a:srgbClr val="031F30"/>
          </a:solidFill>
          <a:ln w="31750">
            <a:solidFill>
              <a:srgbClr val="F4A261"/>
            </a:solidFill>
            <a:prstDash val="solid"/>
          </a:ln>
        </p:spPr>
        <p:txBody>
          <a:bodyPr/>
          <a:lstStyle/>
          <a:p>
            <a:endParaRPr lang="en-VN"/>
          </a:p>
        </p:txBody>
      </p:sp>
      <p:sp>
        <p:nvSpPr>
          <p:cNvPr id="27" name="Shape 25"/>
          <p:cNvSpPr/>
          <p:nvPr/>
        </p:nvSpPr>
        <p:spPr>
          <a:xfrm>
            <a:off x="5998464" y="2566017"/>
            <a:ext cx="2907792" cy="329184"/>
          </a:xfrm>
          <a:prstGeom prst="rect">
            <a:avLst/>
          </a:prstGeom>
          <a:solidFill>
            <a:srgbClr val="F4A261"/>
          </a:solidFill>
          <a:ln w="12700">
            <a:solidFill>
              <a:srgbClr val="000000"/>
            </a:solidFill>
            <a:prstDash val="solid"/>
          </a:ln>
        </p:spPr>
        <p:txBody>
          <a:bodyPr/>
          <a:lstStyle/>
          <a:p>
            <a:endParaRPr lang="en-VN"/>
          </a:p>
        </p:txBody>
      </p:sp>
      <p:sp>
        <p:nvSpPr>
          <p:cNvPr id="28" name="Text 26"/>
          <p:cNvSpPr/>
          <p:nvPr/>
        </p:nvSpPr>
        <p:spPr>
          <a:xfrm>
            <a:off x="5998464" y="2566017"/>
            <a:ext cx="2907792" cy="32918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GFlowNet Feedback</a:t>
            </a:r>
            <a:endParaRPr lang="en-US" sz="1200" dirty="0"/>
          </a:p>
        </p:txBody>
      </p:sp>
      <mc:AlternateContent xmlns:mc="http://schemas.openxmlformats.org/markup-compatibility/2006" xmlns:a14="http://schemas.microsoft.com/office/drawing/2010/main">
        <mc:Choice Requires="a14">
          <p:sp>
            <p:nvSpPr>
              <p:cNvPr id="29" name="Text 27"/>
              <p:cNvSpPr/>
              <p:nvPr/>
            </p:nvSpPr>
            <p:spPr>
              <a:xfrm>
                <a:off x="6126480" y="2999232"/>
                <a:ext cx="2651760" cy="1883664"/>
              </a:xfrm>
              <a:prstGeom prst="rect">
                <a:avLst/>
              </a:prstGeom>
              <a:noFill/>
              <a:ln/>
            </p:spPr>
            <p:txBody>
              <a:bodyPr wrap="square" rtlCol="0" anchor="t"/>
              <a:lstStyle/>
              <a:p>
                <a:r>
                  <a:rPr lang="en-US" sz="1200" b="1" dirty="0">
                    <a:solidFill>
                      <a:srgbClr val="02C39A"/>
                    </a:solidFill>
                    <a:latin typeface="Calibri" pitchFamily="34" charset="0"/>
                    <a:ea typeface="Calibri" pitchFamily="34" charset="-122"/>
                    <a:cs typeface="Calibri" pitchFamily="34" charset="-120"/>
                  </a:rPr>
                  <a:t>Reward</a:t>
                </a:r>
                <a:r>
                  <a:rPr lang="en-US" sz="1200" b="1">
                    <a:solidFill>
                      <a:srgbClr val="02C39A"/>
                    </a:solidFill>
                    <a:latin typeface="Calibri" pitchFamily="34" charset="0"/>
                    <a:ea typeface="Calibri" pitchFamily="34" charset="-122"/>
                    <a:cs typeface="Calibri" pitchFamily="34" charset="-120"/>
                  </a:rPr>
                  <a:t>
</a:t>
                </a:r>
                <a14:m>
                  <m:oMath xmlns:m="http://schemas.openxmlformats.org/officeDocument/2006/math">
                    <m:r>
                      <a:rPr lang="en-US" sz="1200" i="1" smtClean="0">
                        <a:solidFill>
                          <a:srgbClr val="FFFFFF"/>
                        </a:solidFill>
                        <a:latin typeface="Cambria Math" panose="02040503050406030204" pitchFamily="18" charset="0"/>
                        <a:ea typeface="Calibri" pitchFamily="34" charset="-122"/>
                        <a:cs typeface="Calibri" pitchFamily="34" charset="-120"/>
                      </a:rPr>
                      <m:t>𝑅</m:t>
                    </m:r>
                    <m:r>
                      <a:rPr lang="en-US" sz="1200" i="1">
                        <a:solidFill>
                          <a:srgbClr val="FFFFFF"/>
                        </a:solidFill>
                        <a:latin typeface="Cambria Math" panose="02040503050406030204" pitchFamily="18" charset="0"/>
                        <a:ea typeface="Calibri" pitchFamily="34" charset="-122"/>
                        <a:cs typeface="Calibri" pitchFamily="34" charset="-120"/>
                      </a:rPr>
                      <m:t>=</m:t>
                    </m:r>
                    <m:func>
                      <m:funcPr>
                        <m:ctrlPr>
                          <a:rPr lang="en-US" sz="1200" i="1" smtClean="0">
                            <a:solidFill>
                              <a:srgbClr val="FFFFFF"/>
                            </a:solidFill>
                            <a:latin typeface="Cambria Math" panose="02040503050406030204" pitchFamily="18" charset="0"/>
                            <a:ea typeface="Calibri" pitchFamily="34" charset="-122"/>
                            <a:cs typeface="Calibri" pitchFamily="34" charset="-120"/>
                          </a:rPr>
                        </m:ctrlPr>
                      </m:funcPr>
                      <m:fName>
                        <m:r>
                          <m:rPr>
                            <m:sty m:val="p"/>
                          </m:rPr>
                          <a:rPr lang="en-US" sz="1200" i="0">
                            <a:solidFill>
                              <a:srgbClr val="FFFFFF"/>
                            </a:solidFill>
                            <a:latin typeface="Cambria Math" panose="02040503050406030204" pitchFamily="18" charset="0"/>
                            <a:ea typeface="Calibri" pitchFamily="34" charset="-122"/>
                            <a:cs typeface="Calibri" pitchFamily="34" charset="-120"/>
                          </a:rPr>
                          <m:t>exp</m:t>
                        </m:r>
                      </m:fName>
                      <m:e>
                        <m:d>
                          <m:dPr>
                            <m:ctrlPr>
                              <a:rPr lang="en-US" sz="1200" i="1">
                                <a:solidFill>
                                  <a:srgbClr val="FFFFFF"/>
                                </a:solidFill>
                                <a:latin typeface="Cambria Math" panose="02040503050406030204" pitchFamily="18" charset="0"/>
                                <a:ea typeface="Calibri" pitchFamily="34" charset="-122"/>
                                <a:cs typeface="Calibri" pitchFamily="34" charset="-120"/>
                              </a:rPr>
                            </m:ctrlPr>
                          </m:dPr>
                          <m:e>
                            <m:r>
                              <a:rPr lang="en-US" sz="1200" i="1">
                                <a:solidFill>
                                  <a:srgbClr val="FFFFFF"/>
                                </a:solidFill>
                                <a:latin typeface="Cambria Math" panose="02040503050406030204" pitchFamily="18" charset="0"/>
                                <a:ea typeface="Calibri" pitchFamily="34" charset="-122"/>
                                <a:cs typeface="Calibri" pitchFamily="34" charset="-120"/>
                              </a:rPr>
                              <m:t>−</m:t>
                            </m:r>
                            <m:r>
                              <a:rPr lang="en-US" sz="1200" i="1">
                                <a:solidFill>
                                  <a:srgbClr val="FFFFFF"/>
                                </a:solidFill>
                                <a:latin typeface="Cambria Math" panose="02040503050406030204" pitchFamily="18" charset="0"/>
                                <a:ea typeface="Calibri" pitchFamily="34" charset="-122"/>
                                <a:cs typeface="Calibri" pitchFamily="34" charset="-120"/>
                              </a:rPr>
                              <m:t>𝛼</m:t>
                            </m:r>
                            <m:r>
                              <a:rPr lang="en-US" sz="1200" i="1">
                                <a:solidFill>
                                  <a:srgbClr val="FFFFFF"/>
                                </a:solidFill>
                                <a:latin typeface="Cambria Math" panose="02040503050406030204" pitchFamily="18" charset="0"/>
                                <a:ea typeface="Calibri" pitchFamily="34" charset="-122"/>
                                <a:cs typeface="Calibri" pitchFamily="34" charset="-120"/>
                              </a:rPr>
                              <m:t>⋅</m:t>
                            </m:r>
                            <m:sSub>
                              <m:sSubPr>
                                <m:ctrlPr>
                                  <a:rPr lang="en-US" sz="1200" i="1">
                                    <a:solidFill>
                                      <a:srgbClr val="FFFFFF"/>
                                    </a:solidFill>
                                    <a:latin typeface="Cambria Math" panose="02040503050406030204" pitchFamily="18" charset="0"/>
                                    <a:ea typeface="Calibri" pitchFamily="34" charset="-122"/>
                                    <a:cs typeface="Calibri" pitchFamily="34" charset="-120"/>
                                  </a:rPr>
                                </m:ctrlPr>
                              </m:sSubPr>
                              <m:e>
                                <m:r>
                                  <a:rPr lang="en-US" sz="1200" i="1">
                                    <a:solidFill>
                                      <a:srgbClr val="FFFFFF"/>
                                    </a:solidFill>
                                    <a:latin typeface="Cambria Math" panose="02040503050406030204" pitchFamily="18" charset="0"/>
                                    <a:ea typeface="Calibri" pitchFamily="34" charset="-122"/>
                                    <a:cs typeface="Calibri" pitchFamily="34" charset="-120"/>
                                  </a:rPr>
                                  <m:t>𝐿</m:t>
                                </m:r>
                              </m:e>
                              <m:sub>
                                <m:r>
                                  <a:rPr lang="en-US" sz="1200" i="1">
                                    <a:solidFill>
                                      <a:srgbClr val="FFFFFF"/>
                                    </a:solidFill>
                                    <a:latin typeface="Cambria Math" panose="02040503050406030204" pitchFamily="18" charset="0"/>
                                    <a:ea typeface="Calibri" pitchFamily="34" charset="-122"/>
                                    <a:cs typeface="Calibri" pitchFamily="34" charset="-120"/>
                                  </a:rPr>
                                  <m:t>𝐵𝑃𝑅</m:t>
                                </m:r>
                              </m:sub>
                            </m:sSub>
                          </m:e>
                        </m:d>
                      </m:e>
                    </m:func>
                  </m:oMath>
                </a14:m>
                <a:r>
                  <a:rPr lang="en-US" sz="1200" dirty="0">
                    <a:solidFill>
                      <a:srgbClr val="FFFFFF"/>
                    </a:solidFill>
                    <a:latin typeface="Calibri" pitchFamily="34" charset="0"/>
                    <a:ea typeface="Calibri" pitchFamily="34" charset="-122"/>
                    <a:cs typeface="Calibri" pitchFamily="34" charset="-120"/>
                  </a:rPr>
                  <a:t>
</a:t>
                </a:r>
                <a:r>
                  <a:rPr lang="en-US" sz="1200" b="1" dirty="0">
                    <a:solidFill>
                      <a:srgbClr val="02C39A"/>
                    </a:solidFill>
                    <a:latin typeface="Calibri" pitchFamily="34" charset="0"/>
                    <a:ea typeface="Calibri" pitchFamily="34" charset="-122"/>
                    <a:cs typeface="Calibri" pitchFamily="34" charset="-120"/>
                  </a:rPr>
                  <a:t>TB Loss</a:t>
                </a:r>
                <a:r>
                  <a:rPr lang="en-US" sz="1200" b="1">
                    <a:solidFill>
                      <a:srgbClr val="02C39A"/>
                    </a:solidFill>
                    <a:latin typeface="Calibri" pitchFamily="34" charset="0"/>
                    <a:ea typeface="Calibri" pitchFamily="34" charset="-122"/>
                    <a:cs typeface="Calibri" pitchFamily="34" charset="-120"/>
                  </a:rPr>
                  <a:t>
</a:t>
                </a:r>
                <a14:m>
                  <m:oMath xmlns:m="http://schemas.openxmlformats.org/officeDocument/2006/math">
                    <m:sSup>
                      <m:sSupPr>
                        <m:ctrlPr>
                          <a:rPr lang="en-US" sz="1150" i="1" smtClean="0">
                            <a:solidFill>
                              <a:srgbClr val="B8D4E8"/>
                            </a:solidFill>
                            <a:latin typeface="Cambria Math" panose="02040503050406030204" pitchFamily="18" charset="0"/>
                            <a:ea typeface="Calibri" pitchFamily="34" charset="-122"/>
                            <a:cs typeface="Calibri" pitchFamily="34" charset="-120"/>
                          </a:rPr>
                        </m:ctrlPr>
                      </m:sSupPr>
                      <m:e>
                        <m:d>
                          <m:dPr>
                            <m:ctrlPr>
                              <a:rPr lang="en-US" sz="1150" i="1" smtClean="0">
                                <a:solidFill>
                                  <a:srgbClr val="B8D4E8"/>
                                </a:solidFill>
                                <a:latin typeface="Cambria Math" panose="02040503050406030204" pitchFamily="18" charset="0"/>
                                <a:ea typeface="Calibri" pitchFamily="34" charset="-122"/>
                                <a:cs typeface="Calibri" pitchFamily="34" charset="-120"/>
                              </a:rPr>
                            </m:ctrlPr>
                          </m:dPr>
                          <m:e>
                            <m:func>
                              <m:funcPr>
                                <m:ctrlPr>
                                  <a:rPr lang="en-US" sz="1150" i="1" smtClean="0">
                                    <a:solidFill>
                                      <a:srgbClr val="B8D4E8"/>
                                    </a:solidFill>
                                    <a:latin typeface="Cambria Math" panose="02040503050406030204" pitchFamily="18" charset="0"/>
                                    <a:ea typeface="Calibri" pitchFamily="34" charset="-122"/>
                                    <a:cs typeface="Calibri" pitchFamily="34" charset="-120"/>
                                  </a:rPr>
                                </m:ctrlPr>
                              </m:funcPr>
                              <m:fName>
                                <m:r>
                                  <m:rPr>
                                    <m:sty m:val="p"/>
                                  </m:rPr>
                                  <a:rPr lang="en-US" sz="1150" i="0" smtClean="0">
                                    <a:solidFill>
                                      <a:srgbClr val="B8D4E8"/>
                                    </a:solidFill>
                                    <a:latin typeface="Cambria Math" panose="02040503050406030204" pitchFamily="18" charset="0"/>
                                    <a:ea typeface="Calibri" pitchFamily="34" charset="-122"/>
                                    <a:cs typeface="Calibri" pitchFamily="34" charset="-120"/>
                                  </a:rPr>
                                  <m:t>log</m:t>
                                </m:r>
                              </m:fName>
                              <m:e>
                                <m:r>
                                  <a:rPr lang="en-US" sz="1150" i="1" smtClean="0">
                                    <a:solidFill>
                                      <a:srgbClr val="B8D4E8"/>
                                    </a:solidFill>
                                    <a:latin typeface="Cambria Math" panose="02040503050406030204" pitchFamily="18" charset="0"/>
                                    <a:ea typeface="Calibri" pitchFamily="34" charset="-122"/>
                                    <a:cs typeface="Calibri" pitchFamily="34" charset="-120"/>
                                  </a:rPr>
                                  <m:t>𝑍</m:t>
                                </m:r>
                              </m:e>
                            </m:func>
                            <m:r>
                              <a:rPr lang="en-US" sz="1150" i="1" smtClean="0">
                                <a:solidFill>
                                  <a:srgbClr val="B8D4E8"/>
                                </a:solidFill>
                                <a:latin typeface="Cambria Math" panose="02040503050406030204" pitchFamily="18" charset="0"/>
                                <a:ea typeface="Calibri" pitchFamily="34" charset="-122"/>
                                <a:cs typeface="Calibri" pitchFamily="34" charset="-120"/>
                              </a:rPr>
                              <m:t>+</m:t>
                            </m:r>
                            <m:func>
                              <m:funcPr>
                                <m:ctrlPr>
                                  <a:rPr lang="en-US" sz="1150" i="1" smtClean="0">
                                    <a:solidFill>
                                      <a:srgbClr val="B8D4E8"/>
                                    </a:solidFill>
                                    <a:latin typeface="Cambria Math" panose="02040503050406030204" pitchFamily="18" charset="0"/>
                                    <a:ea typeface="Calibri" pitchFamily="34" charset="-122"/>
                                    <a:cs typeface="Calibri" pitchFamily="34" charset="-120"/>
                                  </a:rPr>
                                </m:ctrlPr>
                              </m:funcPr>
                              <m:fName>
                                <m:r>
                                  <m:rPr>
                                    <m:sty m:val="p"/>
                                  </m:rPr>
                                  <a:rPr lang="en-US" sz="1150" i="0" smtClean="0">
                                    <a:solidFill>
                                      <a:srgbClr val="B8D4E8"/>
                                    </a:solidFill>
                                    <a:latin typeface="Cambria Math" panose="02040503050406030204" pitchFamily="18" charset="0"/>
                                    <a:ea typeface="Calibri" pitchFamily="34" charset="-122"/>
                                    <a:cs typeface="Calibri" pitchFamily="34" charset="-120"/>
                                  </a:rPr>
                                  <m:t>log</m:t>
                                </m:r>
                              </m:fName>
                              <m:e>
                                <m:r>
                                  <a:rPr lang="en-US" sz="1150" i="1" smtClean="0">
                                    <a:solidFill>
                                      <a:srgbClr val="B8D4E8"/>
                                    </a:solidFill>
                                    <a:latin typeface="Cambria Math" panose="02040503050406030204" pitchFamily="18" charset="0"/>
                                    <a:ea typeface="Calibri" pitchFamily="34" charset="-122"/>
                                    <a:cs typeface="Calibri" pitchFamily="34" charset="-120"/>
                                  </a:rPr>
                                  <m:t>𝑞</m:t>
                                </m:r>
                                <m:d>
                                  <m:dPr>
                                    <m:sepChr m:val="∣"/>
                                    <m:ctrlPr>
                                      <a:rPr lang="en-US" sz="1150" i="1" smtClean="0">
                                        <a:solidFill>
                                          <a:srgbClr val="B8D4E8"/>
                                        </a:solidFill>
                                        <a:latin typeface="Cambria Math" panose="02040503050406030204" pitchFamily="18" charset="0"/>
                                        <a:ea typeface="Calibri" pitchFamily="34" charset="-122"/>
                                        <a:cs typeface="Calibri" pitchFamily="34" charset="-120"/>
                                      </a:rPr>
                                    </m:ctrlPr>
                                  </m:dPr>
                                  <m:e>
                                    <m:r>
                                      <a:rPr lang="en-US" sz="1150" i="1" smtClean="0">
                                        <a:solidFill>
                                          <a:srgbClr val="B8D4E8"/>
                                        </a:solidFill>
                                        <a:latin typeface="Cambria Math" panose="02040503050406030204" pitchFamily="18" charset="0"/>
                                        <a:ea typeface="Calibri" pitchFamily="34" charset="-122"/>
                                        <a:cs typeface="Calibri" pitchFamily="34" charset="-120"/>
                                      </a:rPr>
                                      <m:t>𝜏</m:t>
                                    </m:r>
                                  </m:e>
                                  <m:e>
                                    <m:sSup>
                                      <m:sSupPr>
                                        <m:ctrlPr>
                                          <a:rPr lang="en-US" sz="1150" i="1" smtClean="0">
                                            <a:solidFill>
                                              <a:srgbClr val="B8D4E8"/>
                                            </a:solidFill>
                                            <a:latin typeface="Cambria Math" panose="02040503050406030204" pitchFamily="18" charset="0"/>
                                            <a:ea typeface="Calibri" pitchFamily="34" charset="-122"/>
                                            <a:cs typeface="Calibri" pitchFamily="34" charset="-120"/>
                                          </a:rPr>
                                        </m:ctrlPr>
                                      </m:sSupPr>
                                      <m:e>
                                        <m:r>
                                          <a:rPr lang="en-US" sz="1150" i="1" smtClean="0">
                                            <a:solidFill>
                                              <a:srgbClr val="B8D4E8"/>
                                            </a:solidFill>
                                            <a:latin typeface="Cambria Math" panose="02040503050406030204" pitchFamily="18" charset="0"/>
                                            <a:ea typeface="Calibri" pitchFamily="34" charset="-122"/>
                                            <a:cs typeface="Calibri" pitchFamily="34" charset="-120"/>
                                          </a:rPr>
                                          <m:t>𝑉</m:t>
                                        </m:r>
                                      </m:e>
                                      <m:sup>
                                        <m:r>
                                          <a:rPr lang="en-US" sz="1150" i="1" smtClean="0">
                                            <a:solidFill>
                                              <a:srgbClr val="B8D4E8"/>
                                            </a:solidFill>
                                            <a:latin typeface="Cambria Math" panose="02040503050406030204" pitchFamily="18" charset="0"/>
                                            <a:ea typeface="Calibri" pitchFamily="34" charset="-122"/>
                                            <a:cs typeface="Calibri" pitchFamily="34" charset="-120"/>
                                          </a:rPr>
                                          <m:t>0</m:t>
                                        </m:r>
                                      </m:sup>
                                    </m:sSup>
                                  </m:e>
                                </m:d>
                              </m:e>
                            </m:func>
                            <m:r>
                              <a:rPr lang="en-US" sz="1150" i="1" smtClean="0">
                                <a:solidFill>
                                  <a:srgbClr val="B8D4E8"/>
                                </a:solidFill>
                                <a:latin typeface="Cambria Math" panose="02040503050406030204" pitchFamily="18" charset="0"/>
                                <a:ea typeface="Calibri" pitchFamily="34" charset="-122"/>
                                <a:cs typeface="Calibri" pitchFamily="34" charset="-120"/>
                              </a:rPr>
                              <m:t>+</m:t>
                            </m:r>
                            <m:r>
                              <a:rPr lang="en-US" sz="1150" i="1" smtClean="0">
                                <a:solidFill>
                                  <a:srgbClr val="B8D4E8"/>
                                </a:solidFill>
                                <a:latin typeface="Cambria Math" panose="02040503050406030204" pitchFamily="18" charset="0"/>
                                <a:ea typeface="Calibri" pitchFamily="34" charset="-122"/>
                                <a:cs typeface="Calibri" pitchFamily="34" charset="-120"/>
                              </a:rPr>
                              <m:t>𝛼</m:t>
                            </m:r>
                            <m:r>
                              <a:rPr lang="en-US" sz="1150" i="1" smtClean="0">
                                <a:solidFill>
                                  <a:srgbClr val="B8D4E8"/>
                                </a:solidFill>
                                <a:latin typeface="Cambria Math" panose="02040503050406030204" pitchFamily="18" charset="0"/>
                                <a:ea typeface="Calibri" pitchFamily="34" charset="-122"/>
                                <a:cs typeface="Calibri" pitchFamily="34" charset="-120"/>
                              </a:rPr>
                              <m:t>⋅</m:t>
                            </m:r>
                            <m:sSub>
                              <m:sSubPr>
                                <m:ctrlPr>
                                  <a:rPr lang="en-US" sz="1150" i="1" smtClean="0">
                                    <a:solidFill>
                                      <a:srgbClr val="B8D4E8"/>
                                    </a:solidFill>
                                    <a:latin typeface="Cambria Math" panose="02040503050406030204" pitchFamily="18" charset="0"/>
                                    <a:ea typeface="Calibri" pitchFamily="34" charset="-122"/>
                                    <a:cs typeface="Calibri" pitchFamily="34" charset="-120"/>
                                  </a:rPr>
                                </m:ctrlPr>
                              </m:sSubPr>
                              <m:e>
                                <m:r>
                                  <a:rPr lang="en-US" sz="1150" i="1" smtClean="0">
                                    <a:solidFill>
                                      <a:srgbClr val="B8D4E8"/>
                                    </a:solidFill>
                                    <a:latin typeface="Cambria Math" panose="02040503050406030204" pitchFamily="18" charset="0"/>
                                    <a:ea typeface="Calibri" pitchFamily="34" charset="-122"/>
                                    <a:cs typeface="Calibri" pitchFamily="34" charset="-120"/>
                                  </a:rPr>
                                  <m:t>𝐿</m:t>
                                </m:r>
                              </m:e>
                              <m:sub>
                                <m:r>
                                  <a:rPr lang="en-US" sz="1150" i="1" smtClean="0">
                                    <a:solidFill>
                                      <a:srgbClr val="B8D4E8"/>
                                    </a:solidFill>
                                    <a:latin typeface="Cambria Math" panose="02040503050406030204" pitchFamily="18" charset="0"/>
                                    <a:ea typeface="Calibri" pitchFamily="34" charset="-122"/>
                                    <a:cs typeface="Calibri" pitchFamily="34" charset="-120"/>
                                  </a:rPr>
                                  <m:t>𝐵𝑃𝑅</m:t>
                                </m:r>
                              </m:sub>
                            </m:sSub>
                          </m:e>
                        </m:d>
                      </m:e>
                      <m:sup>
                        <m:r>
                          <a:rPr lang="en-US" sz="1150" i="1" smtClean="0">
                            <a:solidFill>
                              <a:srgbClr val="B8D4E8"/>
                            </a:solidFill>
                            <a:latin typeface="Cambria Math" panose="02040503050406030204" pitchFamily="18" charset="0"/>
                            <a:ea typeface="Calibri" pitchFamily="34" charset="-122"/>
                            <a:cs typeface="Calibri" pitchFamily="34" charset="-120"/>
                          </a:rPr>
                          <m:t>2</m:t>
                        </m:r>
                      </m:sup>
                    </m:sSup>
                  </m:oMath>
                </a14:m>
                <a:r>
                  <a:rPr lang="en-US" sz="1150" dirty="0">
                    <a:solidFill>
                      <a:srgbClr val="B8D4E8"/>
                    </a:solidFill>
                    <a:latin typeface="Calibri" pitchFamily="34" charset="0"/>
                    <a:ea typeface="Calibri" pitchFamily="34" charset="-122"/>
                    <a:cs typeface="Calibri" pitchFamily="34" charset="-120"/>
                  </a:rPr>
                  <a:t>
</a:t>
                </a:r>
                <a:r>
                  <a:rPr lang="en-US" sz="1200" b="1" dirty="0">
                    <a:solidFill>
                      <a:srgbClr val="F4A261"/>
                    </a:solidFill>
                    <a:latin typeface="Calibri" pitchFamily="34" charset="0"/>
                    <a:ea typeface="Calibri" pitchFamily="34" charset="-122"/>
                    <a:cs typeface="Calibri" pitchFamily="34" charset="-120"/>
                  </a:rPr>
                  <a:t>→ Cập nhật θ của </a:t>
                </a:r>
                <a14:m>
                  <m:oMath xmlns:m="http://schemas.openxmlformats.org/officeDocument/2006/math">
                    <m:r>
                      <a:rPr lang="en-US" sz="1200" b="1" i="1" dirty="0" smtClean="0">
                        <a:solidFill>
                          <a:srgbClr val="F4A261"/>
                        </a:solidFill>
                        <a:latin typeface="Cambria Math" panose="02040503050406030204" pitchFamily="18" charset="0"/>
                        <a:ea typeface="Calibri" pitchFamily="34" charset="-122"/>
                        <a:cs typeface="Calibri" pitchFamily="34" charset="-120"/>
                      </a:rPr>
                      <m:t>𝑮𝑪</m:t>
                    </m:r>
                    <m:sSub>
                      <m:sSubPr>
                        <m:ctrlPr>
                          <a:rPr lang="en-US" sz="1200" b="1" i="1" dirty="0" smtClean="0">
                            <a:solidFill>
                              <a:srgbClr val="F4A261"/>
                            </a:solidFill>
                            <a:latin typeface="Cambria Math" panose="02040503050406030204" pitchFamily="18" charset="0"/>
                            <a:ea typeface="Calibri" pitchFamily="34" charset="-122"/>
                            <a:cs typeface="Calibri" pitchFamily="34" charset="-120"/>
                          </a:rPr>
                        </m:ctrlPr>
                      </m:sSubPr>
                      <m:e>
                        <m:r>
                          <a:rPr lang="en-US" sz="1200" b="1" i="1" dirty="0" smtClean="0">
                            <a:solidFill>
                              <a:srgbClr val="F4A261"/>
                            </a:solidFill>
                            <a:latin typeface="Cambria Math" panose="02040503050406030204" pitchFamily="18" charset="0"/>
                            <a:ea typeface="Calibri" pitchFamily="34" charset="-122"/>
                            <a:cs typeface="Calibri" pitchFamily="34" charset="-120"/>
                          </a:rPr>
                          <m:t>𝑵</m:t>
                        </m:r>
                      </m:e>
                      <m:sub>
                        <m:r>
                          <a:rPr lang="en-US" sz="1200" b="1" i="1" dirty="0" smtClean="0">
                            <a:solidFill>
                              <a:srgbClr val="F4A261"/>
                            </a:solidFill>
                            <a:latin typeface="Cambria Math" panose="02040503050406030204" pitchFamily="18" charset="0"/>
                            <a:ea typeface="Calibri" pitchFamily="34" charset="-122"/>
                            <a:cs typeface="Calibri" pitchFamily="34" charset="-120"/>
                          </a:rPr>
                          <m:t>𝑺</m:t>
                        </m:r>
                      </m:sub>
                    </m:sSub>
                  </m:oMath>
                </a14:m>
                <a:r>
                  <a:rPr lang="en-US" sz="1200" b="1" dirty="0">
                    <a:solidFill>
                      <a:srgbClr val="F4A261"/>
                    </a:solidFill>
                    <a:latin typeface="Calibri" pitchFamily="34" charset="0"/>
                    <a:ea typeface="Calibri" pitchFamily="34" charset="-122"/>
                    <a:cs typeface="Calibri" pitchFamily="34" charset="-120"/>
                  </a:rPr>
                  <a:t>
</a:t>
                </a:r>
                <a:r>
                  <a:rPr lang="en-US" sz="1100" dirty="0">
                    <a:solidFill>
                      <a:srgbClr val="9CB8D0"/>
                    </a:solidFill>
                    <a:latin typeface="Calibri" pitchFamily="34" charset="0"/>
                    <a:ea typeface="Calibri" pitchFamily="34" charset="-122"/>
                    <a:cs typeface="Calibri" pitchFamily="34" charset="-120"/>
                  </a:rPr>
                  <a:t>→ subgraph tốt hơn</a:t>
                </a:r>
                <a:endParaRPr lang="en-US" sz="1200" dirty="0"/>
              </a:p>
              <a:p>
                <a:pPr marL="0" indent="0">
                  <a:buNone/>
                </a:pPr>
                <a:r>
                  <a:rPr lang="en-US" sz="1100" dirty="0">
                    <a:solidFill>
                      <a:srgbClr val="9CB8D0"/>
                    </a:solidFill>
                    <a:latin typeface="Calibri" pitchFamily="34" charset="0"/>
                    <a:ea typeface="Calibri" pitchFamily="34" charset="-122"/>
                    <a:cs typeface="Calibri" pitchFamily="34" charset="-120"/>
                  </a:rPr>
                  <a:t>   ở vòng lặp sau</a:t>
                </a:r>
                <a:endParaRPr lang="en-US" sz="1200" dirty="0"/>
              </a:p>
            </p:txBody>
          </p:sp>
        </mc:Choice>
        <mc:Fallback xmlns="">
          <p:sp>
            <p:nvSpPr>
              <p:cNvPr id="29" name="Text 27"/>
              <p:cNvSpPr>
                <a:spLocks noRot="1" noChangeAspect="1" noMove="1" noResize="1" noEditPoints="1" noAdjustHandles="1" noChangeArrowheads="1" noChangeShapeType="1" noTextEdit="1"/>
              </p:cNvSpPr>
              <p:nvPr/>
            </p:nvSpPr>
            <p:spPr>
              <a:xfrm>
                <a:off x="6126480" y="2999232"/>
                <a:ext cx="2651760" cy="1883664"/>
              </a:xfrm>
              <a:prstGeom prst="rect">
                <a:avLst/>
              </a:prstGeom>
              <a:blipFill>
                <a:blip r:embed="rId6"/>
                <a:stretch>
                  <a:fillRect/>
                </a:stretch>
              </a:blipFill>
              <a:ln/>
            </p:spPr>
            <p:txBody>
              <a:bodyPr/>
              <a:lstStyle/>
              <a:p>
                <a:r>
                  <a:rPr lang="en-VN">
                    <a:noFill/>
                  </a:rPr>
                  <a:t> </a:t>
                </a:r>
              </a:p>
            </p:txBody>
          </p:sp>
        </mc:Fallback>
      </mc:AlternateContent>
      <p:sp>
        <p:nvSpPr>
          <p:cNvPr id="30" name="Shape 28"/>
          <p:cNvSpPr/>
          <p:nvPr/>
        </p:nvSpPr>
        <p:spPr>
          <a:xfrm>
            <a:off x="5779008" y="4105656"/>
            <a:ext cx="219456" cy="9144"/>
          </a:xfrm>
          <a:prstGeom prst="line">
            <a:avLst/>
          </a:prstGeom>
          <a:noFill/>
          <a:ln w="31750">
            <a:solidFill>
              <a:srgbClr val="F4A261"/>
            </a:solidFill>
            <a:prstDash val="solid"/>
            <a:tailEnd type="arrow"/>
          </a:ln>
        </p:spPr>
        <p:txBody>
          <a:bodyPr/>
          <a:lstStyle/>
          <a:p>
            <a:endParaRPr lang="en-VN"/>
          </a:p>
        </p:txBody>
      </p:sp>
      <p:sp>
        <p:nvSpPr>
          <p:cNvPr id="31" name="Shape 29"/>
          <p:cNvSpPr/>
          <p:nvPr/>
        </p:nvSpPr>
        <p:spPr>
          <a:xfrm>
            <a:off x="5779008" y="2862072"/>
            <a:ext cx="219456" cy="9144"/>
          </a:xfrm>
          <a:prstGeom prst="line">
            <a:avLst/>
          </a:prstGeom>
          <a:noFill/>
          <a:ln w="31750">
            <a:solidFill>
              <a:srgbClr val="F4A261"/>
            </a:solidFill>
            <a:prstDash val="solid"/>
            <a:headEnd type="arrow"/>
            <a:tailEnd type="none"/>
          </a:ln>
        </p:spPr>
        <p:txBody>
          <a:bodyPr/>
          <a:lstStyle/>
          <a:p>
            <a:endParaRPr lang="en-V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65A82"/>
          </a:solidFill>
          <a:ln w="12700">
            <a:solidFill>
              <a:srgbClr val="065A82"/>
            </a:solidFill>
            <a:prstDash val="solid"/>
          </a:ln>
        </p:spPr>
        <p:txBody>
          <a:bodyPr/>
          <a:lstStyle/>
          <a:p>
            <a:endParaRPr lang="en-VN"/>
          </a:p>
        </p:txBody>
      </p:sp>
      <p:sp>
        <p:nvSpPr>
          <p:cNvPr id="3" name="Text 1"/>
          <p:cNvSpPr/>
          <p:nvPr/>
        </p:nvSpPr>
        <p:spPr>
          <a:xfrm>
            <a:off x="365760" y="73152"/>
            <a:ext cx="8412480" cy="658368"/>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Roadmap Triển Khai Giai Đoạn 2</a:t>
            </a:r>
            <a:endParaRPr lang="en-US" sz="2400" dirty="0"/>
          </a:p>
        </p:txBody>
      </p:sp>
      <p:sp>
        <p:nvSpPr>
          <p:cNvPr id="4" name="Text 2"/>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5A6A78"/>
                </a:solidFill>
                <a:latin typeface="Calibri" pitchFamily="34" charset="0"/>
                <a:ea typeface="Calibri" pitchFamily="34" charset="-122"/>
                <a:cs typeface="Calibri" pitchFamily="34" charset="-120"/>
              </a:rPr>
              <a:t>28 / 29</a:t>
            </a:r>
            <a:endParaRPr lang="en-US" sz="1000" dirty="0"/>
          </a:p>
        </p:txBody>
      </p:sp>
      <p:sp>
        <p:nvSpPr>
          <p:cNvPr id="5" name="Shape 3"/>
          <p:cNvSpPr/>
          <p:nvPr/>
        </p:nvSpPr>
        <p:spPr>
          <a:xfrm>
            <a:off x="3163824" y="841248"/>
            <a:ext cx="1440180" cy="274320"/>
          </a:xfrm>
          <a:prstGeom prst="rect">
            <a:avLst/>
          </a:prstGeom>
          <a:solidFill>
            <a:srgbClr val="E8F4FA"/>
          </a:solidFill>
          <a:ln w="6350">
            <a:solidFill>
              <a:srgbClr val="D0D8E4"/>
            </a:solidFill>
            <a:prstDash val="solid"/>
          </a:ln>
        </p:spPr>
        <p:txBody>
          <a:bodyPr/>
          <a:lstStyle/>
          <a:p>
            <a:endParaRPr lang="en-VN"/>
          </a:p>
        </p:txBody>
      </p:sp>
      <p:sp>
        <p:nvSpPr>
          <p:cNvPr id="6" name="Text 4"/>
          <p:cNvSpPr/>
          <p:nvPr/>
        </p:nvSpPr>
        <p:spPr>
          <a:xfrm>
            <a:off x="3163824" y="841248"/>
            <a:ext cx="1440180" cy="274320"/>
          </a:xfrm>
          <a:prstGeom prst="rect">
            <a:avLst/>
          </a:prstGeom>
          <a:noFill/>
          <a:ln/>
        </p:spPr>
        <p:txBody>
          <a:bodyPr wrap="square"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Tháng 1</a:t>
            </a:r>
            <a:endParaRPr lang="en-US" sz="1100" dirty="0"/>
          </a:p>
        </p:txBody>
      </p:sp>
      <p:sp>
        <p:nvSpPr>
          <p:cNvPr id="7" name="Shape 5"/>
          <p:cNvSpPr/>
          <p:nvPr/>
        </p:nvSpPr>
        <p:spPr>
          <a:xfrm>
            <a:off x="4604004" y="841248"/>
            <a:ext cx="1440180" cy="274320"/>
          </a:xfrm>
          <a:prstGeom prst="rect">
            <a:avLst/>
          </a:prstGeom>
          <a:solidFill>
            <a:srgbClr val="F0FAF5"/>
          </a:solidFill>
          <a:ln w="6350">
            <a:solidFill>
              <a:srgbClr val="D0D8E4"/>
            </a:solidFill>
            <a:prstDash val="solid"/>
          </a:ln>
        </p:spPr>
        <p:txBody>
          <a:bodyPr/>
          <a:lstStyle/>
          <a:p>
            <a:endParaRPr lang="en-VN"/>
          </a:p>
        </p:txBody>
      </p:sp>
      <p:sp>
        <p:nvSpPr>
          <p:cNvPr id="8" name="Text 6"/>
          <p:cNvSpPr/>
          <p:nvPr/>
        </p:nvSpPr>
        <p:spPr>
          <a:xfrm>
            <a:off x="4604004" y="841248"/>
            <a:ext cx="1440180" cy="274320"/>
          </a:xfrm>
          <a:prstGeom prst="rect">
            <a:avLst/>
          </a:prstGeom>
          <a:noFill/>
          <a:ln/>
        </p:spPr>
        <p:txBody>
          <a:bodyPr wrap="square"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Tháng 2</a:t>
            </a:r>
            <a:endParaRPr lang="en-US" sz="1100" dirty="0"/>
          </a:p>
        </p:txBody>
      </p:sp>
      <p:sp>
        <p:nvSpPr>
          <p:cNvPr id="9" name="Shape 7"/>
          <p:cNvSpPr/>
          <p:nvPr/>
        </p:nvSpPr>
        <p:spPr>
          <a:xfrm>
            <a:off x="6044184" y="841248"/>
            <a:ext cx="1440180" cy="274320"/>
          </a:xfrm>
          <a:prstGeom prst="rect">
            <a:avLst/>
          </a:prstGeom>
          <a:solidFill>
            <a:srgbClr val="FFF5E8"/>
          </a:solidFill>
          <a:ln w="6350">
            <a:solidFill>
              <a:srgbClr val="D0D8E4"/>
            </a:solidFill>
            <a:prstDash val="solid"/>
          </a:ln>
        </p:spPr>
        <p:txBody>
          <a:bodyPr/>
          <a:lstStyle/>
          <a:p>
            <a:endParaRPr lang="en-VN"/>
          </a:p>
        </p:txBody>
      </p:sp>
      <p:sp>
        <p:nvSpPr>
          <p:cNvPr id="10" name="Text 8"/>
          <p:cNvSpPr/>
          <p:nvPr/>
        </p:nvSpPr>
        <p:spPr>
          <a:xfrm>
            <a:off x="6044184" y="841248"/>
            <a:ext cx="1440180" cy="274320"/>
          </a:xfrm>
          <a:prstGeom prst="rect">
            <a:avLst/>
          </a:prstGeom>
          <a:noFill/>
          <a:ln/>
        </p:spPr>
        <p:txBody>
          <a:bodyPr wrap="square"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Tháng 3</a:t>
            </a:r>
            <a:endParaRPr lang="en-US" sz="1100" dirty="0"/>
          </a:p>
        </p:txBody>
      </p:sp>
      <p:sp>
        <p:nvSpPr>
          <p:cNvPr id="11" name="Shape 9"/>
          <p:cNvSpPr/>
          <p:nvPr/>
        </p:nvSpPr>
        <p:spPr>
          <a:xfrm>
            <a:off x="7484364" y="841248"/>
            <a:ext cx="1440180" cy="274320"/>
          </a:xfrm>
          <a:prstGeom prst="rect">
            <a:avLst/>
          </a:prstGeom>
          <a:solidFill>
            <a:srgbClr val="F5E8FF"/>
          </a:solidFill>
          <a:ln w="6350">
            <a:solidFill>
              <a:srgbClr val="D0D8E4"/>
            </a:solidFill>
            <a:prstDash val="solid"/>
          </a:ln>
        </p:spPr>
        <p:txBody>
          <a:bodyPr/>
          <a:lstStyle/>
          <a:p>
            <a:endParaRPr lang="en-VN"/>
          </a:p>
        </p:txBody>
      </p:sp>
      <p:sp>
        <p:nvSpPr>
          <p:cNvPr id="12" name="Text 10"/>
          <p:cNvSpPr/>
          <p:nvPr/>
        </p:nvSpPr>
        <p:spPr>
          <a:xfrm>
            <a:off x="7484364" y="841248"/>
            <a:ext cx="1440180" cy="274320"/>
          </a:xfrm>
          <a:prstGeom prst="rect">
            <a:avLst/>
          </a:prstGeom>
          <a:noFill/>
          <a:ln/>
        </p:spPr>
        <p:txBody>
          <a:bodyPr wrap="square"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Tháng 3.5–4</a:t>
            </a:r>
            <a:endParaRPr lang="en-US" sz="1100" dirty="0"/>
          </a:p>
        </p:txBody>
      </p:sp>
      <p:sp>
        <p:nvSpPr>
          <p:cNvPr id="13" name="Shape 11"/>
          <p:cNvSpPr/>
          <p:nvPr/>
        </p:nvSpPr>
        <p:spPr>
          <a:xfrm>
            <a:off x="3163824" y="1115568"/>
            <a:ext cx="9144" cy="3383280"/>
          </a:xfrm>
          <a:prstGeom prst="line">
            <a:avLst/>
          </a:prstGeom>
          <a:noFill/>
          <a:ln w="10160">
            <a:solidFill>
              <a:srgbClr val="E0E8F0"/>
            </a:solidFill>
            <a:prstDash val="solid"/>
          </a:ln>
        </p:spPr>
        <p:txBody>
          <a:bodyPr/>
          <a:lstStyle/>
          <a:p>
            <a:endParaRPr lang="en-VN"/>
          </a:p>
        </p:txBody>
      </p:sp>
      <p:sp>
        <p:nvSpPr>
          <p:cNvPr id="14" name="Text 12"/>
          <p:cNvSpPr/>
          <p:nvPr/>
        </p:nvSpPr>
        <p:spPr>
          <a:xfrm>
            <a:off x="2962656" y="1115568"/>
            <a:ext cx="402336" cy="201168"/>
          </a:xfrm>
          <a:prstGeom prst="rect">
            <a:avLst/>
          </a:prstGeom>
          <a:noFill/>
          <a:ln/>
        </p:spPr>
        <p:txBody>
          <a:bodyPr wrap="square" rtlCol="0" anchor="ctr"/>
          <a:lstStyle/>
          <a:p>
            <a:pPr marL="0" indent="0" algn="ctr">
              <a:buNone/>
            </a:pPr>
            <a:r>
              <a:rPr lang="en-US" sz="900" dirty="0">
                <a:solidFill>
                  <a:srgbClr val="5A6A78"/>
                </a:solidFill>
                <a:latin typeface="Calibri" pitchFamily="34" charset="0"/>
                <a:ea typeface="Calibri" pitchFamily="34" charset="-122"/>
                <a:cs typeface="Calibri" pitchFamily="34" charset="-120"/>
              </a:rPr>
              <a:t>W0</a:t>
            </a:r>
            <a:endParaRPr lang="en-US" sz="900" dirty="0"/>
          </a:p>
        </p:txBody>
      </p:sp>
      <p:sp>
        <p:nvSpPr>
          <p:cNvPr id="15" name="Shape 13"/>
          <p:cNvSpPr/>
          <p:nvPr/>
        </p:nvSpPr>
        <p:spPr>
          <a:xfrm>
            <a:off x="4604004" y="1115568"/>
            <a:ext cx="9144" cy="3383280"/>
          </a:xfrm>
          <a:prstGeom prst="line">
            <a:avLst/>
          </a:prstGeom>
          <a:noFill/>
          <a:ln w="10160">
            <a:solidFill>
              <a:srgbClr val="E0E8F0"/>
            </a:solidFill>
            <a:prstDash val="solid"/>
          </a:ln>
        </p:spPr>
        <p:txBody>
          <a:bodyPr/>
          <a:lstStyle/>
          <a:p>
            <a:endParaRPr lang="en-VN"/>
          </a:p>
        </p:txBody>
      </p:sp>
      <p:sp>
        <p:nvSpPr>
          <p:cNvPr id="16" name="Text 14"/>
          <p:cNvSpPr/>
          <p:nvPr/>
        </p:nvSpPr>
        <p:spPr>
          <a:xfrm>
            <a:off x="4402836" y="1115568"/>
            <a:ext cx="402336" cy="201168"/>
          </a:xfrm>
          <a:prstGeom prst="rect">
            <a:avLst/>
          </a:prstGeom>
          <a:noFill/>
          <a:ln/>
        </p:spPr>
        <p:txBody>
          <a:bodyPr wrap="square" rtlCol="0" anchor="ctr"/>
          <a:lstStyle/>
          <a:p>
            <a:pPr marL="0" indent="0" algn="ctr">
              <a:buNone/>
            </a:pPr>
            <a:r>
              <a:rPr lang="en-US" sz="900" dirty="0">
                <a:solidFill>
                  <a:srgbClr val="5A6A78"/>
                </a:solidFill>
                <a:latin typeface="Calibri" pitchFamily="34" charset="0"/>
                <a:ea typeface="Calibri" pitchFamily="34" charset="-122"/>
                <a:cs typeface="Calibri" pitchFamily="34" charset="-120"/>
              </a:rPr>
              <a:t>W4</a:t>
            </a:r>
            <a:endParaRPr lang="en-US" sz="900" dirty="0"/>
          </a:p>
        </p:txBody>
      </p:sp>
      <p:sp>
        <p:nvSpPr>
          <p:cNvPr id="17" name="Shape 15"/>
          <p:cNvSpPr/>
          <p:nvPr/>
        </p:nvSpPr>
        <p:spPr>
          <a:xfrm>
            <a:off x="6044184" y="1115568"/>
            <a:ext cx="9144" cy="3383280"/>
          </a:xfrm>
          <a:prstGeom prst="line">
            <a:avLst/>
          </a:prstGeom>
          <a:noFill/>
          <a:ln w="10160">
            <a:solidFill>
              <a:srgbClr val="E0E8F0"/>
            </a:solidFill>
            <a:prstDash val="solid"/>
          </a:ln>
        </p:spPr>
        <p:txBody>
          <a:bodyPr/>
          <a:lstStyle/>
          <a:p>
            <a:endParaRPr lang="en-VN"/>
          </a:p>
        </p:txBody>
      </p:sp>
      <p:sp>
        <p:nvSpPr>
          <p:cNvPr id="18" name="Text 16"/>
          <p:cNvSpPr/>
          <p:nvPr/>
        </p:nvSpPr>
        <p:spPr>
          <a:xfrm>
            <a:off x="5843016" y="1115568"/>
            <a:ext cx="402336" cy="201168"/>
          </a:xfrm>
          <a:prstGeom prst="rect">
            <a:avLst/>
          </a:prstGeom>
          <a:noFill/>
          <a:ln/>
        </p:spPr>
        <p:txBody>
          <a:bodyPr wrap="square" rtlCol="0" anchor="ctr"/>
          <a:lstStyle/>
          <a:p>
            <a:pPr marL="0" indent="0" algn="ctr">
              <a:buNone/>
            </a:pPr>
            <a:r>
              <a:rPr lang="en-US" sz="900" dirty="0">
                <a:solidFill>
                  <a:srgbClr val="5A6A78"/>
                </a:solidFill>
                <a:latin typeface="Calibri" pitchFamily="34" charset="0"/>
                <a:ea typeface="Calibri" pitchFamily="34" charset="-122"/>
                <a:cs typeface="Calibri" pitchFamily="34" charset="-120"/>
              </a:rPr>
              <a:t>W8</a:t>
            </a:r>
            <a:endParaRPr lang="en-US" sz="900" dirty="0"/>
          </a:p>
        </p:txBody>
      </p:sp>
      <p:sp>
        <p:nvSpPr>
          <p:cNvPr id="19" name="Shape 17"/>
          <p:cNvSpPr/>
          <p:nvPr/>
        </p:nvSpPr>
        <p:spPr>
          <a:xfrm>
            <a:off x="7484364" y="1115568"/>
            <a:ext cx="9144" cy="3383280"/>
          </a:xfrm>
          <a:prstGeom prst="line">
            <a:avLst/>
          </a:prstGeom>
          <a:noFill/>
          <a:ln w="10160">
            <a:solidFill>
              <a:srgbClr val="E0E8F0"/>
            </a:solidFill>
            <a:prstDash val="solid"/>
          </a:ln>
        </p:spPr>
        <p:txBody>
          <a:bodyPr/>
          <a:lstStyle/>
          <a:p>
            <a:endParaRPr lang="en-VN"/>
          </a:p>
        </p:txBody>
      </p:sp>
      <p:sp>
        <p:nvSpPr>
          <p:cNvPr id="20" name="Text 18"/>
          <p:cNvSpPr/>
          <p:nvPr/>
        </p:nvSpPr>
        <p:spPr>
          <a:xfrm>
            <a:off x="7283196" y="1115568"/>
            <a:ext cx="402336" cy="201168"/>
          </a:xfrm>
          <a:prstGeom prst="rect">
            <a:avLst/>
          </a:prstGeom>
          <a:noFill/>
          <a:ln/>
        </p:spPr>
        <p:txBody>
          <a:bodyPr wrap="square" rtlCol="0" anchor="ctr"/>
          <a:lstStyle/>
          <a:p>
            <a:pPr marL="0" indent="0" algn="ctr">
              <a:buNone/>
            </a:pPr>
            <a:r>
              <a:rPr lang="en-US" sz="900" dirty="0">
                <a:solidFill>
                  <a:srgbClr val="5A6A78"/>
                </a:solidFill>
                <a:latin typeface="Calibri" pitchFamily="34" charset="0"/>
                <a:ea typeface="Calibri" pitchFamily="34" charset="-122"/>
                <a:cs typeface="Calibri" pitchFamily="34" charset="-120"/>
              </a:rPr>
              <a:t>W12</a:t>
            </a:r>
            <a:endParaRPr lang="en-US" sz="900" dirty="0"/>
          </a:p>
        </p:txBody>
      </p:sp>
      <p:sp>
        <p:nvSpPr>
          <p:cNvPr id="21" name="Shape 19"/>
          <p:cNvSpPr/>
          <p:nvPr/>
        </p:nvSpPr>
        <p:spPr>
          <a:xfrm>
            <a:off x="8924544" y="1115568"/>
            <a:ext cx="9144" cy="3383280"/>
          </a:xfrm>
          <a:prstGeom prst="line">
            <a:avLst/>
          </a:prstGeom>
          <a:noFill/>
          <a:ln w="10160">
            <a:solidFill>
              <a:srgbClr val="E0E8F0"/>
            </a:solidFill>
            <a:prstDash val="solid"/>
          </a:ln>
        </p:spPr>
        <p:txBody>
          <a:bodyPr/>
          <a:lstStyle/>
          <a:p>
            <a:endParaRPr lang="en-VN"/>
          </a:p>
        </p:txBody>
      </p:sp>
      <p:sp>
        <p:nvSpPr>
          <p:cNvPr id="22" name="Text 20"/>
          <p:cNvSpPr/>
          <p:nvPr/>
        </p:nvSpPr>
        <p:spPr>
          <a:xfrm>
            <a:off x="8723376" y="1115568"/>
            <a:ext cx="402336" cy="201168"/>
          </a:xfrm>
          <a:prstGeom prst="rect">
            <a:avLst/>
          </a:prstGeom>
          <a:noFill/>
          <a:ln/>
        </p:spPr>
        <p:txBody>
          <a:bodyPr wrap="square" rtlCol="0" anchor="ctr"/>
          <a:lstStyle/>
          <a:p>
            <a:pPr marL="0" indent="0" algn="ctr">
              <a:buNone/>
            </a:pPr>
            <a:r>
              <a:rPr lang="en-US" sz="900" dirty="0">
                <a:solidFill>
                  <a:srgbClr val="5A6A78"/>
                </a:solidFill>
                <a:latin typeface="Calibri" pitchFamily="34" charset="0"/>
                <a:ea typeface="Calibri" pitchFamily="34" charset="-122"/>
                <a:cs typeface="Calibri" pitchFamily="34" charset="-120"/>
              </a:rPr>
              <a:t>W16</a:t>
            </a:r>
            <a:endParaRPr lang="en-US" sz="900" dirty="0"/>
          </a:p>
        </p:txBody>
      </p:sp>
      <p:sp>
        <p:nvSpPr>
          <p:cNvPr id="23" name="Shape 21"/>
          <p:cNvSpPr/>
          <p:nvPr/>
        </p:nvSpPr>
        <p:spPr>
          <a:xfrm>
            <a:off x="256032" y="1353312"/>
            <a:ext cx="8668512" cy="502920"/>
          </a:xfrm>
          <a:prstGeom prst="rect">
            <a:avLst/>
          </a:prstGeom>
          <a:solidFill>
            <a:srgbClr val="F8FAFB"/>
          </a:solidFill>
          <a:ln w="12700">
            <a:solidFill>
              <a:srgbClr val="000000"/>
            </a:solidFill>
            <a:prstDash val="solid"/>
          </a:ln>
        </p:spPr>
        <p:txBody>
          <a:bodyPr/>
          <a:lstStyle/>
          <a:p>
            <a:endParaRPr lang="en-VN"/>
          </a:p>
        </p:txBody>
      </p:sp>
      <p:sp>
        <p:nvSpPr>
          <p:cNvPr id="24" name="Shape 22"/>
          <p:cNvSpPr/>
          <p:nvPr/>
        </p:nvSpPr>
        <p:spPr>
          <a:xfrm>
            <a:off x="292608" y="1463040"/>
            <a:ext cx="274320" cy="274320"/>
          </a:xfrm>
          <a:prstGeom prst="ellipse">
            <a:avLst/>
          </a:prstGeom>
          <a:solidFill>
            <a:srgbClr val="1C7293"/>
          </a:solidFill>
          <a:ln w="12700">
            <a:solidFill>
              <a:srgbClr val="1C7293"/>
            </a:solidFill>
            <a:prstDash val="solid"/>
          </a:ln>
        </p:spPr>
        <p:txBody>
          <a:bodyPr/>
          <a:lstStyle/>
          <a:p>
            <a:endParaRPr lang="en-VN"/>
          </a:p>
        </p:txBody>
      </p:sp>
      <p:sp>
        <p:nvSpPr>
          <p:cNvPr id="25" name="Text 23"/>
          <p:cNvSpPr/>
          <p:nvPr/>
        </p:nvSpPr>
        <p:spPr>
          <a:xfrm>
            <a:off x="292608" y="1463040"/>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6" name="Text 24"/>
          <p:cNvSpPr/>
          <p:nvPr/>
        </p:nvSpPr>
        <p:spPr>
          <a:xfrm>
            <a:off x="640080" y="1380744"/>
            <a:ext cx="2414016" cy="237744"/>
          </a:xfrm>
          <a:prstGeom prst="rect">
            <a:avLst/>
          </a:prstGeom>
          <a:noFill/>
          <a:ln/>
        </p:spPr>
        <p:txBody>
          <a:bodyPr wrap="square" rtlCol="0" anchor="ctr"/>
          <a:lstStyle/>
          <a:p>
            <a:pPr marL="0" indent="0">
              <a:buNone/>
            </a:pPr>
            <a:r>
              <a:rPr lang="en-US" sz="1200" b="1" dirty="0">
                <a:solidFill>
                  <a:srgbClr val="1A2B3C"/>
                </a:solidFill>
                <a:latin typeface="Calibri" pitchFamily="34" charset="0"/>
                <a:ea typeface="Calibri" pitchFamily="34" charset="-122"/>
                <a:cs typeface="Calibri" pitchFamily="34" charset="-120"/>
              </a:rPr>
              <a:t>Thu thập &amp; tiền xử lý</a:t>
            </a:r>
            <a:endParaRPr lang="en-US" sz="1200" dirty="0"/>
          </a:p>
        </p:txBody>
      </p:sp>
      <p:sp>
        <p:nvSpPr>
          <p:cNvPr id="27" name="Text 25"/>
          <p:cNvSpPr/>
          <p:nvPr/>
        </p:nvSpPr>
        <p:spPr>
          <a:xfrm>
            <a:off x="640080" y="1618488"/>
            <a:ext cx="2414016" cy="219456"/>
          </a:xfrm>
          <a:prstGeom prst="rect">
            <a:avLst/>
          </a:prstGeom>
          <a:noFill/>
          <a:ln/>
        </p:spPr>
        <p:txBody>
          <a:bodyPr wrap="square" rtlCol="0" anchor="ctr"/>
          <a:lstStyle/>
          <a:p>
            <a:pPr marL="0" indent="0">
              <a:buNone/>
            </a:pPr>
            <a:r>
              <a:rPr lang="en-US" sz="900" dirty="0">
                <a:solidFill>
                  <a:srgbClr val="5A6A78"/>
                </a:solidFill>
                <a:latin typeface="Calibri" pitchFamily="34" charset="0"/>
                <a:ea typeface="Calibri" pitchFamily="34" charset="-122"/>
                <a:cs typeface="Calibri" pitchFamily="34" charset="-120"/>
              </a:rPr>
              <a:t>Amazon Reviews'23 | 5-core filter</a:t>
            </a:r>
            <a:endParaRPr lang="en-US" sz="900" dirty="0"/>
          </a:p>
        </p:txBody>
      </p:sp>
      <p:sp>
        <p:nvSpPr>
          <p:cNvPr id="28" name="Shape 26"/>
          <p:cNvSpPr/>
          <p:nvPr/>
        </p:nvSpPr>
        <p:spPr>
          <a:xfrm>
            <a:off x="3163824" y="1435608"/>
            <a:ext cx="863537" cy="338328"/>
          </a:xfrm>
          <a:prstGeom prst="rect">
            <a:avLst/>
          </a:prstGeom>
          <a:solidFill>
            <a:srgbClr val="1C7293"/>
          </a:solidFill>
          <a:ln w="12700">
            <a:solidFill>
              <a:srgbClr val="000000"/>
            </a:solidFill>
            <a:prstDash val="solid"/>
          </a:ln>
        </p:spPr>
        <p:txBody>
          <a:bodyPr/>
          <a:lstStyle/>
          <a:p>
            <a:endParaRPr lang="en-VN"/>
          </a:p>
        </p:txBody>
      </p:sp>
      <p:sp>
        <p:nvSpPr>
          <p:cNvPr id="29" name="Text 27"/>
          <p:cNvSpPr/>
          <p:nvPr/>
        </p:nvSpPr>
        <p:spPr>
          <a:xfrm>
            <a:off x="3200400" y="1435608"/>
            <a:ext cx="790385" cy="33832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2-3 tuần</a:t>
            </a:r>
            <a:endParaRPr lang="en-US" sz="950" dirty="0"/>
          </a:p>
        </p:txBody>
      </p:sp>
      <p:sp>
        <p:nvSpPr>
          <p:cNvPr id="30" name="Shape 28"/>
          <p:cNvSpPr/>
          <p:nvPr/>
        </p:nvSpPr>
        <p:spPr>
          <a:xfrm>
            <a:off x="256032" y="1883664"/>
            <a:ext cx="8668512" cy="502920"/>
          </a:xfrm>
          <a:prstGeom prst="rect">
            <a:avLst/>
          </a:prstGeom>
          <a:solidFill>
            <a:srgbClr val="F0F4F8"/>
          </a:solidFill>
          <a:ln w="12700">
            <a:solidFill>
              <a:srgbClr val="000000"/>
            </a:solidFill>
            <a:prstDash val="solid"/>
          </a:ln>
        </p:spPr>
        <p:txBody>
          <a:bodyPr/>
          <a:lstStyle/>
          <a:p>
            <a:endParaRPr lang="en-VN"/>
          </a:p>
        </p:txBody>
      </p:sp>
      <p:sp>
        <p:nvSpPr>
          <p:cNvPr id="31" name="Shape 29"/>
          <p:cNvSpPr/>
          <p:nvPr/>
        </p:nvSpPr>
        <p:spPr>
          <a:xfrm>
            <a:off x="292608" y="1993392"/>
            <a:ext cx="274320" cy="274320"/>
          </a:xfrm>
          <a:prstGeom prst="ellipse">
            <a:avLst/>
          </a:prstGeom>
          <a:solidFill>
            <a:srgbClr val="065A82"/>
          </a:solidFill>
          <a:ln w="12700">
            <a:solidFill>
              <a:srgbClr val="065A82"/>
            </a:solidFill>
            <a:prstDash val="solid"/>
          </a:ln>
        </p:spPr>
        <p:txBody>
          <a:bodyPr/>
          <a:lstStyle/>
          <a:p>
            <a:endParaRPr lang="en-VN"/>
          </a:p>
        </p:txBody>
      </p:sp>
      <p:sp>
        <p:nvSpPr>
          <p:cNvPr id="32" name="Text 30"/>
          <p:cNvSpPr/>
          <p:nvPr/>
        </p:nvSpPr>
        <p:spPr>
          <a:xfrm>
            <a:off x="292608" y="1993392"/>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1"/>
          <p:cNvSpPr/>
          <p:nvPr/>
        </p:nvSpPr>
        <p:spPr>
          <a:xfrm>
            <a:off x="640080" y="1911096"/>
            <a:ext cx="2414016" cy="237744"/>
          </a:xfrm>
          <a:prstGeom prst="rect">
            <a:avLst/>
          </a:prstGeom>
          <a:noFill/>
          <a:ln/>
        </p:spPr>
        <p:txBody>
          <a:bodyPr wrap="square" rtlCol="0" anchor="ctr"/>
          <a:lstStyle/>
          <a:p>
            <a:pPr marL="0" indent="0">
              <a:buNone/>
            </a:pPr>
            <a:r>
              <a:rPr lang="en-US" sz="1200" b="1" dirty="0">
                <a:solidFill>
                  <a:srgbClr val="1A2B3C"/>
                </a:solidFill>
                <a:latin typeface="Calibri" pitchFamily="34" charset="0"/>
                <a:ea typeface="Calibri" pitchFamily="34" charset="-122"/>
                <a:cs typeface="Calibri" pitchFamily="34" charset="-120"/>
              </a:rPr>
              <a:t>Xây dựng đồ thị</a:t>
            </a:r>
            <a:endParaRPr lang="en-US" sz="1200" dirty="0"/>
          </a:p>
        </p:txBody>
      </p:sp>
      <p:sp>
        <p:nvSpPr>
          <p:cNvPr id="34" name="Text 32"/>
          <p:cNvSpPr/>
          <p:nvPr/>
        </p:nvSpPr>
        <p:spPr>
          <a:xfrm>
            <a:off x="640080" y="2148840"/>
            <a:ext cx="2414016" cy="219456"/>
          </a:xfrm>
          <a:prstGeom prst="rect">
            <a:avLst/>
          </a:prstGeom>
          <a:noFill/>
          <a:ln/>
        </p:spPr>
        <p:txBody>
          <a:bodyPr wrap="square" rtlCol="0" anchor="ctr"/>
          <a:lstStyle/>
          <a:p>
            <a:pPr marL="0" indent="0">
              <a:buNone/>
            </a:pPr>
            <a:r>
              <a:rPr lang="en-US" sz="900" dirty="0">
                <a:solidFill>
                  <a:srgbClr val="5A6A78"/>
                </a:solidFill>
                <a:latin typeface="Calibri" pitchFamily="34" charset="0"/>
                <a:ea typeface="Calibri" pitchFamily="34" charset="-122"/>
                <a:cs typeface="Calibri" pitchFamily="34" charset="-120"/>
              </a:rPr>
              <a:t>User–Item bipartite | Split 80/10/10</a:t>
            </a:r>
            <a:endParaRPr lang="en-US" sz="900" dirty="0"/>
          </a:p>
        </p:txBody>
      </p:sp>
      <p:sp>
        <p:nvSpPr>
          <p:cNvPr id="35" name="Shape 33"/>
          <p:cNvSpPr/>
          <p:nvPr/>
        </p:nvSpPr>
        <p:spPr>
          <a:xfrm>
            <a:off x="4063937" y="1965960"/>
            <a:ext cx="503491" cy="338328"/>
          </a:xfrm>
          <a:prstGeom prst="rect">
            <a:avLst/>
          </a:prstGeom>
          <a:solidFill>
            <a:srgbClr val="065A82"/>
          </a:solidFill>
          <a:ln w="12700">
            <a:solidFill>
              <a:srgbClr val="000000"/>
            </a:solidFill>
            <a:prstDash val="solid"/>
          </a:ln>
        </p:spPr>
        <p:txBody>
          <a:bodyPr/>
          <a:lstStyle/>
          <a:p>
            <a:endParaRPr lang="en-VN"/>
          </a:p>
        </p:txBody>
      </p:sp>
      <p:sp>
        <p:nvSpPr>
          <p:cNvPr id="36" name="Text 34"/>
          <p:cNvSpPr/>
          <p:nvPr/>
        </p:nvSpPr>
        <p:spPr>
          <a:xfrm>
            <a:off x="4082224" y="1965960"/>
            <a:ext cx="466915" cy="338328"/>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 </a:t>
            </a:r>
            <a:r>
              <a:rPr lang="en-US" sz="800" b="1" dirty="0" err="1">
                <a:solidFill>
                  <a:srgbClr val="FFFFFF"/>
                </a:solidFill>
                <a:latin typeface="Calibri" pitchFamily="34" charset="0"/>
                <a:ea typeface="Calibri" pitchFamily="34" charset="-122"/>
                <a:cs typeface="Calibri" pitchFamily="34" charset="-120"/>
              </a:rPr>
              <a:t>tuần</a:t>
            </a:r>
            <a:endParaRPr lang="en-US" sz="800" dirty="0"/>
          </a:p>
        </p:txBody>
      </p:sp>
      <p:sp>
        <p:nvSpPr>
          <p:cNvPr id="37" name="Shape 35"/>
          <p:cNvSpPr/>
          <p:nvPr/>
        </p:nvSpPr>
        <p:spPr>
          <a:xfrm>
            <a:off x="256032" y="2414016"/>
            <a:ext cx="8668512" cy="502920"/>
          </a:xfrm>
          <a:prstGeom prst="rect">
            <a:avLst/>
          </a:prstGeom>
          <a:solidFill>
            <a:srgbClr val="F8FAFB"/>
          </a:solidFill>
          <a:ln w="12700">
            <a:solidFill>
              <a:srgbClr val="000000"/>
            </a:solidFill>
            <a:prstDash val="solid"/>
          </a:ln>
        </p:spPr>
        <p:txBody>
          <a:bodyPr/>
          <a:lstStyle/>
          <a:p>
            <a:endParaRPr lang="en-VN"/>
          </a:p>
        </p:txBody>
      </p:sp>
      <p:sp>
        <p:nvSpPr>
          <p:cNvPr id="38" name="Shape 36"/>
          <p:cNvSpPr/>
          <p:nvPr/>
        </p:nvSpPr>
        <p:spPr>
          <a:xfrm>
            <a:off x="292608" y="2523744"/>
            <a:ext cx="274320" cy="274320"/>
          </a:xfrm>
          <a:prstGeom prst="ellipse">
            <a:avLst/>
          </a:prstGeom>
          <a:solidFill>
            <a:srgbClr val="1C7293"/>
          </a:solidFill>
          <a:ln w="12700">
            <a:solidFill>
              <a:srgbClr val="1C7293"/>
            </a:solidFill>
            <a:prstDash val="solid"/>
          </a:ln>
        </p:spPr>
        <p:txBody>
          <a:bodyPr/>
          <a:lstStyle/>
          <a:p>
            <a:endParaRPr lang="en-VN"/>
          </a:p>
        </p:txBody>
      </p:sp>
      <p:sp>
        <p:nvSpPr>
          <p:cNvPr id="39" name="Text 37"/>
          <p:cNvSpPr/>
          <p:nvPr/>
        </p:nvSpPr>
        <p:spPr>
          <a:xfrm>
            <a:off x="292608" y="2523744"/>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mc:AlternateContent xmlns:mc="http://schemas.openxmlformats.org/markup-compatibility/2006" xmlns:a14="http://schemas.microsoft.com/office/drawing/2010/main">
        <mc:Choice Requires="a14">
          <p:sp>
            <p:nvSpPr>
              <p:cNvPr id="40" name="Text 38"/>
              <p:cNvSpPr/>
              <p:nvPr/>
            </p:nvSpPr>
            <p:spPr>
              <a:xfrm>
                <a:off x="640080" y="2441448"/>
                <a:ext cx="2414016" cy="237744"/>
              </a:xfrm>
              <a:prstGeom prst="rect">
                <a:avLst/>
              </a:prstGeom>
              <a:noFill/>
              <a:ln/>
            </p:spPr>
            <p:txBody>
              <a:bodyPr wrap="square" rtlCol="0" anchor="ctr"/>
              <a:lstStyle/>
              <a:p>
                <a:pPr marL="0" indent="0">
                  <a:buNone/>
                </a:pPr>
                <a:r>
                  <a:rPr lang="en-US" sz="1200" b="1" dirty="0">
                    <a:solidFill>
                      <a:srgbClr val="1A2B3C"/>
                    </a:solidFill>
                    <a:latin typeface="Calibri" pitchFamily="34" charset="0"/>
                    <a:ea typeface="Calibri" pitchFamily="34" charset="-122"/>
                    <a:cs typeface="Calibri" pitchFamily="34" charset="-120"/>
                  </a:rPr>
                  <a:t>Thích nghi </a:t>
                </a:r>
                <a14:m>
                  <m:oMath xmlns:m="http://schemas.openxmlformats.org/officeDocument/2006/math">
                    <m:r>
                      <a:rPr lang="en-US" sz="1200" b="1" i="1" dirty="0" smtClean="0">
                        <a:solidFill>
                          <a:srgbClr val="1A2B3C"/>
                        </a:solidFill>
                        <a:latin typeface="Cambria Math" panose="02040503050406030204" pitchFamily="18" charset="0"/>
                        <a:ea typeface="Calibri" pitchFamily="34" charset="-122"/>
                        <a:cs typeface="Calibri" pitchFamily="34" charset="-120"/>
                      </a:rPr>
                      <m:t>𝑮𝑪</m:t>
                    </m:r>
                    <m:sSub>
                      <m:sSubPr>
                        <m:ctrlPr>
                          <a:rPr lang="en-US" sz="1200" b="1" i="1" dirty="0" smtClean="0">
                            <a:solidFill>
                              <a:srgbClr val="1A2B3C"/>
                            </a:solidFill>
                            <a:latin typeface="Cambria Math" panose="02040503050406030204" pitchFamily="18" charset="0"/>
                            <a:ea typeface="Calibri" pitchFamily="34" charset="-122"/>
                            <a:cs typeface="Calibri" pitchFamily="34" charset="-120"/>
                          </a:rPr>
                        </m:ctrlPr>
                      </m:sSubPr>
                      <m:e>
                        <m:r>
                          <a:rPr lang="en-US" sz="1200" b="1" i="1" dirty="0" smtClean="0">
                            <a:solidFill>
                              <a:srgbClr val="1A2B3C"/>
                            </a:solidFill>
                            <a:latin typeface="Cambria Math" panose="02040503050406030204" pitchFamily="18" charset="0"/>
                            <a:ea typeface="Calibri" pitchFamily="34" charset="-122"/>
                            <a:cs typeface="Calibri" pitchFamily="34" charset="-120"/>
                          </a:rPr>
                          <m:t>𝑵</m:t>
                        </m:r>
                      </m:e>
                      <m:sub>
                        <m:r>
                          <a:rPr lang="en-US" sz="1200" b="1" i="1" dirty="0" smtClean="0">
                            <a:solidFill>
                              <a:srgbClr val="1A2B3C"/>
                            </a:solidFill>
                            <a:latin typeface="Cambria Math" panose="02040503050406030204" pitchFamily="18" charset="0"/>
                            <a:ea typeface="Calibri" pitchFamily="34" charset="-122"/>
                            <a:cs typeface="Calibri" pitchFamily="34" charset="-120"/>
                          </a:rPr>
                          <m:t>𝑪</m:t>
                        </m:r>
                      </m:sub>
                    </m:sSub>
                  </m:oMath>
                </a14:m>
                <a:endParaRPr lang="en-US" sz="1200" dirty="0"/>
              </a:p>
            </p:txBody>
          </p:sp>
        </mc:Choice>
        <mc:Fallback xmlns="">
          <p:sp>
            <p:nvSpPr>
              <p:cNvPr id="40" name="Text 38"/>
              <p:cNvSpPr>
                <a:spLocks noRot="1" noChangeAspect="1" noMove="1" noResize="1" noEditPoints="1" noAdjustHandles="1" noChangeArrowheads="1" noChangeShapeType="1" noTextEdit="1"/>
              </p:cNvSpPr>
              <p:nvPr/>
            </p:nvSpPr>
            <p:spPr>
              <a:xfrm>
                <a:off x="640080" y="2441448"/>
                <a:ext cx="2414016" cy="237744"/>
              </a:xfrm>
              <a:prstGeom prst="rect">
                <a:avLst/>
              </a:prstGeom>
              <a:blipFill>
                <a:blip r:embed="rId3"/>
                <a:stretch>
                  <a:fillRect t="-10000" b="-20000"/>
                </a:stretch>
              </a:blipFill>
              <a:ln/>
            </p:spPr>
            <p:txBody>
              <a:bodyPr/>
              <a:lstStyle/>
              <a:p>
                <a:r>
                  <a:rPr lang="en-VN">
                    <a:noFill/>
                  </a:rPr>
                  <a:t> </a:t>
                </a:r>
              </a:p>
            </p:txBody>
          </p:sp>
        </mc:Fallback>
      </mc:AlternateContent>
      <p:sp>
        <p:nvSpPr>
          <p:cNvPr id="41" name="Text 39"/>
          <p:cNvSpPr/>
          <p:nvPr/>
        </p:nvSpPr>
        <p:spPr>
          <a:xfrm>
            <a:off x="640080" y="2679192"/>
            <a:ext cx="2414016" cy="219456"/>
          </a:xfrm>
          <a:prstGeom prst="rect">
            <a:avLst/>
          </a:prstGeom>
          <a:noFill/>
          <a:ln/>
        </p:spPr>
        <p:txBody>
          <a:bodyPr wrap="square" rtlCol="0" anchor="ctr"/>
          <a:lstStyle/>
          <a:p>
            <a:pPr marL="0" indent="0">
              <a:buNone/>
            </a:pPr>
            <a:r>
              <a:rPr lang="en-US" sz="900" dirty="0">
                <a:solidFill>
                  <a:srgbClr val="5A6A78"/>
                </a:solidFill>
                <a:latin typeface="Calibri" pitchFamily="34" charset="0"/>
                <a:ea typeface="Calibri" pitchFamily="34" charset="-122"/>
                <a:cs typeface="Calibri" pitchFamily="34" charset="-120"/>
              </a:rPr>
              <a:t>BPR Loss | Bipartite embedding</a:t>
            </a:r>
            <a:endParaRPr lang="en-US" sz="900" dirty="0"/>
          </a:p>
        </p:txBody>
      </p:sp>
      <p:sp>
        <p:nvSpPr>
          <p:cNvPr id="42" name="Shape 40"/>
          <p:cNvSpPr/>
          <p:nvPr/>
        </p:nvSpPr>
        <p:spPr>
          <a:xfrm>
            <a:off x="4604004" y="2496312"/>
            <a:ext cx="1223582" cy="338328"/>
          </a:xfrm>
          <a:prstGeom prst="rect">
            <a:avLst/>
          </a:prstGeom>
          <a:solidFill>
            <a:srgbClr val="1C7293"/>
          </a:solidFill>
          <a:ln w="12700">
            <a:solidFill>
              <a:srgbClr val="000000"/>
            </a:solidFill>
            <a:prstDash val="solid"/>
          </a:ln>
        </p:spPr>
        <p:txBody>
          <a:bodyPr/>
          <a:lstStyle/>
          <a:p>
            <a:endParaRPr lang="en-VN"/>
          </a:p>
        </p:txBody>
      </p:sp>
      <p:sp>
        <p:nvSpPr>
          <p:cNvPr id="43" name="Text 41"/>
          <p:cNvSpPr/>
          <p:nvPr/>
        </p:nvSpPr>
        <p:spPr>
          <a:xfrm>
            <a:off x="4658868" y="2496312"/>
            <a:ext cx="1113854" cy="338328"/>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3-4 tuần</a:t>
            </a:r>
            <a:endParaRPr lang="en-US" sz="1050" dirty="0"/>
          </a:p>
        </p:txBody>
      </p:sp>
      <p:sp>
        <p:nvSpPr>
          <p:cNvPr id="44" name="Shape 42"/>
          <p:cNvSpPr/>
          <p:nvPr/>
        </p:nvSpPr>
        <p:spPr>
          <a:xfrm>
            <a:off x="256032" y="2944368"/>
            <a:ext cx="8668512" cy="502920"/>
          </a:xfrm>
          <a:prstGeom prst="rect">
            <a:avLst/>
          </a:prstGeom>
          <a:solidFill>
            <a:srgbClr val="F0F4F8"/>
          </a:solidFill>
          <a:ln w="12700">
            <a:solidFill>
              <a:srgbClr val="000000"/>
            </a:solidFill>
            <a:prstDash val="solid"/>
          </a:ln>
        </p:spPr>
        <p:txBody>
          <a:bodyPr/>
          <a:lstStyle/>
          <a:p>
            <a:endParaRPr lang="en-VN"/>
          </a:p>
        </p:txBody>
      </p:sp>
      <p:sp>
        <p:nvSpPr>
          <p:cNvPr id="45" name="Shape 43"/>
          <p:cNvSpPr/>
          <p:nvPr/>
        </p:nvSpPr>
        <p:spPr>
          <a:xfrm>
            <a:off x="292608" y="3054096"/>
            <a:ext cx="274320" cy="274320"/>
          </a:xfrm>
          <a:prstGeom prst="ellipse">
            <a:avLst/>
          </a:prstGeom>
          <a:solidFill>
            <a:srgbClr val="065A82"/>
          </a:solidFill>
          <a:ln w="12700">
            <a:solidFill>
              <a:srgbClr val="065A82"/>
            </a:solidFill>
            <a:prstDash val="solid"/>
          </a:ln>
        </p:spPr>
        <p:txBody>
          <a:bodyPr/>
          <a:lstStyle/>
          <a:p>
            <a:endParaRPr lang="en-VN"/>
          </a:p>
        </p:txBody>
      </p:sp>
      <p:sp>
        <p:nvSpPr>
          <p:cNvPr id="46" name="Text 44"/>
          <p:cNvSpPr/>
          <p:nvPr/>
        </p:nvSpPr>
        <p:spPr>
          <a:xfrm>
            <a:off x="292608" y="3054096"/>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7" name="Text 45"/>
          <p:cNvSpPr/>
          <p:nvPr/>
        </p:nvSpPr>
        <p:spPr>
          <a:xfrm>
            <a:off x="640080" y="2971800"/>
            <a:ext cx="2414016" cy="237744"/>
          </a:xfrm>
          <a:prstGeom prst="rect">
            <a:avLst/>
          </a:prstGeom>
          <a:noFill/>
          <a:ln/>
        </p:spPr>
        <p:txBody>
          <a:bodyPr wrap="square" rtlCol="0" anchor="ctr"/>
          <a:lstStyle/>
          <a:p>
            <a:pPr marL="0" indent="0">
              <a:buNone/>
            </a:pPr>
            <a:r>
              <a:rPr lang="en-US" sz="1200" b="1" dirty="0">
                <a:solidFill>
                  <a:srgbClr val="1A2B3C"/>
                </a:solidFill>
                <a:latin typeface="Calibri" pitchFamily="34" charset="0"/>
                <a:ea typeface="Calibri" pitchFamily="34" charset="-122"/>
                <a:cs typeface="Calibri" pitchFamily="34" charset="-120"/>
              </a:rPr>
              <a:t>Thiết kế Reward</a:t>
            </a:r>
            <a:endParaRPr lang="en-US" sz="1200" dirty="0"/>
          </a:p>
        </p:txBody>
      </p:sp>
      <p:sp>
        <p:nvSpPr>
          <p:cNvPr id="48" name="Text 46"/>
          <p:cNvSpPr/>
          <p:nvPr/>
        </p:nvSpPr>
        <p:spPr>
          <a:xfrm>
            <a:off x="640080" y="3209544"/>
            <a:ext cx="2414016" cy="219456"/>
          </a:xfrm>
          <a:prstGeom prst="rect">
            <a:avLst/>
          </a:prstGeom>
          <a:noFill/>
          <a:ln/>
        </p:spPr>
        <p:txBody>
          <a:bodyPr wrap="square" rtlCol="0" anchor="ctr"/>
          <a:lstStyle/>
          <a:p>
            <a:pPr marL="0" indent="0">
              <a:buNone/>
            </a:pPr>
            <a:r>
              <a:rPr lang="en-US" sz="900" dirty="0">
                <a:solidFill>
                  <a:srgbClr val="5A6A78"/>
                </a:solidFill>
                <a:latin typeface="Calibri" pitchFamily="34" charset="0"/>
                <a:ea typeface="Calibri" pitchFamily="34" charset="-122"/>
                <a:cs typeface="Calibri" pitchFamily="34" charset="-120"/>
              </a:rPr>
              <a:t>R = exp(−α·L_BPR) | TB Loss</a:t>
            </a:r>
            <a:endParaRPr lang="en-US" sz="900" dirty="0"/>
          </a:p>
        </p:txBody>
      </p:sp>
      <p:sp>
        <p:nvSpPr>
          <p:cNvPr id="49" name="Shape 47"/>
          <p:cNvSpPr/>
          <p:nvPr/>
        </p:nvSpPr>
        <p:spPr>
          <a:xfrm>
            <a:off x="5864162" y="3026664"/>
            <a:ext cx="863537" cy="338328"/>
          </a:xfrm>
          <a:prstGeom prst="rect">
            <a:avLst/>
          </a:prstGeom>
          <a:solidFill>
            <a:srgbClr val="065A82"/>
          </a:solidFill>
          <a:ln w="12700">
            <a:solidFill>
              <a:srgbClr val="000000"/>
            </a:solidFill>
            <a:prstDash val="solid"/>
          </a:ln>
        </p:spPr>
        <p:txBody>
          <a:bodyPr/>
          <a:lstStyle/>
          <a:p>
            <a:endParaRPr lang="en-VN"/>
          </a:p>
        </p:txBody>
      </p:sp>
      <p:sp>
        <p:nvSpPr>
          <p:cNvPr id="50" name="Text 48"/>
          <p:cNvSpPr/>
          <p:nvPr/>
        </p:nvSpPr>
        <p:spPr>
          <a:xfrm>
            <a:off x="5900738" y="3026664"/>
            <a:ext cx="790385" cy="33832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2-3 tuần</a:t>
            </a:r>
            <a:endParaRPr lang="en-US" sz="950" dirty="0"/>
          </a:p>
        </p:txBody>
      </p:sp>
      <p:sp>
        <p:nvSpPr>
          <p:cNvPr id="51" name="Shape 49"/>
          <p:cNvSpPr/>
          <p:nvPr/>
        </p:nvSpPr>
        <p:spPr>
          <a:xfrm>
            <a:off x="256032" y="3474720"/>
            <a:ext cx="8668512" cy="502920"/>
          </a:xfrm>
          <a:prstGeom prst="rect">
            <a:avLst/>
          </a:prstGeom>
          <a:solidFill>
            <a:srgbClr val="F8FAFB"/>
          </a:solidFill>
          <a:ln w="12700">
            <a:solidFill>
              <a:srgbClr val="000000"/>
            </a:solidFill>
            <a:prstDash val="solid"/>
          </a:ln>
        </p:spPr>
        <p:txBody>
          <a:bodyPr/>
          <a:lstStyle/>
          <a:p>
            <a:endParaRPr lang="en-VN"/>
          </a:p>
        </p:txBody>
      </p:sp>
      <p:sp>
        <p:nvSpPr>
          <p:cNvPr id="52" name="Shape 50"/>
          <p:cNvSpPr/>
          <p:nvPr/>
        </p:nvSpPr>
        <p:spPr>
          <a:xfrm>
            <a:off x="292608" y="3584448"/>
            <a:ext cx="274320" cy="274320"/>
          </a:xfrm>
          <a:prstGeom prst="ellipse">
            <a:avLst/>
          </a:prstGeom>
          <a:solidFill>
            <a:srgbClr val="1C7293"/>
          </a:solidFill>
          <a:ln w="12700">
            <a:solidFill>
              <a:srgbClr val="1C7293"/>
            </a:solidFill>
            <a:prstDash val="solid"/>
          </a:ln>
        </p:spPr>
        <p:txBody>
          <a:bodyPr/>
          <a:lstStyle/>
          <a:p>
            <a:endParaRPr lang="en-VN"/>
          </a:p>
        </p:txBody>
      </p:sp>
      <p:sp>
        <p:nvSpPr>
          <p:cNvPr id="53" name="Text 51"/>
          <p:cNvSpPr/>
          <p:nvPr/>
        </p:nvSpPr>
        <p:spPr>
          <a:xfrm>
            <a:off x="292608" y="3584448"/>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4" name="Text 52"/>
          <p:cNvSpPr/>
          <p:nvPr/>
        </p:nvSpPr>
        <p:spPr>
          <a:xfrm>
            <a:off x="640080" y="3502152"/>
            <a:ext cx="2414016" cy="237744"/>
          </a:xfrm>
          <a:prstGeom prst="rect">
            <a:avLst/>
          </a:prstGeom>
          <a:noFill/>
          <a:ln/>
        </p:spPr>
        <p:txBody>
          <a:bodyPr wrap="square" rtlCol="0" anchor="ctr"/>
          <a:lstStyle/>
          <a:p>
            <a:pPr marL="0" indent="0">
              <a:buNone/>
            </a:pPr>
            <a:r>
              <a:rPr lang="en-US" sz="1200" b="1" dirty="0">
                <a:solidFill>
                  <a:srgbClr val="1A2B3C"/>
                </a:solidFill>
                <a:latin typeface="Calibri" pitchFamily="34" charset="0"/>
                <a:ea typeface="Calibri" pitchFamily="34" charset="-122"/>
                <a:cs typeface="Calibri" pitchFamily="34" charset="-120"/>
              </a:rPr>
              <a:t>Chạy Baselines</a:t>
            </a:r>
            <a:endParaRPr lang="en-US" sz="1200" dirty="0"/>
          </a:p>
        </p:txBody>
      </p:sp>
      <p:sp>
        <p:nvSpPr>
          <p:cNvPr id="55" name="Text 53"/>
          <p:cNvSpPr/>
          <p:nvPr/>
        </p:nvSpPr>
        <p:spPr>
          <a:xfrm>
            <a:off x="640080" y="3739896"/>
            <a:ext cx="2414016" cy="219456"/>
          </a:xfrm>
          <a:prstGeom prst="rect">
            <a:avLst/>
          </a:prstGeom>
          <a:noFill/>
          <a:ln/>
        </p:spPr>
        <p:txBody>
          <a:bodyPr wrap="square" rtlCol="0" anchor="ctr"/>
          <a:lstStyle/>
          <a:p>
            <a:pPr marL="0" indent="0">
              <a:buNone/>
            </a:pPr>
            <a:r>
              <a:rPr lang="en-US" sz="900" dirty="0">
                <a:solidFill>
                  <a:srgbClr val="5A6A78"/>
                </a:solidFill>
                <a:latin typeface="Calibri" pitchFamily="34" charset="0"/>
                <a:ea typeface="Calibri" pitchFamily="34" charset="-122"/>
                <a:cs typeface="Calibri" pitchFamily="34" charset="-120"/>
              </a:rPr>
              <a:t>LightGCN, NGCF, PinSage | Random</a:t>
            </a:r>
            <a:endParaRPr lang="en-US" sz="900" dirty="0"/>
          </a:p>
        </p:txBody>
      </p:sp>
      <p:sp>
        <p:nvSpPr>
          <p:cNvPr id="56" name="Shape 54"/>
          <p:cNvSpPr/>
          <p:nvPr/>
        </p:nvSpPr>
        <p:spPr>
          <a:xfrm>
            <a:off x="6764274" y="3557016"/>
            <a:ext cx="863537" cy="338328"/>
          </a:xfrm>
          <a:prstGeom prst="rect">
            <a:avLst/>
          </a:prstGeom>
          <a:solidFill>
            <a:srgbClr val="1C7293"/>
          </a:solidFill>
          <a:ln w="12700">
            <a:solidFill>
              <a:srgbClr val="000000"/>
            </a:solidFill>
            <a:prstDash val="solid"/>
          </a:ln>
        </p:spPr>
        <p:txBody>
          <a:bodyPr/>
          <a:lstStyle/>
          <a:p>
            <a:endParaRPr lang="en-VN"/>
          </a:p>
        </p:txBody>
      </p:sp>
      <p:sp>
        <p:nvSpPr>
          <p:cNvPr id="57" name="Text 55"/>
          <p:cNvSpPr/>
          <p:nvPr/>
        </p:nvSpPr>
        <p:spPr>
          <a:xfrm>
            <a:off x="6800850" y="3557016"/>
            <a:ext cx="790385" cy="33832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2-3 tuần</a:t>
            </a:r>
            <a:endParaRPr lang="en-US" sz="950" dirty="0"/>
          </a:p>
        </p:txBody>
      </p:sp>
      <p:sp>
        <p:nvSpPr>
          <p:cNvPr id="58" name="Shape 56"/>
          <p:cNvSpPr/>
          <p:nvPr/>
        </p:nvSpPr>
        <p:spPr>
          <a:xfrm>
            <a:off x="256032" y="4005072"/>
            <a:ext cx="8668512" cy="502920"/>
          </a:xfrm>
          <a:prstGeom prst="rect">
            <a:avLst/>
          </a:prstGeom>
          <a:solidFill>
            <a:srgbClr val="F0F4F8"/>
          </a:solidFill>
          <a:ln w="12700">
            <a:solidFill>
              <a:srgbClr val="000000"/>
            </a:solidFill>
            <a:prstDash val="solid"/>
          </a:ln>
        </p:spPr>
        <p:txBody>
          <a:bodyPr/>
          <a:lstStyle/>
          <a:p>
            <a:endParaRPr lang="en-VN"/>
          </a:p>
        </p:txBody>
      </p:sp>
      <p:sp>
        <p:nvSpPr>
          <p:cNvPr id="59" name="Shape 57"/>
          <p:cNvSpPr/>
          <p:nvPr/>
        </p:nvSpPr>
        <p:spPr>
          <a:xfrm>
            <a:off x="292608" y="4114800"/>
            <a:ext cx="274320" cy="274320"/>
          </a:xfrm>
          <a:prstGeom prst="ellipse">
            <a:avLst/>
          </a:prstGeom>
          <a:solidFill>
            <a:srgbClr val="F4A261"/>
          </a:solidFill>
          <a:ln w="12700">
            <a:solidFill>
              <a:srgbClr val="F4A261"/>
            </a:solidFill>
            <a:prstDash val="solid"/>
          </a:ln>
        </p:spPr>
        <p:txBody>
          <a:bodyPr/>
          <a:lstStyle/>
          <a:p>
            <a:endParaRPr lang="en-VN"/>
          </a:p>
        </p:txBody>
      </p:sp>
      <p:sp>
        <p:nvSpPr>
          <p:cNvPr id="60" name="Text 58"/>
          <p:cNvSpPr/>
          <p:nvPr/>
        </p:nvSpPr>
        <p:spPr>
          <a:xfrm>
            <a:off x="292608" y="4114800"/>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61" name="Text 59"/>
          <p:cNvSpPr/>
          <p:nvPr/>
        </p:nvSpPr>
        <p:spPr>
          <a:xfrm>
            <a:off x="640080" y="4032504"/>
            <a:ext cx="2414016" cy="237744"/>
          </a:xfrm>
          <a:prstGeom prst="rect">
            <a:avLst/>
          </a:prstGeom>
          <a:noFill/>
          <a:ln/>
        </p:spPr>
        <p:txBody>
          <a:bodyPr wrap="square" rtlCol="0" anchor="ctr"/>
          <a:lstStyle/>
          <a:p>
            <a:pPr marL="0" indent="0">
              <a:buNone/>
            </a:pPr>
            <a:r>
              <a:rPr lang="en-US" sz="1200" b="1" dirty="0">
                <a:solidFill>
                  <a:srgbClr val="1A2B3C"/>
                </a:solidFill>
                <a:latin typeface="Calibri" pitchFamily="34" charset="0"/>
                <a:ea typeface="Calibri" pitchFamily="34" charset="-122"/>
                <a:cs typeface="Calibri" pitchFamily="34" charset="-120"/>
              </a:rPr>
              <a:t>Đánh giá &amp; Báo cáo</a:t>
            </a:r>
            <a:endParaRPr lang="en-US" sz="1200" dirty="0"/>
          </a:p>
        </p:txBody>
      </p:sp>
      <p:sp>
        <p:nvSpPr>
          <p:cNvPr id="62" name="Text 60"/>
          <p:cNvSpPr/>
          <p:nvPr/>
        </p:nvSpPr>
        <p:spPr>
          <a:xfrm>
            <a:off x="640080" y="4270248"/>
            <a:ext cx="2414016" cy="219456"/>
          </a:xfrm>
          <a:prstGeom prst="rect">
            <a:avLst/>
          </a:prstGeom>
          <a:noFill/>
          <a:ln/>
        </p:spPr>
        <p:txBody>
          <a:bodyPr wrap="square" rtlCol="0" anchor="ctr"/>
          <a:lstStyle/>
          <a:p>
            <a:pPr marL="0" indent="0">
              <a:buNone/>
            </a:pPr>
            <a:r>
              <a:rPr lang="en-US" sz="900" dirty="0">
                <a:solidFill>
                  <a:srgbClr val="5A6A78"/>
                </a:solidFill>
                <a:latin typeface="Calibri" pitchFamily="34" charset="0"/>
                <a:ea typeface="Calibri" pitchFamily="34" charset="-122"/>
                <a:cs typeface="Calibri" pitchFamily="34" charset="-120"/>
              </a:rPr>
              <a:t>Recall@K, NDCG@K | Bộ nhớ &amp; thời gian</a:t>
            </a:r>
            <a:endParaRPr lang="en-US" sz="900" dirty="0"/>
          </a:p>
        </p:txBody>
      </p:sp>
      <p:sp>
        <p:nvSpPr>
          <p:cNvPr id="63" name="Shape 61"/>
          <p:cNvSpPr/>
          <p:nvPr/>
        </p:nvSpPr>
        <p:spPr>
          <a:xfrm>
            <a:off x="7664387" y="4087368"/>
            <a:ext cx="1223582" cy="338328"/>
          </a:xfrm>
          <a:prstGeom prst="rect">
            <a:avLst/>
          </a:prstGeom>
          <a:solidFill>
            <a:srgbClr val="F4A261"/>
          </a:solidFill>
          <a:ln w="12700">
            <a:solidFill>
              <a:srgbClr val="000000"/>
            </a:solidFill>
            <a:prstDash val="solid"/>
          </a:ln>
        </p:spPr>
        <p:txBody>
          <a:bodyPr/>
          <a:lstStyle/>
          <a:p>
            <a:endParaRPr lang="en-VN"/>
          </a:p>
        </p:txBody>
      </p:sp>
      <p:sp>
        <p:nvSpPr>
          <p:cNvPr id="64" name="Text 62"/>
          <p:cNvSpPr/>
          <p:nvPr/>
        </p:nvSpPr>
        <p:spPr>
          <a:xfrm>
            <a:off x="7719251" y="4087368"/>
            <a:ext cx="1113854" cy="338328"/>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3-4 tuần</a:t>
            </a:r>
            <a:endParaRPr lang="en-US" sz="1050" dirty="0"/>
          </a:p>
        </p:txBody>
      </p:sp>
      <p:sp>
        <p:nvSpPr>
          <p:cNvPr id="65" name="Shape 63"/>
          <p:cNvSpPr/>
          <p:nvPr/>
        </p:nvSpPr>
        <p:spPr>
          <a:xfrm>
            <a:off x="256032" y="4535424"/>
            <a:ext cx="8668512" cy="256032"/>
          </a:xfrm>
          <a:prstGeom prst="rect">
            <a:avLst/>
          </a:prstGeom>
          <a:solidFill>
            <a:srgbClr val="065A82"/>
          </a:solidFill>
          <a:ln w="12700">
            <a:solidFill>
              <a:srgbClr val="065A82"/>
            </a:solidFill>
            <a:prstDash val="solid"/>
          </a:ln>
        </p:spPr>
        <p:txBody>
          <a:bodyPr/>
          <a:lstStyle/>
          <a:p>
            <a:endParaRPr lang="en-VN"/>
          </a:p>
        </p:txBody>
      </p:sp>
      <p:sp>
        <p:nvSpPr>
          <p:cNvPr id="66" name="Text 64"/>
          <p:cNvSpPr/>
          <p:nvPr/>
        </p:nvSpPr>
        <p:spPr>
          <a:xfrm>
            <a:off x="256032" y="4535424"/>
            <a:ext cx="8668512" cy="25603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Tổng thời gian dự kiến: 3.5 – 4 tháng   (≈ 16 tuần)</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321040" y="4828032"/>
            <a:ext cx="640080" cy="228600"/>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29 / 29</a:t>
            </a:r>
            <a:endParaRPr lang="en-US" sz="1000" dirty="0"/>
          </a:p>
        </p:txBody>
      </p:sp>
      <p:sp>
        <p:nvSpPr>
          <p:cNvPr id="3" name="Shape 1"/>
          <p:cNvSpPr/>
          <p:nvPr/>
        </p:nvSpPr>
        <p:spPr>
          <a:xfrm>
            <a:off x="0" y="0"/>
            <a:ext cx="9144000" cy="804672"/>
          </a:xfrm>
          <a:prstGeom prst="rect">
            <a:avLst/>
          </a:prstGeom>
          <a:solidFill>
            <a:srgbClr val="031F30"/>
          </a:solidFill>
          <a:ln w="12700">
            <a:solidFill>
              <a:srgbClr val="031F30"/>
            </a:solidFill>
            <a:prstDash val="solid"/>
          </a:ln>
        </p:spPr>
        <p:txBody>
          <a:bodyPr/>
          <a:lstStyle/>
          <a:p>
            <a:endParaRPr lang="en-VN"/>
          </a:p>
        </p:txBody>
      </p:sp>
      <p:sp>
        <p:nvSpPr>
          <p:cNvPr id="4" name="Text 2"/>
          <p:cNvSpPr/>
          <p:nvPr/>
        </p:nvSpPr>
        <p:spPr>
          <a:xfrm>
            <a:off x="365760" y="73152"/>
            <a:ext cx="8412480" cy="65836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Tổng Kết</a:t>
            </a:r>
            <a:endParaRPr lang="en-US" sz="2600" dirty="0"/>
          </a:p>
        </p:txBody>
      </p:sp>
      <p:sp>
        <p:nvSpPr>
          <p:cNvPr id="5" name="Shape 3"/>
          <p:cNvSpPr/>
          <p:nvPr/>
        </p:nvSpPr>
        <p:spPr>
          <a:xfrm>
            <a:off x="256032" y="896112"/>
            <a:ext cx="4206240" cy="310896"/>
          </a:xfrm>
          <a:prstGeom prst="rect">
            <a:avLst/>
          </a:prstGeom>
          <a:solidFill>
            <a:srgbClr val="1C7293"/>
          </a:solidFill>
          <a:ln w="12700">
            <a:solidFill>
              <a:srgbClr val="1C7293"/>
            </a:solidFill>
            <a:prstDash val="solid"/>
          </a:ln>
        </p:spPr>
        <p:txBody>
          <a:bodyPr/>
          <a:lstStyle/>
          <a:p>
            <a:endParaRPr lang="en-VN"/>
          </a:p>
        </p:txBody>
      </p:sp>
      <p:sp>
        <p:nvSpPr>
          <p:cNvPr id="6" name="Text 4"/>
          <p:cNvSpPr/>
          <p:nvPr/>
        </p:nvSpPr>
        <p:spPr>
          <a:xfrm>
            <a:off x="256032" y="896112"/>
            <a:ext cx="4206240" cy="31089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Giai Đoạn 1 — Kết Quả</a:t>
            </a:r>
            <a:endParaRPr lang="en-US" sz="1200" dirty="0"/>
          </a:p>
        </p:txBody>
      </p:sp>
      <p:sp>
        <p:nvSpPr>
          <p:cNvPr id="7" name="Shape 5"/>
          <p:cNvSpPr/>
          <p:nvPr/>
        </p:nvSpPr>
        <p:spPr>
          <a:xfrm>
            <a:off x="256032" y="1261872"/>
            <a:ext cx="4206240" cy="512064"/>
          </a:xfrm>
          <a:prstGeom prst="rect">
            <a:avLst/>
          </a:prstGeom>
          <a:solidFill>
            <a:srgbClr val="0A2E4A"/>
          </a:solidFill>
          <a:ln w="10160">
            <a:solidFill>
              <a:srgbClr val="1C7293"/>
            </a:solidFill>
            <a:prstDash val="solid"/>
          </a:ln>
        </p:spPr>
        <p:txBody>
          <a:bodyPr/>
          <a:lstStyle/>
          <a:p>
            <a:endParaRPr lang="en-VN"/>
          </a:p>
        </p:txBody>
      </p:sp>
      <p:sp>
        <p:nvSpPr>
          <p:cNvPr id="8" name="Shape 6"/>
          <p:cNvSpPr/>
          <p:nvPr/>
        </p:nvSpPr>
        <p:spPr>
          <a:xfrm>
            <a:off x="256032" y="1261872"/>
            <a:ext cx="54864" cy="512064"/>
          </a:xfrm>
          <a:prstGeom prst="rect">
            <a:avLst/>
          </a:prstGeom>
          <a:solidFill>
            <a:srgbClr val="1C7293"/>
          </a:solidFill>
          <a:ln w="12700">
            <a:solidFill>
              <a:srgbClr val="000000"/>
            </a:solidFill>
            <a:prstDash val="solid"/>
          </a:ln>
        </p:spPr>
        <p:txBody>
          <a:bodyPr/>
          <a:lstStyle/>
          <a:p>
            <a:endParaRPr lang="en-VN"/>
          </a:p>
        </p:txBody>
      </p:sp>
      <p:sp>
        <p:nvSpPr>
          <p:cNvPr id="9" name="Text 7"/>
          <p:cNvSpPr/>
          <p:nvPr/>
        </p:nvSpPr>
        <p:spPr>
          <a:xfrm>
            <a:off x="384048" y="1261872"/>
            <a:ext cx="4005072" cy="512064"/>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Khảo sát 28 </a:t>
            </a:r>
            <a:r>
              <a:rPr lang="en-US" sz="950" dirty="0" err="1">
                <a:solidFill>
                  <a:srgbClr val="FFFFFF"/>
                </a:solidFill>
                <a:latin typeface="Calibri" pitchFamily="34" charset="0"/>
                <a:ea typeface="Calibri" pitchFamily="34" charset="-122"/>
                <a:cs typeface="Calibri" pitchFamily="34" charset="-120"/>
              </a:rPr>
              <a:t>bài</a:t>
            </a:r>
            <a:r>
              <a:rPr lang="en-US" sz="950" dirty="0">
                <a:solidFill>
                  <a:srgbClr val="FFFFFF"/>
                </a:solidFill>
                <a:latin typeface="Calibri" pitchFamily="34" charset="0"/>
                <a:ea typeface="Calibri" pitchFamily="34" charset="-122"/>
                <a:cs typeface="Calibri" pitchFamily="34" charset="-120"/>
              </a:rPr>
              <a:t> </a:t>
            </a:r>
            <a:r>
              <a:rPr lang="en-US" sz="950" dirty="0" err="1">
                <a:solidFill>
                  <a:srgbClr val="FFFFFF"/>
                </a:solidFill>
                <a:latin typeface="Calibri" pitchFamily="34" charset="0"/>
                <a:ea typeface="Calibri" pitchFamily="34" charset="-122"/>
                <a:cs typeface="Calibri" pitchFamily="34" charset="-120"/>
              </a:rPr>
              <a:t>báo</a:t>
            </a:r>
            <a:r>
              <a:rPr lang="en-US" sz="950" dirty="0">
                <a:solidFill>
                  <a:srgbClr val="FFFFFF"/>
                </a:solidFill>
                <a:latin typeface="Calibri" pitchFamily="34" charset="0"/>
                <a:ea typeface="Calibri" pitchFamily="34" charset="-122"/>
                <a:cs typeface="Calibri" pitchFamily="34" charset="-120"/>
              </a:rPr>
              <a:t> khoa </a:t>
            </a:r>
            <a:r>
              <a:rPr lang="en-US" sz="950" dirty="0" err="1">
                <a:solidFill>
                  <a:srgbClr val="FFFFFF"/>
                </a:solidFill>
                <a:latin typeface="Calibri" pitchFamily="34" charset="0"/>
                <a:ea typeface="Calibri" pitchFamily="34" charset="-122"/>
                <a:cs typeface="Calibri" pitchFamily="34" charset="-120"/>
              </a:rPr>
              <a:t>học</a:t>
            </a:r>
            <a:r>
              <a:rPr lang="en-US" sz="950" dirty="0">
                <a:solidFill>
                  <a:srgbClr val="FFFFFF"/>
                </a:solidFill>
                <a:latin typeface="Calibri" pitchFamily="34" charset="0"/>
                <a:ea typeface="Calibri" pitchFamily="34" charset="-122"/>
                <a:cs typeface="Calibri" pitchFamily="34" charset="-120"/>
              </a:rPr>
              <a:t> (NeurIPS, ICML, ICLR, TMLR — 2017–2024)</a:t>
            </a:r>
            <a:endParaRPr lang="en-US" sz="950" dirty="0"/>
          </a:p>
        </p:txBody>
      </p:sp>
      <p:sp>
        <p:nvSpPr>
          <p:cNvPr id="10" name="Shape 8"/>
          <p:cNvSpPr/>
          <p:nvPr/>
        </p:nvSpPr>
        <p:spPr>
          <a:xfrm>
            <a:off x="256032" y="1828800"/>
            <a:ext cx="4206240" cy="512064"/>
          </a:xfrm>
          <a:prstGeom prst="rect">
            <a:avLst/>
          </a:prstGeom>
          <a:solidFill>
            <a:srgbClr val="0A2E4A"/>
          </a:solidFill>
          <a:ln w="10160">
            <a:solidFill>
              <a:srgbClr val="1C7293"/>
            </a:solidFill>
            <a:prstDash val="solid"/>
          </a:ln>
        </p:spPr>
        <p:txBody>
          <a:bodyPr/>
          <a:lstStyle/>
          <a:p>
            <a:endParaRPr lang="en-VN"/>
          </a:p>
        </p:txBody>
      </p:sp>
      <p:sp>
        <p:nvSpPr>
          <p:cNvPr id="11" name="Shape 9"/>
          <p:cNvSpPr/>
          <p:nvPr/>
        </p:nvSpPr>
        <p:spPr>
          <a:xfrm>
            <a:off x="256032" y="1828800"/>
            <a:ext cx="54864" cy="512064"/>
          </a:xfrm>
          <a:prstGeom prst="rect">
            <a:avLst/>
          </a:prstGeom>
          <a:solidFill>
            <a:srgbClr val="1C7293"/>
          </a:solidFill>
          <a:ln w="12700">
            <a:solidFill>
              <a:srgbClr val="000000"/>
            </a:solidFill>
            <a:prstDash val="solid"/>
          </a:ln>
        </p:spPr>
        <p:txBody>
          <a:bodyPr/>
          <a:lstStyle/>
          <a:p>
            <a:endParaRPr lang="en-VN"/>
          </a:p>
        </p:txBody>
      </p:sp>
      <p:sp>
        <p:nvSpPr>
          <p:cNvPr id="12" name="Text 10"/>
          <p:cNvSpPr/>
          <p:nvPr/>
        </p:nvSpPr>
        <p:spPr>
          <a:xfrm>
            <a:off x="384048" y="1828800"/>
            <a:ext cx="4005072" cy="512064"/>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Tái hiện GRAPES trên 12 dataset (7 homophily + 5 heterophily)</a:t>
            </a:r>
            <a:endParaRPr lang="en-US" sz="950" dirty="0"/>
          </a:p>
        </p:txBody>
      </p:sp>
      <p:sp>
        <p:nvSpPr>
          <p:cNvPr id="13" name="Shape 11"/>
          <p:cNvSpPr/>
          <p:nvPr/>
        </p:nvSpPr>
        <p:spPr>
          <a:xfrm>
            <a:off x="256032" y="2395728"/>
            <a:ext cx="4206240" cy="512064"/>
          </a:xfrm>
          <a:prstGeom prst="rect">
            <a:avLst/>
          </a:prstGeom>
          <a:solidFill>
            <a:srgbClr val="0A2E4A"/>
          </a:solidFill>
          <a:ln w="10160">
            <a:solidFill>
              <a:srgbClr val="1C7293"/>
            </a:solidFill>
            <a:prstDash val="solid"/>
          </a:ln>
        </p:spPr>
        <p:txBody>
          <a:bodyPr/>
          <a:lstStyle/>
          <a:p>
            <a:endParaRPr lang="en-VN"/>
          </a:p>
        </p:txBody>
      </p:sp>
      <p:sp>
        <p:nvSpPr>
          <p:cNvPr id="14" name="Shape 12"/>
          <p:cNvSpPr/>
          <p:nvPr/>
        </p:nvSpPr>
        <p:spPr>
          <a:xfrm>
            <a:off x="256032" y="2395728"/>
            <a:ext cx="54864" cy="512064"/>
          </a:xfrm>
          <a:prstGeom prst="rect">
            <a:avLst/>
          </a:prstGeom>
          <a:solidFill>
            <a:srgbClr val="1C7293"/>
          </a:solidFill>
          <a:ln w="12700">
            <a:solidFill>
              <a:srgbClr val="000000"/>
            </a:solidFill>
            <a:prstDash val="solid"/>
          </a:ln>
        </p:spPr>
        <p:txBody>
          <a:bodyPr/>
          <a:lstStyle/>
          <a:p>
            <a:endParaRPr lang="en-VN"/>
          </a:p>
        </p:txBody>
      </p:sp>
      <p:sp>
        <p:nvSpPr>
          <p:cNvPr id="15" name="Text 13"/>
          <p:cNvSpPr/>
          <p:nvPr/>
        </p:nvSpPr>
        <p:spPr>
          <a:xfrm>
            <a:off x="384048" y="2395728"/>
            <a:ext cx="4005072" cy="512064"/>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Xác nhận: GRAPES-GFN vượt GRAPES-RL trên 10/12 dataset</a:t>
            </a:r>
            <a:endParaRPr lang="en-US" sz="950" dirty="0"/>
          </a:p>
        </p:txBody>
      </p:sp>
      <p:sp>
        <p:nvSpPr>
          <p:cNvPr id="16" name="Shape 14"/>
          <p:cNvSpPr/>
          <p:nvPr/>
        </p:nvSpPr>
        <p:spPr>
          <a:xfrm>
            <a:off x="256032" y="2962656"/>
            <a:ext cx="4206240" cy="512064"/>
          </a:xfrm>
          <a:prstGeom prst="rect">
            <a:avLst/>
          </a:prstGeom>
          <a:solidFill>
            <a:srgbClr val="0A2E4A"/>
          </a:solidFill>
          <a:ln w="10160">
            <a:solidFill>
              <a:srgbClr val="1C7293"/>
            </a:solidFill>
            <a:prstDash val="solid"/>
          </a:ln>
        </p:spPr>
        <p:txBody>
          <a:bodyPr/>
          <a:lstStyle/>
          <a:p>
            <a:endParaRPr lang="en-VN"/>
          </a:p>
        </p:txBody>
      </p:sp>
      <p:sp>
        <p:nvSpPr>
          <p:cNvPr id="17" name="Shape 15"/>
          <p:cNvSpPr/>
          <p:nvPr/>
        </p:nvSpPr>
        <p:spPr>
          <a:xfrm>
            <a:off x="256032" y="2962656"/>
            <a:ext cx="54864" cy="512064"/>
          </a:xfrm>
          <a:prstGeom prst="rect">
            <a:avLst/>
          </a:prstGeom>
          <a:solidFill>
            <a:srgbClr val="1C7293"/>
          </a:solidFill>
          <a:ln w="12700">
            <a:solidFill>
              <a:srgbClr val="000000"/>
            </a:solidFill>
            <a:prstDash val="solid"/>
          </a:ln>
        </p:spPr>
        <p:txBody>
          <a:bodyPr/>
          <a:lstStyle/>
          <a:p>
            <a:endParaRPr lang="en-VN"/>
          </a:p>
        </p:txBody>
      </p:sp>
      <p:sp>
        <p:nvSpPr>
          <p:cNvPr id="18" name="Text 16"/>
          <p:cNvSpPr/>
          <p:nvPr/>
        </p:nvSpPr>
        <p:spPr>
          <a:xfrm>
            <a:off x="384048" y="2962656"/>
            <a:ext cx="4005072" cy="512064"/>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Scalability: Amazon 2M đỉnh 61M cạnh — GAS/AS-GCN OOM, GRAPES chạy được</a:t>
            </a:r>
            <a:endParaRPr lang="en-US" sz="950" dirty="0"/>
          </a:p>
        </p:txBody>
      </p:sp>
      <p:sp>
        <p:nvSpPr>
          <p:cNvPr id="19" name="Shape 17"/>
          <p:cNvSpPr/>
          <p:nvPr/>
        </p:nvSpPr>
        <p:spPr>
          <a:xfrm>
            <a:off x="256032" y="3529584"/>
            <a:ext cx="4206240" cy="512064"/>
          </a:xfrm>
          <a:prstGeom prst="rect">
            <a:avLst/>
          </a:prstGeom>
          <a:solidFill>
            <a:srgbClr val="0A2E4A"/>
          </a:solidFill>
          <a:ln w="10160">
            <a:solidFill>
              <a:srgbClr val="1C7293"/>
            </a:solidFill>
            <a:prstDash val="solid"/>
          </a:ln>
        </p:spPr>
        <p:txBody>
          <a:bodyPr/>
          <a:lstStyle/>
          <a:p>
            <a:endParaRPr lang="en-VN"/>
          </a:p>
        </p:txBody>
      </p:sp>
      <p:sp>
        <p:nvSpPr>
          <p:cNvPr id="20" name="Shape 18"/>
          <p:cNvSpPr/>
          <p:nvPr/>
        </p:nvSpPr>
        <p:spPr>
          <a:xfrm>
            <a:off x="256032" y="3529584"/>
            <a:ext cx="54864" cy="512064"/>
          </a:xfrm>
          <a:prstGeom prst="rect">
            <a:avLst/>
          </a:prstGeom>
          <a:solidFill>
            <a:srgbClr val="1C7293"/>
          </a:solidFill>
          <a:ln w="12700">
            <a:solidFill>
              <a:srgbClr val="000000"/>
            </a:solidFill>
            <a:prstDash val="solid"/>
          </a:ln>
        </p:spPr>
        <p:txBody>
          <a:bodyPr/>
          <a:lstStyle/>
          <a:p>
            <a:endParaRPr lang="en-VN"/>
          </a:p>
        </p:txBody>
      </p:sp>
      <p:sp>
        <p:nvSpPr>
          <p:cNvPr id="21" name="Text 19"/>
          <p:cNvSpPr/>
          <p:nvPr/>
        </p:nvSpPr>
        <p:spPr>
          <a:xfrm>
            <a:off x="384048" y="3529584"/>
            <a:ext cx="4005072" cy="512064"/>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Đánh đổi: 2–3× bộ nhớ, 1.4–1.8× thời gian so với Random</a:t>
            </a:r>
            <a:endParaRPr lang="en-US" sz="950" dirty="0"/>
          </a:p>
        </p:txBody>
      </p:sp>
      <p:sp>
        <p:nvSpPr>
          <p:cNvPr id="22" name="Shape 20"/>
          <p:cNvSpPr/>
          <p:nvPr/>
        </p:nvSpPr>
        <p:spPr>
          <a:xfrm>
            <a:off x="4681728" y="896112"/>
            <a:ext cx="4206240" cy="310896"/>
          </a:xfrm>
          <a:prstGeom prst="rect">
            <a:avLst/>
          </a:prstGeom>
          <a:solidFill>
            <a:srgbClr val="F4A261"/>
          </a:solidFill>
          <a:ln w="12700">
            <a:solidFill>
              <a:srgbClr val="F4A261"/>
            </a:solidFill>
            <a:prstDash val="solid"/>
          </a:ln>
        </p:spPr>
        <p:txBody>
          <a:bodyPr/>
          <a:lstStyle/>
          <a:p>
            <a:endParaRPr lang="en-VN"/>
          </a:p>
        </p:txBody>
      </p:sp>
      <p:sp>
        <p:nvSpPr>
          <p:cNvPr id="23" name="Text 21"/>
          <p:cNvSpPr/>
          <p:nvPr/>
        </p:nvSpPr>
        <p:spPr>
          <a:xfrm>
            <a:off x="4681728" y="896112"/>
            <a:ext cx="4206240" cy="31089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Giai Đoạn 2 — Kế Hoạch</a:t>
            </a:r>
            <a:endParaRPr lang="en-US" sz="1200" dirty="0"/>
          </a:p>
        </p:txBody>
      </p:sp>
      <p:sp>
        <p:nvSpPr>
          <p:cNvPr id="24" name="Shape 22"/>
          <p:cNvSpPr/>
          <p:nvPr/>
        </p:nvSpPr>
        <p:spPr>
          <a:xfrm>
            <a:off x="4681728" y="1261872"/>
            <a:ext cx="4206240" cy="420624"/>
          </a:xfrm>
          <a:prstGeom prst="rect">
            <a:avLst/>
          </a:prstGeom>
          <a:solidFill>
            <a:srgbClr val="0A2030"/>
          </a:solidFill>
          <a:ln w="10160">
            <a:solidFill>
              <a:srgbClr val="F4A261"/>
            </a:solidFill>
            <a:prstDash val="solid"/>
          </a:ln>
        </p:spPr>
        <p:txBody>
          <a:bodyPr/>
          <a:lstStyle/>
          <a:p>
            <a:endParaRPr lang="en-VN"/>
          </a:p>
        </p:txBody>
      </p:sp>
      <p:sp>
        <p:nvSpPr>
          <p:cNvPr id="25" name="Shape 23"/>
          <p:cNvSpPr/>
          <p:nvPr/>
        </p:nvSpPr>
        <p:spPr>
          <a:xfrm>
            <a:off x="4718304" y="1335024"/>
            <a:ext cx="256032" cy="256032"/>
          </a:xfrm>
          <a:prstGeom prst="ellipse">
            <a:avLst/>
          </a:prstGeom>
          <a:solidFill>
            <a:srgbClr val="F4A261"/>
          </a:solidFill>
          <a:ln w="12700">
            <a:solidFill>
              <a:srgbClr val="F4A261"/>
            </a:solidFill>
            <a:prstDash val="solid"/>
          </a:ln>
        </p:spPr>
        <p:txBody>
          <a:bodyPr/>
          <a:lstStyle/>
          <a:p>
            <a:endParaRPr lang="en-VN"/>
          </a:p>
        </p:txBody>
      </p:sp>
      <p:sp>
        <p:nvSpPr>
          <p:cNvPr id="26" name="Text 24"/>
          <p:cNvSpPr/>
          <p:nvPr/>
        </p:nvSpPr>
        <p:spPr>
          <a:xfrm>
            <a:off x="4718304" y="1335024"/>
            <a:ext cx="25603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7" name="Text 25"/>
          <p:cNvSpPr/>
          <p:nvPr/>
        </p:nvSpPr>
        <p:spPr>
          <a:xfrm>
            <a:off x="5029200" y="1261872"/>
            <a:ext cx="3785616" cy="420624"/>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Thu thập &amp; tiền xử lý Amazon Reviews'23</a:t>
            </a:r>
            <a:endParaRPr lang="en-US" sz="950" dirty="0"/>
          </a:p>
        </p:txBody>
      </p:sp>
      <p:sp>
        <p:nvSpPr>
          <p:cNvPr id="28" name="Shape 26"/>
          <p:cNvSpPr/>
          <p:nvPr/>
        </p:nvSpPr>
        <p:spPr>
          <a:xfrm>
            <a:off x="4681728" y="1737360"/>
            <a:ext cx="4206240" cy="420624"/>
          </a:xfrm>
          <a:prstGeom prst="rect">
            <a:avLst/>
          </a:prstGeom>
          <a:solidFill>
            <a:srgbClr val="0A2030"/>
          </a:solidFill>
          <a:ln w="10160">
            <a:solidFill>
              <a:srgbClr val="F4A261"/>
            </a:solidFill>
            <a:prstDash val="solid"/>
          </a:ln>
        </p:spPr>
        <p:txBody>
          <a:bodyPr/>
          <a:lstStyle/>
          <a:p>
            <a:endParaRPr lang="en-VN"/>
          </a:p>
        </p:txBody>
      </p:sp>
      <p:sp>
        <p:nvSpPr>
          <p:cNvPr id="29" name="Shape 27"/>
          <p:cNvSpPr/>
          <p:nvPr/>
        </p:nvSpPr>
        <p:spPr>
          <a:xfrm>
            <a:off x="4718304" y="1810512"/>
            <a:ext cx="256032" cy="256032"/>
          </a:xfrm>
          <a:prstGeom prst="ellipse">
            <a:avLst/>
          </a:prstGeom>
          <a:solidFill>
            <a:srgbClr val="F4A261"/>
          </a:solidFill>
          <a:ln w="12700">
            <a:solidFill>
              <a:srgbClr val="F4A261"/>
            </a:solidFill>
            <a:prstDash val="solid"/>
          </a:ln>
        </p:spPr>
        <p:txBody>
          <a:bodyPr/>
          <a:lstStyle/>
          <a:p>
            <a:endParaRPr lang="en-VN"/>
          </a:p>
        </p:txBody>
      </p:sp>
      <p:sp>
        <p:nvSpPr>
          <p:cNvPr id="30" name="Text 28"/>
          <p:cNvSpPr/>
          <p:nvPr/>
        </p:nvSpPr>
        <p:spPr>
          <a:xfrm>
            <a:off x="4718304" y="1810512"/>
            <a:ext cx="25603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31" name="Text 29"/>
          <p:cNvSpPr/>
          <p:nvPr/>
        </p:nvSpPr>
        <p:spPr>
          <a:xfrm>
            <a:off x="5029200" y="1737360"/>
            <a:ext cx="3785616" cy="420624"/>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Xây dựng đồ thị hai phía User–Item</a:t>
            </a:r>
            <a:endParaRPr lang="en-US" sz="950" dirty="0"/>
          </a:p>
        </p:txBody>
      </p:sp>
      <p:sp>
        <p:nvSpPr>
          <p:cNvPr id="32" name="Shape 30"/>
          <p:cNvSpPr/>
          <p:nvPr/>
        </p:nvSpPr>
        <p:spPr>
          <a:xfrm>
            <a:off x="4681728" y="2212848"/>
            <a:ext cx="4206240" cy="420624"/>
          </a:xfrm>
          <a:prstGeom prst="rect">
            <a:avLst/>
          </a:prstGeom>
          <a:solidFill>
            <a:srgbClr val="0A2030"/>
          </a:solidFill>
          <a:ln w="10160">
            <a:solidFill>
              <a:srgbClr val="F4A261"/>
            </a:solidFill>
            <a:prstDash val="solid"/>
          </a:ln>
        </p:spPr>
        <p:txBody>
          <a:bodyPr/>
          <a:lstStyle/>
          <a:p>
            <a:endParaRPr lang="en-VN"/>
          </a:p>
        </p:txBody>
      </p:sp>
      <p:sp>
        <p:nvSpPr>
          <p:cNvPr id="33" name="Shape 31"/>
          <p:cNvSpPr/>
          <p:nvPr/>
        </p:nvSpPr>
        <p:spPr>
          <a:xfrm>
            <a:off x="4718304" y="2286000"/>
            <a:ext cx="256032" cy="256032"/>
          </a:xfrm>
          <a:prstGeom prst="ellipse">
            <a:avLst/>
          </a:prstGeom>
          <a:solidFill>
            <a:srgbClr val="F4A261"/>
          </a:solidFill>
          <a:ln w="12700">
            <a:solidFill>
              <a:srgbClr val="F4A261"/>
            </a:solidFill>
            <a:prstDash val="solid"/>
          </a:ln>
        </p:spPr>
        <p:txBody>
          <a:bodyPr/>
          <a:lstStyle/>
          <a:p>
            <a:endParaRPr lang="en-VN"/>
          </a:p>
        </p:txBody>
      </p:sp>
      <p:sp>
        <p:nvSpPr>
          <p:cNvPr id="34" name="Text 32"/>
          <p:cNvSpPr/>
          <p:nvPr/>
        </p:nvSpPr>
        <p:spPr>
          <a:xfrm>
            <a:off x="4718304" y="2286000"/>
            <a:ext cx="25603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mc:AlternateContent xmlns:mc="http://schemas.openxmlformats.org/markup-compatibility/2006" xmlns:a14="http://schemas.microsoft.com/office/drawing/2010/main">
        <mc:Choice Requires="a14">
          <p:sp>
            <p:nvSpPr>
              <p:cNvPr id="35" name="Text 33"/>
              <p:cNvSpPr/>
              <p:nvPr/>
            </p:nvSpPr>
            <p:spPr>
              <a:xfrm>
                <a:off x="5029200" y="2212848"/>
                <a:ext cx="3785616" cy="420624"/>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Thích nghi </a:t>
                </a:r>
                <a14:m>
                  <m:oMath xmlns:m="http://schemas.openxmlformats.org/officeDocument/2006/math">
                    <m:r>
                      <a:rPr lang="en-US" sz="950" i="1" dirty="0" smtClean="0">
                        <a:solidFill>
                          <a:srgbClr val="FFFFFF"/>
                        </a:solidFill>
                        <a:latin typeface="Cambria Math" panose="02040503050406030204" pitchFamily="18" charset="0"/>
                        <a:ea typeface="Calibri" pitchFamily="34" charset="-122"/>
                        <a:cs typeface="Calibri" pitchFamily="34" charset="-120"/>
                      </a:rPr>
                      <m:t>𝐺𝐶</m:t>
                    </m:r>
                    <m:sSub>
                      <m:sSubPr>
                        <m:ctrlPr>
                          <a:rPr lang="en-US" sz="950" i="1" dirty="0" smtClean="0">
                            <a:solidFill>
                              <a:srgbClr val="FFFFFF"/>
                            </a:solidFill>
                            <a:latin typeface="Cambria Math" panose="02040503050406030204" pitchFamily="18" charset="0"/>
                            <a:ea typeface="Calibri" pitchFamily="34" charset="-122"/>
                            <a:cs typeface="Calibri" pitchFamily="34" charset="-120"/>
                          </a:rPr>
                        </m:ctrlPr>
                      </m:sSubPr>
                      <m:e>
                        <m:r>
                          <a:rPr lang="en-US" sz="950" i="1" dirty="0" smtClean="0">
                            <a:solidFill>
                              <a:srgbClr val="FFFFFF"/>
                            </a:solidFill>
                            <a:latin typeface="Cambria Math" panose="02040503050406030204" pitchFamily="18" charset="0"/>
                            <a:ea typeface="Calibri" pitchFamily="34" charset="-122"/>
                            <a:cs typeface="Calibri" pitchFamily="34" charset="-120"/>
                          </a:rPr>
                          <m:t>𝑁</m:t>
                        </m:r>
                      </m:e>
                      <m:sub>
                        <m:r>
                          <a:rPr lang="en-US" sz="950" i="1" dirty="0" smtClean="0">
                            <a:solidFill>
                              <a:srgbClr val="FFFFFF"/>
                            </a:solidFill>
                            <a:latin typeface="Cambria Math" panose="02040503050406030204" pitchFamily="18" charset="0"/>
                            <a:ea typeface="Calibri" pitchFamily="34" charset="-122"/>
                            <a:cs typeface="Calibri" pitchFamily="34" charset="-120"/>
                          </a:rPr>
                          <m:t>𝐶</m:t>
                        </m:r>
                      </m:sub>
                    </m:sSub>
                  </m:oMath>
                </a14:m>
                <a:r>
                  <a:rPr lang="en-US" sz="950" dirty="0">
                    <a:solidFill>
                      <a:srgbClr val="FFFFFF"/>
                    </a:solidFill>
                    <a:latin typeface="Calibri" pitchFamily="34" charset="0"/>
                    <a:ea typeface="Calibri" pitchFamily="34" charset="-122"/>
                    <a:cs typeface="Calibri" pitchFamily="34" charset="-120"/>
                  </a:rPr>
                  <a:t> → BPR Loss</a:t>
                </a:r>
                <a:endParaRPr lang="en-US" sz="950" dirty="0"/>
              </a:p>
            </p:txBody>
          </p:sp>
        </mc:Choice>
        <mc:Fallback xmlns="">
          <p:sp>
            <p:nvSpPr>
              <p:cNvPr id="35" name="Text 33"/>
              <p:cNvSpPr>
                <a:spLocks noRot="1" noChangeAspect="1" noMove="1" noResize="1" noEditPoints="1" noAdjustHandles="1" noChangeArrowheads="1" noChangeShapeType="1" noTextEdit="1"/>
              </p:cNvSpPr>
              <p:nvPr/>
            </p:nvSpPr>
            <p:spPr>
              <a:xfrm>
                <a:off x="5029200" y="2212848"/>
                <a:ext cx="3785616" cy="420624"/>
              </a:xfrm>
              <a:prstGeom prst="rect">
                <a:avLst/>
              </a:prstGeom>
              <a:blipFill>
                <a:blip r:embed="rId3"/>
                <a:stretch>
                  <a:fillRect/>
                </a:stretch>
              </a:blipFill>
              <a:ln/>
            </p:spPr>
            <p:txBody>
              <a:bodyPr/>
              <a:lstStyle/>
              <a:p>
                <a:r>
                  <a:rPr lang="en-VN">
                    <a:noFill/>
                  </a:rPr>
                  <a:t> </a:t>
                </a:r>
              </a:p>
            </p:txBody>
          </p:sp>
        </mc:Fallback>
      </mc:AlternateContent>
      <p:sp>
        <p:nvSpPr>
          <p:cNvPr id="36" name="Shape 34"/>
          <p:cNvSpPr/>
          <p:nvPr/>
        </p:nvSpPr>
        <p:spPr>
          <a:xfrm>
            <a:off x="4681728" y="2688336"/>
            <a:ext cx="4206240" cy="420624"/>
          </a:xfrm>
          <a:prstGeom prst="rect">
            <a:avLst/>
          </a:prstGeom>
          <a:solidFill>
            <a:srgbClr val="0A2030"/>
          </a:solidFill>
          <a:ln w="10160">
            <a:solidFill>
              <a:srgbClr val="F4A261"/>
            </a:solidFill>
            <a:prstDash val="solid"/>
          </a:ln>
        </p:spPr>
        <p:txBody>
          <a:bodyPr/>
          <a:lstStyle/>
          <a:p>
            <a:endParaRPr lang="en-VN"/>
          </a:p>
        </p:txBody>
      </p:sp>
      <p:sp>
        <p:nvSpPr>
          <p:cNvPr id="37" name="Shape 35"/>
          <p:cNvSpPr/>
          <p:nvPr/>
        </p:nvSpPr>
        <p:spPr>
          <a:xfrm>
            <a:off x="4718304" y="2761488"/>
            <a:ext cx="256032" cy="256032"/>
          </a:xfrm>
          <a:prstGeom prst="ellipse">
            <a:avLst/>
          </a:prstGeom>
          <a:solidFill>
            <a:srgbClr val="F4A261"/>
          </a:solidFill>
          <a:ln w="12700">
            <a:solidFill>
              <a:srgbClr val="F4A261"/>
            </a:solidFill>
            <a:prstDash val="solid"/>
          </a:ln>
        </p:spPr>
        <p:txBody>
          <a:bodyPr/>
          <a:lstStyle/>
          <a:p>
            <a:endParaRPr lang="en-VN"/>
          </a:p>
        </p:txBody>
      </p:sp>
      <p:sp>
        <p:nvSpPr>
          <p:cNvPr id="38" name="Text 36"/>
          <p:cNvSpPr/>
          <p:nvPr/>
        </p:nvSpPr>
        <p:spPr>
          <a:xfrm>
            <a:off x="4718304" y="2761488"/>
            <a:ext cx="25603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mc:AlternateContent xmlns:mc="http://schemas.openxmlformats.org/markup-compatibility/2006" xmlns:a14="http://schemas.microsoft.com/office/drawing/2010/main">
        <mc:Choice Requires="a14">
          <p:sp>
            <p:nvSpPr>
              <p:cNvPr id="39" name="Text 37"/>
              <p:cNvSpPr/>
              <p:nvPr/>
            </p:nvSpPr>
            <p:spPr>
              <a:xfrm>
                <a:off x="5029200" y="2688336"/>
                <a:ext cx="3785616" cy="420624"/>
              </a:xfrm>
              <a:prstGeom prst="rect">
                <a:avLst/>
              </a:prstGeom>
              <a:noFill/>
              <a:ln/>
            </p:spPr>
            <p:txBody>
              <a:bodyPr wrap="square" rtlCol="0" anchor="ctr"/>
              <a:lstStyle/>
              <a:p>
                <a:r>
                  <a:rPr lang="en-US" sz="950" dirty="0">
                    <a:solidFill>
                      <a:srgbClr val="FFFFFF"/>
                    </a:solidFill>
                    <a:latin typeface="Calibri" pitchFamily="34" charset="0"/>
                    <a:ea typeface="Calibri" pitchFamily="34" charset="-122"/>
                    <a:cs typeface="Calibri" pitchFamily="34" charset="-120"/>
                  </a:rPr>
                  <a:t>Reward: </a:t>
                </a:r>
                <a14:m>
                  <m:oMath xmlns:m="http://schemas.openxmlformats.org/officeDocument/2006/math">
                    <m:r>
                      <a:rPr lang="en-US" sz="950" i="1" smtClean="0">
                        <a:solidFill>
                          <a:srgbClr val="FFFFFF"/>
                        </a:solidFill>
                        <a:latin typeface="Cambria Math" panose="02040503050406030204" pitchFamily="18" charset="0"/>
                        <a:ea typeface="Calibri" pitchFamily="34" charset="-122"/>
                        <a:cs typeface="Calibri" pitchFamily="34" charset="-120"/>
                      </a:rPr>
                      <m:t>𝑅</m:t>
                    </m:r>
                    <m:r>
                      <a:rPr lang="en-US" sz="950" i="1" smtClean="0">
                        <a:solidFill>
                          <a:srgbClr val="FFFFFF"/>
                        </a:solidFill>
                        <a:latin typeface="Cambria Math" panose="02040503050406030204" pitchFamily="18" charset="0"/>
                        <a:ea typeface="Calibri" pitchFamily="34" charset="-122"/>
                        <a:cs typeface="Calibri" pitchFamily="34" charset="-120"/>
                      </a:rPr>
                      <m:t>=</m:t>
                    </m:r>
                    <m:func>
                      <m:funcPr>
                        <m:ctrlPr>
                          <a:rPr lang="en-US" sz="950" i="1" smtClean="0">
                            <a:solidFill>
                              <a:srgbClr val="FFFFFF"/>
                            </a:solidFill>
                            <a:latin typeface="Cambria Math" panose="02040503050406030204" pitchFamily="18" charset="0"/>
                            <a:ea typeface="Calibri" pitchFamily="34" charset="-122"/>
                            <a:cs typeface="Calibri" pitchFamily="34" charset="-120"/>
                          </a:rPr>
                        </m:ctrlPr>
                      </m:funcPr>
                      <m:fName>
                        <m:r>
                          <m:rPr>
                            <m:sty m:val="p"/>
                          </m:rPr>
                          <a:rPr lang="en-US" sz="950" i="0" smtClean="0">
                            <a:solidFill>
                              <a:srgbClr val="FFFFFF"/>
                            </a:solidFill>
                            <a:latin typeface="Cambria Math" panose="02040503050406030204" pitchFamily="18" charset="0"/>
                            <a:ea typeface="Calibri" pitchFamily="34" charset="-122"/>
                            <a:cs typeface="Calibri" pitchFamily="34" charset="-120"/>
                          </a:rPr>
                          <m:t>exp</m:t>
                        </m:r>
                      </m:fName>
                      <m:e>
                        <m:d>
                          <m:dPr>
                            <m:ctrlPr>
                              <a:rPr lang="en-US" sz="950" i="1" smtClean="0">
                                <a:solidFill>
                                  <a:srgbClr val="FFFFFF"/>
                                </a:solidFill>
                                <a:latin typeface="Cambria Math" panose="02040503050406030204" pitchFamily="18" charset="0"/>
                                <a:ea typeface="Calibri" pitchFamily="34" charset="-122"/>
                                <a:cs typeface="Calibri" pitchFamily="34" charset="-120"/>
                              </a:rPr>
                            </m:ctrlPr>
                          </m:dPr>
                          <m:e>
                            <m:r>
                              <a:rPr lang="en-US" sz="950" i="1" smtClean="0">
                                <a:solidFill>
                                  <a:srgbClr val="FFFFFF"/>
                                </a:solidFill>
                                <a:latin typeface="Cambria Math" panose="02040503050406030204" pitchFamily="18" charset="0"/>
                                <a:ea typeface="Calibri" pitchFamily="34" charset="-122"/>
                                <a:cs typeface="Calibri" pitchFamily="34" charset="-120"/>
                              </a:rPr>
                              <m:t>−</m:t>
                            </m:r>
                            <m:r>
                              <a:rPr lang="en-US" sz="950" i="1" smtClean="0">
                                <a:solidFill>
                                  <a:srgbClr val="FFFFFF"/>
                                </a:solidFill>
                                <a:latin typeface="Cambria Math" panose="02040503050406030204" pitchFamily="18" charset="0"/>
                                <a:ea typeface="Calibri" pitchFamily="34" charset="-122"/>
                                <a:cs typeface="Calibri" pitchFamily="34" charset="-120"/>
                              </a:rPr>
                              <m:t>𝛼</m:t>
                            </m:r>
                            <m:r>
                              <a:rPr lang="en-US" sz="950" i="1" smtClean="0">
                                <a:solidFill>
                                  <a:srgbClr val="FFFFFF"/>
                                </a:solidFill>
                                <a:latin typeface="Cambria Math" panose="02040503050406030204" pitchFamily="18" charset="0"/>
                                <a:ea typeface="Calibri" pitchFamily="34" charset="-122"/>
                                <a:cs typeface="Calibri" pitchFamily="34" charset="-120"/>
                              </a:rPr>
                              <m:t>⋅</m:t>
                            </m:r>
                            <m:sSub>
                              <m:sSubPr>
                                <m:ctrlPr>
                                  <a:rPr lang="en-US" sz="950" i="1" smtClean="0">
                                    <a:solidFill>
                                      <a:srgbClr val="FFFFFF"/>
                                    </a:solidFill>
                                    <a:latin typeface="Cambria Math" panose="02040503050406030204" pitchFamily="18" charset="0"/>
                                    <a:ea typeface="Calibri" pitchFamily="34" charset="-122"/>
                                    <a:cs typeface="Calibri" pitchFamily="34" charset="-120"/>
                                  </a:rPr>
                                </m:ctrlPr>
                              </m:sSubPr>
                              <m:e>
                                <m:r>
                                  <a:rPr lang="en-US" sz="950" i="1" smtClean="0">
                                    <a:solidFill>
                                      <a:srgbClr val="FFFFFF"/>
                                    </a:solidFill>
                                    <a:latin typeface="Cambria Math" panose="02040503050406030204" pitchFamily="18" charset="0"/>
                                    <a:ea typeface="Calibri" pitchFamily="34" charset="-122"/>
                                    <a:cs typeface="Calibri" pitchFamily="34" charset="-120"/>
                                  </a:rPr>
                                  <m:t>𝐿</m:t>
                                </m:r>
                              </m:e>
                              <m:sub>
                                <m:r>
                                  <a:rPr lang="en-US" sz="950" i="1" smtClean="0">
                                    <a:solidFill>
                                      <a:srgbClr val="FFFFFF"/>
                                    </a:solidFill>
                                    <a:latin typeface="Cambria Math" panose="02040503050406030204" pitchFamily="18" charset="0"/>
                                    <a:ea typeface="Calibri" pitchFamily="34" charset="-122"/>
                                    <a:cs typeface="Calibri" pitchFamily="34" charset="-120"/>
                                  </a:rPr>
                                  <m:t>𝐵𝑃𝑅</m:t>
                                </m:r>
                              </m:sub>
                            </m:sSub>
                          </m:e>
                        </m:d>
                      </m:e>
                    </m:func>
                  </m:oMath>
                </a14:m>
                <a:endParaRPr lang="en-US" sz="950" dirty="0"/>
              </a:p>
            </p:txBody>
          </p:sp>
        </mc:Choice>
        <mc:Fallback xmlns="">
          <p:sp>
            <p:nvSpPr>
              <p:cNvPr id="39" name="Text 37"/>
              <p:cNvSpPr>
                <a:spLocks noRot="1" noChangeAspect="1" noMove="1" noResize="1" noEditPoints="1" noAdjustHandles="1" noChangeArrowheads="1" noChangeShapeType="1" noTextEdit="1"/>
              </p:cNvSpPr>
              <p:nvPr/>
            </p:nvSpPr>
            <p:spPr>
              <a:xfrm>
                <a:off x="5029200" y="2688336"/>
                <a:ext cx="3785616" cy="420624"/>
              </a:xfrm>
              <a:prstGeom prst="rect">
                <a:avLst/>
              </a:prstGeom>
              <a:blipFill>
                <a:blip r:embed="rId4"/>
                <a:stretch>
                  <a:fillRect/>
                </a:stretch>
              </a:blipFill>
              <a:ln/>
            </p:spPr>
            <p:txBody>
              <a:bodyPr/>
              <a:lstStyle/>
              <a:p>
                <a:r>
                  <a:rPr lang="en-VN">
                    <a:noFill/>
                  </a:rPr>
                  <a:t> </a:t>
                </a:r>
              </a:p>
            </p:txBody>
          </p:sp>
        </mc:Fallback>
      </mc:AlternateContent>
      <p:sp>
        <p:nvSpPr>
          <p:cNvPr id="40" name="Shape 38"/>
          <p:cNvSpPr/>
          <p:nvPr/>
        </p:nvSpPr>
        <p:spPr>
          <a:xfrm>
            <a:off x="4681728" y="3163824"/>
            <a:ext cx="4206240" cy="420624"/>
          </a:xfrm>
          <a:prstGeom prst="rect">
            <a:avLst/>
          </a:prstGeom>
          <a:solidFill>
            <a:srgbClr val="0A2030"/>
          </a:solidFill>
          <a:ln w="10160">
            <a:solidFill>
              <a:srgbClr val="F4A261"/>
            </a:solidFill>
            <a:prstDash val="solid"/>
          </a:ln>
        </p:spPr>
        <p:txBody>
          <a:bodyPr/>
          <a:lstStyle/>
          <a:p>
            <a:endParaRPr lang="en-VN"/>
          </a:p>
        </p:txBody>
      </p:sp>
      <p:sp>
        <p:nvSpPr>
          <p:cNvPr id="41" name="Shape 39"/>
          <p:cNvSpPr/>
          <p:nvPr/>
        </p:nvSpPr>
        <p:spPr>
          <a:xfrm>
            <a:off x="4718304" y="3236976"/>
            <a:ext cx="256032" cy="256032"/>
          </a:xfrm>
          <a:prstGeom prst="ellipse">
            <a:avLst/>
          </a:prstGeom>
          <a:solidFill>
            <a:srgbClr val="F4A261"/>
          </a:solidFill>
          <a:ln w="12700">
            <a:solidFill>
              <a:srgbClr val="F4A261"/>
            </a:solidFill>
            <a:prstDash val="solid"/>
          </a:ln>
        </p:spPr>
        <p:txBody>
          <a:bodyPr/>
          <a:lstStyle/>
          <a:p>
            <a:endParaRPr lang="en-VN"/>
          </a:p>
        </p:txBody>
      </p:sp>
      <p:sp>
        <p:nvSpPr>
          <p:cNvPr id="42" name="Text 40"/>
          <p:cNvSpPr/>
          <p:nvPr/>
        </p:nvSpPr>
        <p:spPr>
          <a:xfrm>
            <a:off x="4718304" y="3236976"/>
            <a:ext cx="25603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43" name="Text 41"/>
          <p:cNvSpPr/>
          <p:nvPr/>
        </p:nvSpPr>
        <p:spPr>
          <a:xfrm>
            <a:off x="5029200" y="3163824"/>
            <a:ext cx="3785616" cy="420624"/>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Chạy baselines: LightGCN, PinSage, NGCF</a:t>
            </a:r>
            <a:endParaRPr lang="en-US" sz="950" dirty="0"/>
          </a:p>
        </p:txBody>
      </p:sp>
      <p:sp>
        <p:nvSpPr>
          <p:cNvPr id="44" name="Shape 42"/>
          <p:cNvSpPr/>
          <p:nvPr/>
        </p:nvSpPr>
        <p:spPr>
          <a:xfrm>
            <a:off x="4681728" y="3639312"/>
            <a:ext cx="4206240" cy="420624"/>
          </a:xfrm>
          <a:prstGeom prst="rect">
            <a:avLst/>
          </a:prstGeom>
          <a:solidFill>
            <a:srgbClr val="0A2030"/>
          </a:solidFill>
          <a:ln w="10160">
            <a:solidFill>
              <a:srgbClr val="F4A261"/>
            </a:solidFill>
            <a:prstDash val="solid"/>
          </a:ln>
        </p:spPr>
        <p:txBody>
          <a:bodyPr/>
          <a:lstStyle/>
          <a:p>
            <a:endParaRPr lang="en-VN"/>
          </a:p>
        </p:txBody>
      </p:sp>
      <p:sp>
        <p:nvSpPr>
          <p:cNvPr id="45" name="Shape 43"/>
          <p:cNvSpPr/>
          <p:nvPr/>
        </p:nvSpPr>
        <p:spPr>
          <a:xfrm>
            <a:off x="4718304" y="3712464"/>
            <a:ext cx="256032" cy="256032"/>
          </a:xfrm>
          <a:prstGeom prst="ellipse">
            <a:avLst/>
          </a:prstGeom>
          <a:solidFill>
            <a:srgbClr val="F4A261"/>
          </a:solidFill>
          <a:ln w="12700">
            <a:solidFill>
              <a:srgbClr val="F4A261"/>
            </a:solidFill>
            <a:prstDash val="solid"/>
          </a:ln>
        </p:spPr>
        <p:txBody>
          <a:bodyPr/>
          <a:lstStyle/>
          <a:p>
            <a:endParaRPr lang="en-VN"/>
          </a:p>
        </p:txBody>
      </p:sp>
      <p:sp>
        <p:nvSpPr>
          <p:cNvPr id="46" name="Text 44"/>
          <p:cNvSpPr/>
          <p:nvPr/>
        </p:nvSpPr>
        <p:spPr>
          <a:xfrm>
            <a:off x="4718304" y="3712464"/>
            <a:ext cx="25603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47" name="Text 45"/>
          <p:cNvSpPr/>
          <p:nvPr/>
        </p:nvSpPr>
        <p:spPr>
          <a:xfrm>
            <a:off x="5029200" y="3639312"/>
            <a:ext cx="3785616" cy="420624"/>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Đánh giá Recall@K / NDCG@K + báo cáo</a:t>
            </a:r>
            <a:endParaRPr lang="en-US" sz="950" dirty="0"/>
          </a:p>
        </p:txBody>
      </p:sp>
      <p:sp>
        <p:nvSpPr>
          <p:cNvPr id="48" name="Shape 46"/>
          <p:cNvSpPr/>
          <p:nvPr/>
        </p:nvSpPr>
        <p:spPr>
          <a:xfrm>
            <a:off x="4681728" y="4151376"/>
            <a:ext cx="4206240" cy="256032"/>
          </a:xfrm>
          <a:prstGeom prst="rect">
            <a:avLst/>
          </a:prstGeom>
          <a:solidFill>
            <a:srgbClr val="F4A261"/>
          </a:solidFill>
          <a:ln w="12700">
            <a:solidFill>
              <a:srgbClr val="F4A261"/>
            </a:solidFill>
            <a:prstDash val="solid"/>
          </a:ln>
        </p:spPr>
        <p:txBody>
          <a:bodyPr/>
          <a:lstStyle/>
          <a:p>
            <a:endParaRPr lang="en-VN"/>
          </a:p>
        </p:txBody>
      </p:sp>
      <p:sp>
        <p:nvSpPr>
          <p:cNvPr id="49" name="Text 47"/>
          <p:cNvSpPr/>
          <p:nvPr/>
        </p:nvSpPr>
        <p:spPr>
          <a:xfrm>
            <a:off x="4681728" y="4151376"/>
            <a:ext cx="4206240" cy="25603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3.5 – 4 tháng</a:t>
            </a:r>
            <a:endParaRPr lang="en-US" sz="1050" dirty="0"/>
          </a:p>
        </p:txBody>
      </p:sp>
      <p:sp>
        <p:nvSpPr>
          <p:cNvPr id="50" name="Shape 48"/>
          <p:cNvSpPr/>
          <p:nvPr/>
        </p:nvSpPr>
        <p:spPr>
          <a:xfrm>
            <a:off x="256032" y="4498848"/>
            <a:ext cx="8631936" cy="0"/>
          </a:xfrm>
          <a:prstGeom prst="line">
            <a:avLst/>
          </a:prstGeom>
          <a:noFill/>
          <a:ln w="10160">
            <a:solidFill>
              <a:srgbClr val="1C7293"/>
            </a:solidFill>
            <a:prstDash val="solid"/>
          </a:ln>
        </p:spPr>
        <p:txBody>
          <a:bodyPr/>
          <a:lstStyle/>
          <a:p>
            <a:endParaRPr lang="en-VN"/>
          </a:p>
        </p:txBody>
      </p:sp>
      <p:sp>
        <p:nvSpPr>
          <p:cNvPr id="51" name="Text 49"/>
          <p:cNvSpPr/>
          <p:nvPr/>
        </p:nvSpPr>
        <p:spPr>
          <a:xfrm>
            <a:off x="256032" y="4572000"/>
            <a:ext cx="8631936" cy="237744"/>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Xin cảm </a:t>
            </a:r>
            <a:r>
              <a:rPr lang="en-US" sz="1800" b="1" dirty="0" err="1">
                <a:solidFill>
                  <a:srgbClr val="FFFFFF"/>
                </a:solidFill>
                <a:latin typeface="Calibri" pitchFamily="34" charset="0"/>
                <a:ea typeface="Calibri" pitchFamily="34" charset="-122"/>
                <a:cs typeface="Calibri" pitchFamily="34" charset="-120"/>
              </a:rPr>
              <a:t>ơn</a:t>
            </a:r>
            <a:r>
              <a:rPr lang="en-US" sz="1800" b="1" dirty="0">
                <a:solidFill>
                  <a:srgbClr val="FFFFFF"/>
                </a:solidFill>
                <a:latin typeface="Calibri" pitchFamily="34" charset="0"/>
                <a:ea typeface="Calibri" pitchFamily="34" charset="-122"/>
                <a:cs typeface="Calibri" pitchFamily="34" charset="-120"/>
              </a:rPr>
              <a:t> </a:t>
            </a:r>
            <a:r>
              <a:rPr lang="en-US" sz="1800" b="1" dirty="0" err="1">
                <a:solidFill>
                  <a:srgbClr val="FFFFFF"/>
                </a:solidFill>
                <a:latin typeface="Calibri" pitchFamily="34" charset="0"/>
                <a:ea typeface="Calibri" pitchFamily="34" charset="-122"/>
                <a:cs typeface="Calibri" pitchFamily="34" charset="-120"/>
              </a:rPr>
              <a:t>Thầy</a:t>
            </a:r>
            <a:r>
              <a:rPr lang="en-US" sz="1800" b="1" dirty="0">
                <a:solidFill>
                  <a:srgbClr val="FFFFFF"/>
                </a:solidFill>
                <a:latin typeface="Calibri" pitchFamily="34" charset="0"/>
                <a:ea typeface="Calibri" pitchFamily="34" charset="-122"/>
                <a:cs typeface="Calibri" pitchFamily="34" charset="-120"/>
              </a:rPr>
              <a:t> </a:t>
            </a:r>
            <a:r>
              <a:rPr lang="en-US" sz="1800" b="1" dirty="0" err="1">
                <a:solidFill>
                  <a:srgbClr val="FFFFFF"/>
                </a:solidFill>
                <a:latin typeface="Calibri" pitchFamily="34" charset="0"/>
                <a:ea typeface="Calibri" pitchFamily="34" charset="-122"/>
                <a:cs typeface="Calibri" pitchFamily="34" charset="-120"/>
              </a:rPr>
              <a:t>Cô</a:t>
            </a:r>
            <a:r>
              <a:rPr lang="en-US" sz="1800" b="1" dirty="0">
                <a:solidFill>
                  <a:srgbClr val="FFFFFF"/>
                </a:solidFill>
                <a:latin typeface="Calibri" pitchFamily="34" charset="0"/>
                <a:ea typeface="Calibri" pitchFamily="34" charset="-122"/>
                <a:cs typeface="Calibri" pitchFamily="34" charset="-120"/>
              </a:rPr>
              <a:t> </a:t>
            </a:r>
            <a:r>
              <a:rPr lang="en-US" sz="1800" b="1" dirty="0" err="1">
                <a:solidFill>
                  <a:srgbClr val="FFFFFF"/>
                </a:solidFill>
                <a:latin typeface="Calibri" pitchFamily="34" charset="0"/>
                <a:ea typeface="Calibri" pitchFamily="34" charset="-122"/>
                <a:cs typeface="Calibri" pitchFamily="34" charset="-120"/>
              </a:rPr>
              <a:t>đã</a:t>
            </a:r>
            <a:r>
              <a:rPr lang="en-US" sz="1800" b="1" dirty="0">
                <a:solidFill>
                  <a:srgbClr val="FFFFFF"/>
                </a:solidFill>
                <a:latin typeface="Calibri" pitchFamily="34" charset="0"/>
                <a:ea typeface="Calibri" pitchFamily="34" charset="-122"/>
                <a:cs typeface="Calibri" pitchFamily="34" charset="-120"/>
              </a:rPr>
              <a:t> lắng nghe!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1094</TotalTime>
  <Words>9684</Words>
  <Application>Microsoft Macintosh PowerPoint</Application>
  <PresentationFormat>On-screen Show (16:9)</PresentationFormat>
  <Paragraphs>910</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Nghiên Cứu Phương Pháp GRAPES Trong Giảm Bùng Nổ Lân Cận Cho Mạng Nơ-ron Đồ Thị</dc:title>
  <dc:subject>PptxGenJS Presentation</dc:subject>
  <dc:creator>Ty Van</dc:creator>
  <cp:lastModifiedBy>Ty Van</cp:lastModifiedBy>
  <cp:revision>20</cp:revision>
  <dcterms:created xsi:type="dcterms:W3CDTF">2026-06-15T03:27:50Z</dcterms:created>
  <dcterms:modified xsi:type="dcterms:W3CDTF">2026-06-17T02:22:48Z</dcterms:modified>
</cp:coreProperties>
</file>