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A7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A6A78"/>
                </a:solidFill>
                <a:latin typeface="Arial"/>
              </a:rPr>
              <a:t>Mini-batch 512 đỉnh, bậc trung bình d̄=10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đỉnh cần nạp vào bộ nhớ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8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 = 1  (5K)</c:v>
                  </c:pt>
                  <c:pt idx="1">
                    <c:v>L = 2  (51K)</c:v>
                  </c:pt>
                  <c:pt idx="2">
                    <c:v>L = 3  (512K)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5120</c:v>
                </c:pt>
                <c:pt idx="1">
                  <c:v>51200</c:v>
                </c:pt>
                <c:pt idx="2">
                  <c:v>512000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TP.HCM  —  TRƯỜNG ĐẠI HỌC BÁCH KHOA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Khoa học và Kỹ thuật Máy tính  —  Chuyên ngành: Khoa học máy tính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731520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PHƯƠNG PHÁP LẤY MẪU ĐỒ THỊ</a:t>
            </a:r>
            <a:endParaRPr lang="en-US" sz="2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HỆ THỐNG GỢI Ý QUY MÔ LỚN</a:t>
            </a:r>
            <a:endParaRPr lang="en-US" sz="2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MẠNG NƠ-RON ĐỒ THỊ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4630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TẬP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7588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XUÂN TỶ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MSHV: 2470113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Lê Thanh Vân   —   Ngày bảo vệ: 09/06/2026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14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0698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64792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81965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phương pháp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146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GRAPES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64408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3192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65760" y="390448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14216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069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tương lai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Động Cơ Nghiên Cứu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gợi ý &amp; GNN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user–item là đồ thị hai phía (bipartite graph)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khai thác cấu trúc quan hệ bậc cao hiệu quả hơn lọc cộng tác truyền thống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PinSage (Pinterest): 3 tỷ cạnh — phải dùng sampling ngay từ đầu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NGCF, LightGCN: các mô hình GNN được nghiên cứu và ứng dụng rộng rãi cho hệ thống gợi 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337560"/>
            <a:ext cx="4297680" cy="804672"/>
          </a:xfrm>
          <a:prstGeom prst="rect">
            <a:avLst/>
          </a:prstGeom>
          <a:solidFill>
            <a:srgbClr val="EAF4F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37560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quy mô lớn → nhu cầu Scalability là rào cản thực tế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914400"/>
            <a:ext cx="36576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914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Gợi 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36576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Nơ-ron Đồ thị (GNN)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2743200"/>
            <a:ext cx="3657600" cy="59436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Scalability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3337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3657600"/>
            <a:ext cx="3657600" cy="59436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657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Bùng nổ Lân cận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Nơ-ron Đồ Thị (GNN): Cơ Chế Message Passing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là gì?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344168"/>
            <a:ext cx="41605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mô hình học đặc trưng đỉnh/cạnh dựa trên cấu trúc đồ thị G = (V, 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đỉnh tích lũy thông tin từ lân cận qua nhiều vòng lặp (tầng)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L tầng: h_v^(L) mã hóa cấu trúc L-hop xung quanh đỉnh v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phân loại đỉnh, dự đoán liên kết, hệ gợi ý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3493008"/>
            <a:ext cx="4160520" cy="804672"/>
          </a:xfrm>
          <a:prstGeom prst="rect">
            <a:avLst/>
          </a:prstGeom>
          <a:solidFill>
            <a:srgbClr val="EAF4F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493008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mấu chốt: đặc trưng đỉnh được lan truyền qua cấu trúc đồ thị — không huấn luyện độc lập như MLP.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886968"/>
            <a:ext cx="0" cy="39502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Message Passing (MPNN)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344168"/>
            <a:ext cx="4023360" cy="804672"/>
          </a:xfrm>
          <a:prstGeom prst="rect">
            <a:avLst/>
          </a:prstGeom>
          <a:solidFill>
            <a:srgbClr val="F1F5F9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807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0 — Khởi tạo</a:t>
            </a:r>
            <a:endParaRPr lang="en-US" sz="1100" dirty="0"/>
          </a:p>
        </p:txBody>
      </p:sp>
      <p:pic>
        <p:nvPicPr>
          <p:cNvPr id="13" name="Image 0" descr="/sessions/festive-admiring-rubin/mnt/outputs/formulas/f0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581912"/>
            <a:ext cx="3913632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56048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đầu vào của đỉnh v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2221992"/>
            <a:ext cx="4023360" cy="804672"/>
          </a:xfrm>
          <a:prstGeom prst="rect">
            <a:avLst/>
          </a:prstGeom>
          <a:solidFill>
            <a:srgbClr val="F1F5F9"/>
          </a:solidFill>
          <a:ln w="2286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22585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Aggregate (tổng hợp)</a:t>
            </a:r>
            <a:endParaRPr lang="en-US" sz="1100" dirty="0"/>
          </a:p>
        </p:txBody>
      </p:sp>
      <p:pic>
        <p:nvPicPr>
          <p:cNvPr id="17" name="Image 1" descr="/sessions/festive-admiring-rubin/mnt/outputs/formulas/f1_a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59736"/>
            <a:ext cx="3913632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56048" y="2798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thông điệp từ toàn bộ lân cận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46320" y="3099816"/>
            <a:ext cx="4023360" cy="804672"/>
          </a:xfrm>
          <a:prstGeom prst="rect">
            <a:avLst/>
          </a:prstGeom>
          <a:solidFill>
            <a:srgbClr val="F1F5F9"/>
          </a:solidFill>
          <a:ln w="22860">
            <a:solidFill>
              <a:srgbClr val="065A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56048" y="31363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Update (cập nhật)</a:t>
            </a:r>
            <a:endParaRPr lang="en-US" sz="1100" dirty="0"/>
          </a:p>
        </p:txBody>
      </p:sp>
      <p:pic>
        <p:nvPicPr>
          <p:cNvPr id="21" name="Image 2" descr="/sessions/festive-admiring-rubin/mnt/outputs/formulas/f2_up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337560"/>
            <a:ext cx="3913632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56048" y="3675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thông tin cũ + thông điệp mới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46320" y="3977640"/>
            <a:ext cx="4023360" cy="804672"/>
          </a:xfrm>
          <a:prstGeom prst="rect">
            <a:avLst/>
          </a:prstGeom>
          <a:solidFill>
            <a:srgbClr val="F1F5F9"/>
          </a:solidFill>
          <a:ln w="22860">
            <a:solidFill>
              <a:srgbClr val="02C39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56048" y="40142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— Predict (dự đoán)</a:t>
            </a:r>
            <a:endParaRPr lang="en-US" sz="1100" dirty="0"/>
          </a:p>
        </p:txBody>
      </p:sp>
      <p:pic>
        <p:nvPicPr>
          <p:cNvPr id="25" name="Image 3" descr="/sessions/festive-admiring-rubin/mnt/outputs/formulas/f3_p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215384"/>
            <a:ext cx="3913632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56048" y="45537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đỉnh / tác vụ đầu cuối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Lan Truyền Qua Từng Tầng GNN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2651760" cy="3840480"/>
          </a:xfrm>
          <a:prstGeom prst="rect">
            <a:avLst/>
          </a:prstGeom>
          <a:solidFill>
            <a:srgbClr val="F8FAFB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41248"/>
            <a:ext cx="2651760" cy="347472"/>
          </a:xfrm>
          <a:prstGeom prst="rect">
            <a:avLst/>
          </a:prstGeom>
          <a:solidFill>
            <a:srgbClr val="5A6A7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0 — Khởi tạo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2148840"/>
            <a:ext cx="9144" cy="548640"/>
          </a:xfrm>
          <a:prstGeom prst="line">
            <a:avLst/>
          </a:prstGeom>
          <a:noFill/>
          <a:ln w="25400">
            <a:solidFill>
              <a:srgbClr val="D8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97480"/>
            <a:ext cx="548640" cy="9144"/>
          </a:xfrm>
          <a:prstGeom prst="line">
            <a:avLst/>
          </a:prstGeom>
          <a:noFill/>
          <a:ln w="25400">
            <a:solidFill>
              <a:srgbClr val="D8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697480"/>
            <a:ext cx="9144" cy="548640"/>
          </a:xfrm>
          <a:prstGeom prst="line">
            <a:avLst/>
          </a:prstGeom>
          <a:noFill/>
          <a:ln w="25400">
            <a:solidFill>
              <a:srgbClr val="D8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697480"/>
            <a:ext cx="548640" cy="9144"/>
          </a:xfrm>
          <a:prstGeom prst="line">
            <a:avLst/>
          </a:prstGeom>
          <a:noFill/>
          <a:ln w="25400">
            <a:solidFill>
              <a:srgbClr val="D8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4168" y="1984248"/>
            <a:ext cx="329184" cy="329184"/>
          </a:xfrm>
          <a:prstGeom prst="ellipse">
            <a:avLst/>
          </a:prstGeom>
          <a:solidFill>
            <a:srgbClr val="B8C4CB"/>
          </a:solidFill>
          <a:ln w="22860">
            <a:solidFill>
              <a:srgbClr val="B8C4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41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92808" y="2532888"/>
            <a:ext cx="329184" cy="329184"/>
          </a:xfrm>
          <a:prstGeom prst="ellipse">
            <a:avLst/>
          </a:prstGeom>
          <a:solidFill>
            <a:srgbClr val="B8C4CB"/>
          </a:solidFill>
          <a:ln w="22860">
            <a:solidFill>
              <a:srgbClr val="B8C4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44168" y="3081528"/>
            <a:ext cx="329184" cy="329184"/>
          </a:xfrm>
          <a:prstGeom prst="ellipse">
            <a:avLst/>
          </a:prstGeom>
          <a:solidFill>
            <a:srgbClr val="B8C4CB"/>
          </a:solidFill>
          <a:ln w="22860">
            <a:solidFill>
              <a:srgbClr val="B8C4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5528" y="2532888"/>
            <a:ext cx="329184" cy="329184"/>
          </a:xfrm>
          <a:prstGeom prst="ellipse">
            <a:avLst/>
          </a:prstGeom>
          <a:solidFill>
            <a:srgbClr val="B8C4CB"/>
          </a:solidFill>
          <a:ln w="22860">
            <a:solidFill>
              <a:srgbClr val="B8C4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9304" y="2478024"/>
            <a:ext cx="438912" cy="43891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9304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" y="4407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chỉ biết chính mình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841248"/>
            <a:ext cx="2651760" cy="3840480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841248"/>
            <a:ext cx="2651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 — Aggregate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34840" y="2148840"/>
            <a:ext cx="9144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2697480"/>
            <a:ext cx="54864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697480"/>
            <a:ext cx="9144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86200" y="2697480"/>
            <a:ext cx="54864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0248" y="198424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18888" y="253288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70248" y="308152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0248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21608" y="253288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15384" y="2478024"/>
            <a:ext cx="438912" cy="43891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15384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08960" y="4407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biết lân cận trực tiếp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841248"/>
            <a:ext cx="2651760" cy="3840480"/>
          </a:xfrm>
          <a:prstGeom prst="rect">
            <a:avLst/>
          </a:prstGeom>
          <a:solidFill>
            <a:srgbClr val="E8F8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841248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 — Mở rộng 2-hop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60920" y="2148840"/>
            <a:ext cx="9144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2697480"/>
            <a:ext cx="54864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920" y="2697480"/>
            <a:ext cx="9144" cy="548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2697480"/>
            <a:ext cx="54864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60920" y="1691640"/>
            <a:ext cx="9144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2697480"/>
            <a:ext cx="45720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60920" y="3246120"/>
            <a:ext cx="9144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5080" y="2697480"/>
            <a:ext cx="45720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96328" y="1527048"/>
            <a:ext cx="329184" cy="329184"/>
          </a:xfrm>
          <a:prstGeom prst="ellipse">
            <a:avLst/>
          </a:prstGeom>
          <a:solidFill>
            <a:srgbClr val="5BAFC9"/>
          </a:solidFill>
          <a:ln w="22860">
            <a:solidFill>
              <a:srgbClr val="5BAF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6328" y="1527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02168" y="2532888"/>
            <a:ext cx="329184" cy="329184"/>
          </a:xfrm>
          <a:prstGeom prst="ellipse">
            <a:avLst/>
          </a:prstGeom>
          <a:solidFill>
            <a:srgbClr val="5BAFC9"/>
          </a:solidFill>
          <a:ln w="22860">
            <a:solidFill>
              <a:srgbClr val="5BAF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0216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96328" y="3538728"/>
            <a:ext cx="329184" cy="329184"/>
          </a:xfrm>
          <a:prstGeom prst="ellipse">
            <a:avLst/>
          </a:prstGeom>
          <a:solidFill>
            <a:srgbClr val="5BAFC9"/>
          </a:solidFill>
          <a:ln w="22860">
            <a:solidFill>
              <a:srgbClr val="5BAFC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96328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0488" y="2532888"/>
            <a:ext cx="329184" cy="329184"/>
          </a:xfrm>
          <a:prstGeom prst="ellipse">
            <a:avLst/>
          </a:prstGeom>
          <a:solidFill>
            <a:srgbClr val="5BAFC9"/>
          </a:solidFill>
          <a:ln w="22860">
            <a:solidFill>
              <a:srgbClr val="5BAFC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048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96328" y="198424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9632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44968" y="253288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4496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96328" y="308152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96328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47688" y="2532888"/>
            <a:ext cx="329184" cy="329184"/>
          </a:xfrm>
          <a:prstGeom prst="ellipse">
            <a:avLst/>
          </a:prstGeom>
          <a:solidFill>
            <a:srgbClr val="1C7293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47688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41464" y="2478024"/>
            <a:ext cx="438912" cy="43891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41464" y="2478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126480" y="4169664"/>
            <a:ext cx="201168" cy="201168"/>
          </a:xfrm>
          <a:prstGeom prst="ellipse">
            <a:avLst/>
          </a:prstGeom>
          <a:solidFill>
            <a:srgbClr val="5BAFC9"/>
          </a:solidFill>
          <a:ln w="12700">
            <a:solidFill>
              <a:srgbClr val="5BAF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45936" y="4169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49440" y="416966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68896" y="4169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772400" y="416966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91856" y="4169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035040" y="4407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biết cấu trúc 2-hop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862072" y="2697480"/>
            <a:ext cx="219456" cy="9144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5788152" y="2697480"/>
            <a:ext cx="219456" cy="9144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Gặp Những Vấn Đề Gì Khi Mở Rộng Quy Mô?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724912" cy="2834640"/>
          </a:xfrm>
          <a:prstGeom prst="rect">
            <a:avLst/>
          </a:prstGeom>
          <a:solidFill>
            <a:srgbClr val="F0F4F8"/>
          </a:solidFill>
          <a:ln w="12700">
            <a:solidFill>
              <a:srgbClr val="8AA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42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Oversmoothing  [18]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468880" cy="0"/>
          </a:xfrm>
          <a:prstGeom prst="line">
            <a:avLst/>
          </a:prstGeom>
          <a:noFill/>
          <a:ln w="10160">
            <a:solidFill>
              <a:srgbClr val="8AAF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nhiều tầng, đặc trưng các đỉnh càng giống nhau — mạng không còn phân biệt được các đỉnh khác nhau.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72384" y="914400"/>
            <a:ext cx="2724912" cy="2834640"/>
          </a:xfrm>
          <a:prstGeom prst="rect">
            <a:avLst/>
          </a:prstGeom>
          <a:solidFill>
            <a:srgbClr val="F0F4F8"/>
          </a:solidFill>
          <a:ln w="12700">
            <a:solidFill>
              <a:srgbClr val="8AAF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42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Oversquashing  [19]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468880" cy="0"/>
          </a:xfrm>
          <a:prstGeom prst="line">
            <a:avLst/>
          </a:prstGeom>
          <a:noFill/>
          <a:ln w="10160">
            <a:solidFill>
              <a:srgbClr val="8AAF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72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từ xa bị nén qua "cổ chai" — mạng mất tín hiệu từ các đỉnh ở xa khi số tầng tăng.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88736" y="914400"/>
            <a:ext cx="2724912" cy="2834640"/>
          </a:xfrm>
          <a:prstGeom prst="rect">
            <a:avLst/>
          </a:prstGeom>
          <a:solidFill>
            <a:srgbClr val="EAF4FB"/>
          </a:solidFill>
          <a:ln w="317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042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Bùng nổ lân cận  [21]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16752" y="1463040"/>
            <a:ext cx="2468880" cy="0"/>
          </a:xfrm>
          <a:prstGeom prst="line">
            <a:avLst/>
          </a:prstGeom>
          <a:noFill/>
          <a:ln w="1016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572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đỉnh cần xử lý tăng theo cấp số nhân với số tầng → không thể huấn luyện trên đồ thị lớn.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3858768"/>
            <a:ext cx="8631936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58768"/>
            <a:ext cx="8375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này tập trung vào ③ </a:t>
            </a:r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Bùng nổ lân cận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thách thức scalability khi huấn luyện GNN trên đồ thị gợi ý quy mô lớn.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Bước Aggregate Gây Ra Bùng Nổ Lân Cận?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77824"/>
            <a:ext cx="8595360" cy="621792"/>
          </a:xfrm>
          <a:prstGeom prst="rect">
            <a:avLst/>
          </a:prstGeom>
          <a:solidFill>
            <a:srgbClr val="EAF4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tính h_v^(L) ở tầng L, Bước Aggregate phải đệ quy lấy thông tin từ lân cận qua từng tầng.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100584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6420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1664208"/>
            <a:ext cx="5120640" cy="749808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10" name="Image 0" descr="/sessions/festive-admiring-rubin/mnt/outputs/formulas/g1_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691640"/>
            <a:ext cx="5074920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6192" y="20939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cần h_u^(0) của tất cả lân cận trực tiếp của v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1755648"/>
            <a:ext cx="21031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755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  đỉnh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0352" y="24323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8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624328"/>
            <a:ext cx="100584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62432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417320" y="2624328"/>
            <a:ext cx="5120640" cy="749808"/>
          </a:xfrm>
          <a:prstGeom prst="rect">
            <a:avLst/>
          </a:prstGeom>
          <a:solidFill>
            <a:srgbClr val="F1F5F9"/>
          </a:solidFill>
          <a:ln w="19050">
            <a:solidFill>
              <a:srgbClr val="065A82"/>
            </a:solidFill>
            <a:prstDash val="solid"/>
          </a:ln>
        </p:spPr>
      </p:sp>
      <p:pic>
        <p:nvPicPr>
          <p:cNvPr id="18" name="Image 1" descr="/sessions/festive-admiring-rubin/mnt/outputs/formulas/g2_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2651760"/>
            <a:ext cx="5074920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36192" y="30540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h_u^(1) lại cần lân cận của u → mở rộng thêm một lớp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75120" y="2715768"/>
            <a:ext cx="21031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75120" y="2715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d̄²  đỉnh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30352" y="33924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8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74320" y="3584448"/>
            <a:ext cx="1005840" cy="749808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358444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L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417320" y="3584448"/>
            <a:ext cx="5120640" cy="749808"/>
          </a:xfrm>
          <a:prstGeom prst="rect">
            <a:avLst/>
          </a:prstGeom>
          <a:solidFill>
            <a:srgbClr val="F1F5F9"/>
          </a:solidFill>
          <a:ln w="19050">
            <a:solidFill>
              <a:srgbClr val="9B2226"/>
            </a:solidFill>
            <a:prstDash val="solid"/>
          </a:ln>
        </p:spPr>
      </p:sp>
      <p:pic>
        <p:nvPicPr>
          <p:cNvPr id="26" name="Image 2" descr="/sessions/festive-admiring-rubin/mnt/outputs/formulas/g3_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3611880"/>
            <a:ext cx="5074920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36192" y="40142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lũy tiến theo từng tầng → số đỉnh phụ thuộc = O(d̄ᴸ)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675120" y="3675888"/>
            <a:ext cx="2103120" cy="566928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675120" y="36758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O(d̄ᴸ)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Mini-batch 512 đỉnh, d̄=10, L=3  →  phải nạp ~512.000 đỉnh vào bộ nhớ — bùng nổ theo cấp số nhân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Bùng Nổ Lân Cận (Neighbor Explosion)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đây là vấn đề?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 tầng: tính h_v cần toàn bộ lân cận L-hop của v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đỉnh phụ thuộc tăng theo O(d̄ᴸ) — cấp số nhân với độ sâu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mini-batch nhỏ KHÔNG giúp giảm bộ nhớ nếu không có sampling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ogbn-arxiv (d̄≈13, L=3): mini-batch 512 đỉnh → ~1,2 triệu đỉnh phụ thuộc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3429000"/>
            <a:ext cx="4297680" cy="804672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429000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đỉnh phụ thuộc ~ O(d̄ᴸ)     GCN 4 tầng trên Amazon (2M đỉnh, 61M cạnh) [13]: OOM trên mọi phương pháp cũ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914400"/>
          <a:ext cx="40233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846320" y="4315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tầng, d̄=10: gần như phải nạp toàn bộ đồ thị cho một mini-batch nhỏ)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Nghiên Cứu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737360"/>
          </a:xfrm>
          <a:prstGeom prst="rect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 thể học được chính sách lấy mẫu đỉnh thích ứng — thay vì dùng heuristic tĩnh — để tối thiểu hóa chi phí bộ nhớ khi huấn luyện GNN mà vẫn giữ được chất lượng phân loại?"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lấy mẫu đỉnh thích ứng — phân loại đỉnh — đồ thị quy mô lớn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377440" cy="1097280"/>
          </a:xfrm>
          <a:prstGeom prst="rect">
            <a:avLst/>
          </a:prstGeom>
          <a:solidFill>
            <a:srgbClr val="0D3F5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được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heuristic cố định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657600"/>
            <a:ext cx="2377440" cy="1097280"/>
          </a:xfrm>
          <a:prstGeom prst="rect">
            <a:avLst/>
          </a:prstGeom>
          <a:solidFill>
            <a:srgbClr val="0D3F5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ứng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từng đồ thị &amp; tác vụ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377440" cy="1097280"/>
          </a:xfrm>
          <a:prstGeom prst="rect">
            <a:avLst/>
          </a:prstGeom>
          <a:solidFill>
            <a:srgbClr val="0D3F5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GPU thấp, ổn định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Các Phương Pháp Sampling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74904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0312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Nhóm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Đại diện tiêu biểu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Cơ chế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Hạn chế chính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Theo đỉnh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GraphSAGE [4], PinSage [6], VR-GCN [9]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k lân cận / đỉnh / tầng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Dư thừa, vẫn bùng nổ theo số tầng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Theo tầng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FastGCN [10], AS-GCN [11], LADIES [12]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Chọn k đỉnh dùng chung cho toàn bộ batch trong một tầng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AS-GCN: tốn bộ nhớ (attention), OOM đồ thị lớn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Theo đồ thị con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ClusterGCN [13], GraphSAINT [14]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Trích đồ thị con làm mini-batch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Cắt đứt cạnh giữa các cụm — mất thông tin kết nối quan trọng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Embedding lịch sử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GNNAutoScale (GAS) [15]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Tái dùng embedding cũ thay vì tính lại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Tốn bộ nhớ lưu trữ lớn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3D2A"/>
                          </a:solidFill>
                        </a:rPr>
                        <a:t>Thích ứng học được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3D2A"/>
                          </a:solidFill>
                        </a:rPr>
                        <a:t>GRAPES [28]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3D2A"/>
                          </a:solidFill>
                        </a:rPr>
                        <a:t>Học xác suất lấy mẫu theo mục tiêu tác vụ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3D2A"/>
                          </a:solidFill>
                        </a:rPr>
                        <a:t>Chi phí huấn luyện mạng lấy mẫu thứ hai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Khoảng trống: cần phương pháp lấy mẫu HỌC ĐƯỢC, thích ứng theo từng đồ thị và tác vụ cụ thể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GRAPES: Ý Tưởng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804672"/>
          </a:xfrm>
          <a:prstGeom prst="rect">
            <a:avLst/>
          </a:prstGeom>
          <a:solidFill>
            <a:srgbClr val="EAF4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huấn luyện một GNN thứ hai để HỌC xác suất lấy mẫu đỉnh, tối ưu trực tiếp theo mục tiêu tác vụ đầu cuối.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856232"/>
            <a:ext cx="2743200" cy="2926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27432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28800"/>
            <a:ext cx="274320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Thích Ứng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lấy mẫu học được từ mục tiêu tác vụ — điều chỉnh theo từng đồ thị cụ thể — vượt qua giới hạn của heuristic tĩnh (random, degree-based)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46120" y="1856232"/>
            <a:ext cx="2743200" cy="2926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828800"/>
            <a:ext cx="27432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828800"/>
            <a:ext cx="274320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28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Bộ Nhớ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bộ nhớ GPU ít hơn nhiều bậc so với GAS (embedding lịch sử). Chạy được trên đồ thị 2,4M đỉnh với chỉ 15GB VRAM (Tesla T4).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1856232"/>
            <a:ext cx="2743200" cy="2926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828800"/>
            <a:ext cx="27432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28800"/>
            <a:ext cx="274320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828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Bền Vững Mẫu Nhỏ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 trì hiệu năng tốt khi giảm kích thước mẫu theo cấp số mũ. Độ lệch chuẩn nhỏ nhất trong tất cả phương pháp so sánh.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GRAPES: Hai GNN Phối Hợp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377440" cy="2651760"/>
          </a:xfrm>
          <a:prstGeom prst="rect">
            <a:avLst/>
          </a:prstGeom>
          <a:solidFill>
            <a:srgbClr val="E8F4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3774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GCN_S  (Sampler)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Đồ thị G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Xác suất pᵢ cho từng đỉnh lân cận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GCN tiêu chuẩn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2148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24871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286000" cy="1508760"/>
          </a:xfrm>
          <a:prstGeom prst="rect">
            <a:avLst/>
          </a:prstGeom>
          <a:solidFill>
            <a:srgbClr val="FFF3CD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087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Gumbel Top-k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07568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 đỉnh quan trọng nhất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(khả vi hóa quá trình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sampling)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148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24871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377440" cy="2651760"/>
          </a:xfrm>
          <a:prstGeom prst="rect">
            <a:avLst/>
          </a:prstGeom>
          <a:solidFill>
            <a:srgbClr val="FDF0F0"/>
          </a:solidFill>
          <a:ln w="25400">
            <a:solidFill>
              <a:srgbClr val="9B22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960120"/>
            <a:ext cx="2377440" cy="512064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601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GCN_C  (Classifier)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1536192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Đồ thị con G_s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Dự đoán nhãn đỉnh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Tính: Loss L_C → reward cho GFlowNet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69480" y="3611880"/>
            <a:ext cx="0" cy="59436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4206240"/>
            <a:ext cx="5852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3611880"/>
            <a:ext cx="0" cy="59436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3840480"/>
            <a:ext cx="210312" cy="-2286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3611880"/>
            <a:ext cx="210312" cy="2286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4059936"/>
            <a:ext cx="4114800" cy="292608"/>
          </a:xfrm>
          <a:prstGeom prst="rect">
            <a:avLst/>
          </a:prstGeom>
          <a:solidFill>
            <a:srgbClr val="0A4D6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0599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GFlowNet: cập nhật GCN_S từ reward của L_C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8600" y="4681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biệt: lấy mẫu HỌC ĐƯỢC vs. heuristic tĩnh (random, degree-based)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GFlowNet: Subgraph Tốt Hơn → Được Chọn Nhiều Hơn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86968"/>
            <a:ext cx="8631936" cy="566928"/>
          </a:xfrm>
          <a:prstGeom prst="rect">
            <a:avLst/>
          </a:prstGeom>
          <a:solidFill>
            <a:srgbClr val="EAF4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học phân phối: </a:t>
            </a:r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P(G_s) ∝ R(G_s)</a:t>
            </a:r>
            <a:pPr algn="ctr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xác suất lấy mẫu subgraph tỷ lệ với chất lượng, không chỉ tìm max.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152704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3 subgraph khả thi — chất lượng: SG1=0,8  /  SG2=0,6  /  SG3=0,1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828800"/>
            <a:ext cx="4160520" cy="384048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828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Cũ: Chỉ Học 1 Cách Lấy Mẫu Duy Nhất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39776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✓: Học Nhiều Cách Lấy Mẫu Khác Nhau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2212848"/>
            <a:ext cx="4160520" cy="2560320"/>
          </a:xfrm>
          <a:prstGeom prst="rect">
            <a:avLst/>
          </a:prstGeom>
          <a:solidFill>
            <a:srgbClr val="FFF0F0"/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212848"/>
            <a:ext cx="3977640" cy="2560320"/>
          </a:xfrm>
          <a:prstGeom prst="rect">
            <a:avLst/>
          </a:prstGeom>
          <a:solidFill>
            <a:srgbClr val="E8F8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2816352"/>
            <a:ext cx="475488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281635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2660904"/>
            <a:ext cx="932688" cy="1417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1576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73352" y="4041648"/>
            <a:ext cx="932688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3785616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73352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35224" y="4041648"/>
            <a:ext cx="932688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3785616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35224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" y="43891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học 1 cách — bỏ lỡ SG2, SG3 dù cũng tốt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3327044"/>
            <a:ext cx="932688" cy="751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38190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44184" y="3511296"/>
            <a:ext cx="932688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356616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44184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0336" y="3979012"/>
            <a:ext cx="932688" cy="99212"/>
          </a:xfrm>
          <a:prstGeom prst="rect">
            <a:avLst/>
          </a:prstGeom>
          <a:solidFill>
            <a:srgbClr val="7EB5C5"/>
          </a:solidFill>
          <a:ln w="12700">
            <a:solidFill>
              <a:srgbClr val="7EB5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722980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0336" y="413308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43891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cả G_s², G_s³ — đa dạng, bền vững hơn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4773168"/>
            <a:ext cx="8631936" cy="320040"/>
          </a:xfrm>
          <a:prstGeom prst="rect">
            <a:avLst/>
          </a:prstGeom>
          <a:solidFill>
            <a:srgbClr val="031F3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773168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dùng TB Loss: </a:t>
            </a:r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L_TB = (log Z  +  log q(τ|V⁰)  +  α·L_C)²</a:t>
            </a:r>
            <a:pPr algn="ctr" indent="0" marL="0">
              <a:buNone/>
            </a:pPr>
            <a:r>
              <a:rPr lang="en-US" sz="11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GRAPES: </a:t>
            </a:r>
            <a:pPr algn="ctr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exp(−α·L_C)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&amp; Chính Sách Lấy Mẫu Phân Rã Theo Tầng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GFlowNet?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 chọn đỉnh chỉ là 0 hoặc 1 — không có giá trị ở giữa → mạng không tính được "nên điều chỉnh theo hướng nào" → không tự học được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học phân phối xác suất trên các tập con, tối ưu theo reward = L_C. Không yêu cầu khả vi đối với quá trình sampling.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Ổn định hơn REINFORCE (phương sai thấp hơn).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Khám phá đa dạng hơn trong không gian các tập con.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0" cy="4023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Phân Rã Theo Tầng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4023360" cy="749808"/>
          </a:xfrm>
          <a:prstGeom prst="rect">
            <a:avLst/>
          </a:prstGeom>
          <a:solidFill>
            <a:srgbClr val="EAF4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q(V¹,…,Vᴸ | V⁰) = Π_{l=1}^{L} q(Vˡ | V⁰,…,Vˡ⁻¹)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10058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94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194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V⁰ = tập đỉnh đích mini-batch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688336"/>
            <a:ext cx="10058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6883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GCN_S tính pᵢ cho lân cận của K⁽⁰⁾, chọn k đỉnh → V¹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3182112"/>
            <a:ext cx="10058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82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1821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GCN_S tính pᵢ cho lân cận của K⁽¹⁾, chọn k đỉnh → V²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3675888"/>
            <a:ext cx="10058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75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6758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K⁽ᴸ⁾ = V⁰ ∪ V¹ ∪ … ∪ Vᴸ (tích lũy qua từng tầng)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4169664"/>
            <a:ext cx="10058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169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41696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con G_s được nạp vào GCN_C để phân loại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Thực Nghiệm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Dataset Benchmark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206240" cy="1417320"/>
          </a:xfrm>
          <a:prstGeom prst="rect">
            <a:avLst/>
          </a:prstGeom>
          <a:solidFill>
            <a:srgbClr val="EAF4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Homophily (7 tập) — nút giống nhau thường kết nối nhau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 •  CiteSeer  •  PubMed  •  Reddit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ogbn-arxiv  •  ogbn-products  •  DBLP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206240" cy="1325880"/>
          </a:xfrm>
          <a:prstGeom prst="rect">
            <a:avLst/>
          </a:prstGeom>
          <a:solidFill>
            <a:srgbClr val="FFF0F0"/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71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Heterophily (5 tập) — nút khác nhau vẫn kết nối nhau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  •  snap-patents  •  Yelp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ogbn-proteins  •  BlogCat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Đánh Giá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4224528"/>
            <a:ext cx="4206240" cy="530352"/>
          </a:xfrm>
          <a:prstGeom prst="rect">
            <a:avLst/>
          </a:prstGeom>
          <a:solidFill>
            <a:srgbClr val="EAF4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22452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GRAPES-RL</a:t>
            </a:r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dùng REINFORCE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GRAPES-GFN</a:t>
            </a:r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thay bằng GFlowNet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353312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53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35331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đỉnh / batch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65376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653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mẫu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86537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đỉnh / tầng (tất cả pp)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77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lần chạy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3774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→ mean ± std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9504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(gốc)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8895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A6000 48 GB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015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(tái hiện)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40156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T4 15,6 GB (Colab)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913632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136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91363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Full-graph inference trên test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425696"/>
            <a:ext cx="1920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4256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4256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 / micro)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Đồ Thị Homophily (F1-score %)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3785616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234440"/>
                <a:gridCol w="1463040"/>
                <a:gridCol w="1600200"/>
                <a:gridCol w="13258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Phương pháp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Cora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Reddit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ogbn-arxiv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ogbn-products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DBLP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GAS (baseline)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87,00±0,19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94,75±0,04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68,36±0,55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74,69±0,14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83,08±0,31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FastGCN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76,17±3,98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62,93±3,28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39,49±8,04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66,09±3,04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62,93±3,28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LADIES ⚠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76,02±11,69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59,30±2,69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43,52±8,03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68,08±1,95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B35200"/>
                          </a:solidFill>
                        </a:rPr>
                        <a:t>59,97±10,45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AS-GCN *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85,60±0,54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93,52±0,40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65,38±1,80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E2012"/>
                          </a:solidFill>
                        </a:rPr>
                        <a:t>OOM ✗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83,24±0,51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82,03±0,07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E2012"/>
                          </a:solidFill>
                        </a:rPr>
                        <a:t>OOM ✗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58,32±0,05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E2012"/>
                          </a:solidFill>
                        </a:rPr>
                        <a:t>OOM ✗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54,40±2,31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86,58±0,33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94,16±0,06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61,35±0,32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70,47±0,32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76,87±0,24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GRAPES-RL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87,62±0,48 ①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94,09±0,05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62,58±0,64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71,45±0,20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76,88±0,33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GRAPES-GFN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87,29±0,32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94,30±0,06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61,86±0,51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70,66±0,30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77,14±0,48 ①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700016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= tốt nhất trong nhóm sampling   ⚠ = std rất cao (không ổn định)   * AS-GCN tốt nhất CiteSeer (79,21) &amp; PubMed (90,58)   Nguồn: Bảng 1, Younesian et al. TMLR 2024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Đồ Thị Heterophily (F1-score %)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417320"/>
                <a:gridCol w="1280160"/>
                <a:gridCol w="1600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Phương pháp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Flickr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snap-patents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Yelp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ogbn-proteins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BlogCat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GAS (baseline)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49,96±0,28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38,04±0,20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37,81±0,07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7,55±0,01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6,07±0,04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LADIES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47,19±3,42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29,09±1,88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18,92±3,18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4,31±0,11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6,74±0,67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GraphSAINT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48,01±1,44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28,01±0,57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34,68±0,70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9,94±0,07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6,89±0,96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AS-GCN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48,42±1,20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31,04±0,19 ①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38,51±1,45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5,20±0,36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5,43±0,54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49,39±0,23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29,74±0,34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40,63±0,13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10,82±0,05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7,13±0,97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GRAPES-RL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49,54±0,67 ①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29,16±0,54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40,69±0,55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11,78±0,14 ①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9,06±0,68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GRAPES-GFN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49,29±0,32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29,58±0,24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44,57±0,88 ①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11,57±0,18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3A25"/>
                          </a:solidFill>
                        </a:rPr>
                        <a:t>9,22±0,40 ①</a:t>
                      </a:r>
                      <a:endParaRPr lang="en-US" sz="10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65176" y="3822192"/>
            <a:ext cx="2724912" cy="11155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3794760"/>
            <a:ext cx="2724912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3794760"/>
            <a:ext cx="2724912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37947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4187952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đạt #1 trên 4/5 dataset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heterophily (RL: Flickr, ogbn-proteins;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GFN: Yelp, BlogCat)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91256" y="3822192"/>
            <a:ext cx="2724912" cy="11155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4680" y="3794760"/>
            <a:ext cx="2724912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794760"/>
            <a:ext cx="2724912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37947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46120" y="4187952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snap-patents: AS-GCN (31,04) dẫn đầu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không phải tốt nhất ở đây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17336" y="3822192"/>
            <a:ext cx="2724912" cy="11155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3794760"/>
            <a:ext cx="2724912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3794760"/>
            <a:ext cx="2724912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79476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4187952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thắng Flickr (49,96) nhưng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bộ nhớ lưu trữ N embedding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28600" y="4974336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A78"/>
                </a:solidFill>
              </a:rPr>
              <a:t>① = tốt nhất trong nhóm sampling   Nguồn: Bảng 2, Younesian et al. TMLR 2024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Tái Hiện Của Học Viên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868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tái hiện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133856"/>
            <a:ext cx="2816352" cy="93268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33856"/>
            <a:ext cx="2816352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33856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độc lập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408176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báo gốc dùng RTX A6000 49GB — môi trường không phổ biến. Cần xác nhận kết quả có tái hiện được trên phần cứng thực tế hơn (T4 15,6GB = ⅓ VRAM).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133856"/>
            <a:ext cx="2816352" cy="932688"/>
          </a:xfrm>
          <a:prstGeom prst="rect">
            <a:avLst/>
          </a:prstGeom>
          <a:solidFill>
            <a:srgbClr val="FFF8E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133856"/>
            <a:ext cx="281635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133856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scalability thực tế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5264" y="1408176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báo claim GRAPES scalable — nhưng chưa có con số OOM/không OOM trên phần cứng tiêu chuẩn. ogbn-products (2,4M đỉnh, 61,9M cạnh) là test case cực đoan.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1133856"/>
            <a:ext cx="2816352" cy="932688"/>
          </a:xfrm>
          <a:prstGeom prst="rect">
            <a:avLst/>
          </a:prstGeom>
          <a:solidFill>
            <a:srgbClr val="E8F8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133856"/>
            <a:ext cx="28163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133856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cho giai đoạn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1408176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hiện thành công = nắm rõ codebase (GCN_S, GFlowNet, Gumbel Top-k). Đây là điều kiện tiên quyết để mở rộng sang bài toán gợi ý ở giai đoạn 2.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139696"/>
            <a:ext cx="8631936" cy="2743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39696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trường: Google Colab  |  Tesla T4 15,6GB VRAM  |  PyTorch 2.11 + torch-geometric 2.7  |  4 datasets, 3 lần chạy/dataset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468880"/>
          <a:ext cx="8631936" cy="1536192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2322576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Phương pháp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Cora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CiteSeer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ogbn-arxiv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ogbn-products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86,77±0,38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79,00±0,82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61,28±0,29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GRAPES-GFN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87,10±0,17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78,57±0,71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62,04±0,31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3A25"/>
                          </a:solidFill>
                        </a:rPr>
                        <a:t>Chạy được (9/10 epoch)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Δ (GFN − Random)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B35"/>
                          </a:solidFill>
                        </a:rPr>
                        <a:t>+0,33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4F00"/>
                          </a:solidFill>
                        </a:rPr>
                        <a:t>−0,43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B35"/>
                          </a:solidFill>
                        </a:rPr>
                        <a:t>+0,76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B35"/>
                          </a:solidFill>
                        </a:rPr>
                        <a:t>Không OOM (15GB)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256032" y="4078224"/>
            <a:ext cx="8631936" cy="676656"/>
          </a:xfrm>
          <a:prstGeom prst="rect">
            <a:avLst/>
          </a:prstGeom>
          <a:solidFill>
            <a:srgbClr val="EAF4F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4078224"/>
            <a:ext cx="8375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quan trọng nhất: </a:t>
            </a:r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chạy không OOM trên ogbn-products (2,4M đỉnh, 61,9M cạnh) trên Tesla T4 15,6GB — bằng ⅓ VRAM bài báo gốc. 9/10 epoch ổn định. |Δ| ≤ 0,76 F1 → tái hiện xác nhận thành công.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Bộ Nhớ &amp; Thời Gian Thực Tế (Bảng 5.6)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trường: Google Colab  |  Tesla T4 15,6GB  |  Đo 3 lần, lấy trung bình ± độ lệch chuẩn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143560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Bộ Nhớ GPU &amp; Thời Gian Mỗi Epoch: GRAPES-GFN vs Random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764792"/>
          <a:ext cx="8686800" cy="1719072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737360"/>
                <a:gridCol w="1188720"/>
                <a:gridCol w="137160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Bộ nhớ GRAPES (MB)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Bộ nhớ Random (MB)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Tỉ lệ bộ nhớ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T. gian GRAPES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T. gian Random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Cora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65,8 ± 5,5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29,0 ± 0,5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B4F00"/>
                          </a:solidFill>
                        </a:rPr>
                        <a:t>2,3×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56 giây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31 giây (1,8×)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CiteSeer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120,6 ± 19,0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45,1 ± 2,7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B4F00"/>
                          </a:solidFill>
                        </a:rPr>
                        <a:t>2,7×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95 giây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56 giây (1,7×)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ogbn-arxiv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59,3 ± 9,5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18,7 ± 0,1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3,2×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11.114 giây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3A25"/>
                          </a:solidFill>
                        </a:rPr>
                        <a:t>8.133 giây (1,4×)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584448"/>
            <a:ext cx="8686800" cy="804672"/>
          </a:xfrm>
          <a:prstGeom prst="rect">
            <a:avLst/>
          </a:prstGeom>
          <a:solidFill>
            <a:srgbClr val="EAF4F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58444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của lấy mẫu thích ứng: </a:t>
            </a:r>
            <a:pPr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tốn thêm 2,3–3,2× bộ nhớ và 1,4–1,8× thời gian so với Random do phải duy trì mạng lấy mẫu GCN_S song song. Đây là đánh đổi cần cân nhắc khi triển khai trên hệ thống bị giới hạn tài nguyên.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28600" y="4443984"/>
            <a:ext cx="8686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44398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ogbn-products (2,4M đỉnh, 61,9M cạnh): 9/10 epoch hoàn thành trên T4 15,6GB — không OOM dù chỉ bằng 1/3 VRAM RTX A6000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Ưu Điểm &amp; Nhược Điểm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Ưu Điểm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417320"/>
            <a:ext cx="42062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mẫu THÍCH ỨNG học được — tổng quát hóa tốt hơn giữa các đồ thị và tác vụ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được trên đồ thị hàng triệu đỉnh — nơi full-graph GCN và GAS bị OOM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Bền vững khi kích thước mẫu giảm mạnh — độ lệch chuẩn nhỏ nhất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biệt hiệu quả trên heterophily đa nhãn (#1 trên 4/5 dataset)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0" cy="28803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Nhược Điểm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42062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huấn luyện tăng thêm do mạng lấy mẫu GCN_S thứ hai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định GFlowNet — nhạy cảm với thiết kế hàm phần thưởng và siêu tham số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đánh giá node classification — chưa kiểm chứng trên link prediction / gợi ý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mẫu đỉnh — chưa kiểm soát trực tiếp số cạnh, có thể là nút thắt trên đồ thị dày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8600" y="4005072"/>
            <a:ext cx="8686800" cy="822960"/>
          </a:xfrm>
          <a:prstGeom prst="rect">
            <a:avLst/>
          </a:prstGeom>
          <a:solidFill>
            <a:srgbClr val="EAF4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là bước tiến theo hướng lấy mẫu thích ứng có cơ sở lý thuyết. Scalability so với full-graph training là điểm mạnh rõ ràng; đánh đổi là chi phí cao hơn so với sampling đơn giản. Các nhược điểm chính là xuất phát điểm cho 3 hướng nghiên cứu tiếp theo.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4D62"/>
          </a:solidFill>
          <a:ln w="12700">
            <a:solidFill>
              <a:srgbClr val="0A4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1 — Áp Dụng Cho Hệ Thống Gợi Ý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816352" cy="3895344"/>
          </a:xfrm>
          <a:prstGeom prst="rect">
            <a:avLst/>
          </a:prstGeom>
          <a:solidFill>
            <a:srgbClr val="082840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14400"/>
            <a:ext cx="281635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hướng này?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chỉ kiểm chứng trên node classification — bài báo gốc chưa bao giờ test recommendation.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gợi ý là ứng dụng GNN phổ biến nhất trong thực tế (Spotify, Amazon, Pinterest).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báo GRAPES xác nhận: phương pháp "applicable to link prediction tasks".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 đo được ở giai đoạn 1 (chi phí sampling) cần được kiểm chứng trên bài toán thực tế hơn.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3824" y="914400"/>
            <a:ext cx="2816352" cy="3895344"/>
          </a:xfrm>
          <a:prstGeom prst="rect">
            <a:avLst/>
          </a:prstGeom>
          <a:solidFill>
            <a:srgbClr val="082840"/>
          </a:solidFill>
          <a:ln w="2286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914400"/>
            <a:ext cx="281635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cụ thể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3552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Đầu vào: đồ thị hai phía G = (U ∪ I, E) thay đồ thị đồng nhất.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3552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GCN_C: thay Softmax bằng BPR Loss — chuẩn cho link prediction.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Reward GFlowNet: R = exp(−α · L_BPR).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GCN_S + GFlowNet: giữ nguyên hoàn toàn — đây là đóng góp cốt lõi của GRAPES.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914400"/>
            <a:ext cx="2816352" cy="3895344"/>
          </a:xfrm>
          <a:prstGeom prst="rect">
            <a:avLst/>
          </a:prstGeom>
          <a:solidFill>
            <a:srgbClr val="082840"/>
          </a:solidFill>
          <a:ln w="22860">
            <a:solidFill>
              <a:srgbClr val="1A8C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914400"/>
            <a:ext cx="2816352" cy="347472"/>
          </a:xfrm>
          <a:prstGeom prst="rect">
            <a:avLst/>
          </a:prstGeom>
          <a:solidFill>
            <a:srgbClr val="1A8C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khả thi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Codebase GRAPES nắm rõ từ giai đoạn 1 — không cần viết lại.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Amazon Reviews'23 public, metadata đầy đủ, chuẩn benchmark.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BPR Loss: 5 dòng PyTorch, đã có trong mọi GNN recommendation repo.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Baselines: LightGCN, NGCF, PinSage đều open-source, PyG.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4D62"/>
          </a:solidFill>
          <a:ln w="12700">
            <a:solidFill>
              <a:srgbClr val="0A4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2 — Khi Nào Nên Dùng GRAPES?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816352" cy="3895344"/>
          </a:xfrm>
          <a:prstGeom prst="rect">
            <a:avLst/>
          </a:prstGeom>
          <a:solidFill>
            <a:srgbClr val="1A0E04"/>
          </a:solidFill>
          <a:ln w="22860">
            <a:solidFill>
              <a:srgbClr val="B55A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14400"/>
            <a:ext cx="2816352" cy="347472"/>
          </a:xfrm>
          <a:prstGeom prst="rect">
            <a:avLst/>
          </a:prstGeom>
          <a:solidFill>
            <a:srgbClr val="B55A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hướng này?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12 dataset, không có quy luật chung. Người dùng hiện tại phải thử-sai — tốn thời gian và tài nguyên.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dao động từ −3,7 (GRAPES tệ hơn) đến +3,0 (GRAPES tốt hơn) — không thể đoán được.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hướng dẫn thực hành: "nên dùng GRAPES khi đồ thị có đặc trưng gì?"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đã có sẵn từ giai đoạn 1 → cơ hội phân tích ngay.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3824" y="914400"/>
            <a:ext cx="2816352" cy="3895344"/>
          </a:xfrm>
          <a:prstGeom prst="rect">
            <a:avLst/>
          </a:prstGeom>
          <a:solidFill>
            <a:srgbClr val="1A0E04"/>
          </a:solidFill>
          <a:ln w="2286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914400"/>
            <a:ext cx="281635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cụ thể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3552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Trích đặc trưng đồ thị từ 12 dataset: homophily ratio, bậc TB, phương sai bậc, số lớp nhãn.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3552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Tính ΔF1 = F1_GRAPES − F1_Random trên từng dataset.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Tìm tương quan (Pearson, Spearman) giữa đặc trưng và ΔF1.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Xây dựng decision rule: "nếu homophily &lt; 0.3 → dùng GRAPES".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914400"/>
            <a:ext cx="2816352" cy="3895344"/>
          </a:xfrm>
          <a:prstGeom prst="rect">
            <a:avLst/>
          </a:prstGeom>
          <a:solidFill>
            <a:srgbClr val="1A0E04"/>
          </a:solidFill>
          <a:ln w="22860">
            <a:solidFill>
              <a:srgbClr val="1A8C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914400"/>
            <a:ext cx="2816352" cy="347472"/>
          </a:xfrm>
          <a:prstGeom prst="rect">
            <a:avLst/>
          </a:prstGeom>
          <a:solidFill>
            <a:srgbClr val="1A8C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khả thi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12 datasets + kết quả F1 đã có từ giai đoạn 1.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Không cần train mới — chỉ phân tích thống kê.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Công cụ: pandas, scipy, sklearn — không cần GPU.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Khối lượng nhỏ: ước tính 2–3 tuần phân tích.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4D62"/>
          </a:solidFill>
          <a:ln w="12700">
            <a:solidFill>
              <a:srgbClr val="0A4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3 — Tối Ưu Cho Đồ Thị Kết Nối Đa Dạng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816352" cy="3895344"/>
          </a:xfrm>
          <a:prstGeom prst="rect">
            <a:avLst/>
          </a:prstGeom>
          <a:solidFill>
            <a:srgbClr val="1A0505"/>
          </a:solidFill>
          <a:ln w="22860">
            <a:solidFill>
              <a:srgbClr val="88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14400"/>
            <a:ext cx="2816352" cy="347472"/>
          </a:xfrm>
          <a:prstGeom prst="rect">
            <a:avLst/>
          </a:prstGeom>
          <a:solidFill>
            <a:srgbClr val="8820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hướng này?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xếp hạng #1 trên 4/5 heterophily dataset — rõ ràng có lợi thế trên loại đồ thị này.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tổng hợp thông tin đồng đều từ mọi lân cận → mất tín hiệu phân biệt trên heterophily.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hỏi: nếu thay GCN_C bằng kiến trúc phù hợp heterophily hơn, GRAPES có cải thiện thêm không?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xung đột với GCN_S và GFlowNet — thay module độc lập.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3824" y="914400"/>
            <a:ext cx="2816352" cy="3895344"/>
          </a:xfrm>
          <a:prstGeom prst="rect">
            <a:avLst/>
          </a:prstGeom>
          <a:solidFill>
            <a:srgbClr val="1A0505"/>
          </a:solidFill>
          <a:ln w="22860">
            <a:solidFill>
              <a:srgbClr val="9B22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914400"/>
            <a:ext cx="2816352" cy="347472"/>
          </a:xfrm>
          <a:prstGeom prst="rect">
            <a:avLst/>
          </a:prstGeom>
          <a:solidFill>
            <a:srgbClr val="9B22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cụ thể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3552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Bước 1: thay GCN_C bằng GAT (Graph Attention Network) — học trọng số lân cận.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3552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Test trên 5 heterophily: BlogCat, Yelp, ogbn-proteins, snap-patents, Penn94.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Đo ΔF1 so với GCN_C baseline trong cùng framework GRAPES.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Bước 2: nếu tốt → thử H2GCN, FAGCN, MixHop.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914400"/>
            <a:ext cx="2816352" cy="3895344"/>
          </a:xfrm>
          <a:prstGeom prst="rect">
            <a:avLst/>
          </a:prstGeom>
          <a:solidFill>
            <a:srgbClr val="1A0505"/>
          </a:solidFill>
          <a:ln w="22860">
            <a:solidFill>
              <a:srgbClr val="1A8C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914400"/>
            <a:ext cx="2816352" cy="347472"/>
          </a:xfrm>
          <a:prstGeom prst="rect">
            <a:avLst/>
          </a:prstGeom>
          <a:solidFill>
            <a:srgbClr val="1A8C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9144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khả thi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1344" y="133502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GAT có sẵn trong PyTorch Geometric (2 dòng import).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13969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GCN_C là module độc lập trong codebase — thay thế không ảnh hưởng GCN_S.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29443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5 heterophily datasets đã được setup ở giai đoạn 1.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749040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Rủi ro thấp: nếu GAT không cải thiện, kết quả đó tự nó là đóng góp mới.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2: GRAPES Áp Dụng Cho Hệ Thống Gợi 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Dữ Liệu: Amazon Reviews'23 (McAuley Lab, UCSD)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80160"/>
            <a:ext cx="4206240" cy="1737360"/>
          </a:xfrm>
          <a:prstGeom prst="rect">
            <a:avLst/>
          </a:prstGeom>
          <a:solidFill>
            <a:srgbClr val="EAF4FB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80160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8016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16152" y="1280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47672" y="128016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#Item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12801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#Rating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280160"/>
            <a:ext cx="941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1591056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591056"/>
            <a:ext cx="92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52728" y="1591056"/>
            <a:ext cx="694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84248" y="159105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34056" y="1591056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57016" y="1591056"/>
            <a:ext cx="905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bản, thưa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066544"/>
            <a:ext cx="4206240" cy="475488"/>
          </a:xfrm>
          <a:prstGeom prst="rect">
            <a:avLst/>
          </a:prstGeom>
          <a:solidFill>
            <a:srgbClr val="F0F7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066544"/>
            <a:ext cx="92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52728" y="2066544"/>
            <a:ext cx="694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84248" y="206654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34056" y="2066544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57016" y="2066544"/>
            <a:ext cx="905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542032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542032"/>
            <a:ext cx="92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52728" y="2542032"/>
            <a:ext cx="694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84248" y="254203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34056" y="2542032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57016" y="2542032"/>
            <a:ext cx="905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cao, dày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" y="30540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Amazon Reviews'23 — arXiv:2403.03952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3310128"/>
            <a:ext cx="4206240" cy="731520"/>
          </a:xfrm>
          <a:prstGeom prst="rect">
            <a:avLst/>
          </a:prstGeom>
          <a:solidFill>
            <a:srgbClr val="FFF8E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31012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chọn: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thực tế (10–23M user), metadata đầy đủ, chuẩn benchmark cho GNN recommendation. Span: May 1996 – Sep 2023.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0016" y="886968"/>
            <a:ext cx="0" cy="39136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914400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Nghi Kiến Trúc GRAPES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1335024"/>
            <a:ext cx="82296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33502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 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87568" y="1335024"/>
            <a:ext cx="1463040" cy="658368"/>
          </a:xfrm>
          <a:prstGeom prst="rect">
            <a:avLst/>
          </a:prstGeom>
          <a:solidFill>
            <a:srgbClr val="FFF0F0"/>
          </a:solidFill>
          <a:ln w="1016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133502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đồng nhất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 classif.)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78040" y="1664208"/>
            <a:ext cx="256032" cy="914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7470648" y="1335024"/>
            <a:ext cx="1417320" cy="658368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0648" y="133502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hai phía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∪ Item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28032" y="2084832"/>
            <a:ext cx="82296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08483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87568" y="2084832"/>
            <a:ext cx="1463040" cy="658368"/>
          </a:xfrm>
          <a:prstGeom prst="rect">
            <a:avLst/>
          </a:prstGeom>
          <a:solidFill>
            <a:srgbClr val="FFF0F0"/>
          </a:solidFill>
          <a:ln w="10160">
            <a:solidFill>
              <a:srgbClr val="D0D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208483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loss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(phân loại đỉnh)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78040" y="2414016"/>
            <a:ext cx="256032" cy="914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7470648" y="2084832"/>
            <a:ext cx="1417320" cy="658368"/>
          </a:xfrm>
          <a:prstGeom prst="rect">
            <a:avLst/>
          </a:prstGeom>
          <a:solidFill>
            <a:srgbClr val="EBF5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70648" y="208483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Loss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 prediction)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28032" y="2834640"/>
            <a:ext cx="82296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8346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87568" y="2834640"/>
            <a:ext cx="1463040" cy="658368"/>
          </a:xfrm>
          <a:prstGeom prst="rect">
            <a:avLst/>
          </a:prstGeom>
          <a:solidFill>
            <a:srgbClr val="FFF0F0"/>
          </a:solidFill>
          <a:ln w="10160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28346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exp(−α·L_C)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78040" y="3163824"/>
            <a:ext cx="256032" cy="914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7470648" y="2834640"/>
            <a:ext cx="1417320" cy="658368"/>
          </a:xfrm>
          <a:prstGeom prst="rect">
            <a:avLst/>
          </a:prstGeom>
          <a:solidFill>
            <a:srgbClr val="EBF5F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0648" y="28346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exp(−α·L_BPR)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28032" y="3584448"/>
            <a:ext cx="82296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5844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87568" y="3584448"/>
            <a:ext cx="1463040" cy="658368"/>
          </a:xfrm>
          <a:prstGeom prst="rect">
            <a:avLst/>
          </a:prstGeom>
          <a:solidFill>
            <a:srgbClr val="FFF0F0"/>
          </a:solidFill>
          <a:ln w="10160">
            <a:solidFill>
              <a:srgbClr val="D0D0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35844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178040" y="3913632"/>
            <a:ext cx="256032" cy="914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7470648" y="3584448"/>
            <a:ext cx="1417320" cy="658368"/>
          </a:xfrm>
          <a:prstGeom prst="rect">
            <a:avLst/>
          </a:prstGeom>
          <a:solidFill>
            <a:srgbClr val="EBF5FB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70648" y="35844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28032" y="4370832"/>
            <a:ext cx="4059936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437083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GCN_S (Sampler) và GFlowNet giữ nguyên — chỉ thích nghi 3 thành phần trên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Triển Khai Giai Đoạn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63824" y="841248"/>
            <a:ext cx="1440180" cy="274320"/>
          </a:xfrm>
          <a:prstGeom prst="rect">
            <a:avLst/>
          </a:prstGeom>
          <a:solidFill>
            <a:srgbClr val="E8F4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63824" y="841248"/>
            <a:ext cx="1440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04004" y="841248"/>
            <a:ext cx="1440180" cy="274320"/>
          </a:xfrm>
          <a:prstGeom prst="rect">
            <a:avLst/>
          </a:prstGeom>
          <a:solidFill>
            <a:srgbClr val="F0FAF5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4004" y="841248"/>
            <a:ext cx="1440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44184" y="841248"/>
            <a:ext cx="1440180" cy="274320"/>
          </a:xfrm>
          <a:prstGeom prst="rect">
            <a:avLst/>
          </a:prstGeom>
          <a:solidFill>
            <a:srgbClr val="FFF5E8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44184" y="841248"/>
            <a:ext cx="1440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84364" y="841248"/>
            <a:ext cx="1440180" cy="274320"/>
          </a:xfrm>
          <a:prstGeom prst="rect">
            <a:avLst/>
          </a:prstGeom>
          <a:solidFill>
            <a:srgbClr val="F5E8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84364" y="841248"/>
            <a:ext cx="1440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3.5–4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63824" y="1115568"/>
            <a:ext cx="9144" cy="33832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111556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4004" y="1115568"/>
            <a:ext cx="9144" cy="33832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2836" y="111556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44184" y="1115568"/>
            <a:ext cx="9144" cy="33832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3016" y="111556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84364" y="1115568"/>
            <a:ext cx="9144" cy="33832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3196" y="111556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24544" y="1115568"/>
            <a:ext cx="9144" cy="3383280"/>
          </a:xfrm>
          <a:prstGeom prst="line">
            <a:avLst/>
          </a:prstGeom>
          <a:noFill/>
          <a:ln w="1016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3376" y="111556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1353312"/>
            <a:ext cx="8668512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146304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138074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tiền xử lý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1618488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Reviews'23 | 5-core filter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63824" y="1435608"/>
            <a:ext cx="863537" cy="33832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1435608"/>
            <a:ext cx="790385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tuần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1883664"/>
            <a:ext cx="866851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199339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191109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đồ thị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2148840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User–Item bipartite | Split 80/10/10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63937" y="1965960"/>
            <a:ext cx="503491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2224" y="1965960"/>
            <a:ext cx="466915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ngày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414016"/>
            <a:ext cx="8668512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2523744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244144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nghi GCN_C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2679192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Loss | Bipartite embedding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04004" y="2496312"/>
            <a:ext cx="1223582" cy="33832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8868" y="2496312"/>
            <a:ext cx="11138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tuần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6032" y="2944368"/>
            <a:ext cx="866851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3054096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3054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2971800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Reward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320954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exp(−α·L_BPR) | TB Loss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64162" y="3026664"/>
            <a:ext cx="863537" cy="338328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0738" y="3026664"/>
            <a:ext cx="790385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tuần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3474720"/>
            <a:ext cx="8668512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3584448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502152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Baselines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" y="3739896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LightGCN, NGCF, PinSage | Random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64274" y="3557016"/>
            <a:ext cx="863537" cy="338328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00850" y="3557016"/>
            <a:ext cx="790385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tuần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" y="4005072"/>
            <a:ext cx="8668512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2608" y="4114800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" y="403250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Báo cáo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0080" y="4270248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NDCG@K | Bộ nhớ &amp; thời gian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664387" y="4087368"/>
            <a:ext cx="1223582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9251" y="4087368"/>
            <a:ext cx="11138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tuần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56032" y="4535424"/>
            <a:ext cx="866851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4535424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thời gian dự kiến: 3.5 – 4 tháng   (≈ 16 tuần)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 Chi Tiết: GRAPES Cho Hệ Thống Gợi 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877824"/>
            <a:ext cx="5559552" cy="457200"/>
          </a:xfrm>
          <a:prstGeom prst="rect">
            <a:avLst/>
          </a:prstGeom>
          <a:solidFill>
            <a:srgbClr val="FFF9F0"/>
          </a:solidFill>
          <a:ln w="2286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877824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Tiền xử lý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5-core filter (user/item ≥ 5 tương tác)   |   Timestamp split: train 80% / val 10% / test 10%   |   ID mapping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80944" y="1335024"/>
            <a:ext cx="9144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1168" y="1463040"/>
            <a:ext cx="5559552" cy="457200"/>
          </a:xfrm>
          <a:prstGeom prst="rect">
            <a:avLst/>
          </a:prstGeom>
          <a:solidFill>
            <a:srgbClr val="EBF5FB"/>
          </a:solidFill>
          <a:ln w="2286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63040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Đồ thị hai phía  G = (U ∪ I, E)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Đỉnh: User + Item   |   Cạnh: tương tác rating   |   |V| = |U|+|I|,  |E| = #ratings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80944" y="1920240"/>
            <a:ext cx="9144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01168" y="2048256"/>
            <a:ext cx="5559552" cy="457200"/>
          </a:xfrm>
          <a:prstGeom prst="rect">
            <a:avLst/>
          </a:prstGeom>
          <a:solidFill>
            <a:srgbClr val="F3F6F9"/>
          </a:solidFill>
          <a:ln w="15240">
            <a:solidFill>
              <a:srgbClr val="5A6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048256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Mini-batch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⊂ U  (|B| = 512 users)   →   xác định L-hop neighborhood N^L(B)   →   tập ứng viên lân cận 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80944" y="2505456"/>
            <a:ext cx="9144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01168" y="2633472"/>
            <a:ext cx="5559552" cy="457200"/>
          </a:xfrm>
          <a:prstGeom prst="rect">
            <a:avLst/>
          </a:prstGeom>
          <a:solidFill>
            <a:srgbClr val="E5F0FF"/>
          </a:solidFill>
          <a:ln w="317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633472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GCN_S — Sampler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h_v^(0) ∀v ∈ C   →   2-layer GCN   →   p_v ∈ [0,1]  (xác suất quan trọng mỗi ứng viên)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80944" y="3090672"/>
            <a:ext cx="9144" cy="201168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310896" y="3099816"/>
            <a:ext cx="5340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Gumbel Top-k — làm mượt phép chọn rời rạc bằng nhiễu Gumbel để gradient truyền ngược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3291840"/>
            <a:ext cx="5559552" cy="457200"/>
          </a:xfrm>
          <a:prstGeom prst="rect">
            <a:avLst/>
          </a:prstGeom>
          <a:solidFill>
            <a:srgbClr val="E8F8F5"/>
          </a:solidFill>
          <a:ln w="2286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3291840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G_s — Sampled Subgraph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đỉnh quan trọng nhất mỗi hop   |   kích thước cố định — không phụ thuộc bậc đỉnh d̄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80944" y="3749040"/>
            <a:ext cx="9144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01168" y="3877056"/>
            <a:ext cx="5559552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877056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GCN_C — Link Predictor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e_u · e_i = ŷ_ui   |   </a:t>
            </a:r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L_BPR = −∑ log σ(ŷ_u,i⁺ − ŷ_u,i⁻)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80944" y="4334256"/>
            <a:ext cx="9144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01168" y="4462272"/>
            <a:ext cx="5559552" cy="457200"/>
          </a:xfrm>
          <a:prstGeom prst="rect">
            <a:avLst/>
          </a:prstGeom>
          <a:solidFill>
            <a:srgbClr val="E8F8F5"/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4462272"/>
            <a:ext cx="5340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Đánh giá  </a:t>
            </a:r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  NDCG@K   Precision@K   |   Baselines: LightGCN, NGCF, PinSage, Random Sampling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98464" y="2633472"/>
            <a:ext cx="2907792" cy="2286000"/>
          </a:xfrm>
          <a:prstGeom prst="rect">
            <a:avLst/>
          </a:prstGeom>
          <a:solidFill>
            <a:srgbClr val="031F30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8464" y="2633472"/>
            <a:ext cx="2907792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8464" y="2633472"/>
            <a:ext cx="2907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GFlowNet Feedback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999232"/>
            <a:ext cx="265176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exp(−α · L_BPR)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Loss
</a:t>
            </a:r>
            <a:pPr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Z + log q(τ|V⁰)
  + α · L_BPR)²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Cập nhật θ của GCN_S
</a:t>
            </a:r>
            <a:pPr indent="0" marL="0">
              <a:buNone/>
            </a:pPr>
            <a:r>
              <a:rPr lang="en-US" sz="1100" dirty="0">
                <a:solidFill>
                  <a:srgbClr val="9C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subgraph tốt hơn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ở vòng lặp sau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79008" y="4105656"/>
            <a:ext cx="219456" cy="9144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779008" y="2862072"/>
            <a:ext cx="219456" cy="9144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  <a:headEnd type="arrow"/>
            <a:tailEnd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Triển Khai Giai Đoạn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631936" cy="530352"/>
          </a:xfrm>
          <a:prstGeom prst="rect">
            <a:avLst/>
          </a:prstGeom>
          <a:solidFill>
            <a:srgbClr val="F0F7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42416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42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tiền xử lý Amazon Reviews'23 (Books, Clothing, Electronics)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27264" y="1005840"/>
            <a:ext cx="98755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27264" y="100584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tuần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8631936" cy="530352"/>
          </a:xfrm>
          <a:prstGeom prst="rect">
            <a:avLst/>
          </a:prstGeom>
          <a:solidFill>
            <a:srgbClr val="F8FA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64592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51790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đồ thị hai phía user–item, 5-core filter, timestamp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27264" y="1609344"/>
            <a:ext cx="98755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264" y="160934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tuần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121408"/>
            <a:ext cx="8631936" cy="530352"/>
          </a:xfrm>
          <a:prstGeom prst="rect">
            <a:avLst/>
          </a:prstGeom>
          <a:solidFill>
            <a:srgbClr val="F0F7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249424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249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12140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nghi GCN_C → link predictor, thay Softmax bằng BPR Loss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27264" y="2212848"/>
            <a:ext cx="98755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221284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tuần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724912"/>
            <a:ext cx="8631936" cy="530352"/>
          </a:xfrm>
          <a:prstGeom prst="rect">
            <a:avLst/>
          </a:prstGeom>
          <a:solidFill>
            <a:srgbClr val="F8FA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85292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272491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kiểm thử reward: R = exp(−α·L_BPR) trong GFlowNet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27264" y="2816352"/>
            <a:ext cx="98755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81635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tuần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328416"/>
            <a:ext cx="8631936" cy="530352"/>
          </a:xfrm>
          <a:prstGeom prst="rect">
            <a:avLst/>
          </a:prstGeom>
          <a:solidFill>
            <a:srgbClr val="F0F7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45643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332841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baselines: LightGCN, NGCF, PinSage, Random Sampling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27264" y="3419856"/>
            <a:ext cx="98755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7264" y="341985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tuần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931920"/>
            <a:ext cx="8631936" cy="530352"/>
          </a:xfrm>
          <a:prstGeom prst="rect">
            <a:avLst/>
          </a:prstGeom>
          <a:solidFill>
            <a:srgbClr val="F8FA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059936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059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39319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Recall@K / NDCG@K, phân tích bộ nhớ &amp; thời gian, viết báo cáo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27264" y="4023360"/>
            <a:ext cx="98755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402336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tuần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553712"/>
            <a:ext cx="8631936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553712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dự kiến: 3.5 – 4 tháng   |   Công cụ: PyTorch Geometric, DGL, Amazon Reviews'23 API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28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1F30"/>
          </a:solidFill>
          <a:ln w="12700">
            <a:solidFill>
              <a:srgbClr val="031F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0624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961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— Kết Quả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4206240" cy="512064"/>
          </a:xfrm>
          <a:prstGeom prst="rect">
            <a:avLst/>
          </a:prstGeom>
          <a:solidFill>
            <a:srgbClr val="0A2E4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61872"/>
            <a:ext cx="54864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28 công trình (NeurIPS, ICML, ICLR, TMLR — 2017–2024)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28800"/>
            <a:ext cx="4206240" cy="512064"/>
          </a:xfrm>
          <a:prstGeom prst="rect">
            <a:avLst/>
          </a:prstGeom>
          <a:solidFill>
            <a:srgbClr val="0A2E4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828800"/>
            <a:ext cx="54864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28800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hiện GRAPES trên 12 dataset (7 homophily + 5 heterophily)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395728"/>
            <a:ext cx="4206240" cy="512064"/>
          </a:xfrm>
          <a:prstGeom prst="rect">
            <a:avLst/>
          </a:prstGeom>
          <a:solidFill>
            <a:srgbClr val="0A2E4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95728"/>
            <a:ext cx="54864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95728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nhận: GRAPES-GFN vượt GRAPES-RL trên 10/12 dataset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962656"/>
            <a:ext cx="4206240" cy="512064"/>
          </a:xfrm>
          <a:prstGeom prst="rect">
            <a:avLst/>
          </a:prstGeom>
          <a:solidFill>
            <a:srgbClr val="0A2E4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962656"/>
            <a:ext cx="54864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62656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Amazon 2M đỉnh 61M cạnh — GAS/AS-GCN OOM, GRAPES chạy được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529584"/>
            <a:ext cx="4206240" cy="512064"/>
          </a:xfrm>
          <a:prstGeom prst="rect">
            <a:avLst/>
          </a:prstGeom>
          <a:solidFill>
            <a:srgbClr val="0A2E4A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529584"/>
            <a:ext cx="54864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29584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đổi: 2–3× bộ nhớ, 1.4–1.8× thời gian so với Random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81728" y="896112"/>
            <a:ext cx="42062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8961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— Kế Hoạch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1728" y="1261872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1335024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335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1261872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tiền xử lý Amazon Reviews'23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1737360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81051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737360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đồ thị hai phía User–Item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2212848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8304" y="228600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2212848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nghi GCN_C → BPR Loss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2688336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276148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2688336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R = exp(−α·L_BPR)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3163824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18304" y="3236976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163824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baselines: LightGCN, PinSage, NGCF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81728" y="3639312"/>
            <a:ext cx="4206240" cy="420624"/>
          </a:xfrm>
          <a:prstGeom prst="rect">
            <a:avLst/>
          </a:prstGeom>
          <a:solidFill>
            <a:srgbClr val="0A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18304" y="3712464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7124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0" y="3639312"/>
            <a:ext cx="3785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Recall@K / NDCG@K + báo cáo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81728" y="4151376"/>
            <a:ext cx="420624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41513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4 tháng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56032" y="4498848"/>
            <a:ext cx="8631936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 Hội đồng đã lắng nghe!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Nghiên Cứu Phương Pháp GRAPES Trong Giảm Bùng Nổ Lân Cận Cho Mạng Nơ-ron Đồ Thị</dc:title>
  <dc:subject>PptxGenJS Presentation</dc:subject>
  <dc:creator>Ty Van</dc:creator>
  <cp:lastModifiedBy>Ty Van</cp:lastModifiedBy>
  <cp:revision>1</cp:revision>
  <dcterms:created xsi:type="dcterms:W3CDTF">2026-06-15T03:27:50Z</dcterms:created>
  <dcterms:modified xsi:type="dcterms:W3CDTF">2026-06-15T03:27:50Z</dcterms:modified>
</cp:coreProperties>
</file>