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3.xml" ContentType="application/vnd.openxmlformats-officedocument.drawingml.chart+xml"/>
  <Override PartName="/ppt/charts/chart4.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5.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6.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7.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8.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charts/chart9.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0.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charts/chart13.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charts/chart14.xml" ContentType="application/vnd.openxmlformats-officedocument.drawingml.chart+xml"/>
  <Override PartName="/ppt/charts/chart15.xml" ContentType="application/vnd.openxmlformats-officedocument.drawingml.chart+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6.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_rels/chart15.xml.rels><?xml version="1.0" encoding="UTF-8" standalone="yes"?><Relationships xmlns="http://schemas.openxmlformats.org/package/2006/relationships"><Relationship Id="rId1" Type="http://schemas.openxmlformats.org/officeDocument/2006/relationships/package" Target="../embeddings/Microsoft_Excel_Worksheet15.xlsx"/></Relationships>
</file>

<file path=ppt/charts/_rels/chart16.xml.rels><?xml version="1.0" encoding="UTF-8" standalone="yes"?><Relationships xmlns="http://schemas.openxmlformats.org/package/2006/relationships"><Relationship Id="rId1" Type="http://schemas.openxmlformats.org/officeDocument/2006/relationships/package" Target="../embeddings/Microsoft_Excel_Worksheet1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62A"/>
                </a:solidFill>
                <a:latin typeface="Arial"/>
              </a:defRPr>
            </a:pPr>
            <a:r>
              <a:rPr sz="1400" b="0" i="0" u="none" strike="noStrike">
                <a:solidFill>
                  <a:srgbClr val="13262A"/>
                </a:solidFill>
                <a:latin typeface="Arial"/>
              </a:rPr>
              <a:t>Số dòng rating raw (triệu)</a:t>
            </a:r>
          </a:p>
        </c:rich>
      </c:tx>
      <c:layout/>
      <c:overlay val="0"/>
    </c:title>
    <c:autoTitleDeleted val="0"/>
    <c:plotArea>
      <c:layout/>
      <c:barChart>
        <c:barDir val="bar"/>
        <c:grouping val="clustered"/>
        <c:varyColors val="0"/>
        <c:ser>
          <c:idx val="0"/>
          <c:order val="0"/>
          <c:tx>
            <c:strRef>
              <c:f>Sheet1!$B$1</c:f>
              <c:strCache>
                <c:ptCount val="1"/>
                <c:pt idx="0">
                  <c:v>Số dòng raw (triệu)</c:v>
                </c:pt>
              </c:strCache>
            </c:strRef>
          </c:tx>
          <c:spPr>
            <a:solidFill>
              <a:srgbClr val="2E7D7A"/>
            </a:solidFill>
            <a:effectLst/>
          </c:spPr>
          <c:invertIfNegative val="0"/>
          <c:dLbls>
            <c:numFmt formatCode="0.00" sourceLinked="0"/>
            <c:txPr>
              <a:bodyPr/>
              <a:lstStyle/>
              <a:p>
                <a:pPr>
                  <a:defRPr b="0" i="0" strike="noStrike" sz="1200" u="none">
                    <a:solidFill>
                      <a:srgbClr val="13262A"/>
                    </a:solidFill>
                    <a:latin typeface="Arial"/>
                  </a:defRPr>
                </a:pPr>
              </a:p>
            </c:txPr>
            <c:showLegendKey val="0"/>
            <c:showVal val="1"/>
            <c:showCatName val="0"/>
            <c:showSerName val="0"/>
            <c:showPercent val="0"/>
            <c:showBubbleSize val="0"/>
            <c:showLeaderLines val="0"/>
          </c:dLbls>
          <c:cat>
            <c:multiLvlStrRef>
              <c:f>Sheet1!$A$2:$A$4</c:f>
              <c:multiLvlStrCache>
                <c:ptCount val="3"/>
                <c:lvl>
                  <c:pt idx="0">
                    <c:v>All_Beauty</c:v>
                  </c:pt>
                  <c:pt idx="1">
                    <c:v>Baby_Products</c:v>
                  </c:pt>
                  <c:pt idx="2">
                    <c:v>Home_and_Kitchen</c:v>
                  </c:pt>
                </c:lvl>
              </c:multiLvlStrCache>
            </c:multiLvlStrRef>
          </c:cat>
          <c:val>
            <c:numRef>
              <c:f>Sheet1!$B$2:$B$4</c:f>
              <c:numCache>
                <c:formatCode>General</c:formatCode>
                <c:ptCount val="3"/>
                <c:pt idx="0">
                  <c:v>0.69</c:v>
                </c:pt>
                <c:pt idx="1">
                  <c:v>5.95</c:v>
                </c:pt>
                <c:pt idx="2">
                  <c:v>66.62</c:v>
                </c:pt>
              </c:numCache>
            </c:numRef>
          </c:val>
        </c:ser>
        <c:dLbls>
          <c:numFmt formatCode="0.00" sourceLinked="0"/>
          <c:txPr>
            <a:bodyPr/>
            <a:lstStyle/>
            <a:p>
              <a:pPr>
                <a:defRPr b="0" i="0" strike="noStrike" sz="12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Phân bố rating Baby_Products (5.953.890 dòng hợp lệ)</a:t>
            </a:r>
          </a:p>
        </c:rich>
      </c:tx>
      <c:layout/>
      <c:overlay val="0"/>
    </c:title>
    <c:autoTitleDeleted val="0"/>
    <c:plotArea>
      <c:layout/>
      <c:barChart>
        <c:barDir val="col"/>
        <c:grouping val="clustered"/>
        <c:varyColors val="0"/>
        <c:ser>
          <c:idx val="0"/>
          <c:order val="0"/>
          <c:tx>
            <c:strRef>
              <c:f>Sheet1!$B$1</c:f>
              <c:strCache>
                <c:ptCount val="1"/>
                <c:pt idx="0">
                  <c:v>Số rating</c:v>
                </c:pt>
              </c:strCache>
            </c:strRef>
          </c:tx>
          <c:spPr>
            <a:solidFill>
              <a:srgbClr val="C9D3D2"/>
            </a:solidFill>
            <a:effectLst/>
          </c:spPr>
          <c:invertIfNegative val="0"/>
          <c:dLbls>
            <c:numFmt formatCode="#,##0" sourceLinked="0"/>
            <c:txPr>
              <a:bodyPr/>
              <a:lstStyle/>
              <a:p>
                <a:pPr>
                  <a:defRPr b="0" i="0" strike="noStrike" sz="1000" u="none">
                    <a:solidFill>
                      <a:srgbClr val="13262A"/>
                    </a:solidFill>
                    <a:latin typeface="Arial"/>
                  </a:defRPr>
                </a:pPr>
              </a:p>
            </c:txPr>
            <c:showLegendKey val="0"/>
            <c:showVal val="1"/>
            <c:showCatName val="0"/>
            <c:showSerName val="0"/>
            <c:showPercent val="0"/>
            <c:showBubbleSize val="0"/>
            <c:showLeaderLines val="0"/>
          </c:dLbls>
          <c:cat>
            <c:multiLvlStrRef>
              <c:f>Sheet1!$A$2:$A$6</c:f>
              <c:multiLvlStrCache>
                <c:ptCount val="5"/>
                <c:lvl>
                  <c:pt idx="0">
                    <c:v>1★</c:v>
                  </c:pt>
                  <c:pt idx="1">
                    <c:v>2★</c:v>
                  </c:pt>
                  <c:pt idx="2">
                    <c:v>3★</c:v>
                  </c:pt>
                  <c:pt idx="3">
                    <c:v>4★</c:v>
                  </c:pt>
                  <c:pt idx="4">
                    <c:v>5★</c:v>
                  </c:pt>
                </c:lvl>
              </c:multiLvlStrCache>
            </c:multiLvlStrRef>
          </c:cat>
          <c:val>
            <c:numRef>
              <c:f>Sheet1!$B$2:$B$6</c:f>
              <c:numCache>
                <c:formatCode>General</c:formatCode>
                <c:ptCount val="5"/>
                <c:pt idx="0">
                  <c:v>555424</c:v>
                </c:pt>
                <c:pt idx="1">
                  <c:v>309591</c:v>
                </c:pt>
                <c:pt idx="2">
                  <c:v>433032</c:v>
                </c:pt>
                <c:pt idx="3">
                  <c:v>681977</c:v>
                </c:pt>
                <c:pt idx="4">
                  <c:v>3973866</c:v>
                </c:pt>
              </c:numCache>
            </c:numRef>
          </c:val>
        </c:ser>
        <c:dLbls>
          <c:numFmt formatCode="#,##0" sourceLinked="0"/>
          <c:txPr>
            <a:bodyPr/>
            <a:lstStyle/>
            <a:p>
              <a:pPr>
                <a:defRPr b="0" i="0" strike="noStrike" sz="10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Histogram: số tương tác của mỗi sản phẩm (graph train)</a:t>
            </a:r>
          </a:p>
        </c:rich>
      </c:tx>
      <c:layout/>
      <c:overlay val="0"/>
    </c:title>
    <c:autoTitleDeleted val="0"/>
    <c:plotArea>
      <c:layout/>
      <c:barChart>
        <c:barDir val="col"/>
        <c:grouping val="clustered"/>
        <c:varyColors val="0"/>
        <c:ser>
          <c:idx val="0"/>
          <c:order val="0"/>
          <c:tx>
            <c:strRef>
              <c:f>Sheet1!$B$1</c:f>
              <c:strCache>
                <c:ptCount val="1"/>
                <c:pt idx="0">
                  <c:v>% sản phẩm</c:v>
                </c:pt>
              </c:strCache>
            </c:strRef>
          </c:tx>
          <c:spPr>
            <a:solidFill>
              <a:srgbClr val="C9D3D2"/>
            </a:solidFill>
            <a:effectLst/>
          </c:spPr>
          <c:invertIfNegative val="0"/>
          <c:dLbls>
            <c:numFmt formatCode="0.0" sourceLinked="0"/>
            <c:txPr>
              <a:bodyPr/>
              <a:lstStyle/>
              <a:p>
                <a:pPr>
                  <a:defRPr b="0" i="0" strike="noStrike" sz="1000" u="none">
                    <a:solidFill>
                      <a:srgbClr val="13262A"/>
                    </a:solidFill>
                    <a:latin typeface="Arial"/>
                  </a:defRPr>
                </a:pPr>
              </a:p>
            </c:txPr>
            <c:showLegendKey val="0"/>
            <c:showVal val="1"/>
            <c:showCatName val="0"/>
            <c:showSerName val="0"/>
            <c:showPercent val="0"/>
            <c:showBubbleSize val="0"/>
            <c:showLeaderLines val="0"/>
          </c:dLbls>
          <c:cat>
            <c:multiLvlStrRef>
              <c:f>Sheet1!$A$2:$A$7</c:f>
              <c:multiLvlStrCache>
                <c:ptCount val="6"/>
                <c:lvl>
                  <c:pt idx="0">
                    <c:v>1</c:v>
                  </c:pt>
                  <c:pt idx="1">
                    <c:v>2–5</c:v>
                  </c:pt>
                  <c:pt idx="2">
                    <c:v>6–20</c:v>
                  </c:pt>
                  <c:pt idx="3">
                    <c:v>21–100</c:v>
                  </c:pt>
                  <c:pt idx="4">
                    <c:v>101–1000</c:v>
                  </c:pt>
                  <c:pt idx="5">
                    <c:v>&gt;1000</c:v>
                  </c:pt>
                </c:lvl>
              </c:multiLvlStrCache>
            </c:multiLvlStrRef>
          </c:cat>
          <c:val>
            <c:numRef>
              <c:f>Sheet1!$B$2:$B$7</c:f>
              <c:numCache>
                <c:formatCode>General</c:formatCode>
                <c:ptCount val="6"/>
                <c:pt idx="0">
                  <c:v>33.35</c:v>
                </c:pt>
                <c:pt idx="1">
                  <c:v>32.79</c:v>
                </c:pt>
                <c:pt idx="2">
                  <c:v>19.87</c:v>
                </c:pt>
                <c:pt idx="3">
                  <c:v>10.13</c:v>
                </c:pt>
                <c:pt idx="4">
                  <c:v>3.55</c:v>
                </c:pt>
                <c:pt idx="5">
                  <c:v>0.31</c:v>
                </c:pt>
              </c:numCache>
            </c:numRef>
          </c:val>
        </c:ser>
        <c:ser>
          <c:idx val="1"/>
          <c:order val="1"/>
          <c:tx>
            <c:strRef>
              <c:f>Sheet1!$C$1</c:f>
              <c:strCache>
                <c:ptCount val="1"/>
                <c:pt idx="0">
                  <c:v>% tương tác</c:v>
                </c:pt>
              </c:strCache>
            </c:strRef>
          </c:tx>
          <c:spPr>
            <a:solidFill>
              <a:srgbClr val="0F4C4F"/>
            </a:solidFill>
            <a:effectLst/>
          </c:spPr>
          <c:invertIfNegative val="0"/>
          <c:dLbls>
            <c:numFmt formatCode="0.0" sourceLinked="0"/>
            <c:txPr>
              <a:bodyPr/>
              <a:lstStyle/>
              <a:p>
                <a:pPr>
                  <a:defRPr b="0" i="0" strike="noStrike" sz="1000" u="none">
                    <a:solidFill>
                      <a:srgbClr val="13262A"/>
                    </a:solidFill>
                    <a:latin typeface="Arial"/>
                  </a:defRPr>
                </a:pPr>
              </a:p>
            </c:txPr>
            <c:showLegendKey val="0"/>
            <c:showVal val="1"/>
            <c:showCatName val="0"/>
            <c:showSerName val="0"/>
            <c:showPercent val="0"/>
            <c:showBubbleSize val="0"/>
            <c:showLeaderLines val="0"/>
          </c:dLbls>
          <c:cat>
            <c:multiLvlStrRef>
              <c:f>Sheet1!$A$2:$A$7</c:f>
              <c:multiLvlStrCache>
                <c:ptCount val="6"/>
                <c:lvl>
                  <c:pt idx="0">
                    <c:v>1</c:v>
                  </c:pt>
                  <c:pt idx="1">
                    <c:v>2–5</c:v>
                  </c:pt>
                  <c:pt idx="2">
                    <c:v>6–20</c:v>
                  </c:pt>
                  <c:pt idx="3">
                    <c:v>21–100</c:v>
                  </c:pt>
                  <c:pt idx="4">
                    <c:v>101–1000</c:v>
                  </c:pt>
                  <c:pt idx="5">
                    <c:v>&gt;1000</c:v>
                  </c:pt>
                </c:lvl>
              </c:multiLvlStrCache>
            </c:multiLvlStrRef>
          </c:cat>
          <c:val>
            <c:numRef>
              <c:f>Sheet1!$C$2:$C$7</c:f>
              <c:numCache>
                <c:formatCode>General</c:formatCode>
                <c:ptCount val="6"/>
                <c:pt idx="0">
                  <c:v>1.4</c:v>
                </c:pt>
                <c:pt idx="1">
                  <c:v>4.12</c:v>
                </c:pt>
                <c:pt idx="2">
                  <c:v>8.84</c:v>
                </c:pt>
                <c:pt idx="3">
                  <c:v>18.65</c:v>
                </c:pt>
                <c:pt idx="4">
                  <c:v>40.64</c:v>
                </c:pt>
                <c:pt idx="5">
                  <c:v>26.35</c:v>
                </c:pt>
              </c:numCache>
            </c:numRef>
          </c:val>
        </c:ser>
        <c:dLbls>
          <c:numFmt formatCode="0.0" sourceLinked="0"/>
          <c:txPr>
            <a:bodyPr/>
            <a:lstStyle/>
            <a:p>
              <a:pPr>
                <a:defRPr b="0" i="0" strike="noStrike" sz="10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E6B6E"/>
                    </a:solidFill>
                    <a:latin typeface="Arial"/>
                  </a:defRPr>
                </a:pPr>
                <a:r>
                  <a:rPr sz="1100" b="0" i="0" u="none" strike="noStrike">
                    <a:solidFill>
                      <a:srgbClr val="5E6B6E"/>
                    </a:solidFill>
                    <a:latin typeface="Arial"/>
                  </a:rPr>
                  <a:t>số user đã tương tác với sản phẩm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3262A"/>
                </a:solidFill>
                <a:latin typeface="Arial"/>
              </a:defRPr>
            </a:pPr>
            <a:r>
              <a:rPr sz="1100" b="0" i="0" u="none" strike="noStrike">
                <a:solidFill>
                  <a:srgbClr val="13262A"/>
                </a:solidFill>
                <a:latin typeface="Arial"/>
              </a:rPr>
              <a:t>% user theo số tương tác</a:t>
            </a:r>
          </a:p>
        </c:rich>
      </c:tx>
      <c:layout/>
      <c:overlay val="0"/>
    </c:title>
    <c:autoTitleDeleted val="0"/>
    <c:plotArea>
      <c:layout/>
      <c:barChart>
        <c:barDir val="col"/>
        <c:grouping val="clustered"/>
        <c:varyColors val="0"/>
        <c:ser>
          <c:idx val="0"/>
          <c:order val="0"/>
          <c:tx>
            <c:strRef>
              <c:f>Sheet1!$B$1</c:f>
              <c:strCache>
                <c:ptCount val="1"/>
                <c:pt idx="0">
                  <c:v>% user</c:v>
                </c:pt>
              </c:strCache>
            </c:strRef>
          </c:tx>
          <c:spPr>
            <a:solidFill>
              <a:srgbClr val="C8553D"/>
            </a:solidFill>
            <a:effectLst/>
          </c:spPr>
          <c:invertIfNegative val="0"/>
          <c:dLbls>
            <c:numFmt formatCode="0.0" sourceLinked="0"/>
            <c:txPr>
              <a:bodyPr/>
              <a:lstStyle/>
              <a:p>
                <a:pPr>
                  <a:defRPr b="0" i="0" strike="noStrike" sz="1000" u="none">
                    <a:solidFill>
                      <a:srgbClr val="13262A"/>
                    </a:solidFill>
                    <a:latin typeface="Arial"/>
                  </a:defRPr>
                </a:pPr>
              </a:p>
            </c:txPr>
            <c:showLegendKey val="0"/>
            <c:showVal val="1"/>
            <c:showCatName val="0"/>
            <c:showSerName val="0"/>
            <c:showPercent val="0"/>
            <c:showBubbleSize val="0"/>
            <c:showLeaderLines val="0"/>
          </c:dLbls>
          <c:cat>
            <c:multiLvlStrRef>
              <c:f>Sheet1!$A$2:$A$5</c:f>
              <c:multiLvlStrCache>
                <c:ptCount val="4"/>
                <c:lvl>
                  <c:pt idx="0">
                    <c:v>1</c:v>
                  </c:pt>
                  <c:pt idx="1">
                    <c:v>2–5</c:v>
                  </c:pt>
                  <c:pt idx="2">
                    <c:v>6–20</c:v>
                  </c:pt>
                  <c:pt idx="3">
                    <c:v>&gt;20</c:v>
                  </c:pt>
                </c:lvl>
              </c:multiLvlStrCache>
            </c:multiLvlStrRef>
          </c:cat>
          <c:val>
            <c:numRef>
              <c:f>Sheet1!$B$2:$B$5</c:f>
              <c:numCache>
                <c:formatCode>General</c:formatCode>
                <c:ptCount val="4"/>
                <c:pt idx="0">
                  <c:v>71.76</c:v>
                </c:pt>
                <c:pt idx="1">
                  <c:v>25.15</c:v>
                </c:pt>
                <c:pt idx="2">
                  <c:v>2.97</c:v>
                </c:pt>
                <c:pt idx="3">
                  <c:v>0.11</c:v>
                </c:pt>
              </c:numCache>
            </c:numRef>
          </c:val>
        </c:ser>
        <c:dLbls>
          <c:numFmt formatCode="0.0" sourceLinked="0"/>
          <c:txPr>
            <a:bodyPr/>
            <a:lstStyle/>
            <a:p>
              <a:pPr>
                <a:defRPr b="0" i="0" strike="noStrike" sz="10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Item phổ biến nhất giữ bao nhiêu interaction</a:t>
            </a:r>
          </a:p>
        </c:rich>
      </c:tx>
      <c:layout/>
      <c:overlay val="0"/>
    </c:title>
    <c:autoTitleDeleted val="0"/>
    <c:plotArea>
      <c:layout/>
      <c:barChart>
        <c:barDir val="col"/>
        <c:grouping val="clustered"/>
        <c:varyColors val="0"/>
        <c:ser>
          <c:idx val="0"/>
          <c:order val="0"/>
          <c:tx>
            <c:strRef>
              <c:f>Sheet1!$B$1</c:f>
              <c:strCache>
                <c:ptCount val="1"/>
                <c:pt idx="0">
                  <c:v>Tỷ lệ interaction</c:v>
                </c:pt>
              </c:strCache>
            </c:strRef>
          </c:tx>
          <c:spPr>
            <a:solidFill>
              <a:srgbClr val="0F4C4F"/>
            </a:solidFill>
            <a:effectLst/>
          </c:spPr>
          <c:invertIfNegative val="0"/>
          <c:dLbls>
            <c:numFmt formatCode="0.0&quot;%&quot;"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cat>
            <c:multiLvlStrRef>
              <c:f>Sheet1!$A$2:$A$5</c:f>
              <c:multiLvlStrCache>
                <c:ptCount val="4"/>
                <c:lvl>
                  <c:pt idx="0">
                    <c:v>Top 1%</c:v>
                  </c:pt>
                  <c:pt idx="1">
                    <c:v>Top 5%</c:v>
                  </c:pt>
                  <c:pt idx="2">
                    <c:v>Top 10%</c:v>
                  </c:pt>
                  <c:pt idx="3">
                    <c:v>Top 20%</c:v>
                  </c:pt>
                </c:lvl>
              </c:multiLvlStrCache>
            </c:multiLvlStrRef>
          </c:cat>
          <c:val>
            <c:numRef>
              <c:f>Sheet1!$B$2:$B$5</c:f>
              <c:numCache>
                <c:formatCode>General</c:formatCode>
                <c:ptCount val="4"/>
                <c:pt idx="0">
                  <c:v>44.1</c:v>
                </c:pt>
                <c:pt idx="1">
                  <c:v>71.1</c:v>
                </c:pt>
                <c:pt idx="2">
                  <c:v>81.3</c:v>
                </c:pt>
                <c:pt idx="3">
                  <c:v>89.6</c:v>
                </c:pt>
              </c:numCache>
            </c:numRef>
          </c:val>
        </c:ser>
        <c:dLbls>
          <c:numFmt formatCode="0.0&quot;%&quot;"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373.776 tương tác P4 trong cửa sổ validation</a:t>
            </a:r>
          </a:p>
        </c:rich>
      </c:tx>
      <c:layout/>
      <c:overlay val="0"/>
    </c:title>
    <c:autoTitleDeleted val="0"/>
    <c:plotArea>
      <c:layout/>
      <c:doughnutChart>
        <c:varyColors val="1"/>
        <c:ser>
          <c:idx val="0"/>
          <c:order val="0"/>
          <c:tx>
            <c:strRef>
              <c:f>Sheet1!$B$1</c:f>
              <c:strCache>
                <c:ptCount val="1"/>
                <c:pt idx="0">
                  <c:v>Validation P4</c:v>
                </c:pt>
              </c:strCache>
            </c:strRef>
          </c:tx>
          <c:spPr>
            <a:solidFill>
              <a:schemeClr val="accent1"/>
            </a:solidFill>
            <a:ln w="9525" cap="flat">
              <a:solidFill>
                <a:srgbClr val="F9F9F9"/>
              </a:solidFill>
              <a:prstDash val="solid"/>
              <a:round/>
            </a:ln>
            <a:effectLst/>
          </c:spPr>
          <c:dPt>
            <c:idx val="0"/>
            <c:bubble3D val="0"/>
            <c:spPr>
              <a:solidFill>
                <a:srgbClr val="0F4C4F"/>
              </a:solidFill>
              <a:effectLst/>
            </c:spPr>
          </c:dPt>
          <c:dPt>
            <c:idx val="1"/>
            <c:bubble3D val="0"/>
            <c:spPr>
              <a:solidFill>
                <a:srgbClr val="C8553D"/>
              </a:solidFill>
              <a:effectLst/>
            </c:spPr>
          </c:dPt>
          <c:dPt>
            <c:idx val="2"/>
            <c:bubble3D val="0"/>
            <c:spPr>
              <a:solidFill>
                <a:srgbClr val="E39A8A"/>
              </a:solidFill>
              <a:effectLst/>
            </c:spPr>
          </c:dPt>
          <c:dPt>
            <c:idx val="3"/>
            <c:bubble3D val="0"/>
            <c:spPr>
              <a:solidFill>
                <a:srgbClr val="E89B2D"/>
              </a:solidFill>
              <a:effectLst/>
            </c:spPr>
          </c:dPt>
          <c:dLbls>
            <c:dLbl>
              <c:idx val="0"/>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Warm: user và item đã có</c:v>
                </c:pt>
                <c:pt idx="1">
                  <c:v>User mới (item đã có)</c:v>
                </c:pt>
                <c:pt idx="2">
                  <c:v>User mới và item mới</c:v>
                </c:pt>
                <c:pt idx="3">
                  <c:v>Item mới (user đã có)</c:v>
                </c:pt>
              </c:strCache>
            </c:strRef>
          </c:cat>
          <c:val>
            <c:numRef>
              <c:f>Sheet1!$B$2:$B$5</c:f>
              <c:numCache>
                <c:ptCount val="4"/>
                <c:pt idx="0">
                  <c:v>81871</c:v>
                </c:pt>
                <c:pt idx="1">
                  <c:v>239908</c:v>
                </c:pt>
                <c:pt idx="2">
                  <c:v>34560</c:v>
                </c:pt>
                <c:pt idx="3">
                  <c:v>17437</c:v>
                </c:pt>
              </c:numCache>
            </c:numRef>
          </c:val>
        </c:ser>
        <c:firstSliceAng val="0"/>
        <c:holeSize val="55"/>
      </c:doughnutChart>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Số tương tác 4–5★ theo năm (2000–2009 rất ít; 2023 chỉ đến tháng 9)</a:t>
            </a:r>
          </a:p>
        </c:rich>
      </c:tx>
      <c:layout/>
      <c:overlay val="0"/>
    </c:title>
    <c:autoTitleDeleted val="0"/>
    <c:plotArea>
      <c:layout/>
      <c:barChart>
        <c:barDir val="col"/>
        <c:grouping val="clustered"/>
        <c:varyColors val="0"/>
        <c:ser>
          <c:idx val="0"/>
          <c:order val="0"/>
          <c:tx>
            <c:strRef>
              <c:f>Sheet1!$B$1</c:f>
              <c:strCache>
                <c:ptCount val="1"/>
                <c:pt idx="0">
                  <c:v>Tương tác P4</c:v>
                </c:pt>
              </c:strCache>
            </c:strRef>
          </c:tx>
          <c:spPr>
            <a:solidFill>
              <a:srgbClr val="2E7D7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Sheet1!$A$2:$A$15</c:f>
              <c:multiLvlStrCache>
                <c:ptCount val="14"/>
                <c:lvl>
                  <c:pt idx="0">
                    <c:v>2010</c:v>
                  </c:pt>
                  <c:pt idx="1">
                    <c:v>2011</c:v>
                  </c:pt>
                  <c:pt idx="2">
                    <c:v>2012</c:v>
                  </c:pt>
                  <c:pt idx="3">
                    <c:v>2013</c:v>
                  </c:pt>
                  <c:pt idx="4">
                    <c:v>2014</c:v>
                  </c:pt>
                  <c:pt idx="5">
                    <c:v>2015</c:v>
                  </c:pt>
                  <c:pt idx="6">
                    <c:v>2016</c:v>
                  </c:pt>
                  <c:pt idx="7">
                    <c:v>2017</c:v>
                  </c:pt>
                  <c:pt idx="8">
                    <c:v>2018</c:v>
                  </c:pt>
                  <c:pt idx="9">
                    <c:v>2019</c:v>
                  </c:pt>
                  <c:pt idx="10">
                    <c:v>2020</c:v>
                  </c:pt>
                  <c:pt idx="11">
                    <c:v>2021</c:v>
                  </c:pt>
                  <c:pt idx="12">
                    <c:v>2022</c:v>
                  </c:pt>
                  <c:pt idx="13">
                    <c:v>2023</c:v>
                  </c:pt>
                </c:lvl>
              </c:multiLvlStrCache>
            </c:multiLvlStrRef>
          </c:cat>
          <c:val>
            <c:numRef>
              <c:f>Sheet1!$B$2:$B$15</c:f>
              <c:numCache>
                <c:formatCode>General</c:formatCode>
                <c:ptCount val="14"/>
                <c:pt idx="0">
                  <c:v>21151</c:v>
                </c:pt>
                <c:pt idx="1">
                  <c:v>43070</c:v>
                </c:pt>
                <c:pt idx="2">
                  <c:v>56685</c:v>
                </c:pt>
                <c:pt idx="3">
                  <c:v>140671</c:v>
                </c:pt>
                <c:pt idx="4">
                  <c:v>217199</c:v>
                </c:pt>
                <c:pt idx="5">
                  <c:v>346665</c:v>
                </c:pt>
                <c:pt idx="6">
                  <c:v>417378</c:v>
                </c:pt>
                <c:pt idx="7">
                  <c:v>414201</c:v>
                </c:pt>
                <c:pt idx="8">
                  <c:v>497560</c:v>
                </c:pt>
                <c:pt idx="9">
                  <c:v>664832</c:v>
                </c:pt>
                <c:pt idx="10">
                  <c:v>637961</c:v>
                </c:pt>
                <c:pt idx="11">
                  <c:v>533675</c:v>
                </c:pt>
                <c:pt idx="12">
                  <c:v>438337</c:v>
                </c:pt>
                <c:pt idx="13">
                  <c:v>190655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8"/>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B6E"/>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 rating 1–3★ theo số rating của sản phẩm (trước t1)</a:t>
            </a:r>
          </a:p>
        </c:rich>
      </c:tx>
      <c:layout/>
      <c:overlay val="0"/>
    </c:title>
    <c:autoTitleDeleted val="0"/>
    <c:plotArea>
      <c:layout/>
      <c:barChart>
        <c:barDir val="col"/>
        <c:grouping val="clustered"/>
        <c:varyColors val="0"/>
        <c:ser>
          <c:idx val="0"/>
          <c:order val="0"/>
          <c:tx>
            <c:strRef>
              <c:f>Sheet1!$B$1</c:f>
              <c:strCache>
                <c:ptCount val="1"/>
                <c:pt idx="0">
                  <c:v>% rating ≤3★</c:v>
                </c:pt>
              </c:strCache>
            </c:strRef>
          </c:tx>
          <c:spPr>
            <a:solidFill>
              <a:srgbClr val="C8553D"/>
            </a:solidFill>
            <a:effectLst/>
          </c:spPr>
          <c:invertIfNegative val="0"/>
          <c:dLbls>
            <c:numFmt formatCode="0.0"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cat>
            <c:multiLvlStrRef>
              <c:f>Sheet1!$A$2:$A$7</c:f>
              <c:multiLvlStrCache>
                <c:ptCount val="6"/>
                <c:lvl>
                  <c:pt idx="0">
                    <c:v>1</c:v>
                  </c:pt>
                  <c:pt idx="1">
                    <c:v>2–5</c:v>
                  </c:pt>
                  <c:pt idx="2">
                    <c:v>6–20</c:v>
                  </c:pt>
                  <c:pt idx="3">
                    <c:v>21–100</c:v>
                  </c:pt>
                  <c:pt idx="4">
                    <c:v>101–1000</c:v>
                  </c:pt>
                  <c:pt idx="5">
                    <c:v>&gt;1000</c:v>
                  </c:pt>
                </c:lvl>
              </c:multiLvlStrCache>
            </c:multiLvlStrRef>
          </c:cat>
          <c:val>
            <c:numRef>
              <c:f>Sheet1!$B$2:$B$7</c:f>
              <c:numCache>
                <c:formatCode>General</c:formatCode>
                <c:ptCount val="6"/>
                <c:pt idx="0">
                  <c:v>26</c:v>
                </c:pt>
                <c:pt idx="1">
                  <c:v>24</c:v>
                </c:pt>
                <c:pt idx="2">
                  <c:v>22.8</c:v>
                </c:pt>
                <c:pt idx="3">
                  <c:v>22.5</c:v>
                </c:pt>
                <c:pt idx="4">
                  <c:v>20.7</c:v>
                </c:pt>
                <c:pt idx="5">
                  <c:v>18.9</c:v>
                </c:pt>
              </c:numCache>
            </c:numRef>
          </c:val>
        </c:ser>
        <c:dLbls>
          <c:numFmt formatCode="0.0"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E6B6E"/>
                    </a:solidFill>
                    <a:latin typeface="Arial"/>
                  </a:defRPr>
                </a:pPr>
                <a:r>
                  <a:rPr sz="1100" b="0" i="0" u="none" strike="noStrike">
                    <a:solidFill>
                      <a:srgbClr val="5E6B6E"/>
                    </a:solidFill>
                    <a:latin typeface="Arial"/>
                  </a:rPr>
                  <a:t>số rating của sản phẩm</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Top 1% sản phẩm chỉ trùng một phần giữa các năm (Jaccard 0,45–0,54)</a:t>
            </a:r>
          </a:p>
        </c:rich>
      </c:tx>
      <c:layout/>
      <c:overlay val="0"/>
    </c:title>
    <c:autoTitleDeleted val="0"/>
    <c:plotArea>
      <c:layout/>
      <c:lineChart>
        <c:varyColors val="0"/>
        <c:ser>
          <c:idx val="0"/>
          <c:order val="0"/>
          <c:tx>
            <c:strRef>
              <c:f>Sheet1!$B$1</c:f>
              <c:strCache>
                <c:ptCount val="1"/>
                <c:pt idx="0">
                  <c:v>Jaccard top-1% với năm trước</c:v>
                </c:pt>
              </c:strCache>
            </c:strRef>
          </c:tx>
          <c:spPr>
            <a:solidFill>
              <a:srgbClr val="0F4C4F"/>
            </a:solidFill>
            <a:ln w="31750" cap="flat">
              <a:solidFill>
                <a:srgbClr val="0F4C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0F4C4F"/>
              </a:solidFill>
              <a:ln w="9525" cap="flat">
                <a:solidFill>
                  <a:srgbClr val="0F4C4F"/>
                </a:solidFill>
                <a:prstDash val="solid"/>
                <a:round/>
              </a:ln>
              <a:effectLst/>
            </c:spPr>
          </c:marker>
          <c:cat>
            <c:multiLvlStrRef>
              <c:f>Sheet1!$A$2:$A$8</c:f>
              <c:multiLvlStrCache>
                <c:ptCount val="7"/>
                <c:lvl>
                  <c:pt idx="0">
                    <c:v>2015</c:v>
                  </c:pt>
                  <c:pt idx="1">
                    <c:v>2016</c:v>
                  </c:pt>
                  <c:pt idx="2">
                    <c:v>2017</c:v>
                  </c:pt>
                  <c:pt idx="3">
                    <c:v>2018</c:v>
                  </c:pt>
                  <c:pt idx="4">
                    <c:v>2019</c:v>
                  </c:pt>
                  <c:pt idx="5">
                    <c:v>2020</c:v>
                  </c:pt>
                  <c:pt idx="6">
                    <c:v>2021</c:v>
                  </c:pt>
                </c:lvl>
              </c:multiLvlStrCache>
            </c:multiLvlStrRef>
          </c:cat>
          <c:val>
            <c:numRef>
              <c:f>Sheet1!$B$2:$B$8</c:f>
              <c:numCache>
                <c:formatCode>General</c:formatCode>
                <c:ptCount val="7"/>
                <c:pt idx="0">
                  <c:v>0.541</c:v>
                </c:pt>
                <c:pt idx="1">
                  <c:v>0.505</c:v>
                </c:pt>
                <c:pt idx="2">
                  <c:v>0.515</c:v>
                </c:pt>
                <c:pt idx="3">
                  <c:v>0.45</c:v>
                </c:pt>
                <c:pt idx="4">
                  <c:v>0.505</c:v>
                </c:pt>
                <c:pt idx="5">
                  <c:v>0.497</c:v>
                </c:pt>
                <c:pt idx="6">
                  <c:v>0.503</c:v>
                </c:pt>
              </c:numCache>
            </c:numRef>
          </c:val>
          <c:smooth val="0"/>
        </c:ser>
        <c:ser>
          <c:idx val="1"/>
          <c:order val="1"/>
          <c:tx>
            <c:strRef>
              <c:f>Sheet1!$C$1</c:f>
              <c:strCache>
                <c:ptCount val="1"/>
                <c:pt idx="0">
                  <c:v>% rating vào top-1% của năm trước</c:v>
                </c:pt>
              </c:strCache>
            </c:strRef>
          </c:tx>
          <c:spPr>
            <a:solidFill>
              <a:srgbClr val="E89B2D"/>
            </a:solidFill>
            <a:ln w="31750" cap="flat">
              <a:solidFill>
                <a:srgbClr val="E89B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89B2D"/>
              </a:solidFill>
              <a:ln w="9525" cap="flat">
                <a:solidFill>
                  <a:srgbClr val="E89B2D"/>
                </a:solidFill>
                <a:prstDash val="solid"/>
                <a:round/>
              </a:ln>
              <a:effectLst/>
            </c:spPr>
          </c:marker>
          <c:cat>
            <c:multiLvlStrRef>
              <c:f>Sheet1!$A$2:$A$8</c:f>
              <c:multiLvlStrCache>
                <c:ptCount val="7"/>
                <c:lvl>
                  <c:pt idx="0">
                    <c:v>2015</c:v>
                  </c:pt>
                  <c:pt idx="1">
                    <c:v>2016</c:v>
                  </c:pt>
                  <c:pt idx="2">
                    <c:v>2017</c:v>
                  </c:pt>
                  <c:pt idx="3">
                    <c:v>2018</c:v>
                  </c:pt>
                  <c:pt idx="4">
                    <c:v>2019</c:v>
                  </c:pt>
                  <c:pt idx="5">
                    <c:v>2020</c:v>
                  </c:pt>
                  <c:pt idx="6">
                    <c:v>2021</c:v>
                  </c:pt>
                </c:lvl>
              </c:multiLvlStrCache>
            </c:multiLvlStrRef>
          </c:cat>
          <c:val>
            <c:numRef>
              <c:f>Sheet1!$C$2:$C$8</c:f>
              <c:numCache>
                <c:formatCode>General</c:formatCode>
                <c:ptCount val="7"/>
                <c:pt idx="0">
                  <c:v>0.238</c:v>
                </c:pt>
                <c:pt idx="1">
                  <c:v>0.254</c:v>
                </c:pt>
                <c:pt idx="2">
                  <c:v>0.273</c:v>
                </c:pt>
                <c:pt idx="3">
                  <c:v>0.246</c:v>
                </c:pt>
                <c:pt idx="4">
                  <c:v>0.253</c:v>
                </c:pt>
                <c:pt idx="5">
                  <c:v>0.281</c:v>
                </c:pt>
                <c:pt idx="6">
                  <c:v>0.303</c:v>
                </c:pt>
              </c:numCache>
            </c:numRef>
          </c:val>
          <c:smooth val="0"/>
        </c:ser>
        <c:ser>
          <c:idx val="2"/>
          <c:order val="2"/>
          <c:tx>
            <c:strRef>
              <c:f>Sheet1!$D$1</c:f>
              <c:strCache>
                <c:ptCount val="1"/>
                <c:pt idx="0">
                  <c:v>% rating vào top-1% của chính năm đó</c:v>
                </c:pt>
              </c:strCache>
            </c:strRef>
          </c:tx>
          <c:spPr>
            <a:solidFill>
              <a:srgbClr val="C9D3D2"/>
            </a:solidFill>
            <a:ln w="31750" cap="flat">
              <a:solidFill>
                <a:srgbClr val="C9D3D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9D3D2"/>
              </a:solidFill>
              <a:ln w="9525" cap="flat">
                <a:solidFill>
                  <a:srgbClr val="C9D3D2"/>
                </a:solidFill>
                <a:prstDash val="solid"/>
                <a:round/>
              </a:ln>
              <a:effectLst/>
            </c:spPr>
          </c:marker>
          <c:cat>
            <c:multiLvlStrRef>
              <c:f>Sheet1!$A$2:$A$8</c:f>
              <c:multiLvlStrCache>
                <c:ptCount val="7"/>
                <c:lvl>
                  <c:pt idx="0">
                    <c:v>2015</c:v>
                  </c:pt>
                  <c:pt idx="1">
                    <c:v>2016</c:v>
                  </c:pt>
                  <c:pt idx="2">
                    <c:v>2017</c:v>
                  </c:pt>
                  <c:pt idx="3">
                    <c:v>2018</c:v>
                  </c:pt>
                  <c:pt idx="4">
                    <c:v>2019</c:v>
                  </c:pt>
                  <c:pt idx="5">
                    <c:v>2020</c:v>
                  </c:pt>
                  <c:pt idx="6">
                    <c:v>2021</c:v>
                  </c:pt>
                </c:lvl>
              </c:multiLvlStrCache>
            </c:multiLvlStrRef>
          </c:cat>
          <c:val>
            <c:numRef>
              <c:f>Sheet1!$D$2:$D$8</c:f>
              <c:numCache>
                <c:formatCode>General</c:formatCode>
                <c:ptCount val="7"/>
                <c:pt idx="0">
                  <c:v>0.308</c:v>
                </c:pt>
                <c:pt idx="1">
                  <c:v>0.316</c:v>
                </c:pt>
                <c:pt idx="2">
                  <c:v>0.319</c:v>
                </c:pt>
                <c:pt idx="3">
                  <c:v>0.316</c:v>
                </c:pt>
                <c:pt idx="4">
                  <c:v>0.326</c:v>
                </c:pt>
                <c:pt idx="5">
                  <c:v>0.336</c:v>
                </c:pt>
                <c:pt idx="6">
                  <c:v>0.309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max val="0.7"/>
          <c:min val="0"/>
        </c:scaling>
        <c:delete val="0"/>
        <c:axPos val="l"/>
        <c:majorGridlines>
          <c:spPr>
            <a:ln w="6350" cap="flat">
              <a:solidFill>
                <a:srgbClr val="E3E8E8"/>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B6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 trong 2,48 triệu node bị chạm khi không lấy mẫu</a:t>
            </a:r>
          </a:p>
        </c:rich>
      </c:tx>
      <c:layout/>
      <c:overlay val="0"/>
    </c:title>
    <c:autoTitleDeleted val="0"/>
    <c:plotArea>
      <c:layout/>
      <c:lineChart>
        <c:varyColors val="0"/>
        <c:ser>
          <c:idx val="0"/>
          <c:order val="0"/>
          <c:tx>
            <c:strRef>
              <c:f>Sheet1!$B$1</c:f>
              <c:strCache>
                <c:ptCount val="1"/>
                <c:pt idx="0">
                  <c:v>1.024 triplet</c:v>
                </c:pt>
              </c:strCache>
            </c:strRef>
          </c:tx>
          <c:spPr>
            <a:solidFill>
              <a:srgbClr val="C9D3D2"/>
            </a:solidFill>
            <a:ln w="31750" cap="flat">
              <a:solidFill>
                <a:srgbClr val="C9D3D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C9D3D2"/>
              </a:solidFill>
              <a:ln w="9525" cap="flat">
                <a:solidFill>
                  <a:srgbClr val="C9D3D2"/>
                </a:solidFill>
                <a:prstDash val="solid"/>
                <a:round/>
              </a:ln>
              <a:effectLst/>
            </c:spPr>
          </c:marker>
          <c:cat>
            <c:multiLvlStrRef>
              <c:f>Sheet1!$A$2:$A$4</c:f>
              <c:multiLvlStrCache>
                <c:ptCount val="3"/>
                <c:lvl>
                  <c:pt idx="0">
                    <c:v>1 bước</c:v>
                  </c:pt>
                  <c:pt idx="1">
                    <c:v>2 bước</c:v>
                  </c:pt>
                  <c:pt idx="2">
                    <c:v>3 bước</c:v>
                  </c:pt>
                </c:lvl>
              </c:multiLvlStrCache>
            </c:multiLvlStrRef>
          </c:cat>
          <c:val>
            <c:numRef>
              <c:f>Sheet1!$B$2:$B$4</c:f>
              <c:numCache>
                <c:formatCode>General</c:formatCode>
                <c:ptCount val="3"/>
                <c:pt idx="0">
                  <c:v>23.6</c:v>
                </c:pt>
                <c:pt idx="1">
                  <c:v>44.7</c:v>
                </c:pt>
                <c:pt idx="2">
                  <c:v>93.2</c:v>
                </c:pt>
              </c:numCache>
            </c:numRef>
          </c:val>
          <c:smooth val="0"/>
        </c:ser>
        <c:ser>
          <c:idx val="1"/>
          <c:order val="1"/>
          <c:tx>
            <c:strRef>
              <c:f>Sheet1!$C$1</c:f>
              <c:strCache>
                <c:ptCount val="1"/>
                <c:pt idx="0">
                  <c:v>4.096 triplet</c:v>
                </c:pt>
              </c:strCache>
            </c:strRef>
          </c:tx>
          <c:spPr>
            <a:solidFill>
              <a:srgbClr val="0F4C4F"/>
            </a:solidFill>
            <a:ln w="31750" cap="flat">
              <a:solidFill>
                <a:srgbClr val="0F4C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0F4C4F"/>
              </a:solidFill>
              <a:ln w="9525" cap="flat">
                <a:solidFill>
                  <a:srgbClr val="0F4C4F"/>
                </a:solidFill>
                <a:prstDash val="solid"/>
                <a:round/>
              </a:ln>
              <a:effectLst/>
            </c:spPr>
          </c:marker>
          <c:cat>
            <c:multiLvlStrRef>
              <c:f>Sheet1!$A$2:$A$4</c:f>
              <c:multiLvlStrCache>
                <c:ptCount val="3"/>
                <c:lvl>
                  <c:pt idx="0">
                    <c:v>1 bước</c:v>
                  </c:pt>
                  <c:pt idx="1">
                    <c:v>2 bước</c:v>
                  </c:pt>
                  <c:pt idx="2">
                    <c:v>3 bước</c:v>
                  </c:pt>
                </c:lvl>
              </c:multiLvlStrCache>
            </c:multiLvlStrRef>
          </c:cat>
          <c:val>
            <c:numRef>
              <c:f>Sheet1!$C$2:$C$4</c:f>
              <c:numCache>
                <c:formatCode>General</c:formatCode>
                <c:ptCount val="3"/>
                <c:pt idx="0">
                  <c:v>46.3</c:v>
                </c:pt>
                <c:pt idx="1">
                  <c:v>65.9</c:v>
                </c:pt>
                <c:pt idx="2">
                  <c:v>95.1</c:v>
                </c:pt>
              </c:numCache>
            </c:numRef>
          </c:val>
          <c:smooth val="0"/>
        </c:ser>
        <c:ser>
          <c:idx val="2"/>
          <c:order val="2"/>
          <c:tx>
            <c:strRef>
              <c:f>Sheet1!$D$1</c:f>
              <c:strCache>
                <c:ptCount val="1"/>
                <c:pt idx="0">
                  <c:v>16.384 triplet</c:v>
                </c:pt>
              </c:strCache>
            </c:strRef>
          </c:tx>
          <c:spPr>
            <a:solidFill>
              <a:srgbClr val="E89B2D"/>
            </a:solidFill>
            <a:ln w="31750" cap="flat">
              <a:solidFill>
                <a:srgbClr val="E89B2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E89B2D"/>
              </a:solidFill>
              <a:ln w="9525" cap="flat">
                <a:solidFill>
                  <a:srgbClr val="E89B2D"/>
                </a:solidFill>
                <a:prstDash val="solid"/>
                <a:round/>
              </a:ln>
              <a:effectLst/>
            </c:spPr>
          </c:marker>
          <c:cat>
            <c:multiLvlStrRef>
              <c:f>Sheet1!$A$2:$A$4</c:f>
              <c:multiLvlStrCache>
                <c:ptCount val="3"/>
                <c:lvl>
                  <c:pt idx="0">
                    <c:v>1 bước</c:v>
                  </c:pt>
                  <c:pt idx="1">
                    <c:v>2 bước</c:v>
                  </c:pt>
                  <c:pt idx="2">
                    <c:v>3 bước</c:v>
                  </c:pt>
                </c:lvl>
              </c:multiLvlStrCache>
            </c:multiLvlStrRef>
          </c:cat>
          <c:val>
            <c:numRef>
              <c:f>Sheet1!$D$2:$D$4</c:f>
              <c:numCache>
                <c:formatCode>General</c:formatCode>
                <c:ptCount val="3"/>
                <c:pt idx="0">
                  <c:v>68.4</c:v>
                </c:pt>
                <c:pt idx="1">
                  <c:v>82.1</c:v>
                </c:pt>
                <c:pt idx="2">
                  <c:v>96.3</c:v>
                </c:pt>
              </c:numCache>
            </c:numRef>
          </c:val>
          <c:smooth val="0"/>
        </c:ser>
        <c:ser>
          <c:idx val="3"/>
          <c:order val="3"/>
          <c:tx>
            <c:strRef>
              <c:f>Sheet1!$E$1</c:f>
              <c:strCache>
                <c:ptCount val="1"/>
                <c:pt idx="0">
                  <c:v>65.536 triplet</c:v>
                </c:pt>
              </c:strCache>
            </c:strRef>
          </c:tx>
          <c:spPr>
            <a:solidFill>
              <a:srgbClr val="C8553D"/>
            </a:solidFill>
            <a:ln w="31750" cap="flat">
              <a:solidFill>
                <a:srgbClr val="C8553D"/>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8"/>
            <c:spPr>
              <a:solidFill>
                <a:srgbClr val="C8553D"/>
              </a:solidFill>
              <a:ln w="9525" cap="flat">
                <a:solidFill>
                  <a:srgbClr val="C8553D"/>
                </a:solidFill>
                <a:prstDash val="solid"/>
                <a:round/>
              </a:ln>
              <a:effectLst/>
            </c:spPr>
          </c:marker>
          <c:cat>
            <c:multiLvlStrRef>
              <c:f>Sheet1!$A$2:$A$4</c:f>
              <c:multiLvlStrCache>
                <c:ptCount val="3"/>
                <c:lvl>
                  <c:pt idx="0">
                    <c:v>1 bước</c:v>
                  </c:pt>
                  <c:pt idx="1">
                    <c:v>2 bước</c:v>
                  </c:pt>
                  <c:pt idx="2">
                    <c:v>3 bước</c:v>
                  </c:pt>
                </c:lvl>
              </c:multiLvlStrCache>
            </c:multiLvlStrRef>
          </c:cat>
          <c:val>
            <c:numRef>
              <c:f>Sheet1!$E$2:$E$4</c:f>
              <c:numCache>
                <c:formatCode>General</c:formatCode>
                <c:ptCount val="3"/>
                <c:pt idx="0">
                  <c:v>86.6</c:v>
                </c:pt>
                <c:pt idx="1">
                  <c:v>93.1</c:v>
                </c:pt>
                <c:pt idx="2">
                  <c:v>97.6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3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B6E"/>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 target development có đường user→SP→user→target</a:t>
            </a:r>
          </a:p>
        </c:rich>
      </c:tx>
      <c:layout/>
      <c:overlay val="0"/>
    </c:title>
    <c:autoTitleDeleted val="0"/>
    <c:plotArea>
      <c:layout/>
      <c:barChart>
        <c:barDir val="col"/>
        <c:grouping val="clustered"/>
        <c:varyColors val="0"/>
        <c:ser>
          <c:idx val="0"/>
          <c:order val="0"/>
          <c:tx>
            <c:strRef>
              <c:f>Sheet1!$B$1</c:f>
              <c:strCache>
                <c:ptCount val="1"/>
                <c:pt idx="0">
                  <c:v>% target có đường đi ≤3 bước</c:v>
                </c:pt>
              </c:strCache>
            </c:strRef>
          </c:tx>
          <c:spPr>
            <a:solidFill>
              <a:srgbClr val="0F4C4F"/>
            </a:solidFill>
            <a:effectLst/>
          </c:spPr>
          <c:invertIfNegative val="0"/>
          <c:dLbls>
            <c:numFmt formatCode="0.0" sourceLinked="0"/>
            <c:txPr>
              <a:bodyPr/>
              <a:lstStyle/>
              <a:p>
                <a:pPr>
                  <a:defRPr b="0" i="0" strike="noStrike" sz="1200" u="none">
                    <a:solidFill>
                      <a:srgbClr val="13262A"/>
                    </a:solidFill>
                    <a:latin typeface="Arial"/>
                  </a:defRPr>
                </a:pPr>
              </a:p>
            </c:txPr>
            <c:showLegendKey val="0"/>
            <c:showVal val="1"/>
            <c:showCatName val="0"/>
            <c:showSerName val="0"/>
            <c:showPercent val="0"/>
            <c:showBubbleSize val="0"/>
            <c:showLeaderLines val="0"/>
          </c:dLbls>
          <c:cat>
            <c:multiLvlStrRef>
              <c:f>Sheet1!$A$2:$A$5</c:f>
              <c:multiLvlStrCache>
                <c:ptCount val="4"/>
                <c:lvl>
                  <c:pt idx="0">
                    <c:v>Head</c:v>
                  </c:pt>
                  <c:pt idx="1">
                    <c:v>Body</c:v>
                  </c:pt>
                  <c:pt idx="2">
                    <c:v>Tail</c:v>
                  </c:pt>
                  <c:pt idx="3">
                    <c:v>Tất cả</c:v>
                  </c:pt>
                </c:lvl>
              </c:multiLvlStrCache>
            </c:multiLvlStrRef>
          </c:cat>
          <c:val>
            <c:numRef>
              <c:f>Sheet1!$B$2:$B$5</c:f>
              <c:numCache>
                <c:formatCode>General</c:formatCode>
                <c:ptCount val="4"/>
                <c:pt idx="0">
                  <c:v>53</c:v>
                </c:pt>
                <c:pt idx="1">
                  <c:v>16.9</c:v>
                </c:pt>
                <c:pt idx="2">
                  <c:v>4.5</c:v>
                </c:pt>
                <c:pt idx="3">
                  <c:v>29</c:v>
                </c:pt>
              </c:numCache>
            </c:numRef>
          </c:val>
        </c:ser>
        <c:dLbls>
          <c:numFmt formatCode="0.0" sourceLinked="0"/>
          <c:txPr>
            <a:bodyPr/>
            <a:lstStyle/>
            <a:p>
              <a:pPr>
                <a:defRPr b="0" i="0" strike="noStrike" sz="12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max val="6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 sản phẩm không có sản phẩm đồng mua nào (graph train)</a:t>
            </a:r>
          </a:p>
        </c:rich>
      </c:tx>
      <c:layout/>
      <c:overlay val="0"/>
    </c:title>
    <c:autoTitleDeleted val="0"/>
    <c:plotArea>
      <c:layout/>
      <c:barChart>
        <c:barDir val="col"/>
        <c:grouping val="clustered"/>
        <c:varyColors val="0"/>
        <c:ser>
          <c:idx val="0"/>
          <c:order val="0"/>
          <c:tx>
            <c:strRef>
              <c:f>Sheet1!$B$1</c:f>
              <c:strCache>
                <c:ptCount val="1"/>
                <c:pt idx="0">
                  <c:v>% sản phẩm không có sản phẩm đồng mua</c:v>
                </c:pt>
              </c:strCache>
            </c:strRef>
          </c:tx>
          <c:spPr>
            <a:solidFill>
              <a:srgbClr val="C8553D"/>
            </a:solidFill>
            <a:effectLst/>
          </c:spPr>
          <c:invertIfNegative val="0"/>
          <c:dLbls>
            <c:numFmt formatCode="0.0" sourceLinked="0"/>
            <c:txPr>
              <a:bodyPr/>
              <a:lstStyle/>
              <a:p>
                <a:pPr>
                  <a:defRPr b="0" i="0" strike="noStrike" sz="1200" u="none">
                    <a:solidFill>
                      <a:srgbClr val="13262A"/>
                    </a:solidFill>
                    <a:latin typeface="Arial"/>
                  </a:defRPr>
                </a:pPr>
              </a:p>
            </c:txPr>
            <c:showLegendKey val="0"/>
            <c:showVal val="1"/>
            <c:showCatName val="0"/>
            <c:showSerName val="0"/>
            <c:showPercent val="0"/>
            <c:showBubbleSize val="0"/>
            <c:showLeaderLines val="0"/>
          </c:dLbls>
          <c:cat>
            <c:multiLvlStrRef>
              <c:f>Sheet1!$A$2:$A$5</c:f>
              <c:multiLvlStrCache>
                <c:ptCount val="4"/>
                <c:lvl>
                  <c:pt idx="0">
                    <c:v>Head</c:v>
                  </c:pt>
                  <c:pt idx="1">
                    <c:v>Body</c:v>
                  </c:pt>
                  <c:pt idx="2">
                    <c:v>Tail</c:v>
                  </c:pt>
                  <c:pt idx="3">
                    <c:v>Tất cả</c:v>
                  </c:pt>
                </c:lvl>
              </c:multiLvlStrCache>
            </c:multiLvlStrRef>
          </c:cat>
          <c:val>
            <c:numRef>
              <c:f>Sheet1!$B$2:$B$5</c:f>
              <c:numCache>
                <c:formatCode>General</c:formatCode>
                <c:ptCount val="4"/>
                <c:pt idx="0">
                  <c:v>0</c:v>
                </c:pt>
                <c:pt idx="1">
                  <c:v>0.13</c:v>
                </c:pt>
                <c:pt idx="2">
                  <c:v>25.8</c:v>
                </c:pt>
                <c:pt idx="3">
                  <c:v>20.7</c:v>
                </c:pt>
              </c:numCache>
            </c:numRef>
          </c:val>
        </c:ser>
        <c:dLbls>
          <c:numFmt formatCode="0.0" sourceLinked="0"/>
          <c:txPr>
            <a:bodyPr/>
            <a:lstStyle/>
            <a:p>
              <a:pPr>
                <a:defRPr b="0" i="0" strike="noStrike" sz="12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max val="3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Target rơi vào nhóm nào</a:t>
            </a:r>
          </a:p>
        </c:rich>
      </c:tx>
      <c:layout/>
      <c:overlay val="0"/>
    </c:title>
    <c:autoTitleDeleted val="0"/>
    <c:plotArea>
      <c:layout/>
      <c:barChart>
        <c:barDir val="col"/>
        <c:grouping val="clustered"/>
        <c:varyColors val="0"/>
        <c:ser>
          <c:idx val="0"/>
          <c:order val="0"/>
          <c:tx>
            <c:strRef>
              <c:f>Sheet1!$B$1</c:f>
              <c:strCache>
                <c:ptCount val="1"/>
                <c:pt idx="0">
                  <c:v>% sản phẩm trong catalog</c:v>
                </c:pt>
              </c:strCache>
            </c:strRef>
          </c:tx>
          <c:spPr>
            <a:solidFill>
              <a:srgbClr val="C9D3D2"/>
            </a:solidFill>
            <a:effectLst/>
          </c:spPr>
          <c:invertIfNegative val="0"/>
          <c:dLbls>
            <c:numFmt formatCode="0.0"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cat>
            <c:multiLvlStrRef>
              <c:f>Sheet1!$A$2:$A$4</c:f>
              <c:multiLvlStrCache>
                <c:ptCount val="3"/>
                <c:lvl>
                  <c:pt idx="0">
                    <c:v>Head</c:v>
                  </c:pt>
                  <c:pt idx="1">
                    <c:v>Body</c:v>
                  </c:pt>
                  <c:pt idx="2">
                    <c:v>Tail</c:v>
                  </c:pt>
                </c:lvl>
              </c:multiLvlStrCache>
            </c:multiLvlStrRef>
          </c:cat>
          <c:val>
            <c:numRef>
              <c:f>Sheet1!$B$2:$B$4</c:f>
              <c:numCache>
                <c:formatCode>General</c:formatCode>
                <c:ptCount val="3"/>
                <c:pt idx="0">
                  <c:v>1</c:v>
                </c:pt>
                <c:pt idx="1">
                  <c:v>19</c:v>
                </c:pt>
                <c:pt idx="2">
                  <c:v>80</c:v>
                </c:pt>
              </c:numCache>
            </c:numRef>
          </c:val>
        </c:ser>
        <c:ser>
          <c:idx val="1"/>
          <c:order val="1"/>
          <c:tx>
            <c:strRef>
              <c:f>Sheet1!$C$1</c:f>
              <c:strCache>
                <c:ptCount val="1"/>
                <c:pt idx="0">
                  <c:v>% target development</c:v>
                </c:pt>
              </c:strCache>
            </c:strRef>
          </c:tx>
          <c:spPr>
            <a:solidFill>
              <a:srgbClr val="0F4C4F"/>
            </a:solidFill>
            <a:effectLst/>
          </c:spPr>
          <c:invertIfNegative val="0"/>
          <c:dLbls>
            <c:numFmt formatCode="0.0"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cat>
            <c:multiLvlStrRef>
              <c:f>Sheet1!$A$2:$A$4</c:f>
              <c:multiLvlStrCache>
                <c:ptCount val="3"/>
                <c:lvl>
                  <c:pt idx="0">
                    <c:v>Head</c:v>
                  </c:pt>
                  <c:pt idx="1">
                    <c:v>Body</c:v>
                  </c:pt>
                  <c:pt idx="2">
                    <c:v>Tail</c:v>
                  </c:pt>
                </c:lvl>
              </c:multiLvlStrCache>
            </c:multiLvlStrRef>
          </c:cat>
          <c:val>
            <c:numRef>
              <c:f>Sheet1!$C$2:$C$4</c:f>
              <c:numCache>
                <c:formatCode>General</c:formatCode>
                <c:ptCount val="3"/>
                <c:pt idx="0">
                  <c:v>37.3</c:v>
                </c:pt>
                <c:pt idx="1">
                  <c:v>49.8</c:v>
                </c:pt>
                <c:pt idx="2">
                  <c:v>12.9</c:v>
                </c:pt>
              </c:numCache>
            </c:numRef>
          </c:val>
        </c:ser>
        <c:dLbls>
          <c:numFmt formatCode="0.0"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 trong 162.125 sản phẩm train có trường</a:t>
            </a:r>
          </a:p>
        </c:rich>
      </c:tx>
      <c:layout/>
      <c:overlay val="0"/>
    </c:title>
    <c:autoTitleDeleted val="0"/>
    <c:plotArea>
      <c:layout/>
      <c:barChart>
        <c:barDir val="bar"/>
        <c:grouping val="clustered"/>
        <c:varyColors val="0"/>
        <c:ser>
          <c:idx val="0"/>
          <c:order val="0"/>
          <c:tx>
            <c:strRef>
              <c:f>Sheet1!$B$1</c:f>
              <c:strCache>
                <c:ptCount val="1"/>
                <c:pt idx="0">
                  <c:v>Độ phủ</c:v>
                </c:pt>
              </c:strCache>
            </c:strRef>
          </c:tx>
          <c:spPr>
            <a:solidFill>
              <a:srgbClr val="0F4C4F"/>
            </a:solidFill>
            <a:effectLst/>
          </c:spPr>
          <c:invertIfNegative val="0"/>
          <c:dLbls>
            <c:numFmt formatCode="0.0"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cat>
            <c:multiLvlStrRef>
              <c:f>Sheet1!$A$2:$A$7</c:f>
              <c:multiLvlStrCache>
                <c:ptCount val="6"/>
                <c:lvl>
                  <c:pt idx="0">
                    <c:v>Title</c:v>
                  </c:pt>
                  <c:pt idx="1">
                    <c:v>Store</c:v>
                  </c:pt>
                  <c:pt idx="2">
                    <c:v>Danh mục</c:v>
                  </c:pt>
                  <c:pt idx="3">
                    <c:v>Features</c:v>
                  </c:pt>
                  <c:pt idx="4">
                    <c:v>Mô tả</c:v>
                  </c:pt>
                  <c:pt idx="5">
                    <c:v>Giá</c:v>
                  </c:pt>
                </c:lvl>
              </c:multiLvlStrCache>
            </c:multiLvlStrRef>
          </c:cat>
          <c:val>
            <c:numRef>
              <c:f>Sheet1!$B$2:$B$7</c:f>
              <c:numCache>
                <c:formatCode>General</c:formatCode>
                <c:ptCount val="6"/>
                <c:pt idx="0">
                  <c:v>99.99</c:v>
                </c:pt>
                <c:pt idx="1">
                  <c:v>98.5</c:v>
                </c:pt>
                <c:pt idx="2">
                  <c:v>93.4</c:v>
                </c:pt>
                <c:pt idx="3">
                  <c:v>77.6</c:v>
                </c:pt>
                <c:pt idx="4">
                  <c:v>62.3</c:v>
                </c:pt>
                <c:pt idx="5">
                  <c:v>22.6</c:v>
                </c:pt>
              </c:numCache>
            </c:numRef>
          </c:val>
        </c:ser>
        <c:dLbls>
          <c:numFmt formatCode="0.0"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Danh mục cấp 2 lớn nhất (96 danh mục cấp 2, 448 danh mục lá)</a:t>
            </a:r>
          </a:p>
        </c:rich>
      </c:tx>
      <c:layout/>
      <c:overlay val="0"/>
    </c:title>
    <c:autoTitleDeleted val="0"/>
    <c:plotArea>
      <c:layout/>
      <c:barChart>
        <c:barDir val="col"/>
        <c:grouping val="clustered"/>
        <c:varyColors val="0"/>
        <c:ser>
          <c:idx val="0"/>
          <c:order val="0"/>
          <c:tx>
            <c:strRef>
              <c:f>Sheet1!$B$1</c:f>
              <c:strCache>
                <c:ptCount val="1"/>
                <c:pt idx="0">
                  <c:v>% sản phẩm</c:v>
                </c:pt>
              </c:strCache>
            </c:strRef>
          </c:tx>
          <c:spPr>
            <a:solidFill>
              <a:srgbClr val="C9D3D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Nursery</c:v>
                  </c:pt>
                  <c:pt idx="1">
                    <c:v>Feeding</c:v>
                  </c:pt>
                  <c:pt idx="2">
                    <c:v>Baby Care</c:v>
                  </c:pt>
                  <c:pt idx="3">
                    <c:v>Diapering</c:v>
                  </c:pt>
                  <c:pt idx="4">
                    <c:v>Safety</c:v>
                  </c:pt>
                  <c:pt idx="5">
                    <c:v>Car Seats</c:v>
                  </c:pt>
                  <c:pt idx="6">
                    <c:v>Strollers</c:v>
                  </c:pt>
                  <c:pt idx="7">
                    <c:v>Activity</c:v>
                  </c:pt>
                </c:lvl>
              </c:multiLvlStrCache>
            </c:multiLvlStrRef>
          </c:cat>
          <c:val>
            <c:numRef>
              <c:f>Sheet1!$B$2:$B$9</c:f>
              <c:numCache>
                <c:formatCode>General</c:formatCode>
                <c:ptCount val="8"/>
                <c:pt idx="0">
                  <c:v>32.7</c:v>
                </c:pt>
                <c:pt idx="1">
                  <c:v>13.5</c:v>
                </c:pt>
                <c:pt idx="2">
                  <c:v>9.6</c:v>
                </c:pt>
                <c:pt idx="3">
                  <c:v>12.7</c:v>
                </c:pt>
                <c:pt idx="4">
                  <c:v>6</c:v>
                </c:pt>
                <c:pt idx="5">
                  <c:v>4.2</c:v>
                </c:pt>
                <c:pt idx="6">
                  <c:v>5.1</c:v>
                </c:pt>
                <c:pt idx="7">
                  <c:v>1.8</c:v>
                </c:pt>
              </c:numCache>
            </c:numRef>
          </c:val>
        </c:ser>
        <c:ser>
          <c:idx val="1"/>
          <c:order val="1"/>
          <c:tx>
            <c:strRef>
              <c:f>Sheet1!$C$1</c:f>
              <c:strCache>
                <c:ptCount val="1"/>
                <c:pt idx="0">
                  <c:v>% tương tác</c:v>
                </c:pt>
              </c:strCache>
            </c:strRef>
          </c:tx>
          <c:spPr>
            <a:solidFill>
              <a:srgbClr val="E89B2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Sheet1!$A$2:$A$9</c:f>
              <c:multiLvlStrCache>
                <c:ptCount val="8"/>
                <c:lvl>
                  <c:pt idx="0">
                    <c:v>Nursery</c:v>
                  </c:pt>
                  <c:pt idx="1">
                    <c:v>Feeding</c:v>
                  </c:pt>
                  <c:pt idx="2">
                    <c:v>Baby Care</c:v>
                  </c:pt>
                  <c:pt idx="3">
                    <c:v>Diapering</c:v>
                  </c:pt>
                  <c:pt idx="4">
                    <c:v>Safety</c:v>
                  </c:pt>
                  <c:pt idx="5">
                    <c:v>Car Seats</c:v>
                  </c:pt>
                  <c:pt idx="6">
                    <c:v>Strollers</c:v>
                  </c:pt>
                  <c:pt idx="7">
                    <c:v>Activity</c:v>
                  </c:pt>
                </c:lvl>
              </c:multiLvlStrCache>
            </c:multiLvlStrRef>
          </c:cat>
          <c:val>
            <c:numRef>
              <c:f>Sheet1!$C$2:$C$9</c:f>
              <c:numCache>
                <c:formatCode>General</c:formatCode>
                <c:ptCount val="8"/>
                <c:pt idx="0">
                  <c:v>22.4</c:v>
                </c:pt>
                <c:pt idx="1">
                  <c:v>17.9</c:v>
                </c:pt>
                <c:pt idx="2">
                  <c:v>12.2</c:v>
                </c:pt>
                <c:pt idx="3">
                  <c:v>12</c:v>
                </c:pt>
                <c:pt idx="4">
                  <c:v>11.3</c:v>
                </c:pt>
                <c:pt idx="5">
                  <c:v>7</c:v>
                </c:pt>
                <c:pt idx="6">
                  <c:v>4.4</c:v>
                </c:pt>
                <c:pt idx="7">
                  <c:v>3.7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E6B6E"/>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3262A"/>
                </a:solidFill>
                <a:latin typeface="Arial"/>
              </a:defRPr>
            </a:pPr>
            <a:r>
              <a:rPr sz="1200" b="0" i="0" u="none" strike="noStrike">
                <a:solidFill>
                  <a:srgbClr val="13262A"/>
                </a:solidFill>
                <a:latin typeface="Arial"/>
              </a:rPr>
              <a:t>Điểm NDCG@20 theo hạng của item đúng</a:t>
            </a:r>
          </a:p>
        </c:rich>
      </c:tx>
      <c:layout/>
      <c:overlay val="0"/>
    </c:title>
    <c:autoTitleDeleted val="0"/>
    <c:plotArea>
      <c:layout/>
      <c:barChart>
        <c:barDir val="col"/>
        <c:grouping val="clustered"/>
        <c:varyColors val="0"/>
        <c:ser>
          <c:idx val="0"/>
          <c:order val="0"/>
          <c:tx>
            <c:strRef>
              <c:f>Sheet1!$B$1</c:f>
              <c:strCache>
                <c:ptCount val="1"/>
                <c:pt idx="0">
                  <c:v>NDCG@20</c:v>
                </c:pt>
              </c:strCache>
            </c:strRef>
          </c:tx>
          <c:spPr>
            <a:solidFill>
              <a:srgbClr val="E89B2D"/>
            </a:solidFill>
            <a:effectLst/>
          </c:spPr>
          <c:invertIfNegative val="0"/>
          <c:dLbls>
            <c:numFmt formatCode="0.00"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cat>
            <c:multiLvlStrRef>
              <c:f>Sheet1!$A$2:$A$8</c:f>
              <c:multiLvlStrCache>
                <c:ptCount val="7"/>
                <c:lvl>
                  <c:pt idx="0">
                    <c:v>hạng 1</c:v>
                  </c:pt>
                  <c:pt idx="1">
                    <c:v>hạng 2</c:v>
                  </c:pt>
                  <c:pt idx="2">
                    <c:v>hạng 3</c:v>
                  </c:pt>
                  <c:pt idx="3">
                    <c:v>hạng 5</c:v>
                  </c:pt>
                  <c:pt idx="4">
                    <c:v>hạng 10</c:v>
                  </c:pt>
                  <c:pt idx="5">
                    <c:v>hạng 20</c:v>
                  </c:pt>
                  <c:pt idx="6">
                    <c:v>hạng 21+</c:v>
                  </c:pt>
                </c:lvl>
              </c:multiLvlStrCache>
            </c:multiLvlStrRef>
          </c:cat>
          <c:val>
            <c:numRef>
              <c:f>Sheet1!$B$2:$B$8</c:f>
              <c:numCache>
                <c:formatCode>General</c:formatCode>
                <c:ptCount val="7"/>
                <c:pt idx="0">
                  <c:v>1</c:v>
                </c:pt>
                <c:pt idx="1">
                  <c:v>0.631</c:v>
                </c:pt>
                <c:pt idx="2">
                  <c:v>0.5</c:v>
                </c:pt>
                <c:pt idx="3">
                  <c:v>0.387</c:v>
                </c:pt>
                <c:pt idx="4">
                  <c:v>0.289</c:v>
                </c:pt>
                <c:pt idx="5">
                  <c:v>0.228</c:v>
                </c:pt>
                <c:pt idx="6">
                  <c:v>0</c:v>
                </c:pt>
              </c:numCache>
            </c:numRef>
          </c:val>
        </c:ser>
        <c:dLbls>
          <c:numFmt formatCode="0.00" sourceLinked="0"/>
          <c:txPr>
            <a:bodyPr/>
            <a:lstStyle/>
            <a:p>
              <a:pPr>
                <a:defRPr b="0" i="0" strike="noStrike" sz="1100" u="none">
                  <a:solidFill>
                    <a:srgbClr val="1326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3262A"/>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Mục tiêu buổi này: trình bày đúng bài toán giai đoạn 2, thiết kế phương pháp, cách đánh giá và khối lượng công việc. Không có kết quả phương pháp nào được trình bày vì chưa chạy.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ý chính. Nhấn mạnh: phương pháp là biến thể GRAPES có sampler học được, không phải heuristic cố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bùng nổ lân cận bằng số thật của dữ liệu. Σd²/Σd là bậc trung bình của item khi đi theo một cạnh ngẫu nhiên — đó là thứ lan truyền thực sự gặp phải, lớn hơn nhiều so với bậc trung bình 23,9.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câu hỏi sampling hoặc distributed trong ghi chú của cô.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lý do tái hiện ở giai đoạn 1: kiểm tra cơ chế học sampler trước khi chuyển sang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mạnh phần thay thế: target, feature, loss, evaluation, leakage đều khác.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Minh bạch với cô: đã phát hiện lệch scope và ghi vào decision log DL-001. Checklist G1–G7 là định nghĩa thế nào mới là biến thể GRAPES.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Amazon có nhiều danh mục, lượng giao dịch lớn, có metadata sản phẩm nếu sau này cần đo ngữ nghĩa.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dữ liệu nhiễu nhiều không, có nên loại bỏ không, tính cân bằng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bao nhiêu sản phẩm, histogram cho từng sản phẩm, không đủ dữ liệu, cần biểu diễn dữ liệu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feedback của cô: bao nhiêu sản phẩm, histogram, mất cân bằng, nhiễu và có nên loại bỏ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t1 = 1628643414042 ms, t2 = 1658002729837 ms. Quy tắc t0 đã đăng ký trước, có quy tắc dự phòng nếu D_dev quá nhỏ.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“converat” trong ghi chú là coverage thì đã có; nếu là conversion rate thì giải thích vì sao không đo được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mối quan hệ giữa các node để có giá trị như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Trả lời: nếu quan tâm tiêu chí gì thì xem các giá trị tiếp theo mang lại sẽ như thế nào; và trade-off.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Sampler chỉ dùng lúc huấn luyện; đánh giá dùng LightGCN full-graph trên embedding đã học. Việc thay backbone khác chưa được thiết kế hay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 q dùng Bernoulli trên cả node chọn và không chọn. Snapshot code GRAPES local (modules/utils.py) cũng trả Bernoulli log_prob trên toàn bộ mask khi k &lt; |C|, và logsigmoid của mọi ứng viên khi k ≥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TB theo Malkin et al. 2022 [3]. α và log_z_init sẽ quét trên development split. Các file config GRAPES (snapshot local) dùng loss_coef 151,6–789.615 (GFlowNet) và 210,5–93.660 (RL): results/reference_sources/grapes_official_configs.json.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phần suy nghĩ sâu về vì sao không port nguyên xi. Mỗi rủi ro gắn với một gate đo được.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Tầng C cần cô góp ý (OD-1).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luận được phép: chỉ nói GRAPES-GFN-Rec cải thiện nếu Δ NDCG@20 &gt; 0 ở mọi seed holdout và chi phí được báo đủ.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Quy tắc: kết quả âm vẫn là kết quả; không dùng test để chọn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bằng những quyết định cần cô góp ý trước gate R4.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chart" Target="/ppt/charts/chart4.xm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image" Target="../media/image-15-1.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chart" Target="/ppt/charts/chart12.xml"/><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13.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chart" Target="/ppt/charts/chart14.xml"/><Relationship Id="rId2" Type="http://schemas.openxmlformats.org/officeDocument/2006/relationships/chart" Target="/ppt/charts/chart15.xml"/><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6.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4F"/>
        </a:solidFill>
      </p:bgPr>
    </p:bg>
    <p:spTree>
      <p:nvGrpSpPr>
        <p:cNvPr id="1" name=""/>
        <p:cNvGrpSpPr/>
        <p:nvPr/>
      </p:nvGrpSpPr>
      <p:grpSpPr>
        <a:xfrm>
          <a:off x="0" y="0"/>
          <a:ext cx="0" cy="0"/>
          <a:chOff x="0" y="0"/>
          <a:chExt cx="0" cy="0"/>
        </a:xfrm>
      </p:grpSpPr>
      <p:sp>
        <p:nvSpPr>
          <p:cNvPr id="2" name="Shape 0"/>
          <p:cNvSpPr/>
          <p:nvPr/>
        </p:nvSpPr>
        <p:spPr>
          <a:xfrm flipH="1">
            <a:off x="8961120" y="1005840"/>
            <a:ext cx="1463040" cy="365760"/>
          </a:xfrm>
          <a:prstGeom prst="line">
            <a:avLst/>
          </a:prstGeom>
          <a:noFill/>
          <a:ln w="19050">
            <a:solidFill>
              <a:srgbClr val="5E9C98"/>
            </a:solidFill>
            <a:prstDash val="solid"/>
          </a:ln>
        </p:spPr>
      </p:sp>
      <p:sp>
        <p:nvSpPr>
          <p:cNvPr id="3" name="Shape 1"/>
          <p:cNvSpPr/>
          <p:nvPr/>
        </p:nvSpPr>
        <p:spPr>
          <a:xfrm>
            <a:off x="10424160" y="1005840"/>
            <a:ext cx="1005840" cy="1097280"/>
          </a:xfrm>
          <a:prstGeom prst="line">
            <a:avLst/>
          </a:prstGeom>
          <a:noFill/>
          <a:ln w="19050">
            <a:solidFill>
              <a:srgbClr val="5E9C98"/>
            </a:solidFill>
            <a:prstDash val="solid"/>
          </a:ln>
        </p:spPr>
      </p:sp>
      <p:sp>
        <p:nvSpPr>
          <p:cNvPr id="4" name="Shape 2"/>
          <p:cNvSpPr/>
          <p:nvPr/>
        </p:nvSpPr>
        <p:spPr>
          <a:xfrm>
            <a:off x="8961120" y="1371600"/>
            <a:ext cx="914400" cy="1188720"/>
          </a:xfrm>
          <a:prstGeom prst="line">
            <a:avLst/>
          </a:prstGeom>
          <a:noFill/>
          <a:ln w="19050">
            <a:solidFill>
              <a:srgbClr val="5E9C98"/>
            </a:solidFill>
            <a:prstDash val="solid"/>
          </a:ln>
        </p:spPr>
      </p:sp>
      <p:sp>
        <p:nvSpPr>
          <p:cNvPr id="5" name="Shape 3"/>
          <p:cNvSpPr/>
          <p:nvPr/>
        </p:nvSpPr>
        <p:spPr>
          <a:xfrm flipH="1">
            <a:off x="9875520" y="2103120"/>
            <a:ext cx="1554480" cy="457200"/>
          </a:xfrm>
          <a:prstGeom prst="line">
            <a:avLst/>
          </a:prstGeom>
          <a:noFill/>
          <a:ln w="19050">
            <a:solidFill>
              <a:srgbClr val="5E9C98"/>
            </a:solidFill>
            <a:prstDash val="solid"/>
          </a:ln>
        </p:spPr>
      </p:sp>
      <p:sp>
        <p:nvSpPr>
          <p:cNvPr id="6" name="Shape 4"/>
          <p:cNvSpPr/>
          <p:nvPr/>
        </p:nvSpPr>
        <p:spPr>
          <a:xfrm>
            <a:off x="9875520" y="2560320"/>
            <a:ext cx="1097280" cy="914400"/>
          </a:xfrm>
          <a:prstGeom prst="line">
            <a:avLst/>
          </a:prstGeom>
          <a:noFill/>
          <a:ln w="19050">
            <a:solidFill>
              <a:srgbClr val="5E9C98"/>
            </a:solidFill>
            <a:prstDash val="solid"/>
          </a:ln>
        </p:spPr>
      </p:sp>
      <p:sp>
        <p:nvSpPr>
          <p:cNvPr id="7" name="Shape 5"/>
          <p:cNvSpPr/>
          <p:nvPr/>
        </p:nvSpPr>
        <p:spPr>
          <a:xfrm flipH="1">
            <a:off x="10972800" y="2103120"/>
            <a:ext cx="457200" cy="1371600"/>
          </a:xfrm>
          <a:prstGeom prst="line">
            <a:avLst/>
          </a:prstGeom>
          <a:noFill/>
          <a:ln w="19050">
            <a:solidFill>
              <a:srgbClr val="5E9C98"/>
            </a:solidFill>
            <a:prstDash val="solid"/>
          </a:ln>
        </p:spPr>
      </p:sp>
      <p:sp>
        <p:nvSpPr>
          <p:cNvPr id="8" name="Shape 6"/>
          <p:cNvSpPr/>
          <p:nvPr/>
        </p:nvSpPr>
        <p:spPr>
          <a:xfrm flipH="1">
            <a:off x="9235440" y="2560320"/>
            <a:ext cx="640080" cy="1188720"/>
          </a:xfrm>
          <a:prstGeom prst="line">
            <a:avLst/>
          </a:prstGeom>
          <a:noFill/>
          <a:ln w="19050">
            <a:solidFill>
              <a:srgbClr val="5E9C98"/>
            </a:solidFill>
            <a:prstDash val="solid"/>
          </a:ln>
        </p:spPr>
      </p:sp>
      <p:sp>
        <p:nvSpPr>
          <p:cNvPr id="9" name="Shape 7"/>
          <p:cNvSpPr/>
          <p:nvPr/>
        </p:nvSpPr>
        <p:spPr>
          <a:xfrm flipH="1">
            <a:off x="9235440" y="3474720"/>
            <a:ext cx="1737360" cy="274320"/>
          </a:xfrm>
          <a:prstGeom prst="line">
            <a:avLst/>
          </a:prstGeom>
          <a:noFill/>
          <a:ln w="19050">
            <a:solidFill>
              <a:srgbClr val="5E9C98"/>
            </a:solidFill>
            <a:prstDash val="solid"/>
          </a:ln>
        </p:spPr>
      </p:sp>
      <p:sp>
        <p:nvSpPr>
          <p:cNvPr id="10" name="Shape 8"/>
          <p:cNvSpPr/>
          <p:nvPr/>
        </p:nvSpPr>
        <p:spPr>
          <a:xfrm>
            <a:off x="8778240" y="1188720"/>
            <a:ext cx="365760" cy="365760"/>
          </a:xfrm>
          <a:prstGeom prst="ellipse">
            <a:avLst/>
          </a:prstGeom>
          <a:solidFill>
            <a:srgbClr val="A9CFCB"/>
          </a:solidFill>
          <a:ln w="25400">
            <a:solidFill>
              <a:srgbClr val="0F4C4F"/>
            </a:solidFill>
            <a:prstDash val="solid"/>
          </a:ln>
        </p:spPr>
      </p:sp>
      <p:sp>
        <p:nvSpPr>
          <p:cNvPr id="11" name="Shape 9"/>
          <p:cNvSpPr/>
          <p:nvPr/>
        </p:nvSpPr>
        <p:spPr>
          <a:xfrm>
            <a:off x="10241280" y="822960"/>
            <a:ext cx="365760" cy="365760"/>
          </a:xfrm>
          <a:prstGeom prst="ellipse">
            <a:avLst/>
          </a:prstGeom>
          <a:solidFill>
            <a:srgbClr val="E89B2D"/>
          </a:solidFill>
          <a:ln w="25400">
            <a:solidFill>
              <a:srgbClr val="0F4C4F"/>
            </a:solidFill>
            <a:prstDash val="solid"/>
          </a:ln>
        </p:spPr>
      </p:sp>
      <p:sp>
        <p:nvSpPr>
          <p:cNvPr id="12" name="Shape 10"/>
          <p:cNvSpPr/>
          <p:nvPr/>
        </p:nvSpPr>
        <p:spPr>
          <a:xfrm>
            <a:off x="11247120" y="1920240"/>
            <a:ext cx="365760" cy="365760"/>
          </a:xfrm>
          <a:prstGeom prst="ellipse">
            <a:avLst/>
          </a:prstGeom>
          <a:solidFill>
            <a:srgbClr val="A9CFCB"/>
          </a:solidFill>
          <a:ln w="25400">
            <a:solidFill>
              <a:srgbClr val="0F4C4F"/>
            </a:solidFill>
            <a:prstDash val="solid"/>
          </a:ln>
        </p:spPr>
      </p:sp>
      <p:sp>
        <p:nvSpPr>
          <p:cNvPr id="13" name="Shape 11"/>
          <p:cNvSpPr/>
          <p:nvPr/>
        </p:nvSpPr>
        <p:spPr>
          <a:xfrm>
            <a:off x="9692640" y="2377440"/>
            <a:ext cx="365760" cy="365760"/>
          </a:xfrm>
          <a:prstGeom prst="ellipse">
            <a:avLst/>
          </a:prstGeom>
          <a:solidFill>
            <a:srgbClr val="E89B2D"/>
          </a:solidFill>
          <a:ln w="25400">
            <a:solidFill>
              <a:srgbClr val="0F4C4F"/>
            </a:solidFill>
            <a:prstDash val="solid"/>
          </a:ln>
        </p:spPr>
      </p:sp>
      <p:sp>
        <p:nvSpPr>
          <p:cNvPr id="14" name="Shape 12"/>
          <p:cNvSpPr/>
          <p:nvPr/>
        </p:nvSpPr>
        <p:spPr>
          <a:xfrm>
            <a:off x="10789920" y="3291840"/>
            <a:ext cx="365760" cy="365760"/>
          </a:xfrm>
          <a:prstGeom prst="ellipse">
            <a:avLst/>
          </a:prstGeom>
          <a:solidFill>
            <a:srgbClr val="E89B2D"/>
          </a:solidFill>
          <a:ln w="25400">
            <a:solidFill>
              <a:srgbClr val="0F4C4F"/>
            </a:solidFill>
            <a:prstDash val="solid"/>
          </a:ln>
        </p:spPr>
      </p:sp>
      <p:sp>
        <p:nvSpPr>
          <p:cNvPr id="15" name="Shape 13"/>
          <p:cNvSpPr/>
          <p:nvPr/>
        </p:nvSpPr>
        <p:spPr>
          <a:xfrm>
            <a:off x="9052560" y="3566160"/>
            <a:ext cx="365760" cy="365760"/>
          </a:xfrm>
          <a:prstGeom prst="ellipse">
            <a:avLst/>
          </a:prstGeom>
          <a:solidFill>
            <a:srgbClr val="A9CFCB"/>
          </a:solidFill>
          <a:ln w="25400">
            <a:solidFill>
              <a:srgbClr val="0F4C4F"/>
            </a:solidFill>
            <a:prstDash val="solid"/>
          </a:ln>
        </p:spPr>
      </p:sp>
      <p:sp>
        <p:nvSpPr>
          <p:cNvPr id="16" name="Text 14"/>
          <p:cNvSpPr txBox="1"/>
          <p:nvPr/>
        </p:nvSpPr>
        <p:spPr>
          <a:xfrm>
            <a:off x="640080" y="1097280"/>
            <a:ext cx="7315200" cy="365760"/>
          </a:xfrm>
          <a:prstGeom prst="rect">
            <a:avLst/>
          </a:prstGeom>
          <a:noFill/>
          <a:ln/>
        </p:spPr>
        <p:txBody>
          <a:bodyPr wrap="square" lIns="0" tIns="0" rIns="0" bIns="0" rtlCol="0" anchor="ctr"/>
          <a:lstStyle/>
          <a:p>
            <a:pPr indent="0" marL="0">
              <a:buNone/>
            </a:pPr>
            <a:r>
              <a:rPr lang="en-US" sz="1400" b="1" spc="200" kern="0" dirty="0">
                <a:solidFill>
                  <a:srgbClr val="E89B2D"/>
                </a:solidFill>
                <a:latin typeface="Calibri" pitchFamily="34" charset="0"/>
                <a:ea typeface="Calibri" pitchFamily="34" charset="-122"/>
                <a:cs typeface="Calibri" pitchFamily="34" charset="-120"/>
              </a:rPr>
              <a:t>LUẬN VĂN · BẢN SỐNG 0.5</a:t>
            </a:r>
            <a:endParaRPr lang="en-US" sz="1400" dirty="0"/>
          </a:p>
        </p:txBody>
      </p:sp>
      <p:sp>
        <p:nvSpPr>
          <p:cNvPr id="17" name="Text 15"/>
          <p:cNvSpPr txBox="1"/>
          <p:nvPr/>
        </p:nvSpPr>
        <p:spPr>
          <a:xfrm>
            <a:off x="640080" y="1645920"/>
            <a:ext cx="777240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GRAPES-GFN-Rec</a:t>
            </a:r>
            <a:endParaRPr lang="en-US" sz="4800" dirty="0"/>
          </a:p>
        </p:txBody>
      </p:sp>
      <p:sp>
        <p:nvSpPr>
          <p:cNvPr id="18" name="Text 16"/>
          <p:cNvSpPr txBox="1"/>
          <p:nvPr/>
        </p:nvSpPr>
        <p:spPr>
          <a:xfrm>
            <a:off x="640080" y="2606040"/>
            <a:ext cx="7772400" cy="914400"/>
          </a:xfrm>
          <a:prstGeom prst="rect">
            <a:avLst/>
          </a:prstGeom>
          <a:noFill/>
          <a:ln/>
        </p:spPr>
        <p:txBody>
          <a:bodyPr wrap="square" lIns="0" tIns="0" rIns="0" bIns="0" rtlCol="0" anchor="t"/>
          <a:lstStyle/>
          <a:p>
            <a:pPr indent="0" marL="0">
              <a:buNone/>
            </a:pPr>
            <a:r>
              <a:rPr lang="en-US" sz="2400" dirty="0">
                <a:solidFill>
                  <a:srgbClr val="DCEBEA"/>
                </a:solidFill>
                <a:latin typeface="Cambria" pitchFamily="34" charset="0"/>
                <a:ea typeface="Cambria" pitchFamily="34" charset="-122"/>
                <a:cs typeface="Cambria" pitchFamily="34" charset="-120"/>
              </a:rPr>
              <a:t>Học cách lấy mẫu đồ thị cho hệ gợi ý quy mô lớn dùng GNN</a:t>
            </a:r>
            <a:endParaRPr lang="en-US" sz="2400" dirty="0"/>
          </a:p>
        </p:txBody>
      </p:sp>
      <p:sp>
        <p:nvSpPr>
          <p:cNvPr id="19" name="Text 17"/>
          <p:cNvSpPr txBox="1"/>
          <p:nvPr/>
        </p:nvSpPr>
        <p:spPr>
          <a:xfrm>
            <a:off x="640080" y="4023360"/>
            <a:ext cx="8046720" cy="822960"/>
          </a:xfrm>
          <a:prstGeom prst="rect">
            <a:avLst/>
          </a:prstGeom>
          <a:noFill/>
          <a:ln/>
        </p:spPr>
        <p:txBody>
          <a:bodyPr wrap="square" lIns="0" tIns="0" rIns="0" bIns="0" rtlCol="0" anchor="ctr"/>
          <a:lstStyle/>
          <a:p>
            <a:pPr indent="0" marL="0">
              <a:buNone/>
            </a:pPr>
            <a:r>
              <a:rPr lang="en-US" sz="1400" i="1" dirty="0">
                <a:solidFill>
                  <a:srgbClr val="BFD8D5"/>
                </a:solidFill>
                <a:latin typeface="Calibri" pitchFamily="34" charset="0"/>
                <a:ea typeface="Calibri" pitchFamily="34" charset="-122"/>
                <a:cs typeface="Calibri" pitchFamily="34" charset="-120"/>
              </a:rPr>
              <a:t>Develop graph sampling for large-scale recommendation system using GNN</a:t>
            </a:r>
            <a:endParaRPr lang="en-US" sz="1400" dirty="0"/>
          </a:p>
          <a:p>
            <a:pPr indent="0" marL="0">
              <a:buNone/>
            </a:pPr>
            <a:r>
              <a:rPr lang="en-US" sz="1400" dirty="0">
                <a:solidFill>
                  <a:srgbClr val="BFD8D5"/>
                </a:solidFill>
                <a:latin typeface="Calibri" pitchFamily="34" charset="0"/>
                <a:ea typeface="Calibri" pitchFamily="34" charset="-122"/>
                <a:cs typeface="Calibri" pitchFamily="34" charset="-120"/>
              </a:rPr>
              <a:t>Dữ liệu: Amazon Reviews'23 Baby_Products · Backbone: LightGCN · Sampler: GRAPES + GFlowNet</a:t>
            </a:r>
            <a:endParaRPr lang="en-US" sz="1400" dirty="0"/>
          </a:p>
        </p:txBody>
      </p:sp>
      <p:sp>
        <p:nvSpPr>
          <p:cNvPr id="20" name="Text 18"/>
          <p:cNvSpPr txBox="1"/>
          <p:nvPr/>
        </p:nvSpPr>
        <p:spPr>
          <a:xfrm>
            <a:off x="640080" y="5760720"/>
            <a:ext cx="10058400" cy="45720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Cập nhật 17/09/2026. Tài liệu được bồi đắp theo từng gate đến khi nộp (11/2026). Phần “ĐANG CHỜ” chưa có số liệu.</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BẢN SỐNG</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Trạng thái các chương và nhật ký cập nhật</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2</a:t>
            </a:r>
            <a:endParaRPr lang="en-US" sz="1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011680"/>
                <a:gridCol w="5120640"/>
                <a:gridCol w="2103120"/>
                <a:gridCol w="182880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Chương</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Nội dung</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Trạng thái</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Gate điền tiếp</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1 Mở đầu</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Bùng nổ lân cận, sampling vs distributed, GRAPES, câu hỏi nghiên cứu</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2E7D7A"/>
                          </a:solidFill>
                          <a:latin typeface="Calibri" pitchFamily="34" charset="0"/>
                          <a:ea typeface="Calibri" pitchFamily="34" charset="-122"/>
                          <a:cs typeface="Calibri" pitchFamily="34" charset="-120"/>
                        </a:rPr>
                        <a:t>Có</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2 Dữ liệu</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Chất lượng, rating, histogram, long-tail, cold-start, thời gian, bất thường, đồng mua, lân cận, metadata, dev split</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2E7D7A"/>
                          </a:solidFill>
                          <a:latin typeface="Calibri" pitchFamily="34" charset="0"/>
                          <a:ea typeface="Calibri" pitchFamily="34" charset="-122"/>
                          <a:cs typeface="Calibri" pitchFamily="34" charset="-120"/>
                        </a:rPr>
                        <a:t>Có (notebook 11)</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3 Góp ý của cô</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Context, NDCG, coverage/conversion, ngữ nghĩa, đa dạng, quan hệ node, trade-off</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E89B2D"/>
                          </a:solidFill>
                          <a:latin typeface="Calibri" pitchFamily="34" charset="0"/>
                          <a:ea typeface="Calibri" pitchFamily="34" charset="-122"/>
                          <a:cs typeface="Calibri" pitchFamily="34" charset="-120"/>
                        </a:rPr>
                        <a:t>Có · số theo mô hình chờ R5</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R5, R6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4 Phương pháp</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GRAPES-GFN-Rec, hàm mục tiêu, điểm riêng của gợi ý</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2E7D7A"/>
                          </a:solidFill>
                          <a:latin typeface="Calibri" pitchFamily="34" charset="0"/>
                          <a:ea typeface="Calibri" pitchFamily="34" charset="-122"/>
                          <a:cs typeface="Calibri" pitchFamily="34" charset="-120"/>
                        </a:rPr>
                        <a:t>Có</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R2 hoàn tất</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5 Thiết kế thực nghiệm</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Phương pháp so sánh, chỉ số, tiêu chí</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2E7D7A"/>
                          </a:solidFill>
                          <a:latin typeface="Calibri" pitchFamily="34" charset="0"/>
                          <a:ea typeface="Calibri" pitchFamily="34" charset="-122"/>
                          <a:cs typeface="Calibri" pitchFamily="34" charset="-120"/>
                        </a:rPr>
                        <a:t>Có</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R4 freeze</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6 Kết quả</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Development, holdout, hành vi sampler, budget, ngữ nghĩa</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C8553D"/>
                          </a:solidFill>
                          <a:latin typeface="Calibri" pitchFamily="34" charset="0"/>
                          <a:ea typeface="Calibri" pitchFamily="34" charset="-122"/>
                          <a:cs typeface="Calibri" pitchFamily="34" charset="-120"/>
                        </a:rPr>
                        <a:t>Đang chờ</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R3, R5, R6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7 Kế hoạch &amp; kết luận</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Tiến độ đến 30/11, rủi ro, tổng kết</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E89B2D"/>
                          </a:solidFill>
                          <a:latin typeface="Calibri" pitchFamily="34" charset="0"/>
                          <a:ea typeface="Calibri" pitchFamily="34" charset="-122"/>
                          <a:cs typeface="Calibri" pitchFamily="34" charset="-120"/>
                        </a:rPr>
                        <a:t>Kế hoạch có · kết luận chờ</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R6, R7</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120640"/>
            <a:ext cx="11064240" cy="1188720"/>
          </a:xfrm>
          <a:prstGeom prst="rect">
            <a:avLst/>
          </a:prstGeom>
          <a:noFill/>
          <a:ln/>
        </p:spPr>
        <p:txBody>
          <a:bodyPr wrap="square" lIns="0" tIns="0" rIns="0" bIns="0" rtlCol="0" anchor="t"/>
          <a:lstStyle/>
          <a:p>
            <a:pPr indent="0" marL="0">
              <a:spcAft>
                <a:spcPts val="200"/>
              </a:spcAft>
              <a:buNone/>
            </a:pPr>
            <a:r>
              <a:rPr lang="en-US" sz="1250" b="1" dirty="0">
                <a:solidFill>
                  <a:srgbClr val="13262A"/>
                </a:solidFill>
                <a:latin typeface="Calibri" pitchFamily="34" charset="0"/>
                <a:ea typeface="Calibri" pitchFamily="34" charset="-122"/>
                <a:cs typeface="Calibri" pitchFamily="34" charset="-120"/>
              </a:rPr>
              <a:t>Nhật ký</a:t>
            </a:r>
            <a:endParaRPr lang="en-US" sz="1250" dirty="0"/>
          </a:p>
          <a:p>
            <a:pPr indent="0" marL="0">
              <a:spcAft>
                <a:spcPts val="200"/>
              </a:spcAft>
              <a:buNone/>
            </a:pPr>
            <a:r>
              <a:rPr lang="en-US" sz="1250" dirty="0">
                <a:solidFill>
                  <a:srgbClr val="13262A"/>
                </a:solidFill>
                <a:latin typeface="Calibri" pitchFamily="34" charset="0"/>
                <a:ea typeface="Calibri" pitchFamily="34" charset="-122"/>
                <a:cs typeface="Calibri" pitchFamily="34" charset="-120"/>
              </a:rPr>
              <a:t>0.5 (17/09) — rà soát chống bịa đặt: sửa diễn giải Jaccard, dải loss_coef GRAPES, tỷ lệ user mới 54–60%, bỏ các suy đoán không có số liệu (nguyên nhân bất thường, backbone khác, ví dụ distributed); mọi số phái sinh ghi ở results/doc_facts/doc_facts.json.</a:t>
            </a:r>
            <a:endParaRPr lang="en-US" sz="1250" dirty="0"/>
          </a:p>
          <a:p>
            <a:pPr indent="0" marL="0">
              <a:spcAft>
                <a:spcPts val="200"/>
              </a:spcAft>
              <a:buNone/>
            </a:pPr>
            <a:r>
              <a:rPr lang="en-US" sz="1250" dirty="0">
                <a:solidFill>
                  <a:srgbClr val="13262A"/>
                </a:solidFill>
                <a:latin typeface="Calibri" pitchFamily="34" charset="0"/>
                <a:ea typeface="Calibri" pitchFamily="34" charset="-122"/>
                <a:cs typeface="Calibri" pitchFamily="34" charset="-120"/>
              </a:rPr>
              <a:t>0.4 (16/09) — điền kết quả notebook 11: rating theo độ phổ biến, thời gian, bất thường, đồng mua, bùng nổ lân cận thực đo, khả năng chạm target, metadata, development split (R1 xong).</a:t>
            </a:r>
            <a:endParaRPr lang="en-US" sz="1250" dirty="0"/>
          </a:p>
          <a:p>
            <a:pPr indent="0" marL="0">
              <a:spcAft>
                <a:spcPts val="200"/>
              </a:spcAft>
              <a:buNone/>
            </a:pPr>
            <a:r>
              <a:rPr lang="en-US" sz="1250" dirty="0">
                <a:solidFill>
                  <a:srgbClr val="13262A"/>
                </a:solidFill>
                <a:latin typeface="Calibri" pitchFamily="34" charset="0"/>
                <a:ea typeface="Calibri" pitchFamily="34" charset="-122"/>
                <a:cs typeface="Calibri" pitchFamily="34" charset="-120"/>
              </a:rPr>
              <a:t>0.3 (16/09) — chuyển sang bản sống; chương dữ liệu chi tiết; chương trả lời góp ý 3/9; kế hoạch nén về 30/11.</a:t>
            </a:r>
            <a:endParaRPr lang="en-US" sz="1250" dirty="0"/>
          </a:p>
          <a:p>
            <a:pPr indent="0" marL="0">
              <a:spcAft>
                <a:spcPts val="200"/>
              </a:spcAft>
              <a:buNone/>
            </a:pPr>
            <a:r>
              <a:rPr lang="en-US" sz="1250" dirty="0">
                <a:solidFill>
                  <a:srgbClr val="13262A"/>
                </a:solidFill>
                <a:latin typeface="Calibri" pitchFamily="34" charset="0"/>
                <a:ea typeface="Calibri" pitchFamily="34" charset="-122"/>
                <a:cs typeface="Calibri" pitchFamily="34" charset="-120"/>
              </a:rPr>
              <a:t>0.2 (16/09) — đề xuất GRAPES-GFN-Rec, lõi code R2, 28 oracle test. 0.1 — reset scope (DL-001).</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TỔNG QUAN</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Tóm tắt trong một slide</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3</a:t>
            </a:r>
            <a:endParaRPr lang="en-US" sz="1000" dirty="0"/>
          </a:p>
        </p:txBody>
      </p:sp>
      <p:sp>
        <p:nvSpPr>
          <p:cNvPr id="5" name="Shape 3"/>
          <p:cNvSpPr/>
          <p:nvPr/>
        </p:nvSpPr>
        <p:spPr>
          <a:xfrm>
            <a:off x="548640" y="1508760"/>
            <a:ext cx="5440680" cy="2194560"/>
          </a:xfrm>
          <a:prstGeom prst="roundRect">
            <a:avLst>
              <a:gd name="adj" fmla="val 3333"/>
            </a:avLst>
          </a:prstGeom>
          <a:solidFill>
            <a:srgbClr val="F4F7F7"/>
          </a:solidFill>
          <a:ln w="12700">
            <a:solidFill>
              <a:srgbClr val="F4F7F7"/>
            </a:solidFill>
            <a:prstDash val="solid"/>
          </a:ln>
        </p:spPr>
      </p:sp>
      <p:sp>
        <p:nvSpPr>
          <p:cNvPr id="6" name="Shape 4"/>
          <p:cNvSpPr/>
          <p:nvPr/>
        </p:nvSpPr>
        <p:spPr>
          <a:xfrm>
            <a:off x="731520" y="1645920"/>
            <a:ext cx="384048" cy="384048"/>
          </a:xfrm>
          <a:prstGeom prst="ellipse">
            <a:avLst/>
          </a:prstGeom>
          <a:solidFill>
            <a:srgbClr val="0F4C4F"/>
          </a:solidFill>
          <a:ln w="12700">
            <a:solidFill>
              <a:srgbClr val="0F4C4F"/>
            </a:solidFill>
            <a:prstDash val="solid"/>
          </a:ln>
        </p:spPr>
      </p:sp>
      <p:sp>
        <p:nvSpPr>
          <p:cNvPr id="7" name="Text 5"/>
          <p:cNvSpPr txBox="1"/>
          <p:nvPr/>
        </p:nvSpPr>
        <p:spPr>
          <a:xfrm>
            <a:off x="73152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234440" y="1627632"/>
            <a:ext cx="4572000" cy="420624"/>
          </a:xfrm>
          <a:prstGeom prst="rect">
            <a:avLst/>
          </a:prstGeom>
          <a:noFill/>
          <a:ln/>
        </p:spPr>
        <p:txBody>
          <a:bodyPr wrap="square" lIns="0" tIns="0" rIns="0" bIns="0" rtlCol="0" anchor="ctr"/>
          <a:lstStyle/>
          <a:p>
            <a:pPr indent="0" marL="0">
              <a:buNone/>
            </a:pPr>
            <a:r>
              <a:rPr lang="en-US" sz="2000" b="1" dirty="0">
                <a:solidFill>
                  <a:srgbClr val="13262A"/>
                </a:solidFill>
                <a:latin typeface="Calibri" pitchFamily="34" charset="0"/>
                <a:ea typeface="Calibri" pitchFamily="34" charset="-122"/>
                <a:cs typeface="Calibri" pitchFamily="34" charset="-120"/>
              </a:rPr>
              <a:t>Vấn đề</a:t>
            </a:r>
            <a:endParaRPr lang="en-US" sz="2000" dirty="0"/>
          </a:p>
        </p:txBody>
      </p:sp>
      <p:sp>
        <p:nvSpPr>
          <p:cNvPr id="9" name="Text 7"/>
          <p:cNvSpPr txBox="1"/>
          <p:nvPr/>
        </p:nvSpPr>
        <p:spPr>
          <a:xfrm>
            <a:off x="731520" y="2121408"/>
            <a:ext cx="5074920" cy="1508760"/>
          </a:xfrm>
          <a:prstGeom prst="rect">
            <a:avLst/>
          </a:prstGeom>
          <a:noFill/>
          <a:ln/>
        </p:spPr>
        <p:txBody>
          <a:bodyPr wrap="square" lIns="0" tIns="0" rIns="0" bIns="0" rtlCol="0" anchor="t"/>
          <a:lstStyle/>
          <a:p>
            <a:pPr indent="0" marL="0">
              <a:spcAft>
                <a:spcPts val="300"/>
              </a:spcAft>
              <a:buNone/>
            </a:pPr>
            <a:r>
              <a:rPr lang="en-US" sz="1700" dirty="0">
                <a:solidFill>
                  <a:srgbClr val="13262A"/>
                </a:solidFill>
                <a:latin typeface="Calibri" pitchFamily="34" charset="0"/>
                <a:ea typeface="Calibri" pitchFamily="34" charset="-122"/>
                <a:cs typeface="Calibri" pitchFamily="34" charset="-120"/>
              </a:rPr>
              <a:t>GNN gợi ý (LightGCN) phải lan truyền qua hàng xóm nhiều bước. Trên graph user–item lớn, số node cần tính bùng nổ theo số layer → cần lấy mẫu đồ thị khi huấn luyện.</a:t>
            </a:r>
            <a:endParaRPr lang="en-US" sz="1700" dirty="0"/>
          </a:p>
        </p:txBody>
      </p:sp>
      <p:sp>
        <p:nvSpPr>
          <p:cNvPr id="10" name="Shape 8"/>
          <p:cNvSpPr/>
          <p:nvPr/>
        </p:nvSpPr>
        <p:spPr>
          <a:xfrm>
            <a:off x="6172200" y="1508760"/>
            <a:ext cx="5440680" cy="2194560"/>
          </a:xfrm>
          <a:prstGeom prst="roundRect">
            <a:avLst>
              <a:gd name="adj" fmla="val 3333"/>
            </a:avLst>
          </a:prstGeom>
          <a:solidFill>
            <a:srgbClr val="F4F7F7"/>
          </a:solidFill>
          <a:ln w="12700">
            <a:solidFill>
              <a:srgbClr val="F4F7F7"/>
            </a:solidFill>
            <a:prstDash val="solid"/>
          </a:ln>
        </p:spPr>
      </p:sp>
      <p:sp>
        <p:nvSpPr>
          <p:cNvPr id="11" name="Shape 9"/>
          <p:cNvSpPr/>
          <p:nvPr/>
        </p:nvSpPr>
        <p:spPr>
          <a:xfrm>
            <a:off x="6355080" y="1645920"/>
            <a:ext cx="384048" cy="384048"/>
          </a:xfrm>
          <a:prstGeom prst="ellipse">
            <a:avLst/>
          </a:prstGeom>
          <a:solidFill>
            <a:srgbClr val="2E7D7A"/>
          </a:solidFill>
          <a:ln w="12700">
            <a:solidFill>
              <a:srgbClr val="2E7D7A"/>
            </a:solidFill>
            <a:prstDash val="solid"/>
          </a:ln>
        </p:spPr>
      </p:sp>
      <p:sp>
        <p:nvSpPr>
          <p:cNvPr id="12" name="Text 10"/>
          <p:cNvSpPr txBox="1"/>
          <p:nvPr/>
        </p:nvSpPr>
        <p:spPr>
          <a:xfrm>
            <a:off x="6355080" y="16459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6858000" y="1627632"/>
            <a:ext cx="4572000" cy="420624"/>
          </a:xfrm>
          <a:prstGeom prst="rect">
            <a:avLst/>
          </a:prstGeom>
          <a:noFill/>
          <a:ln/>
        </p:spPr>
        <p:txBody>
          <a:bodyPr wrap="square" lIns="0" tIns="0" rIns="0" bIns="0" rtlCol="0" anchor="ctr"/>
          <a:lstStyle/>
          <a:p>
            <a:pPr indent="0" marL="0">
              <a:buNone/>
            </a:pPr>
            <a:r>
              <a:rPr lang="en-US" sz="2000" b="1" dirty="0">
                <a:solidFill>
                  <a:srgbClr val="13262A"/>
                </a:solidFill>
                <a:latin typeface="Calibri" pitchFamily="34" charset="0"/>
                <a:ea typeface="Calibri" pitchFamily="34" charset="-122"/>
                <a:cs typeface="Calibri" pitchFamily="34" charset="-120"/>
              </a:rPr>
              <a:t>Đề xuất</a:t>
            </a:r>
            <a:endParaRPr lang="en-US" sz="2000" dirty="0"/>
          </a:p>
        </p:txBody>
      </p:sp>
      <p:sp>
        <p:nvSpPr>
          <p:cNvPr id="14" name="Text 12"/>
          <p:cNvSpPr txBox="1"/>
          <p:nvPr/>
        </p:nvSpPr>
        <p:spPr>
          <a:xfrm>
            <a:off x="6355080" y="2121408"/>
            <a:ext cx="5074920" cy="1508760"/>
          </a:xfrm>
          <a:prstGeom prst="rect">
            <a:avLst/>
          </a:prstGeom>
          <a:noFill/>
          <a:ln/>
        </p:spPr>
        <p:txBody>
          <a:bodyPr wrap="square" lIns="0" tIns="0" rIns="0" bIns="0" rtlCol="0" anchor="t"/>
          <a:lstStyle/>
          <a:p>
            <a:pPr indent="0" marL="0">
              <a:spcAft>
                <a:spcPts val="300"/>
              </a:spcAft>
              <a:buNone/>
            </a:pPr>
            <a:r>
              <a:rPr lang="en-US" sz="1700" dirty="0">
                <a:solidFill>
                  <a:srgbClr val="13262A"/>
                </a:solidFill>
                <a:latin typeface="Calibri" pitchFamily="34" charset="0"/>
                <a:ea typeface="Calibri" pitchFamily="34" charset="-122"/>
                <a:cs typeface="Calibri" pitchFamily="34" charset="-120"/>
              </a:rPr>
              <a:t>GRAPES-GFN-Rec: một GNN phụ học chọn node ngữ cảnh cho từng layer, được huấn luyện bằng GFlowNet (Trajectory Balance) với phần thưởng từ BPR ranking loss.</a:t>
            </a:r>
            <a:endParaRPr lang="en-US" sz="1700" dirty="0"/>
          </a:p>
        </p:txBody>
      </p:sp>
      <p:sp>
        <p:nvSpPr>
          <p:cNvPr id="15" name="Shape 13"/>
          <p:cNvSpPr/>
          <p:nvPr/>
        </p:nvSpPr>
        <p:spPr>
          <a:xfrm>
            <a:off x="548640" y="3886200"/>
            <a:ext cx="5440680" cy="2194560"/>
          </a:xfrm>
          <a:prstGeom prst="roundRect">
            <a:avLst>
              <a:gd name="adj" fmla="val 3333"/>
            </a:avLst>
          </a:prstGeom>
          <a:solidFill>
            <a:srgbClr val="F4F7F7"/>
          </a:solidFill>
          <a:ln w="12700">
            <a:solidFill>
              <a:srgbClr val="F4F7F7"/>
            </a:solidFill>
            <a:prstDash val="solid"/>
          </a:ln>
        </p:spPr>
      </p:sp>
      <p:sp>
        <p:nvSpPr>
          <p:cNvPr id="16" name="Shape 14"/>
          <p:cNvSpPr/>
          <p:nvPr/>
        </p:nvSpPr>
        <p:spPr>
          <a:xfrm>
            <a:off x="731520" y="4023360"/>
            <a:ext cx="384048" cy="384048"/>
          </a:xfrm>
          <a:prstGeom prst="ellipse">
            <a:avLst/>
          </a:prstGeom>
          <a:solidFill>
            <a:srgbClr val="E89B2D"/>
          </a:solidFill>
          <a:ln w="12700">
            <a:solidFill>
              <a:srgbClr val="E89B2D"/>
            </a:solidFill>
            <a:prstDash val="solid"/>
          </a:ln>
        </p:spPr>
      </p:sp>
      <p:sp>
        <p:nvSpPr>
          <p:cNvPr id="17" name="Text 15"/>
          <p:cNvSpPr txBox="1"/>
          <p:nvPr/>
        </p:nvSpPr>
        <p:spPr>
          <a:xfrm>
            <a:off x="731520" y="4023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1234440" y="4005072"/>
            <a:ext cx="4572000" cy="420624"/>
          </a:xfrm>
          <a:prstGeom prst="rect">
            <a:avLst/>
          </a:prstGeom>
          <a:noFill/>
          <a:ln/>
        </p:spPr>
        <p:txBody>
          <a:bodyPr wrap="square" lIns="0" tIns="0" rIns="0" bIns="0" rtlCol="0" anchor="ctr"/>
          <a:lstStyle/>
          <a:p>
            <a:pPr indent="0" marL="0">
              <a:buNone/>
            </a:pPr>
            <a:r>
              <a:rPr lang="en-US" sz="2000" b="1" dirty="0">
                <a:solidFill>
                  <a:srgbClr val="13262A"/>
                </a:solidFill>
                <a:latin typeface="Calibri" pitchFamily="34" charset="0"/>
                <a:ea typeface="Calibri" pitchFamily="34" charset="-122"/>
                <a:cs typeface="Calibri" pitchFamily="34" charset="-120"/>
              </a:rPr>
              <a:t>Đánh giá</a:t>
            </a:r>
            <a:endParaRPr lang="en-US" sz="2000" dirty="0"/>
          </a:p>
        </p:txBody>
      </p:sp>
      <p:sp>
        <p:nvSpPr>
          <p:cNvPr id="19" name="Text 17"/>
          <p:cNvSpPr txBox="1"/>
          <p:nvPr/>
        </p:nvSpPr>
        <p:spPr>
          <a:xfrm>
            <a:off x="731520" y="4498848"/>
            <a:ext cx="5074920" cy="1508760"/>
          </a:xfrm>
          <a:prstGeom prst="rect">
            <a:avLst/>
          </a:prstGeom>
          <a:noFill/>
          <a:ln/>
        </p:spPr>
        <p:txBody>
          <a:bodyPr wrap="square" lIns="0" tIns="0" rIns="0" bIns="0" rtlCol="0" anchor="t"/>
          <a:lstStyle/>
          <a:p>
            <a:pPr indent="0" marL="0">
              <a:spcAft>
                <a:spcPts val="300"/>
              </a:spcAft>
              <a:buNone/>
            </a:pPr>
            <a:r>
              <a:rPr lang="en-US" sz="1700" dirty="0">
                <a:solidFill>
                  <a:srgbClr val="13262A"/>
                </a:solidFill>
                <a:latin typeface="Calibri" pitchFamily="34" charset="0"/>
                <a:ea typeface="Calibri" pitchFamily="34" charset="-122"/>
                <a:cs typeface="Calibri" pitchFamily="34" charset="-120"/>
              </a:rPr>
              <a:t>So với uniform, degree-importance, bản REINFORCE, Full LightGCN, MostPop, BPR-MF. Cùng graph, budget, seed, evaluator. NDCG@20, Recall@20, coverage, head/tail, thời gian, GPU.</a:t>
            </a:r>
            <a:endParaRPr lang="en-US" sz="1700" dirty="0"/>
          </a:p>
        </p:txBody>
      </p:sp>
      <p:sp>
        <p:nvSpPr>
          <p:cNvPr id="20" name="Shape 18"/>
          <p:cNvSpPr/>
          <p:nvPr/>
        </p:nvSpPr>
        <p:spPr>
          <a:xfrm>
            <a:off x="6172200" y="3886200"/>
            <a:ext cx="5440680" cy="2194560"/>
          </a:xfrm>
          <a:prstGeom prst="roundRect">
            <a:avLst>
              <a:gd name="adj" fmla="val 3333"/>
            </a:avLst>
          </a:prstGeom>
          <a:solidFill>
            <a:srgbClr val="F4F7F7"/>
          </a:solidFill>
          <a:ln w="12700">
            <a:solidFill>
              <a:srgbClr val="F4F7F7"/>
            </a:solidFill>
            <a:prstDash val="solid"/>
          </a:ln>
        </p:spPr>
      </p:sp>
      <p:sp>
        <p:nvSpPr>
          <p:cNvPr id="21" name="Shape 19"/>
          <p:cNvSpPr/>
          <p:nvPr/>
        </p:nvSpPr>
        <p:spPr>
          <a:xfrm>
            <a:off x="6355080" y="4023360"/>
            <a:ext cx="384048" cy="384048"/>
          </a:xfrm>
          <a:prstGeom prst="ellipse">
            <a:avLst/>
          </a:prstGeom>
          <a:solidFill>
            <a:srgbClr val="C8553D"/>
          </a:solidFill>
          <a:ln w="12700">
            <a:solidFill>
              <a:srgbClr val="C8553D"/>
            </a:solidFill>
            <a:prstDash val="solid"/>
          </a:ln>
        </p:spPr>
      </p:sp>
      <p:sp>
        <p:nvSpPr>
          <p:cNvPr id="22" name="Text 20"/>
          <p:cNvSpPr txBox="1"/>
          <p:nvPr/>
        </p:nvSpPr>
        <p:spPr>
          <a:xfrm>
            <a:off x="6355080" y="4023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6858000" y="4005072"/>
            <a:ext cx="4572000" cy="420624"/>
          </a:xfrm>
          <a:prstGeom prst="rect">
            <a:avLst/>
          </a:prstGeom>
          <a:noFill/>
          <a:ln/>
        </p:spPr>
        <p:txBody>
          <a:bodyPr wrap="square" lIns="0" tIns="0" rIns="0" bIns="0" rtlCol="0" anchor="ctr"/>
          <a:lstStyle/>
          <a:p>
            <a:pPr indent="0" marL="0">
              <a:buNone/>
            </a:pPr>
            <a:r>
              <a:rPr lang="en-US" sz="2000" b="1" dirty="0">
                <a:solidFill>
                  <a:srgbClr val="13262A"/>
                </a:solidFill>
                <a:latin typeface="Calibri" pitchFamily="34" charset="0"/>
                <a:ea typeface="Calibri" pitchFamily="34" charset="-122"/>
                <a:cs typeface="Calibri" pitchFamily="34" charset="-120"/>
              </a:rPr>
              <a:t>Kế hoạch</a:t>
            </a:r>
            <a:endParaRPr lang="en-US" sz="2000" dirty="0"/>
          </a:p>
        </p:txBody>
      </p:sp>
      <p:sp>
        <p:nvSpPr>
          <p:cNvPr id="24" name="Text 22"/>
          <p:cNvSpPr txBox="1"/>
          <p:nvPr/>
        </p:nvSpPr>
        <p:spPr>
          <a:xfrm>
            <a:off x="6355080" y="4498848"/>
            <a:ext cx="5074920" cy="1508760"/>
          </a:xfrm>
          <a:prstGeom prst="rect">
            <a:avLst/>
          </a:prstGeom>
          <a:noFill/>
          <a:ln/>
        </p:spPr>
        <p:txBody>
          <a:bodyPr wrap="square" lIns="0" tIns="0" rIns="0" bIns="0" rtlCol="0" anchor="t"/>
          <a:lstStyle/>
          <a:p>
            <a:pPr indent="0" marL="0">
              <a:spcAft>
                <a:spcPts val="300"/>
              </a:spcAft>
              <a:buNone/>
            </a:pPr>
            <a:r>
              <a:rPr lang="en-US" sz="1700" dirty="0">
                <a:solidFill>
                  <a:srgbClr val="13262A"/>
                </a:solidFill>
                <a:latin typeface="Calibri" pitchFamily="34" charset="0"/>
                <a:ea typeface="Calibri" pitchFamily="34" charset="-122"/>
                <a:cs typeface="Calibri" pitchFamily="34" charset="-120"/>
              </a:rPr>
              <a:t>8 gate R0–R7. R0 (khóa scope) xong; R2 lõi code + 28 oracle test xong. Tiếp theo: development split, thí nghiệm development, freeze, holdout, báo cáo.</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TỔNG QUAN</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Trả lời các góp ý của cô (3/9)</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góp ý: ghi chú “cô dặn 3/09”. Mỗi dòng có mục tương ứng trong chương 3 của báo cáo.</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108960"/>
                <a:gridCol w="4846320"/>
                <a:gridCol w="2194560"/>
                <a:gridCol w="914400"/>
              </a:tblGrid>
              <a:tr h="37490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Câu hỏi của cô (3/9)</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Trả lời ngắn</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Trạng thái</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Slide</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374904">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Coverage / conversion, context, NDCG</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Định nghĩa rõ; conversion cần log online, không có trong dữ liệu offline</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28</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74904">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Mức khớp ngữ nghĩa</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Semantic match@20; metadata đủ (title ~100%, danh mục 93%)</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b="1" dirty="0">
                          <a:solidFill>
                            <a:srgbClr val="C8553D"/>
                          </a:solidFill>
                          <a:latin typeface="Calibri" pitchFamily="34" charset="0"/>
                          <a:ea typeface="Calibri" pitchFamily="34" charset="-122"/>
                          <a:cs typeface="Calibri" pitchFamily="34" charset="-120"/>
                        </a:rPr>
                        <a:t>Số theo mô hình chờ R5</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29, 26</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74904">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Tính phân bổ, đa dạng sản phẩm được gợi ý</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Exposure/hit head–body–tail, Gini, ILD@20, coverage</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Định nghĩa có; số chờ R5</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18, 29</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74904">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Trade-off; tiêu chí nào thì giá trị khác ra sao</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Bảng tối ưu X → hệ quả Y; mặt trận Pareto</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Có; số chờ R6</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31</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74904">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Bao nhiêu sản phẩm, histogram từng sản phẩm</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217.654 → 194.722 → 162.125; histogram theo sản phẩm và user</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74904">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Mất cân bằng, dồn về, long-tail, thời gian</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Top 1% giữ 44,1%; Gini 0,858; top 1% đổi ~50%/năm</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15, 21</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74904">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Dữ liệu rating</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Hình chữ J; P4/P5; rating tăng theo độ phổ biến; 44% user cho cùng một mức</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13, 20</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74904">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Không đủ dữ liệu</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71,8% user 1 tương tác; 73% tương tác tương lai của user mới</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16, 25</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74904">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Cần biểu diễn dữ liệu gì</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Graph hai phía, cạnh = tương tác 4–5★ có thời điểm</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14</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74904">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Nhiễu nhiều không, có nên loại bỏ</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6 kiểu nhiễu; bất thường &lt;1% tương tác → giữ</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12, 22</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74904">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Sampling hay distributed</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5 hướng; batch 4.096 triplet đã chạm 46% graph sau 1 bước</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6, 23</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74904">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Quan hệ giữa các node có giá trị ra sao</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Chỉ 29% target có đường đồng mua ≤3 bước; 21% SP không đồng mua</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Có; hành vi sampler chờ R6</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30, 24</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1 · MỞ ĐẦU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Vì sao phải lấy mẫu: bùng nổ lân cận</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1463040"/>
            <a:ext cx="5760720" cy="4572000"/>
          </a:xfrm>
          <a:prstGeom prst="rect">
            <a:avLst/>
          </a:prstGeom>
          <a:noFill/>
          <a:ln/>
        </p:spPr>
        <p:txBody>
          <a:bodyPr wrap="square" lIns="0" tIns="0" rIns="0" bIns="0" rtlCol="0" anchor="t"/>
          <a:lstStyle/>
          <a:p>
            <a:pPr marL="203200" indent="-203200">
              <a:spcAft>
                <a:spcPts val="800"/>
              </a:spcAft>
              <a:buSzPct val="100000"/>
              <a:buChar char="•"/>
            </a:pPr>
            <a:r>
              <a:rPr lang="en-US" sz="1700" dirty="0">
                <a:solidFill>
                  <a:srgbClr val="13262A"/>
                </a:solidFill>
                <a:latin typeface="Calibri" pitchFamily="34" charset="0"/>
                <a:ea typeface="Calibri" pitchFamily="34" charset="-122"/>
                <a:cs typeface="Calibri" pitchFamily="34" charset="-120"/>
              </a:rPr>
              <a:t>LightGCN tính embedding của user bằng cách cộng embedding hàng xóm qua L bước (L = 2–3).</a:t>
            </a:r>
            <a:endParaRPr lang="en-US" sz="1700" dirty="0"/>
          </a:p>
          <a:p>
            <a:pPr marL="203200" indent="-203200">
              <a:spcAft>
                <a:spcPts val="800"/>
              </a:spcAft>
              <a:buSzPct val="100000"/>
              <a:buChar char="•"/>
            </a:pPr>
            <a:r>
              <a:rPr lang="en-US" sz="1700" dirty="0">
                <a:solidFill>
                  <a:srgbClr val="13262A"/>
                </a:solidFill>
                <a:latin typeface="Calibri" pitchFamily="34" charset="0"/>
                <a:ea typeface="Calibri" pitchFamily="34" charset="-122"/>
                <a:cs typeface="Calibri" pitchFamily="34" charset="-120"/>
              </a:rPr>
              <a:t>Mỗi bước nhân số node cần tính với bậc của node đi qua. Trên graph lệch long-tail, chỉ cần chạm một item phổ biến là kéo theo hàng nghìn user.</a:t>
            </a:r>
            <a:endParaRPr lang="en-US" sz="1700" dirty="0"/>
          </a:p>
          <a:p>
            <a:pPr marL="203200" indent="-203200">
              <a:spcAft>
                <a:spcPts val="800"/>
              </a:spcAft>
              <a:buSzPct val="100000"/>
              <a:buChar char="•"/>
            </a:pPr>
            <a:r>
              <a:rPr lang="en-US" sz="1700" dirty="0">
                <a:solidFill>
                  <a:srgbClr val="13262A"/>
                </a:solidFill>
                <a:latin typeface="Calibri" pitchFamily="34" charset="0"/>
                <a:ea typeface="Calibri" pitchFamily="34" charset="-122"/>
                <a:cs typeface="Calibri" pitchFamily="34" charset="-120"/>
              </a:rPr>
              <a:t>Full-graph training đã chạy được ở quy mô Baby (pilot), nhưng chi phí tăng theo số cạnh × số layer; Home_and_Kitchen có 66,6 triệu dòng raw (11,2 lần Baby).</a:t>
            </a:r>
            <a:endParaRPr lang="en-US" sz="1700" dirty="0"/>
          </a:p>
          <a:p>
            <a:pPr marL="203200" indent="-203200">
              <a:spcAft>
                <a:spcPts val="800"/>
              </a:spcAft>
              <a:buSzPct val="100000"/>
              <a:buChar char="•"/>
            </a:pPr>
            <a:r>
              <a:rPr lang="en-US" sz="1700" dirty="0">
                <a:solidFill>
                  <a:srgbClr val="13262A"/>
                </a:solidFill>
                <a:latin typeface="Calibri" pitchFamily="34" charset="0"/>
                <a:ea typeface="Calibri" pitchFamily="34" charset="-122"/>
                <a:cs typeface="Calibri" pitchFamily="34" charset="-120"/>
              </a:rPr>
              <a:t>Lấy mẫu giới hạn số node mỗi layer (budget k), đổi lại model chỉ thấy một phần ngữ cảnh → chọn node nào là câu hỏi nghiên cứu.</a:t>
            </a:r>
            <a:endParaRPr lang="en-US" sz="1700" dirty="0"/>
          </a:p>
        </p:txBody>
      </p:sp>
      <p:sp>
        <p:nvSpPr>
          <p:cNvPr id="6" name="Shape 4"/>
          <p:cNvSpPr/>
          <p:nvPr/>
        </p:nvSpPr>
        <p:spPr>
          <a:xfrm>
            <a:off x="6766560" y="1600200"/>
            <a:ext cx="502920" cy="502920"/>
          </a:xfrm>
          <a:prstGeom prst="ellipse">
            <a:avLst/>
          </a:prstGeom>
          <a:solidFill>
            <a:srgbClr val="0F4C4F"/>
          </a:solidFill>
          <a:ln w="12700">
            <a:solidFill>
              <a:srgbClr val="0F4C4F"/>
            </a:solidFill>
            <a:prstDash val="solid"/>
          </a:ln>
        </p:spPr>
      </p:sp>
      <p:sp>
        <p:nvSpPr>
          <p:cNvPr id="7" name="Text 5"/>
          <p:cNvSpPr txBox="1"/>
          <p:nvPr/>
        </p:nvSpPr>
        <p:spPr>
          <a:xfrm>
            <a:off x="6766560" y="16002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7452360" y="1463040"/>
            <a:ext cx="4206240" cy="411480"/>
          </a:xfrm>
          <a:prstGeom prst="rect">
            <a:avLst/>
          </a:prstGeom>
          <a:noFill/>
          <a:ln/>
        </p:spPr>
        <p:txBody>
          <a:bodyPr wrap="square" lIns="0" tIns="0" rIns="0" bIns="0" rtlCol="0" anchor="ctr"/>
          <a:lstStyle/>
          <a:p>
            <a:pPr indent="0" marL="0">
              <a:buNone/>
            </a:pPr>
            <a:r>
              <a:rPr lang="en-US" sz="1800" dirty="0">
                <a:solidFill>
                  <a:srgbClr val="5E6B6E"/>
                </a:solidFill>
                <a:latin typeface="Calibri" pitchFamily="34" charset="0"/>
                <a:ea typeface="Calibri" pitchFamily="34" charset="-122"/>
                <a:cs typeface="Calibri" pitchFamily="34" charset="-120"/>
              </a:rPr>
              <a:t>1 user có trung bình: </a:t>
            </a:r>
            <a:pPr indent="0" marL="0">
              <a:buNone/>
            </a:pPr>
            <a:r>
              <a:rPr lang="en-US" sz="1800" b="1" dirty="0">
                <a:solidFill>
                  <a:srgbClr val="13262A"/>
                </a:solidFill>
                <a:latin typeface="Calibri" pitchFamily="34" charset="0"/>
                <a:ea typeface="Calibri" pitchFamily="34" charset="-122"/>
                <a:cs typeface="Calibri" pitchFamily="34" charset="-120"/>
              </a:rPr>
              <a:t>1,67 item</a:t>
            </a:r>
            <a:endParaRPr lang="en-US" sz="1800" dirty="0"/>
          </a:p>
        </p:txBody>
      </p:sp>
      <p:sp>
        <p:nvSpPr>
          <p:cNvPr id="9" name="Text 7"/>
          <p:cNvSpPr txBox="1"/>
          <p:nvPr/>
        </p:nvSpPr>
        <p:spPr>
          <a:xfrm>
            <a:off x="7452360" y="1874520"/>
            <a:ext cx="4206240" cy="320040"/>
          </a:xfrm>
          <a:prstGeom prst="rect">
            <a:avLst/>
          </a:prstGeom>
          <a:noFill/>
          <a:ln/>
        </p:spPr>
        <p:txBody>
          <a:bodyPr wrap="square" lIns="0" tIns="0" rIns="0" bIns="0" rtlCol="0" anchor="ctr"/>
          <a:lstStyle/>
          <a:p>
            <a:pPr indent="0" marL="0">
              <a:buNone/>
            </a:pPr>
            <a:r>
              <a:rPr lang="en-US" sz="1200" dirty="0">
                <a:solidFill>
                  <a:srgbClr val="5E6B6E"/>
                </a:solidFill>
                <a:latin typeface="Calibri" pitchFamily="34" charset="0"/>
                <a:ea typeface="Calibri" pitchFamily="34" charset="-122"/>
                <a:cs typeface="Calibri" pitchFamily="34" charset="-120"/>
              </a:rPr>
              <a:t>bậc user trung bình trong graph train</a:t>
            </a:r>
            <a:endParaRPr lang="en-US" sz="1200" dirty="0"/>
          </a:p>
        </p:txBody>
      </p:sp>
      <p:sp>
        <p:nvSpPr>
          <p:cNvPr id="10" name="Shape 8"/>
          <p:cNvSpPr/>
          <p:nvPr/>
        </p:nvSpPr>
        <p:spPr>
          <a:xfrm>
            <a:off x="7018020" y="2121408"/>
            <a:ext cx="914" cy="576072"/>
          </a:xfrm>
          <a:prstGeom prst="line">
            <a:avLst/>
          </a:prstGeom>
          <a:noFill/>
          <a:ln w="22225">
            <a:solidFill>
              <a:srgbClr val="C9D3D2"/>
            </a:solidFill>
            <a:prstDash val="solid"/>
            <a:tailEnd type="triangle"/>
          </a:ln>
        </p:spPr>
      </p:sp>
      <p:sp>
        <p:nvSpPr>
          <p:cNvPr id="11" name="Shape 9"/>
          <p:cNvSpPr/>
          <p:nvPr/>
        </p:nvSpPr>
        <p:spPr>
          <a:xfrm>
            <a:off x="6766560" y="2715768"/>
            <a:ext cx="502920" cy="502920"/>
          </a:xfrm>
          <a:prstGeom prst="ellipse">
            <a:avLst/>
          </a:prstGeom>
          <a:solidFill>
            <a:srgbClr val="2E7D7A"/>
          </a:solidFill>
          <a:ln w="12700">
            <a:solidFill>
              <a:srgbClr val="2E7D7A"/>
            </a:solidFill>
            <a:prstDash val="solid"/>
          </a:ln>
        </p:spPr>
      </p:sp>
      <p:sp>
        <p:nvSpPr>
          <p:cNvPr id="12" name="Text 10"/>
          <p:cNvSpPr txBox="1"/>
          <p:nvPr/>
        </p:nvSpPr>
        <p:spPr>
          <a:xfrm>
            <a:off x="6766560" y="271576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7452360" y="2578608"/>
            <a:ext cx="4206240" cy="411480"/>
          </a:xfrm>
          <a:prstGeom prst="rect">
            <a:avLst/>
          </a:prstGeom>
          <a:noFill/>
          <a:ln/>
        </p:spPr>
        <p:txBody>
          <a:bodyPr wrap="square" lIns="0" tIns="0" rIns="0" bIns="0" rtlCol="0" anchor="ctr"/>
          <a:lstStyle/>
          <a:p>
            <a:pPr indent="0" marL="0">
              <a:buNone/>
            </a:pPr>
            <a:r>
              <a:rPr lang="en-US" sz="1800" dirty="0">
                <a:solidFill>
                  <a:srgbClr val="5E6B6E"/>
                </a:solidFill>
                <a:latin typeface="Calibri" pitchFamily="34" charset="0"/>
                <a:ea typeface="Calibri" pitchFamily="34" charset="-122"/>
                <a:cs typeface="Calibri" pitchFamily="34" charset="-120"/>
              </a:rPr>
              <a:t>Đi theo 1 cạnh tới item: </a:t>
            </a:r>
            <a:pPr indent="0" marL="0">
              <a:buNone/>
            </a:pPr>
            <a:r>
              <a:rPr lang="en-US" sz="1800" b="1" dirty="0">
                <a:solidFill>
                  <a:srgbClr val="13262A"/>
                </a:solidFill>
                <a:latin typeface="Calibri" pitchFamily="34" charset="0"/>
                <a:ea typeface="Calibri" pitchFamily="34" charset="-122"/>
                <a:cs typeface="Calibri" pitchFamily="34" charset="-120"/>
              </a:rPr>
              <a:t>≈ 1.009 user</a:t>
            </a:r>
            <a:endParaRPr lang="en-US" sz="1800" dirty="0"/>
          </a:p>
        </p:txBody>
      </p:sp>
      <p:sp>
        <p:nvSpPr>
          <p:cNvPr id="14" name="Text 12"/>
          <p:cNvSpPr txBox="1"/>
          <p:nvPr/>
        </p:nvSpPr>
        <p:spPr>
          <a:xfrm>
            <a:off x="7452360" y="2990088"/>
            <a:ext cx="4206240" cy="320040"/>
          </a:xfrm>
          <a:prstGeom prst="rect">
            <a:avLst/>
          </a:prstGeom>
          <a:noFill/>
          <a:ln/>
        </p:spPr>
        <p:txBody>
          <a:bodyPr wrap="square" lIns="0" tIns="0" rIns="0" bIns="0" rtlCol="0" anchor="ctr"/>
          <a:lstStyle/>
          <a:p>
            <a:pPr indent="0" marL="0">
              <a:buNone/>
            </a:pPr>
            <a:r>
              <a:rPr lang="en-US" sz="1200" dirty="0">
                <a:solidFill>
                  <a:srgbClr val="5E6B6E"/>
                </a:solidFill>
                <a:latin typeface="Calibri" pitchFamily="34" charset="0"/>
                <a:ea typeface="Calibri" pitchFamily="34" charset="-122"/>
                <a:cs typeface="Calibri" pitchFamily="34" charset="-120"/>
              </a:rPr>
              <a:t>bậc item kỳ vọng theo cạnh (Σd²/Σd), không phải 23,9</a:t>
            </a:r>
            <a:endParaRPr lang="en-US" sz="1200" dirty="0"/>
          </a:p>
        </p:txBody>
      </p:sp>
      <p:sp>
        <p:nvSpPr>
          <p:cNvPr id="15" name="Shape 13"/>
          <p:cNvSpPr/>
          <p:nvPr/>
        </p:nvSpPr>
        <p:spPr>
          <a:xfrm>
            <a:off x="7018020" y="3236976"/>
            <a:ext cx="914" cy="576072"/>
          </a:xfrm>
          <a:prstGeom prst="line">
            <a:avLst/>
          </a:prstGeom>
          <a:noFill/>
          <a:ln w="22225">
            <a:solidFill>
              <a:srgbClr val="C9D3D2"/>
            </a:solidFill>
            <a:prstDash val="solid"/>
            <a:tailEnd type="triangle"/>
          </a:ln>
        </p:spPr>
      </p:sp>
      <p:sp>
        <p:nvSpPr>
          <p:cNvPr id="16" name="Shape 14"/>
          <p:cNvSpPr/>
          <p:nvPr/>
        </p:nvSpPr>
        <p:spPr>
          <a:xfrm>
            <a:off x="6766560" y="3831336"/>
            <a:ext cx="502920" cy="502920"/>
          </a:xfrm>
          <a:prstGeom prst="ellipse">
            <a:avLst/>
          </a:prstGeom>
          <a:solidFill>
            <a:srgbClr val="E89B2D"/>
          </a:solidFill>
          <a:ln w="12700">
            <a:solidFill>
              <a:srgbClr val="E89B2D"/>
            </a:solidFill>
            <a:prstDash val="solid"/>
          </a:ln>
        </p:spPr>
      </p:sp>
      <p:sp>
        <p:nvSpPr>
          <p:cNvPr id="17" name="Text 15"/>
          <p:cNvSpPr txBox="1"/>
          <p:nvPr/>
        </p:nvSpPr>
        <p:spPr>
          <a:xfrm>
            <a:off x="6766560" y="3831336"/>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452360" y="3694176"/>
            <a:ext cx="4206240" cy="411480"/>
          </a:xfrm>
          <a:prstGeom prst="rect">
            <a:avLst/>
          </a:prstGeom>
          <a:noFill/>
          <a:ln/>
        </p:spPr>
        <p:txBody>
          <a:bodyPr wrap="square" lIns="0" tIns="0" rIns="0" bIns="0" rtlCol="0" anchor="ctr"/>
          <a:lstStyle/>
          <a:p>
            <a:pPr indent="0" marL="0">
              <a:buNone/>
            </a:pPr>
            <a:r>
              <a:rPr lang="en-US" sz="1800" dirty="0">
                <a:solidFill>
                  <a:srgbClr val="5E6B6E"/>
                </a:solidFill>
                <a:latin typeface="Calibri" pitchFamily="34" charset="0"/>
                <a:ea typeface="Calibri" pitchFamily="34" charset="-122"/>
                <a:cs typeface="Calibri" pitchFamily="34" charset="-120"/>
              </a:rPr>
              <a:t>Item lớn nhất: </a:t>
            </a:r>
            <a:pPr indent="0" marL="0">
              <a:buNone/>
            </a:pPr>
            <a:r>
              <a:rPr lang="en-US" sz="1800" b="1" dirty="0">
                <a:solidFill>
                  <a:srgbClr val="13262A"/>
                </a:solidFill>
                <a:latin typeface="Calibri" pitchFamily="34" charset="0"/>
                <a:ea typeface="Calibri" pitchFamily="34" charset="-122"/>
                <a:cs typeface="Calibri" pitchFamily="34" charset="-120"/>
              </a:rPr>
              <a:t>21.348 user</a:t>
            </a:r>
            <a:endParaRPr lang="en-US" sz="1800" dirty="0"/>
          </a:p>
        </p:txBody>
      </p:sp>
      <p:sp>
        <p:nvSpPr>
          <p:cNvPr id="19" name="Text 17"/>
          <p:cNvSpPr txBox="1"/>
          <p:nvPr/>
        </p:nvSpPr>
        <p:spPr>
          <a:xfrm>
            <a:off x="7452360" y="4105656"/>
            <a:ext cx="4206240" cy="320040"/>
          </a:xfrm>
          <a:prstGeom prst="rect">
            <a:avLst/>
          </a:prstGeom>
          <a:noFill/>
          <a:ln/>
        </p:spPr>
        <p:txBody>
          <a:bodyPr wrap="square" lIns="0" tIns="0" rIns="0" bIns="0" rtlCol="0" anchor="ctr"/>
          <a:lstStyle/>
          <a:p>
            <a:pPr indent="0" marL="0">
              <a:buNone/>
            </a:pPr>
            <a:r>
              <a:rPr lang="en-US" sz="1200" dirty="0">
                <a:solidFill>
                  <a:srgbClr val="5E6B6E"/>
                </a:solidFill>
                <a:latin typeface="Calibri" pitchFamily="34" charset="0"/>
                <a:ea typeface="Calibri" pitchFamily="34" charset="-122"/>
                <a:cs typeface="Calibri" pitchFamily="34" charset="-120"/>
              </a:rPr>
              <a:t>một hàng xóm duy nhất ở bước 1</a:t>
            </a:r>
            <a:endParaRPr lang="en-US" sz="1200" dirty="0"/>
          </a:p>
        </p:txBody>
      </p:sp>
      <p:sp>
        <p:nvSpPr>
          <p:cNvPr id="20" name="Shape 18"/>
          <p:cNvSpPr/>
          <p:nvPr/>
        </p:nvSpPr>
        <p:spPr>
          <a:xfrm>
            <a:off x="7018020" y="4352544"/>
            <a:ext cx="914" cy="576072"/>
          </a:xfrm>
          <a:prstGeom prst="line">
            <a:avLst/>
          </a:prstGeom>
          <a:noFill/>
          <a:ln w="22225">
            <a:solidFill>
              <a:srgbClr val="C9D3D2"/>
            </a:solidFill>
            <a:prstDash val="solid"/>
            <a:tailEnd type="triangle"/>
          </a:ln>
        </p:spPr>
      </p:sp>
      <p:sp>
        <p:nvSpPr>
          <p:cNvPr id="21" name="Shape 19"/>
          <p:cNvSpPr/>
          <p:nvPr/>
        </p:nvSpPr>
        <p:spPr>
          <a:xfrm>
            <a:off x="6766560" y="4946904"/>
            <a:ext cx="502920" cy="502920"/>
          </a:xfrm>
          <a:prstGeom prst="ellipse">
            <a:avLst/>
          </a:prstGeom>
          <a:solidFill>
            <a:srgbClr val="C8553D"/>
          </a:solidFill>
          <a:ln w="12700">
            <a:solidFill>
              <a:srgbClr val="C8553D"/>
            </a:solidFill>
            <a:prstDash val="solid"/>
          </a:ln>
        </p:spPr>
      </p:sp>
      <p:sp>
        <p:nvSpPr>
          <p:cNvPr id="22" name="Text 20"/>
          <p:cNvSpPr txBox="1"/>
          <p:nvPr/>
        </p:nvSpPr>
        <p:spPr>
          <a:xfrm>
            <a:off x="6766560" y="4946904"/>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7452360" y="4809744"/>
            <a:ext cx="4206240" cy="411480"/>
          </a:xfrm>
          <a:prstGeom prst="rect">
            <a:avLst/>
          </a:prstGeom>
          <a:noFill/>
          <a:ln/>
        </p:spPr>
        <p:txBody>
          <a:bodyPr wrap="square" lIns="0" tIns="0" rIns="0" bIns="0" rtlCol="0" anchor="ctr"/>
          <a:lstStyle/>
          <a:p>
            <a:pPr indent="0" marL="0">
              <a:buNone/>
            </a:pPr>
            <a:r>
              <a:rPr lang="en-US" sz="1800" dirty="0">
                <a:solidFill>
                  <a:srgbClr val="5E6B6E"/>
                </a:solidFill>
                <a:latin typeface="Calibri" pitchFamily="34" charset="0"/>
                <a:ea typeface="Calibri" pitchFamily="34" charset="-122"/>
                <a:cs typeface="Calibri" pitchFamily="34" charset="-120"/>
              </a:rPr>
              <a:t>Batch 4.096 triplet: </a:t>
            </a:r>
            <a:pPr indent="0" marL="0">
              <a:buNone/>
            </a:pPr>
            <a:r>
              <a:rPr lang="en-US" sz="1800" b="1" dirty="0">
                <a:solidFill>
                  <a:srgbClr val="13262A"/>
                </a:solidFill>
                <a:latin typeface="Calibri" pitchFamily="34" charset="0"/>
                <a:ea typeface="Calibri" pitchFamily="34" charset="-122"/>
                <a:cs typeface="Calibri" pitchFamily="34" charset="-120"/>
              </a:rPr>
              <a:t>46% graph sau 1 bước, 95% sau 3 bước</a:t>
            </a:r>
            <a:endParaRPr lang="en-US" sz="1800" dirty="0"/>
          </a:p>
        </p:txBody>
      </p:sp>
      <p:sp>
        <p:nvSpPr>
          <p:cNvPr id="24" name="Text 22"/>
          <p:cNvSpPr txBox="1"/>
          <p:nvPr/>
        </p:nvSpPr>
        <p:spPr>
          <a:xfrm>
            <a:off x="7452360" y="5221224"/>
            <a:ext cx="4206240" cy="320040"/>
          </a:xfrm>
          <a:prstGeom prst="rect">
            <a:avLst/>
          </a:prstGeom>
          <a:noFill/>
          <a:ln/>
        </p:spPr>
        <p:txBody>
          <a:bodyPr wrap="square" lIns="0" tIns="0" rIns="0" bIns="0" rtlCol="0" anchor="ctr"/>
          <a:lstStyle/>
          <a:p>
            <a:pPr indent="0" marL="0">
              <a:buNone/>
            </a:pPr>
            <a:r>
              <a:rPr lang="en-US" sz="1200" dirty="0">
                <a:solidFill>
                  <a:srgbClr val="5E6B6E"/>
                </a:solidFill>
                <a:latin typeface="Calibri" pitchFamily="34" charset="0"/>
                <a:ea typeface="Calibri" pitchFamily="34" charset="-122"/>
                <a:cs typeface="Calibri" pitchFamily="34" charset="-120"/>
              </a:rPr>
              <a:t>đo thực tế trên graph train, không lấy mẫu (notebook 11)</a:t>
            </a:r>
            <a:endParaRPr lang="en-US" sz="1200" dirty="0"/>
          </a:p>
        </p:txBody>
      </p:sp>
      <p:sp>
        <p:nvSpPr>
          <p:cNvPr id="25" name="Text 23"/>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Số liệu tính từ training graph Baby P4: 3.868.654 cạnh, 2.318.308 user, 162.125 item (06_code/results/data_story/data_story_summary.json). Dòng cuối: deep_analysis_summary.json (S4).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1 · MỞ ĐẦU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Sampling hay distributed?</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6</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94560"/>
                <a:gridCol w="2560320"/>
                <a:gridCol w="1828800"/>
                <a:gridCol w="3017520"/>
                <a:gridCol w="1463040"/>
              </a:tblGrid>
              <a:tr h="6583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Hướng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Cách làm</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Ưu điểm</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Hạn chế với bài toán này</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Vai trò</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658368">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Full-graph, 1 GPU</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Lan truyền trên toàn graph</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Chính xác, đơn giản</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Bộ nhớ/thời gian tăng theo số cạnh × layer</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Tham chiếu (tầng B)</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58368">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Distributed training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Chia dữ liệu/model cho nhiều GPU hoặc nhiều máy</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Mở rộng bằng phần cứng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Cần nhiều thiết bị; bản thân nó không giảm lượng tính của một batch</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Ngoài phạm vi (1×T4)</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58368">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Chia đồ thị (Cluster-GCN [11])</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Lấy khối node của một subgraph dày tìm bằng clustering; chỉ tìm hàng xóm trong subgraph</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Tiết kiệm bộ nhớ</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Cạnh ra ngoài subgraph không được dùng trong batch</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Không chọn</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58368">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Embedding lịch sử (GAS [12])</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Cắt nhánh computation graph bằng embedding từ vòng lặp trước</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Không bỏ dữ liệu; có cận sai số</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Phải lưu embedding lịch sử cho mọi node (2,48 tr) mỗi layer; sai số xấp xỉ</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Không chọn</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58368">
                <a:tc>
                  <a:txBody>
                    <a:bodyPr/>
                    <a:lstStyle/>
                    <a:p>
                      <a:pPr indent="0" marL="0">
                        <a:buNone/>
                      </a:pPr>
                      <a:r>
                        <a:rPr lang="en-US" sz="1350" b="1" dirty="0">
                          <a:solidFill>
                            <a:srgbClr val="13262A"/>
                          </a:solidFill>
                          <a:latin typeface="Calibri" pitchFamily="34" charset="0"/>
                          <a:ea typeface="Calibri" pitchFamily="34" charset="-122"/>
                          <a:cs typeface="Calibri" pitchFamily="34" charset="-120"/>
                        </a:rPr>
                        <a:t>Sampling (GraphSAGE, FastGCN, LADIES, GRAPES)</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CF1DF"/>
                    </a:solidFill>
                  </a:tcPr>
                </a:tc>
                <a:tc>
                  <a:txBody>
                    <a:bodyPr/>
                    <a:lstStyle/>
                    <a:p>
                      <a:pPr indent="0" marL="0">
                        <a:buNone/>
                      </a:pPr>
                      <a:r>
                        <a:rPr lang="en-US" sz="1350" b="1" dirty="0">
                          <a:solidFill>
                            <a:srgbClr val="13262A"/>
                          </a:solidFill>
                          <a:latin typeface="Calibri" pitchFamily="34" charset="0"/>
                          <a:ea typeface="Calibri" pitchFamily="34" charset="-122"/>
                          <a:cs typeface="Calibri" pitchFamily="34" charset="-120"/>
                        </a:rPr>
                        <a:t>Giới hạn k node mỗi layer</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CF1DF"/>
                    </a:solidFill>
                  </a:tcPr>
                </a:tc>
                <a:tc>
                  <a:txBody>
                    <a:bodyPr/>
                    <a:lstStyle/>
                    <a:p>
                      <a:pPr indent="0" marL="0">
                        <a:buNone/>
                      </a:pPr>
                      <a:r>
                        <a:rPr lang="en-US" sz="1350" b="1" dirty="0">
                          <a:solidFill>
                            <a:srgbClr val="13262A"/>
                          </a:solidFill>
                          <a:latin typeface="Calibri" pitchFamily="34" charset="0"/>
                          <a:ea typeface="Calibri" pitchFamily="34" charset="-122"/>
                          <a:cs typeface="Calibri" pitchFamily="34" charset="-120"/>
                        </a:rPr>
                        <a:t>Kiểm soát trực tiếp chi phí mỗi batch</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CF1DF"/>
                    </a:solidFill>
                  </a:tcPr>
                </a:tc>
                <a:tc>
                  <a:txBody>
                    <a:bodyPr/>
                    <a:lstStyle/>
                    <a:p>
                      <a:pPr indent="0" marL="0">
                        <a:buNone/>
                      </a:pPr>
                      <a:r>
                        <a:rPr lang="en-US" sz="1350" b="1" dirty="0">
                          <a:solidFill>
                            <a:srgbClr val="13262A"/>
                          </a:solidFill>
                          <a:latin typeface="Calibri" pitchFamily="34" charset="0"/>
                          <a:ea typeface="Calibri" pitchFamily="34" charset="-122"/>
                          <a:cs typeface="Calibri" pitchFamily="34" charset="-120"/>
                        </a:rPr>
                        <a:t>Mất ngữ cảnh → phải chọn node đúng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CF1DF"/>
                    </a:solidFill>
                  </a:tcPr>
                </a:tc>
                <a:tc>
                  <a:txBody>
                    <a:bodyPr/>
                    <a:lstStyle/>
                    <a:p>
                      <a:pPr indent="0" marL="0">
                        <a:buNone/>
                      </a:pPr>
                      <a:r>
                        <a:rPr lang="en-US" sz="1350" b="1" dirty="0">
                          <a:solidFill>
                            <a:srgbClr val="13262A"/>
                          </a:solidFill>
                          <a:latin typeface="Calibri" pitchFamily="34" charset="0"/>
                          <a:ea typeface="Calibri" pitchFamily="34" charset="-122"/>
                          <a:cs typeface="Calibri" pitchFamily="34" charset="-120"/>
                        </a:rPr>
                        <a:t>Hướng chính</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CF1DF"/>
                    </a:solidFill>
                  </a:tcPr>
                </a:tc>
              </a:tr>
            </a:tbl>
          </a:graphicData>
        </a:graphic>
      </p:graphicFrame>
      <p:sp>
        <p:nvSpPr>
          <p:cNvPr id="6" name="Shape 3"/>
          <p:cNvSpPr/>
          <p:nvPr/>
        </p:nvSpPr>
        <p:spPr>
          <a:xfrm>
            <a:off x="548640" y="5440680"/>
            <a:ext cx="11064240" cy="822960"/>
          </a:xfrm>
          <a:prstGeom prst="roundRect">
            <a:avLst>
              <a:gd name="adj" fmla="val 8889"/>
            </a:avLst>
          </a:prstGeom>
          <a:solidFill>
            <a:srgbClr val="E6F0EF"/>
          </a:solidFill>
          <a:ln w="12700">
            <a:solidFill>
              <a:srgbClr val="E6F0EF"/>
            </a:solidFill>
            <a:prstDash val="solid"/>
          </a:ln>
        </p:spPr>
      </p:sp>
      <p:sp>
        <p:nvSpPr>
          <p:cNvPr id="7" name="Text 4"/>
          <p:cNvSpPr txBox="1"/>
          <p:nvPr/>
        </p:nvSpPr>
        <p:spPr>
          <a:xfrm>
            <a:off x="731520" y="5559552"/>
            <a:ext cx="10698480" cy="420624"/>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Hai hướng không loại trừ nhau</a:t>
            </a:r>
            <a:endParaRPr lang="en-US" sz="1500" dirty="0"/>
          </a:p>
        </p:txBody>
      </p:sp>
      <p:sp>
        <p:nvSpPr>
          <p:cNvPr id="8" name="Text 5"/>
          <p:cNvSpPr txBox="1"/>
          <p:nvPr/>
        </p:nvSpPr>
        <p:spPr>
          <a:xfrm>
            <a:off x="5120640" y="5440680"/>
            <a:ext cx="6355080" cy="822960"/>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Distributed tăng phần cứng; sampling giảm lượng tính mỗi batch. Đồ án chọn sampling vì đề tài hướng tới và giới hạn 1 GPU T4.</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1 · MỞ ĐẦU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Giai đoạn 1: GRAPES học cách lấy mẫu</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7</a:t>
            </a:r>
            <a:endParaRPr lang="en-US" sz="1000" dirty="0"/>
          </a:p>
        </p:txBody>
      </p:sp>
      <p:sp>
        <p:nvSpPr>
          <p:cNvPr id="5" name="Shape 3"/>
          <p:cNvSpPr/>
          <p:nvPr/>
        </p:nvSpPr>
        <p:spPr>
          <a:xfrm>
            <a:off x="548640" y="1645920"/>
            <a:ext cx="2011680" cy="822960"/>
          </a:xfrm>
          <a:prstGeom prst="roundRect">
            <a:avLst>
              <a:gd name="adj" fmla="val 6667"/>
            </a:avLst>
          </a:prstGeom>
          <a:solidFill>
            <a:srgbClr val="E6F0EF"/>
          </a:solidFill>
          <a:ln w="12700">
            <a:solidFill>
              <a:srgbClr val="E6F0EF"/>
            </a:solidFill>
            <a:prstDash val="solid"/>
          </a:ln>
        </p:spPr>
      </p:sp>
      <p:sp>
        <p:nvSpPr>
          <p:cNvPr id="6" name="Text 4"/>
          <p:cNvSpPr txBox="1"/>
          <p:nvPr/>
        </p:nvSpPr>
        <p:spPr>
          <a:xfrm>
            <a:off x="621792" y="1645920"/>
            <a:ext cx="1865376" cy="822960"/>
          </a:xfrm>
          <a:prstGeom prst="rect">
            <a:avLst/>
          </a:prstGeom>
          <a:noFill/>
          <a:ln/>
        </p:spPr>
        <p:txBody>
          <a:bodyPr wrap="square" lIns="0" tIns="0" rIns="0" bIns="0" rtlCol="0" anchor="ctr"/>
          <a:lstStyle/>
          <a:p>
            <a:pPr algn="ctr" indent="0" marL="0">
              <a:buNone/>
            </a:pPr>
            <a:r>
              <a:rPr lang="en-US" sz="1400" b="1" dirty="0">
                <a:solidFill>
                  <a:srgbClr val="13262A"/>
                </a:solidFill>
                <a:latin typeface="Calibri" pitchFamily="34" charset="0"/>
                <a:ea typeface="Calibri" pitchFamily="34" charset="-122"/>
                <a:cs typeface="Calibri" pitchFamily="34" charset="-120"/>
              </a:rPr>
              <a:t>Batch node mục tiêu</a:t>
            </a:r>
            <a:endParaRPr lang="en-US" sz="1400" dirty="0"/>
          </a:p>
        </p:txBody>
      </p:sp>
      <p:sp>
        <p:nvSpPr>
          <p:cNvPr id="7" name="Shape 5"/>
          <p:cNvSpPr/>
          <p:nvPr/>
        </p:nvSpPr>
        <p:spPr>
          <a:xfrm>
            <a:off x="3017520" y="1645920"/>
            <a:ext cx="2377440" cy="822960"/>
          </a:xfrm>
          <a:prstGeom prst="roundRect">
            <a:avLst>
              <a:gd name="adj" fmla="val 6667"/>
            </a:avLst>
          </a:prstGeom>
          <a:solidFill>
            <a:srgbClr val="0F4C4F"/>
          </a:solidFill>
          <a:ln w="12700">
            <a:solidFill>
              <a:srgbClr val="0F4C4F"/>
            </a:solidFill>
            <a:prstDash val="solid"/>
          </a:ln>
        </p:spPr>
      </p:sp>
      <p:sp>
        <p:nvSpPr>
          <p:cNvPr id="8" name="Text 6"/>
          <p:cNvSpPr txBox="1"/>
          <p:nvPr/>
        </p:nvSpPr>
        <p:spPr>
          <a:xfrm>
            <a:off x="3090672" y="1645920"/>
            <a:ext cx="223113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GCN_S chấm điểm hàng xóm</a:t>
            </a:r>
            <a:endParaRPr lang="en-US" sz="1400" dirty="0"/>
          </a:p>
        </p:txBody>
      </p:sp>
      <p:sp>
        <p:nvSpPr>
          <p:cNvPr id="9" name="Shape 7"/>
          <p:cNvSpPr/>
          <p:nvPr/>
        </p:nvSpPr>
        <p:spPr>
          <a:xfrm>
            <a:off x="5852160" y="1645920"/>
            <a:ext cx="2194560" cy="822960"/>
          </a:xfrm>
          <a:prstGeom prst="roundRect">
            <a:avLst>
              <a:gd name="adj" fmla="val 6667"/>
            </a:avLst>
          </a:prstGeom>
          <a:solidFill>
            <a:srgbClr val="2E7D7A"/>
          </a:solidFill>
          <a:ln w="12700">
            <a:solidFill>
              <a:srgbClr val="2E7D7A"/>
            </a:solidFill>
            <a:prstDash val="solid"/>
          </a:ln>
        </p:spPr>
      </p:sp>
      <p:sp>
        <p:nvSpPr>
          <p:cNvPr id="10" name="Text 8"/>
          <p:cNvSpPr txBox="1"/>
          <p:nvPr/>
        </p:nvSpPr>
        <p:spPr>
          <a:xfrm>
            <a:off x="5925312" y="1645920"/>
            <a:ext cx="204825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Gumbel Top-k chọn k node</a:t>
            </a:r>
            <a:endParaRPr lang="en-US" sz="1400" dirty="0"/>
          </a:p>
        </p:txBody>
      </p:sp>
      <p:sp>
        <p:nvSpPr>
          <p:cNvPr id="11" name="Shape 9"/>
          <p:cNvSpPr/>
          <p:nvPr/>
        </p:nvSpPr>
        <p:spPr>
          <a:xfrm>
            <a:off x="8503920" y="1645920"/>
            <a:ext cx="3108960" cy="822960"/>
          </a:xfrm>
          <a:prstGeom prst="roundRect">
            <a:avLst>
              <a:gd name="adj" fmla="val 6667"/>
            </a:avLst>
          </a:prstGeom>
          <a:solidFill>
            <a:srgbClr val="0F4C4F"/>
          </a:solidFill>
          <a:ln w="12700">
            <a:solidFill>
              <a:srgbClr val="0F4C4F"/>
            </a:solidFill>
            <a:prstDash val="solid"/>
          </a:ln>
        </p:spPr>
      </p:sp>
      <p:sp>
        <p:nvSpPr>
          <p:cNvPr id="12" name="Text 10"/>
          <p:cNvSpPr txBox="1"/>
          <p:nvPr/>
        </p:nvSpPr>
        <p:spPr>
          <a:xfrm>
            <a:off x="8577072" y="1645920"/>
            <a:ext cx="2962656" cy="8229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GCN_C học trên subgraph đã chọn</a:t>
            </a:r>
            <a:endParaRPr lang="en-US" sz="1400" dirty="0"/>
          </a:p>
        </p:txBody>
      </p:sp>
      <p:sp>
        <p:nvSpPr>
          <p:cNvPr id="13" name="Shape 11"/>
          <p:cNvSpPr/>
          <p:nvPr/>
        </p:nvSpPr>
        <p:spPr>
          <a:xfrm>
            <a:off x="2560320" y="2057400"/>
            <a:ext cx="457200" cy="914"/>
          </a:xfrm>
          <a:prstGeom prst="line">
            <a:avLst/>
          </a:prstGeom>
          <a:noFill/>
          <a:ln w="22225">
            <a:solidFill>
              <a:srgbClr val="5E6B6E"/>
            </a:solidFill>
            <a:prstDash val="solid"/>
            <a:tailEnd type="triangle"/>
          </a:ln>
        </p:spPr>
      </p:sp>
      <p:sp>
        <p:nvSpPr>
          <p:cNvPr id="14" name="Shape 12"/>
          <p:cNvSpPr/>
          <p:nvPr/>
        </p:nvSpPr>
        <p:spPr>
          <a:xfrm>
            <a:off x="5394960" y="2057400"/>
            <a:ext cx="457200" cy="914"/>
          </a:xfrm>
          <a:prstGeom prst="line">
            <a:avLst/>
          </a:prstGeom>
          <a:noFill/>
          <a:ln w="22225">
            <a:solidFill>
              <a:srgbClr val="5E6B6E"/>
            </a:solidFill>
            <a:prstDash val="solid"/>
            <a:tailEnd type="triangle"/>
          </a:ln>
        </p:spPr>
      </p:sp>
      <p:sp>
        <p:nvSpPr>
          <p:cNvPr id="15" name="Shape 13"/>
          <p:cNvSpPr/>
          <p:nvPr/>
        </p:nvSpPr>
        <p:spPr>
          <a:xfrm>
            <a:off x="8046720" y="2057400"/>
            <a:ext cx="457200" cy="914"/>
          </a:xfrm>
          <a:prstGeom prst="line">
            <a:avLst/>
          </a:prstGeom>
          <a:noFill/>
          <a:ln w="22225">
            <a:solidFill>
              <a:srgbClr val="5E6B6E"/>
            </a:solidFill>
            <a:prstDash val="solid"/>
            <a:tailEnd type="triangle"/>
          </a:ln>
        </p:spPr>
      </p:sp>
      <p:sp>
        <p:nvSpPr>
          <p:cNvPr id="16" name="Shape 14"/>
          <p:cNvSpPr/>
          <p:nvPr/>
        </p:nvSpPr>
        <p:spPr>
          <a:xfrm>
            <a:off x="8503920" y="3017520"/>
            <a:ext cx="3108960" cy="731520"/>
          </a:xfrm>
          <a:prstGeom prst="roundRect">
            <a:avLst>
              <a:gd name="adj" fmla="val 7500"/>
            </a:avLst>
          </a:prstGeom>
          <a:solidFill>
            <a:srgbClr val="FCF1DF"/>
          </a:solidFill>
          <a:ln w="12700">
            <a:solidFill>
              <a:srgbClr val="FCF1DF"/>
            </a:solidFill>
            <a:prstDash val="solid"/>
          </a:ln>
        </p:spPr>
      </p:sp>
      <p:sp>
        <p:nvSpPr>
          <p:cNvPr id="17" name="Text 15"/>
          <p:cNvSpPr txBox="1"/>
          <p:nvPr/>
        </p:nvSpPr>
        <p:spPr>
          <a:xfrm>
            <a:off x="8577072" y="3017520"/>
            <a:ext cx="2962656" cy="731520"/>
          </a:xfrm>
          <a:prstGeom prst="rect">
            <a:avLst/>
          </a:prstGeom>
          <a:noFill/>
          <a:ln/>
        </p:spPr>
        <p:txBody>
          <a:bodyPr wrap="square" lIns="0" tIns="0" rIns="0" bIns="0" rtlCol="0" anchor="ctr"/>
          <a:lstStyle/>
          <a:p>
            <a:pPr algn="ctr" indent="0" marL="0">
              <a:buNone/>
            </a:pPr>
            <a:r>
              <a:rPr lang="en-US" sz="1400" b="1" dirty="0">
                <a:solidFill>
                  <a:srgbClr val="13262A"/>
                </a:solidFill>
                <a:latin typeface="Calibri" pitchFamily="34" charset="0"/>
                <a:ea typeface="Calibri" pitchFamily="34" charset="-122"/>
                <a:cs typeface="Calibri" pitchFamily="34" charset="-120"/>
              </a:rPr>
              <a:t>Loss phân loại (detach)</a:t>
            </a:r>
            <a:endParaRPr lang="en-US" sz="1400" dirty="0"/>
          </a:p>
        </p:txBody>
      </p:sp>
      <p:sp>
        <p:nvSpPr>
          <p:cNvPr id="18" name="Shape 16"/>
          <p:cNvSpPr/>
          <p:nvPr/>
        </p:nvSpPr>
        <p:spPr>
          <a:xfrm>
            <a:off x="10058400" y="2468880"/>
            <a:ext cx="914" cy="548640"/>
          </a:xfrm>
          <a:prstGeom prst="line">
            <a:avLst/>
          </a:prstGeom>
          <a:noFill/>
          <a:ln w="22225">
            <a:solidFill>
              <a:srgbClr val="5E6B6E"/>
            </a:solidFill>
            <a:prstDash val="solid"/>
            <a:tailEnd type="triangle"/>
          </a:ln>
        </p:spPr>
      </p:sp>
      <p:sp>
        <p:nvSpPr>
          <p:cNvPr id="19" name="Shape 17"/>
          <p:cNvSpPr/>
          <p:nvPr/>
        </p:nvSpPr>
        <p:spPr>
          <a:xfrm>
            <a:off x="3017520" y="3017520"/>
            <a:ext cx="5029200" cy="731520"/>
          </a:xfrm>
          <a:prstGeom prst="roundRect">
            <a:avLst>
              <a:gd name="adj" fmla="val 7500"/>
            </a:avLst>
          </a:prstGeom>
          <a:solidFill>
            <a:srgbClr val="E89B2D"/>
          </a:solidFill>
          <a:ln w="12700">
            <a:solidFill>
              <a:srgbClr val="E89B2D"/>
            </a:solidFill>
            <a:prstDash val="solid"/>
          </a:ln>
        </p:spPr>
      </p:sp>
      <p:sp>
        <p:nvSpPr>
          <p:cNvPr id="20" name="Text 18"/>
          <p:cNvSpPr txBox="1"/>
          <p:nvPr/>
        </p:nvSpPr>
        <p:spPr>
          <a:xfrm>
            <a:off x="3090672" y="3017520"/>
            <a:ext cx="4882896" cy="731520"/>
          </a:xfrm>
          <a:prstGeom prst="rect">
            <a:avLst/>
          </a:prstGeom>
          <a:noFill/>
          <a:ln/>
        </p:spPr>
        <p:txBody>
          <a:bodyPr wrap="square" lIns="0" tIns="0" rIns="0" bIns="0" rtlCol="0" anchor="ctr"/>
          <a:lstStyle/>
          <a:p>
            <a:pPr algn="ctr" indent="0" marL="0">
              <a:buNone/>
            </a:pPr>
            <a:r>
              <a:rPr lang="en-US" sz="1400" b="1" dirty="0">
                <a:solidFill>
                  <a:srgbClr val="13262A"/>
                </a:solidFill>
                <a:latin typeface="Calibri" pitchFamily="34" charset="0"/>
                <a:ea typeface="Calibri" pitchFamily="34" charset="-122"/>
                <a:cs typeface="Calibri" pitchFamily="34" charset="-120"/>
              </a:rPr>
              <a:t>GFlowNet TB: (log Z + Σ log q + α·loss)² → cập nhật GCN_S, GCN_Z</a:t>
            </a:r>
            <a:endParaRPr lang="en-US" sz="1400" dirty="0"/>
          </a:p>
        </p:txBody>
      </p:sp>
      <p:sp>
        <p:nvSpPr>
          <p:cNvPr id="21" name="Shape 19"/>
          <p:cNvSpPr/>
          <p:nvPr/>
        </p:nvSpPr>
        <p:spPr>
          <a:xfrm flipH="1">
            <a:off x="8046720" y="3383280"/>
            <a:ext cx="457200" cy="914"/>
          </a:xfrm>
          <a:prstGeom prst="line">
            <a:avLst/>
          </a:prstGeom>
          <a:noFill/>
          <a:ln w="22225">
            <a:solidFill>
              <a:srgbClr val="5E6B6E"/>
            </a:solidFill>
            <a:prstDash val="solid"/>
            <a:tailEnd type="triangle"/>
          </a:ln>
        </p:spPr>
      </p:sp>
      <p:sp>
        <p:nvSpPr>
          <p:cNvPr id="22" name="Shape 20"/>
          <p:cNvSpPr/>
          <p:nvPr/>
        </p:nvSpPr>
        <p:spPr>
          <a:xfrm flipV="1">
            <a:off x="4206240" y="2468880"/>
            <a:ext cx="914" cy="548640"/>
          </a:xfrm>
          <a:prstGeom prst="line">
            <a:avLst/>
          </a:prstGeom>
          <a:noFill/>
          <a:ln w="22225">
            <a:solidFill>
              <a:srgbClr val="5E6B6E"/>
            </a:solidFill>
            <a:prstDash val="solid"/>
            <a:tailEnd type="triangle"/>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6766560" cy="914400"/>
        </p:xfrm>
        <a:graphic>
          <a:graphicData uri="http://schemas.openxmlformats.org/drawingml/2006/table">
            <a:tbl>
              <a:tblPr/>
              <a:tblGrid>
                <a:gridCol w="2011680"/>
                <a:gridCol w="1280160"/>
                <a:gridCol w="1280160"/>
                <a:gridCol w="21945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Tái hiện trên T4</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GRAPES</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Random</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Thời gian GRAPES / Random</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384048">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Cora (accuracy)</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0,8710</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0,8677</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56,3 s / 30,5 s</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r>
              <a:tr h="384048">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Citeseer</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0,7857</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0,7900</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94,6 s / 56,0 s</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r>
              <a:tr h="384048">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ogbn-arxiv</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0,6204</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0,6128</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11.114 s / 8.133 s</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tcPr>
                </a:tc>
              </a:tr>
            </a:tbl>
          </a:graphicData>
        </a:graphic>
      </p:graphicFrame>
      <p:sp>
        <p:nvSpPr>
          <p:cNvPr id="24" name="Text 21"/>
          <p:cNvSpPr txBox="1"/>
          <p:nvPr/>
        </p:nvSpPr>
        <p:spPr>
          <a:xfrm>
            <a:off x="7589520" y="4114800"/>
            <a:ext cx="4023360" cy="21031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3262A"/>
                </a:solidFill>
                <a:latin typeface="Calibri" pitchFamily="34" charset="0"/>
                <a:ea typeface="Calibri" pitchFamily="34" charset="-122"/>
                <a:cs typeface="Calibri" pitchFamily="34" charset="-120"/>
              </a:rPr>
              <a:t>Bài học 1: sampler học được có thể hơn random, nhưng lợi thế nhỏ và không đều giữa dataset.</a:t>
            </a:r>
            <a:endParaRPr lang="en-US" sz="1400" dirty="0"/>
          </a:p>
          <a:p>
            <a:pPr marL="203200" indent="-203200">
              <a:spcAft>
                <a:spcPts val="600"/>
              </a:spcAft>
              <a:buSzPct val="100000"/>
              <a:buChar char="•"/>
            </a:pPr>
            <a:r>
              <a:rPr lang="en-US" sz="1400" dirty="0">
                <a:solidFill>
                  <a:srgbClr val="13262A"/>
                </a:solidFill>
                <a:latin typeface="Calibri" pitchFamily="34" charset="0"/>
                <a:ea typeface="Calibri" pitchFamily="34" charset="-122"/>
                <a:cs typeface="Calibri" pitchFamily="34" charset="-120"/>
              </a:rPr>
              <a:t>Bài học 2: sampler tốn thêm 37–85% thời gian → phải tính chi phí sampler vào trade-off.</a:t>
            </a:r>
            <a:endParaRPr lang="en-US" sz="1400" dirty="0"/>
          </a:p>
          <a:p>
            <a:pPr marL="203200" indent="-203200">
              <a:spcAft>
                <a:spcPts val="600"/>
              </a:spcAft>
              <a:buSzPct val="100000"/>
              <a:buChar char="•"/>
            </a:pPr>
            <a:r>
              <a:rPr lang="en-US" sz="1400" dirty="0">
                <a:solidFill>
                  <a:srgbClr val="13262A"/>
                </a:solidFill>
                <a:latin typeface="Calibri" pitchFamily="34" charset="0"/>
                <a:ea typeface="Calibri" pitchFamily="34" charset="-122"/>
                <a:cs typeface="Calibri" pitchFamily="34" charset="-120"/>
              </a:rPr>
              <a:t>GRAPES mới đánh giá node classification; recommendation chỉ được nêu là hướng mở rộng.</a:t>
            </a:r>
            <a:endParaRPr lang="en-US" sz="1400" dirty="0"/>
          </a:p>
        </p:txBody>
      </p:sp>
      <p:sp>
        <p:nvSpPr>
          <p:cNvPr id="25" name="Text 22"/>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[1] GRAPES arXiv:2310.03399v3; kết quả tái hiện ThucTap2/GRAPES report/grapes_results.json.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1 · MỞ ĐẦU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Không thể chép nguyên GRAPES sang gợi ý</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8</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103120"/>
                <a:gridCol w="3840480"/>
                <a:gridCol w="5120640"/>
              </a:tblGrid>
              <a:tr h="58521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Khía cạnh</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GRAPES gốc (node classification)</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GRAPES-GFN-Rec (recommendation)</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Đồ thị</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Node có feature, cạnh tổng quát</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Hai phía user–item, chỉ cạnh positive trước mốc thời gian</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Mục tiêu một batch</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Node có nhãn</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Triplet BPR (user, item mua, item âm); V⁰ = tập endpoint</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Feature cho sampler</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Feature node sẵn có</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Embedding ID riêng + loại node + degree train + lịch sử layer</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Model chính</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GCN phân loại</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Sampled LightGCN: không self-loop, không phi tuyến</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Tín hiệu thưởng</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Cross-entropy</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Mean BPR ranking loss (không gồm regularizer)</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Đánh giá</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Accuracy trên node</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Xếp hạng toàn catalog: NDCG@20, Recall@20, coverage, head/tail</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85216">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Rò rỉ dữ liệu</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Split node cố định</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600" dirty="0">
                          <a:solidFill>
                            <a:srgbClr val="13262A"/>
                          </a:solidFill>
                          <a:latin typeface="Calibri" pitchFamily="34" charset="0"/>
                          <a:ea typeface="Calibri" pitchFamily="34" charset="-122"/>
                          <a:cs typeface="Calibri" pitchFamily="34" charset="-120"/>
                        </a:rPr>
                        <a:t>Split theo thời gian; cạnh tương lai không được vào graph, degree, feature</a:t>
                      </a:r>
                      <a:endParaRPr lang="en-US" sz="16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Chi tiết từng quyết định: 02_protocol/GRAPES_RECOMMENDATION_SPEC_vn.md (D1–D11). Đây là adaptation của đồ án, không phải kết quả paper GRAPES đã chứng minh.</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1 · MỞ ĐẦU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Rà soát hướng đi: vì sao phải xây lại</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1417320"/>
            <a:ext cx="11064240" cy="731520"/>
          </a:xfrm>
          <a:prstGeom prst="rect">
            <a:avLst/>
          </a:prstGeom>
          <a:noFill/>
          <a:ln/>
        </p:spPr>
        <p:txBody>
          <a:bodyPr wrap="square" lIns="0" tIns="0" rIns="0" bIns="0" rtlCol="0" anchor="ctr"/>
          <a:lstStyle/>
          <a:p>
            <a:pPr indent="0" marL="0">
              <a:buNone/>
            </a:pPr>
            <a:r>
              <a:rPr lang="en-US" sz="1600" dirty="0">
                <a:solidFill>
                  <a:srgbClr val="13262A"/>
                </a:solidFill>
                <a:latin typeface="Calibri" pitchFamily="34" charset="0"/>
                <a:ea typeface="Calibri" pitchFamily="34" charset="-122"/>
                <a:cs typeface="Calibri" pitchFamily="34" charset="-120"/>
              </a:rPr>
              <a:t>Pilot M0–M2 trước đây chỉ so sánh ba luật chọn node cố định. M2 (frontier-normalized) mượn hình thức của GRAPES nhưng thiếu phần cốt lõi: học sampler.</a:t>
            </a:r>
            <a:endParaRPr lang="en-US" sz="1600" dirty="0"/>
          </a:p>
        </p:txBody>
      </p:sp>
      <p:sp>
        <p:nvSpPr>
          <p:cNvPr id="6" name="Shape 4"/>
          <p:cNvSpPr/>
          <p:nvPr/>
        </p:nvSpPr>
        <p:spPr>
          <a:xfrm>
            <a:off x="548640" y="2377440"/>
            <a:ext cx="2606040" cy="1051560"/>
          </a:xfrm>
          <a:prstGeom prst="roundRect">
            <a:avLst>
              <a:gd name="adj" fmla="val 6957"/>
            </a:avLst>
          </a:prstGeom>
          <a:solidFill>
            <a:srgbClr val="F4F7F7"/>
          </a:solidFill>
          <a:ln w="12700">
            <a:solidFill>
              <a:srgbClr val="F4F7F7"/>
            </a:solidFill>
            <a:prstDash val="solid"/>
          </a:ln>
        </p:spPr>
      </p:sp>
      <p:sp>
        <p:nvSpPr>
          <p:cNvPr id="7" name="Shape 5"/>
          <p:cNvSpPr/>
          <p:nvPr/>
        </p:nvSpPr>
        <p:spPr>
          <a:xfrm>
            <a:off x="685800" y="2514600"/>
            <a:ext cx="457200" cy="457200"/>
          </a:xfrm>
          <a:prstGeom prst="ellipse">
            <a:avLst/>
          </a:prstGeom>
          <a:solidFill>
            <a:srgbClr val="0F4C4F"/>
          </a:solidFill>
          <a:ln w="12700">
            <a:solidFill>
              <a:srgbClr val="0F4C4F"/>
            </a:solidFill>
            <a:prstDash val="solid"/>
          </a:ln>
        </p:spPr>
      </p:sp>
      <p:sp>
        <p:nvSpPr>
          <p:cNvPr id="8" name="Text 6"/>
          <p:cNvSpPr txBox="1"/>
          <p:nvPr/>
        </p:nvSpPr>
        <p:spPr>
          <a:xfrm>
            <a:off x="685800" y="2514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G1</a:t>
            </a:r>
            <a:endParaRPr lang="en-US" sz="1200" dirty="0"/>
          </a:p>
        </p:txBody>
      </p:sp>
      <p:sp>
        <p:nvSpPr>
          <p:cNvPr id="9" name="Text 7"/>
          <p:cNvSpPr txBox="1"/>
          <p:nvPr/>
        </p:nvSpPr>
        <p:spPr>
          <a:xfrm>
            <a:off x="1234440" y="246888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Policy có tham số (GCN_S)</a:t>
            </a:r>
            <a:endParaRPr lang="en-US" sz="1300" dirty="0"/>
          </a:p>
        </p:txBody>
      </p:sp>
      <p:sp>
        <p:nvSpPr>
          <p:cNvPr id="10" name="Text 8"/>
          <p:cNvSpPr txBox="1"/>
          <p:nvPr/>
        </p:nvSpPr>
        <p:spPr>
          <a:xfrm>
            <a:off x="1234440" y="3017520"/>
            <a:ext cx="1828800"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M2: không có</a:t>
            </a:r>
            <a:endParaRPr lang="en-US" sz="1200" dirty="0"/>
          </a:p>
        </p:txBody>
      </p:sp>
      <p:sp>
        <p:nvSpPr>
          <p:cNvPr id="11" name="Shape 9"/>
          <p:cNvSpPr/>
          <p:nvPr/>
        </p:nvSpPr>
        <p:spPr>
          <a:xfrm>
            <a:off x="3337560" y="2377440"/>
            <a:ext cx="2606040" cy="1051560"/>
          </a:xfrm>
          <a:prstGeom prst="roundRect">
            <a:avLst>
              <a:gd name="adj" fmla="val 6957"/>
            </a:avLst>
          </a:prstGeom>
          <a:solidFill>
            <a:srgbClr val="F4F7F7"/>
          </a:solidFill>
          <a:ln w="12700">
            <a:solidFill>
              <a:srgbClr val="F4F7F7"/>
            </a:solidFill>
            <a:prstDash val="solid"/>
          </a:ln>
        </p:spPr>
      </p:sp>
      <p:sp>
        <p:nvSpPr>
          <p:cNvPr id="12" name="Shape 10"/>
          <p:cNvSpPr/>
          <p:nvPr/>
        </p:nvSpPr>
        <p:spPr>
          <a:xfrm>
            <a:off x="3474720" y="2514600"/>
            <a:ext cx="457200" cy="457200"/>
          </a:xfrm>
          <a:prstGeom prst="ellipse">
            <a:avLst/>
          </a:prstGeom>
          <a:solidFill>
            <a:srgbClr val="0F4C4F"/>
          </a:solidFill>
          <a:ln w="12700">
            <a:solidFill>
              <a:srgbClr val="0F4C4F"/>
            </a:solidFill>
            <a:prstDash val="solid"/>
          </a:ln>
        </p:spPr>
      </p:sp>
      <p:sp>
        <p:nvSpPr>
          <p:cNvPr id="13" name="Text 11"/>
          <p:cNvSpPr txBox="1"/>
          <p:nvPr/>
        </p:nvSpPr>
        <p:spPr>
          <a:xfrm>
            <a:off x="3474720" y="2514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G2</a:t>
            </a:r>
            <a:endParaRPr lang="en-US" sz="1200" dirty="0"/>
          </a:p>
        </p:txBody>
      </p:sp>
      <p:sp>
        <p:nvSpPr>
          <p:cNvPr id="14" name="Text 12"/>
          <p:cNvSpPr txBox="1"/>
          <p:nvPr/>
        </p:nvSpPr>
        <p:spPr>
          <a:xfrm>
            <a:off x="4023360" y="246888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Gumbel Top-k exact-k</a:t>
            </a:r>
            <a:endParaRPr lang="en-US" sz="1300" dirty="0"/>
          </a:p>
        </p:txBody>
      </p:sp>
      <p:sp>
        <p:nvSpPr>
          <p:cNvPr id="15" name="Text 13"/>
          <p:cNvSpPr txBox="1"/>
          <p:nvPr/>
        </p:nvSpPr>
        <p:spPr>
          <a:xfrm>
            <a:off x="4023360" y="3017520"/>
            <a:ext cx="1828800" cy="320040"/>
          </a:xfrm>
          <a:prstGeom prst="rect">
            <a:avLst/>
          </a:prstGeom>
          <a:noFill/>
          <a:ln/>
        </p:spPr>
        <p:txBody>
          <a:bodyPr wrap="square" lIns="0" tIns="0" rIns="0" bIns="0" rtlCol="0" anchor="ctr"/>
          <a:lstStyle/>
          <a:p>
            <a:pPr indent="0" marL="0">
              <a:buNone/>
            </a:pPr>
            <a:r>
              <a:rPr lang="en-US" sz="1200" b="1" dirty="0">
                <a:solidFill>
                  <a:srgbClr val="2E7D7A"/>
                </a:solidFill>
                <a:latin typeface="Calibri" pitchFamily="34" charset="0"/>
                <a:ea typeface="Calibri" pitchFamily="34" charset="-122"/>
                <a:cs typeface="Calibri" pitchFamily="34" charset="-120"/>
              </a:rPr>
              <a:t>M2: có</a:t>
            </a:r>
            <a:endParaRPr lang="en-US" sz="1200" dirty="0"/>
          </a:p>
        </p:txBody>
      </p:sp>
      <p:sp>
        <p:nvSpPr>
          <p:cNvPr id="16" name="Shape 14"/>
          <p:cNvSpPr/>
          <p:nvPr/>
        </p:nvSpPr>
        <p:spPr>
          <a:xfrm>
            <a:off x="6126480" y="2377440"/>
            <a:ext cx="2606040" cy="1051560"/>
          </a:xfrm>
          <a:prstGeom prst="roundRect">
            <a:avLst>
              <a:gd name="adj" fmla="val 6957"/>
            </a:avLst>
          </a:prstGeom>
          <a:solidFill>
            <a:srgbClr val="F4F7F7"/>
          </a:solidFill>
          <a:ln w="12700">
            <a:solidFill>
              <a:srgbClr val="F4F7F7"/>
            </a:solidFill>
            <a:prstDash val="solid"/>
          </a:ln>
        </p:spPr>
      </p:sp>
      <p:sp>
        <p:nvSpPr>
          <p:cNvPr id="17" name="Shape 15"/>
          <p:cNvSpPr/>
          <p:nvPr/>
        </p:nvSpPr>
        <p:spPr>
          <a:xfrm>
            <a:off x="6263640" y="2514600"/>
            <a:ext cx="457200" cy="457200"/>
          </a:xfrm>
          <a:prstGeom prst="ellipse">
            <a:avLst/>
          </a:prstGeom>
          <a:solidFill>
            <a:srgbClr val="0F4C4F"/>
          </a:solidFill>
          <a:ln w="12700">
            <a:solidFill>
              <a:srgbClr val="0F4C4F"/>
            </a:solidFill>
            <a:prstDash val="solid"/>
          </a:ln>
        </p:spPr>
      </p:sp>
      <p:sp>
        <p:nvSpPr>
          <p:cNvPr id="18" name="Text 16"/>
          <p:cNvSpPr txBox="1"/>
          <p:nvPr/>
        </p:nvSpPr>
        <p:spPr>
          <a:xfrm>
            <a:off x="6263640" y="2514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G3</a:t>
            </a:r>
            <a:endParaRPr lang="en-US" sz="1200" dirty="0"/>
          </a:p>
        </p:txBody>
      </p:sp>
      <p:sp>
        <p:nvSpPr>
          <p:cNvPr id="19" name="Text 17"/>
          <p:cNvSpPr txBox="1"/>
          <p:nvPr/>
        </p:nvSpPr>
        <p:spPr>
          <a:xfrm>
            <a:off x="6812280" y="246888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Log-likelihood trajectory log q</a:t>
            </a:r>
            <a:endParaRPr lang="en-US" sz="1300" dirty="0"/>
          </a:p>
        </p:txBody>
      </p:sp>
      <p:sp>
        <p:nvSpPr>
          <p:cNvPr id="20" name="Text 18"/>
          <p:cNvSpPr txBox="1"/>
          <p:nvPr/>
        </p:nvSpPr>
        <p:spPr>
          <a:xfrm>
            <a:off x="6812280" y="3017520"/>
            <a:ext cx="1828800"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M2: không có</a:t>
            </a:r>
            <a:endParaRPr lang="en-US" sz="1200" dirty="0"/>
          </a:p>
        </p:txBody>
      </p:sp>
      <p:sp>
        <p:nvSpPr>
          <p:cNvPr id="21" name="Shape 19"/>
          <p:cNvSpPr/>
          <p:nvPr/>
        </p:nvSpPr>
        <p:spPr>
          <a:xfrm>
            <a:off x="8915400" y="2377440"/>
            <a:ext cx="2606040" cy="1051560"/>
          </a:xfrm>
          <a:prstGeom prst="roundRect">
            <a:avLst>
              <a:gd name="adj" fmla="val 6957"/>
            </a:avLst>
          </a:prstGeom>
          <a:solidFill>
            <a:srgbClr val="F4F7F7"/>
          </a:solidFill>
          <a:ln w="12700">
            <a:solidFill>
              <a:srgbClr val="F4F7F7"/>
            </a:solidFill>
            <a:prstDash val="solid"/>
          </a:ln>
        </p:spPr>
      </p:sp>
      <p:sp>
        <p:nvSpPr>
          <p:cNvPr id="22" name="Shape 20"/>
          <p:cNvSpPr/>
          <p:nvPr/>
        </p:nvSpPr>
        <p:spPr>
          <a:xfrm>
            <a:off x="9052560" y="2514600"/>
            <a:ext cx="457200" cy="457200"/>
          </a:xfrm>
          <a:prstGeom prst="ellipse">
            <a:avLst/>
          </a:prstGeom>
          <a:solidFill>
            <a:srgbClr val="0F4C4F"/>
          </a:solidFill>
          <a:ln w="12700">
            <a:solidFill>
              <a:srgbClr val="0F4C4F"/>
            </a:solidFill>
            <a:prstDash val="solid"/>
          </a:ln>
        </p:spPr>
      </p:sp>
      <p:sp>
        <p:nvSpPr>
          <p:cNvPr id="23" name="Text 21"/>
          <p:cNvSpPr txBox="1"/>
          <p:nvPr/>
        </p:nvSpPr>
        <p:spPr>
          <a:xfrm>
            <a:off x="9052560" y="251460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G4</a:t>
            </a:r>
            <a:endParaRPr lang="en-US" sz="1200" dirty="0"/>
          </a:p>
        </p:txBody>
      </p:sp>
      <p:sp>
        <p:nvSpPr>
          <p:cNvPr id="24" name="Text 22"/>
          <p:cNvSpPr txBox="1"/>
          <p:nvPr/>
        </p:nvSpPr>
        <p:spPr>
          <a:xfrm>
            <a:off x="9601200" y="246888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Tín hiệu từ loss gợi ý (detach)</a:t>
            </a:r>
            <a:endParaRPr lang="en-US" sz="1300" dirty="0"/>
          </a:p>
        </p:txBody>
      </p:sp>
      <p:sp>
        <p:nvSpPr>
          <p:cNvPr id="25" name="Text 23"/>
          <p:cNvSpPr txBox="1"/>
          <p:nvPr/>
        </p:nvSpPr>
        <p:spPr>
          <a:xfrm>
            <a:off x="9601200" y="3017520"/>
            <a:ext cx="1828800"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M2: không có</a:t>
            </a:r>
            <a:endParaRPr lang="en-US" sz="1200" dirty="0"/>
          </a:p>
        </p:txBody>
      </p:sp>
      <p:sp>
        <p:nvSpPr>
          <p:cNvPr id="26" name="Shape 24"/>
          <p:cNvSpPr/>
          <p:nvPr/>
        </p:nvSpPr>
        <p:spPr>
          <a:xfrm>
            <a:off x="548640" y="3611880"/>
            <a:ext cx="2606040" cy="1051560"/>
          </a:xfrm>
          <a:prstGeom prst="roundRect">
            <a:avLst>
              <a:gd name="adj" fmla="val 6957"/>
            </a:avLst>
          </a:prstGeom>
          <a:solidFill>
            <a:srgbClr val="F4F7F7"/>
          </a:solidFill>
          <a:ln w="12700">
            <a:solidFill>
              <a:srgbClr val="F4F7F7"/>
            </a:solidFill>
            <a:prstDash val="solid"/>
          </a:ln>
        </p:spPr>
      </p:sp>
      <p:sp>
        <p:nvSpPr>
          <p:cNvPr id="27" name="Shape 25"/>
          <p:cNvSpPr/>
          <p:nvPr/>
        </p:nvSpPr>
        <p:spPr>
          <a:xfrm>
            <a:off x="685800" y="3749040"/>
            <a:ext cx="457200" cy="457200"/>
          </a:xfrm>
          <a:prstGeom prst="ellipse">
            <a:avLst/>
          </a:prstGeom>
          <a:solidFill>
            <a:srgbClr val="0F4C4F"/>
          </a:solidFill>
          <a:ln w="12700">
            <a:solidFill>
              <a:srgbClr val="0F4C4F"/>
            </a:solidFill>
            <a:prstDash val="solid"/>
          </a:ln>
        </p:spPr>
      </p:sp>
      <p:sp>
        <p:nvSpPr>
          <p:cNvPr id="28" name="Text 26"/>
          <p:cNvSpPr txBox="1"/>
          <p:nvPr/>
        </p:nvSpPr>
        <p:spPr>
          <a:xfrm>
            <a:off x="685800" y="37490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G5</a:t>
            </a:r>
            <a:endParaRPr lang="en-US" sz="1200" dirty="0"/>
          </a:p>
        </p:txBody>
      </p:sp>
      <p:sp>
        <p:nvSpPr>
          <p:cNvPr id="29" name="Text 27"/>
          <p:cNvSpPr txBox="1"/>
          <p:nvPr/>
        </p:nvSpPr>
        <p:spPr>
          <a:xfrm>
            <a:off x="1234440" y="370332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log Z(V⁰) học được</a:t>
            </a:r>
            <a:endParaRPr lang="en-US" sz="1300" dirty="0"/>
          </a:p>
        </p:txBody>
      </p:sp>
      <p:sp>
        <p:nvSpPr>
          <p:cNvPr id="30" name="Text 28"/>
          <p:cNvSpPr txBox="1"/>
          <p:nvPr/>
        </p:nvSpPr>
        <p:spPr>
          <a:xfrm>
            <a:off x="1234440" y="4251960"/>
            <a:ext cx="1828800"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M2: không có</a:t>
            </a:r>
            <a:endParaRPr lang="en-US" sz="1200" dirty="0"/>
          </a:p>
        </p:txBody>
      </p:sp>
      <p:sp>
        <p:nvSpPr>
          <p:cNvPr id="31" name="Shape 29"/>
          <p:cNvSpPr/>
          <p:nvPr/>
        </p:nvSpPr>
        <p:spPr>
          <a:xfrm>
            <a:off x="3337560" y="3611880"/>
            <a:ext cx="2606040" cy="1051560"/>
          </a:xfrm>
          <a:prstGeom prst="roundRect">
            <a:avLst>
              <a:gd name="adj" fmla="val 6957"/>
            </a:avLst>
          </a:prstGeom>
          <a:solidFill>
            <a:srgbClr val="F4F7F7"/>
          </a:solidFill>
          <a:ln w="12700">
            <a:solidFill>
              <a:srgbClr val="F4F7F7"/>
            </a:solidFill>
            <a:prstDash val="solid"/>
          </a:ln>
        </p:spPr>
      </p:sp>
      <p:sp>
        <p:nvSpPr>
          <p:cNvPr id="32" name="Shape 30"/>
          <p:cNvSpPr/>
          <p:nvPr/>
        </p:nvSpPr>
        <p:spPr>
          <a:xfrm>
            <a:off x="3474720" y="3749040"/>
            <a:ext cx="457200" cy="457200"/>
          </a:xfrm>
          <a:prstGeom prst="ellipse">
            <a:avLst/>
          </a:prstGeom>
          <a:solidFill>
            <a:srgbClr val="0F4C4F"/>
          </a:solidFill>
          <a:ln w="12700">
            <a:solidFill>
              <a:srgbClr val="0F4C4F"/>
            </a:solidFill>
            <a:prstDash val="solid"/>
          </a:ln>
        </p:spPr>
      </p:sp>
      <p:sp>
        <p:nvSpPr>
          <p:cNvPr id="33" name="Text 31"/>
          <p:cNvSpPr txBox="1"/>
          <p:nvPr/>
        </p:nvSpPr>
        <p:spPr>
          <a:xfrm>
            <a:off x="3474720" y="37490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G6</a:t>
            </a:r>
            <a:endParaRPr lang="en-US" sz="1200" dirty="0"/>
          </a:p>
        </p:txBody>
      </p:sp>
      <p:sp>
        <p:nvSpPr>
          <p:cNvPr id="34" name="Text 32"/>
          <p:cNvSpPr txBox="1"/>
          <p:nvPr/>
        </p:nvSpPr>
        <p:spPr>
          <a:xfrm>
            <a:off x="4023360" y="370332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Mục tiêu TB / REINFORCE</a:t>
            </a:r>
            <a:endParaRPr lang="en-US" sz="1300" dirty="0"/>
          </a:p>
        </p:txBody>
      </p:sp>
      <p:sp>
        <p:nvSpPr>
          <p:cNvPr id="35" name="Text 33"/>
          <p:cNvSpPr txBox="1"/>
          <p:nvPr/>
        </p:nvSpPr>
        <p:spPr>
          <a:xfrm>
            <a:off x="4023360" y="4251960"/>
            <a:ext cx="1828800"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M2: không có</a:t>
            </a:r>
            <a:endParaRPr lang="en-US" sz="1200" dirty="0"/>
          </a:p>
        </p:txBody>
      </p:sp>
      <p:sp>
        <p:nvSpPr>
          <p:cNvPr id="36" name="Shape 34"/>
          <p:cNvSpPr/>
          <p:nvPr/>
        </p:nvSpPr>
        <p:spPr>
          <a:xfrm>
            <a:off x="6126480" y="3611880"/>
            <a:ext cx="2606040" cy="1051560"/>
          </a:xfrm>
          <a:prstGeom prst="roundRect">
            <a:avLst>
              <a:gd name="adj" fmla="val 6957"/>
            </a:avLst>
          </a:prstGeom>
          <a:solidFill>
            <a:srgbClr val="F4F7F7"/>
          </a:solidFill>
          <a:ln w="12700">
            <a:solidFill>
              <a:srgbClr val="F4F7F7"/>
            </a:solidFill>
            <a:prstDash val="solid"/>
          </a:ln>
        </p:spPr>
      </p:sp>
      <p:sp>
        <p:nvSpPr>
          <p:cNvPr id="37" name="Shape 35"/>
          <p:cNvSpPr/>
          <p:nvPr/>
        </p:nvSpPr>
        <p:spPr>
          <a:xfrm>
            <a:off x="6263640" y="3749040"/>
            <a:ext cx="457200" cy="457200"/>
          </a:xfrm>
          <a:prstGeom prst="ellipse">
            <a:avLst/>
          </a:prstGeom>
          <a:solidFill>
            <a:srgbClr val="0F4C4F"/>
          </a:solidFill>
          <a:ln w="12700">
            <a:solidFill>
              <a:srgbClr val="0F4C4F"/>
            </a:solidFill>
            <a:prstDash val="solid"/>
          </a:ln>
        </p:spPr>
      </p:sp>
      <p:sp>
        <p:nvSpPr>
          <p:cNvPr id="38" name="Text 36"/>
          <p:cNvSpPr txBox="1"/>
          <p:nvPr/>
        </p:nvSpPr>
        <p:spPr>
          <a:xfrm>
            <a:off x="6263640" y="3749040"/>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G7</a:t>
            </a:r>
            <a:endParaRPr lang="en-US" sz="1200" dirty="0"/>
          </a:p>
        </p:txBody>
      </p:sp>
      <p:sp>
        <p:nvSpPr>
          <p:cNvPr id="39" name="Text 37"/>
          <p:cNvSpPr txBox="1"/>
          <p:nvPr/>
        </p:nvSpPr>
        <p:spPr>
          <a:xfrm>
            <a:off x="6812280" y="3703320"/>
            <a:ext cx="1828800" cy="548640"/>
          </a:xfrm>
          <a:prstGeom prst="rect">
            <a:avLst/>
          </a:prstGeom>
          <a:noFill/>
          <a:ln/>
        </p:spPr>
        <p:txBody>
          <a:bodyPr wrap="square" lIns="0" tIns="0" rIns="0" bIns="0" rtlCol="0" anchor="ctr"/>
          <a:lstStyle/>
          <a:p>
            <a:pPr indent="0" marL="0">
              <a:buNone/>
            </a:pPr>
            <a:r>
              <a:rPr lang="en-US" sz="1300" b="1" dirty="0">
                <a:solidFill>
                  <a:srgbClr val="13262A"/>
                </a:solidFill>
                <a:latin typeface="Calibri" pitchFamily="34" charset="0"/>
                <a:ea typeface="Calibri" pitchFamily="34" charset="-122"/>
                <a:cs typeface="Calibri" pitchFamily="34" charset="-120"/>
              </a:rPr>
              <a:t>Sampler thực sự được cập nhật</a:t>
            </a:r>
            <a:endParaRPr lang="en-US" sz="1300" dirty="0"/>
          </a:p>
        </p:txBody>
      </p:sp>
      <p:sp>
        <p:nvSpPr>
          <p:cNvPr id="40" name="Text 38"/>
          <p:cNvSpPr txBox="1"/>
          <p:nvPr/>
        </p:nvSpPr>
        <p:spPr>
          <a:xfrm>
            <a:off x="6812280" y="4251960"/>
            <a:ext cx="1828800" cy="320040"/>
          </a:xfrm>
          <a:prstGeom prst="rect">
            <a:avLst/>
          </a:prstGeom>
          <a:noFill/>
          <a:ln/>
        </p:spPr>
        <p:txBody>
          <a:bodyPr wrap="square" lIns="0" tIns="0" rIns="0" bIns="0" rtlCol="0" anchor="ctr"/>
          <a:lstStyle/>
          <a:p>
            <a:pPr indent="0" marL="0">
              <a:buNone/>
            </a:pPr>
            <a:r>
              <a:rPr lang="en-US" sz="1200" b="1" dirty="0">
                <a:solidFill>
                  <a:srgbClr val="C8553D"/>
                </a:solidFill>
                <a:latin typeface="Calibri" pitchFamily="34" charset="0"/>
                <a:ea typeface="Calibri" pitchFamily="34" charset="-122"/>
                <a:cs typeface="Calibri" pitchFamily="34" charset="-120"/>
              </a:rPr>
              <a:t>M2: không có</a:t>
            </a:r>
            <a:endParaRPr lang="en-US" sz="1200" dirty="0"/>
          </a:p>
        </p:txBody>
      </p:sp>
      <p:sp>
        <p:nvSpPr>
          <p:cNvPr id="41" name="Shape 39"/>
          <p:cNvSpPr/>
          <p:nvPr/>
        </p:nvSpPr>
        <p:spPr>
          <a:xfrm>
            <a:off x="8915400" y="3611880"/>
            <a:ext cx="2697480" cy="1051560"/>
          </a:xfrm>
          <a:prstGeom prst="roundRect">
            <a:avLst>
              <a:gd name="adj" fmla="val 6957"/>
            </a:avLst>
          </a:prstGeom>
          <a:solidFill>
            <a:srgbClr val="FCF1DF"/>
          </a:solidFill>
          <a:ln w="12700">
            <a:solidFill>
              <a:srgbClr val="FCF1DF"/>
            </a:solidFill>
            <a:prstDash val="solid"/>
          </a:ln>
        </p:spPr>
      </p:sp>
      <p:sp>
        <p:nvSpPr>
          <p:cNvPr id="42" name="Text 40"/>
          <p:cNvSpPr txBox="1"/>
          <p:nvPr/>
        </p:nvSpPr>
        <p:spPr>
          <a:xfrm>
            <a:off x="9098280" y="3730752"/>
            <a:ext cx="2331720" cy="420624"/>
          </a:xfrm>
          <a:prstGeom prst="rect">
            <a:avLst/>
          </a:prstGeom>
          <a:noFill/>
          <a:ln/>
        </p:spPr>
        <p:txBody>
          <a:bodyPr wrap="square" lIns="0" tIns="0" rIns="0" bIns="0" rtlCol="0" anchor="ctr"/>
          <a:lstStyle/>
          <a:p>
            <a:pPr indent="0" marL="0">
              <a:buNone/>
            </a:pPr>
            <a:r>
              <a:rPr lang="en-US" sz="1400" b="1" dirty="0">
                <a:solidFill>
                  <a:srgbClr val="13262A"/>
                </a:solidFill>
                <a:latin typeface="Calibri" pitchFamily="34" charset="0"/>
                <a:ea typeface="Calibri" pitchFamily="34" charset="-122"/>
                <a:cs typeface="Calibri" pitchFamily="34" charset="-120"/>
              </a:rPr>
              <a:t>GRAPES-GFN-Rec</a:t>
            </a:r>
            <a:endParaRPr lang="en-US" sz="1400" dirty="0"/>
          </a:p>
        </p:txBody>
      </p:sp>
      <p:sp>
        <p:nvSpPr>
          <p:cNvPr id="43" name="Text 41"/>
          <p:cNvSpPr txBox="1"/>
          <p:nvPr/>
        </p:nvSpPr>
        <p:spPr>
          <a:xfrm>
            <a:off x="9098280" y="4224528"/>
            <a:ext cx="2331720" cy="365760"/>
          </a:xfrm>
          <a:prstGeom prst="rect">
            <a:avLst/>
          </a:prstGeom>
          <a:noFill/>
          <a:ln/>
        </p:spPr>
        <p:txBody>
          <a:bodyPr wrap="square" lIns="0" tIns="0" rIns="0" bIns="0" rtlCol="0" anchor="t"/>
          <a:lstStyle/>
          <a:p>
            <a:pPr indent="0" marL="0">
              <a:spcAft>
                <a:spcPts val="300"/>
              </a:spcAft>
              <a:buNone/>
            </a:pPr>
            <a:r>
              <a:rPr lang="en-US" sz="1200" dirty="0">
                <a:solidFill>
                  <a:srgbClr val="13262A"/>
                </a:solidFill>
                <a:latin typeface="Calibri" pitchFamily="34" charset="0"/>
                <a:ea typeface="Calibri" pitchFamily="34" charset="-122"/>
                <a:cs typeface="Calibri" pitchFamily="34" charset="-120"/>
              </a:rPr>
              <a:t>Đủ G1–G7, có oracle test cho từng mục</a:t>
            </a:r>
            <a:endParaRPr lang="en-US" sz="1200" dirty="0"/>
          </a:p>
        </p:txBody>
      </p:sp>
      <p:sp>
        <p:nvSpPr>
          <p:cNvPr id="44" name="Text 42"/>
          <p:cNvSpPr txBox="1"/>
          <p:nvPr/>
        </p:nvSpPr>
        <p:spPr>
          <a:xfrm>
            <a:off x="548640" y="4983480"/>
            <a:ext cx="11064240" cy="1188720"/>
          </a:xfrm>
          <a:prstGeom prst="rect">
            <a:avLst/>
          </a:prstGeom>
          <a:noFill/>
          <a:ln/>
        </p:spPr>
        <p:txBody>
          <a:bodyPr wrap="square" lIns="0" tIns="0" rIns="0" bIns="0" rtlCol="0" anchor="t"/>
          <a:lstStyle/>
          <a:p>
            <a:pPr marL="203200" indent="-203200">
              <a:spcAft>
                <a:spcPts val="600"/>
              </a:spcAft>
              <a:buSzPct val="100000"/>
              <a:buChar char="•"/>
            </a:pPr>
            <a:r>
              <a:rPr lang="en-US" sz="1400" dirty="0">
                <a:solidFill>
                  <a:srgbClr val="13262A"/>
                </a:solidFill>
                <a:latin typeface="Calibri" pitchFamily="34" charset="0"/>
                <a:ea typeface="Calibri" pitchFamily="34" charset="-122"/>
                <a:cs typeface="Calibri" pitchFamily="34" charset="-120"/>
              </a:rPr>
              <a:t>Pilot vẫn có ích: kiểm chứng dữ liệu, evaluator, và cho hai bài học về budget (chỉ ~300 bước tối ưu) và backbone yếu (Full LightGCN NDCG@20 0,0049 &lt; MostPop 0,0059).</a:t>
            </a:r>
            <a:endParaRPr lang="en-US" sz="1400" dirty="0"/>
          </a:p>
          <a:p>
            <a:pPr marL="203200" indent="-203200">
              <a:spcAft>
                <a:spcPts val="600"/>
              </a:spcAft>
              <a:buSzPct val="100000"/>
              <a:buChar char="•"/>
            </a:pPr>
            <a:r>
              <a:rPr lang="en-US" sz="1400" dirty="0">
                <a:solidFill>
                  <a:srgbClr val="13262A"/>
                </a:solidFill>
                <a:latin typeface="Calibri" pitchFamily="34" charset="0"/>
                <a:ea typeface="Calibri" pitchFamily="34" charset="-122"/>
                <a:cs typeface="Calibri" pitchFamily="34" charset="-120"/>
              </a:rPr>
              <a:t>Pilot được lưu trữ ở phụ lục, không dùng làm kết luận hay để chọn cấu hình cho phương pháp mới.</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1 · MỞ ĐẦU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Câu hỏi nghiên cứu</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10</a:t>
            </a:r>
            <a:endParaRPr lang="en-US" sz="1000" dirty="0"/>
          </a:p>
        </p:txBody>
      </p:sp>
      <p:sp>
        <p:nvSpPr>
          <p:cNvPr id="5" name="Shape 3"/>
          <p:cNvSpPr/>
          <p:nvPr/>
        </p:nvSpPr>
        <p:spPr>
          <a:xfrm>
            <a:off x="548640" y="1417320"/>
            <a:ext cx="11064240" cy="1005840"/>
          </a:xfrm>
          <a:prstGeom prst="roundRect">
            <a:avLst>
              <a:gd name="adj" fmla="val 7273"/>
            </a:avLst>
          </a:prstGeom>
          <a:solidFill>
            <a:srgbClr val="F4F7F7"/>
          </a:solidFill>
          <a:ln w="12700">
            <a:solidFill>
              <a:srgbClr val="F4F7F7"/>
            </a:solidFill>
            <a:prstDash val="solid"/>
          </a:ln>
        </p:spPr>
      </p:sp>
      <p:sp>
        <p:nvSpPr>
          <p:cNvPr id="6" name="Shape 4"/>
          <p:cNvSpPr/>
          <p:nvPr/>
        </p:nvSpPr>
        <p:spPr>
          <a:xfrm>
            <a:off x="731520" y="1554480"/>
            <a:ext cx="384048" cy="384048"/>
          </a:xfrm>
          <a:prstGeom prst="ellipse">
            <a:avLst/>
          </a:prstGeom>
          <a:solidFill>
            <a:srgbClr val="C8553D"/>
          </a:solidFill>
          <a:ln w="12700">
            <a:solidFill>
              <a:srgbClr val="C8553D"/>
            </a:solidFill>
            <a:prstDash val="solid"/>
          </a:ln>
        </p:spPr>
      </p:sp>
      <p:sp>
        <p:nvSpPr>
          <p:cNvPr id="7" name="Text 5"/>
          <p:cNvSpPr txBox="1"/>
          <p:nvPr/>
        </p:nvSpPr>
        <p:spPr>
          <a:xfrm>
            <a:off x="731520" y="1554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RQ1</a:t>
            </a:r>
            <a:endParaRPr lang="en-US" sz="1300" dirty="0"/>
          </a:p>
        </p:txBody>
      </p:sp>
      <p:sp>
        <p:nvSpPr>
          <p:cNvPr id="8" name="Text 6"/>
          <p:cNvSpPr txBox="1"/>
          <p:nvPr/>
        </p:nvSpPr>
        <p:spPr>
          <a:xfrm>
            <a:off x="1234440" y="1536192"/>
            <a:ext cx="1019556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Chính</a:t>
            </a:r>
            <a:endParaRPr lang="en-US" sz="1600" dirty="0"/>
          </a:p>
        </p:txBody>
      </p:sp>
      <p:sp>
        <p:nvSpPr>
          <p:cNvPr id="9" name="Text 7"/>
          <p:cNvSpPr txBox="1"/>
          <p:nvPr/>
        </p:nvSpPr>
        <p:spPr>
          <a:xfrm>
            <a:off x="731520" y="2029968"/>
            <a:ext cx="10698480" cy="32004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Giữ cố định recommender, graph, batch, budget, seed, evaluator, phần cứng: GRAPES-GFN-Rec có trade-off NDCG@20–chi phí tốt hơn lấy mẫu đều và theo bậc không?</a:t>
            </a:r>
            <a:endParaRPr lang="en-US" sz="1500" dirty="0"/>
          </a:p>
        </p:txBody>
      </p:sp>
      <p:sp>
        <p:nvSpPr>
          <p:cNvPr id="10" name="Shape 8"/>
          <p:cNvSpPr/>
          <p:nvPr/>
        </p:nvSpPr>
        <p:spPr>
          <a:xfrm>
            <a:off x="548640" y="2560320"/>
            <a:ext cx="11064240" cy="1005840"/>
          </a:xfrm>
          <a:prstGeom prst="roundRect">
            <a:avLst>
              <a:gd name="adj" fmla="val 7273"/>
            </a:avLst>
          </a:prstGeom>
          <a:solidFill>
            <a:srgbClr val="F4F7F7"/>
          </a:solidFill>
          <a:ln w="12700">
            <a:solidFill>
              <a:srgbClr val="F4F7F7"/>
            </a:solidFill>
            <a:prstDash val="solid"/>
          </a:ln>
        </p:spPr>
      </p:sp>
      <p:sp>
        <p:nvSpPr>
          <p:cNvPr id="11" name="Shape 9"/>
          <p:cNvSpPr/>
          <p:nvPr/>
        </p:nvSpPr>
        <p:spPr>
          <a:xfrm>
            <a:off x="731520" y="2697480"/>
            <a:ext cx="384048" cy="384048"/>
          </a:xfrm>
          <a:prstGeom prst="ellipse">
            <a:avLst/>
          </a:prstGeom>
          <a:solidFill>
            <a:srgbClr val="0F4C4F"/>
          </a:solidFill>
          <a:ln w="12700">
            <a:solidFill>
              <a:srgbClr val="0F4C4F"/>
            </a:solidFill>
            <a:prstDash val="solid"/>
          </a:ln>
        </p:spPr>
      </p:sp>
      <p:sp>
        <p:nvSpPr>
          <p:cNvPr id="12" name="Text 10"/>
          <p:cNvSpPr txBox="1"/>
          <p:nvPr/>
        </p:nvSpPr>
        <p:spPr>
          <a:xfrm>
            <a:off x="731520" y="2697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RQ2</a:t>
            </a:r>
            <a:endParaRPr lang="en-US" sz="1300" dirty="0"/>
          </a:p>
        </p:txBody>
      </p:sp>
      <p:sp>
        <p:nvSpPr>
          <p:cNvPr id="13" name="Text 11"/>
          <p:cNvSpPr txBox="1"/>
          <p:nvPr/>
        </p:nvSpPr>
        <p:spPr>
          <a:xfrm>
            <a:off x="1234440" y="2679192"/>
            <a:ext cx="1019556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Hàm mục tiêu</a:t>
            </a:r>
            <a:endParaRPr lang="en-US" sz="1600" dirty="0"/>
          </a:p>
        </p:txBody>
      </p:sp>
      <p:sp>
        <p:nvSpPr>
          <p:cNvPr id="14" name="Text 12"/>
          <p:cNvSpPr txBox="1"/>
          <p:nvPr/>
        </p:nvSpPr>
        <p:spPr>
          <a:xfrm>
            <a:off x="731520" y="3172968"/>
            <a:ext cx="10698480" cy="32004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Trajectory Balance có ổn định, hiệu quả hơn REINFORCE trên tín hiệu BPR không?</a:t>
            </a:r>
            <a:endParaRPr lang="en-US" sz="1500" dirty="0"/>
          </a:p>
        </p:txBody>
      </p:sp>
      <p:sp>
        <p:nvSpPr>
          <p:cNvPr id="15" name="Shape 13"/>
          <p:cNvSpPr/>
          <p:nvPr/>
        </p:nvSpPr>
        <p:spPr>
          <a:xfrm>
            <a:off x="548640" y="3703320"/>
            <a:ext cx="11064240" cy="1005840"/>
          </a:xfrm>
          <a:prstGeom prst="roundRect">
            <a:avLst>
              <a:gd name="adj" fmla="val 7273"/>
            </a:avLst>
          </a:prstGeom>
          <a:solidFill>
            <a:srgbClr val="F4F7F7"/>
          </a:solidFill>
          <a:ln w="12700">
            <a:solidFill>
              <a:srgbClr val="F4F7F7"/>
            </a:solidFill>
            <a:prstDash val="solid"/>
          </a:ln>
        </p:spPr>
      </p:sp>
      <p:sp>
        <p:nvSpPr>
          <p:cNvPr id="16" name="Shape 14"/>
          <p:cNvSpPr/>
          <p:nvPr/>
        </p:nvSpPr>
        <p:spPr>
          <a:xfrm>
            <a:off x="731520" y="3840480"/>
            <a:ext cx="384048" cy="384048"/>
          </a:xfrm>
          <a:prstGeom prst="ellipse">
            <a:avLst/>
          </a:prstGeom>
          <a:solidFill>
            <a:srgbClr val="0F4C4F"/>
          </a:solidFill>
          <a:ln w="12700">
            <a:solidFill>
              <a:srgbClr val="0F4C4F"/>
            </a:solidFill>
            <a:prstDash val="solid"/>
          </a:ln>
        </p:spPr>
      </p:sp>
      <p:sp>
        <p:nvSpPr>
          <p:cNvPr id="17" name="Text 15"/>
          <p:cNvSpPr txBox="1"/>
          <p:nvPr/>
        </p:nvSpPr>
        <p:spPr>
          <a:xfrm>
            <a:off x="731520" y="3840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RQ3</a:t>
            </a:r>
            <a:endParaRPr lang="en-US" sz="1300" dirty="0"/>
          </a:p>
        </p:txBody>
      </p:sp>
      <p:sp>
        <p:nvSpPr>
          <p:cNvPr id="18" name="Text 16"/>
          <p:cNvSpPr txBox="1"/>
          <p:nvPr/>
        </p:nvSpPr>
        <p:spPr>
          <a:xfrm>
            <a:off x="1234440" y="3822192"/>
            <a:ext cx="1019556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Hành vi</a:t>
            </a:r>
            <a:endParaRPr lang="en-US" sz="1600" dirty="0"/>
          </a:p>
        </p:txBody>
      </p:sp>
      <p:sp>
        <p:nvSpPr>
          <p:cNvPr id="19" name="Text 17"/>
          <p:cNvSpPr txBox="1"/>
          <p:nvPr/>
        </p:nvSpPr>
        <p:spPr>
          <a:xfrm>
            <a:off x="731520" y="4315968"/>
            <a:ext cx="10698480" cy="32004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Sampler học được chọn node nào (bậc, loại, head/body/tail)? Có khuếch đại thiên lệch phổ biến không?</a:t>
            </a:r>
            <a:endParaRPr lang="en-US" sz="1500" dirty="0"/>
          </a:p>
        </p:txBody>
      </p:sp>
      <p:sp>
        <p:nvSpPr>
          <p:cNvPr id="20" name="Shape 18"/>
          <p:cNvSpPr/>
          <p:nvPr/>
        </p:nvSpPr>
        <p:spPr>
          <a:xfrm>
            <a:off x="548640" y="4846320"/>
            <a:ext cx="11064240" cy="1005840"/>
          </a:xfrm>
          <a:prstGeom prst="roundRect">
            <a:avLst>
              <a:gd name="adj" fmla="val 7273"/>
            </a:avLst>
          </a:prstGeom>
          <a:solidFill>
            <a:srgbClr val="F4F7F7"/>
          </a:solidFill>
          <a:ln w="12700">
            <a:solidFill>
              <a:srgbClr val="F4F7F7"/>
            </a:solidFill>
            <a:prstDash val="solid"/>
          </a:ln>
        </p:spPr>
      </p:sp>
      <p:sp>
        <p:nvSpPr>
          <p:cNvPr id="21" name="Shape 19"/>
          <p:cNvSpPr/>
          <p:nvPr/>
        </p:nvSpPr>
        <p:spPr>
          <a:xfrm>
            <a:off x="731520" y="4983480"/>
            <a:ext cx="384048" cy="384048"/>
          </a:xfrm>
          <a:prstGeom prst="ellipse">
            <a:avLst/>
          </a:prstGeom>
          <a:solidFill>
            <a:srgbClr val="0F4C4F"/>
          </a:solidFill>
          <a:ln w="12700">
            <a:solidFill>
              <a:srgbClr val="0F4C4F"/>
            </a:solidFill>
            <a:prstDash val="solid"/>
          </a:ln>
        </p:spPr>
      </p:sp>
      <p:sp>
        <p:nvSpPr>
          <p:cNvPr id="22" name="Text 20"/>
          <p:cNvSpPr txBox="1"/>
          <p:nvPr/>
        </p:nvSpPr>
        <p:spPr>
          <a:xfrm>
            <a:off x="731520" y="49834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RQ4</a:t>
            </a:r>
            <a:endParaRPr lang="en-US" sz="1300" dirty="0"/>
          </a:p>
        </p:txBody>
      </p:sp>
      <p:sp>
        <p:nvSpPr>
          <p:cNvPr id="23" name="Text 21"/>
          <p:cNvSpPr txBox="1"/>
          <p:nvPr/>
        </p:nvSpPr>
        <p:spPr>
          <a:xfrm>
            <a:off x="1234440" y="4965192"/>
            <a:ext cx="1019556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Ngân sách</a:t>
            </a:r>
            <a:endParaRPr lang="en-US" sz="1600" dirty="0"/>
          </a:p>
        </p:txBody>
      </p:sp>
      <p:sp>
        <p:nvSpPr>
          <p:cNvPr id="24" name="Text 22"/>
          <p:cNvSpPr txBox="1"/>
          <p:nvPr/>
        </p:nvSpPr>
        <p:spPr>
          <a:xfrm>
            <a:off x="731520" y="5458968"/>
            <a:ext cx="10698480" cy="32004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Khi budget k chặt hơn, lợi thế (nếu có) thay đổi thế nào?</a:t>
            </a:r>
            <a:endParaRPr lang="en-US" sz="1500" dirty="0"/>
          </a:p>
        </p:txBody>
      </p:sp>
      <p:sp>
        <p:nvSpPr>
          <p:cNvPr id="25" name="Text 23"/>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Kết quả âm là kết quả hợp lệ: nghiên cứu hoàn thành khi trả lời được các câu hỏi với bằng chứng truy vết được.</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Chọn dữ liệu: Amazon Reviews'23, Baby_Products</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11</a:t>
            </a:r>
            <a:endParaRPr lang="en-US" sz="1000" dirty="0"/>
          </a:p>
        </p:txBody>
      </p:sp>
      <p:graphicFrame>
        <p:nvGraphicFramePr>
          <p:cNvPr id="5" name="Chart 0" descr=""/>
          <p:cNvGraphicFramePr/>
          <p:nvPr/>
        </p:nvGraphicFramePr>
        <p:xfrm>
          <a:off x="548640" y="1463040"/>
          <a:ext cx="5486400" cy="44805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309360" y="1463040"/>
            <a:ext cx="5303520" cy="1325880"/>
          </a:xfrm>
          <a:prstGeom prst="roundRect">
            <a:avLst>
              <a:gd name="adj" fmla="val 5517"/>
            </a:avLst>
          </a:prstGeom>
          <a:solidFill>
            <a:srgbClr val="F4F7F7"/>
          </a:solidFill>
          <a:ln w="12700">
            <a:solidFill>
              <a:srgbClr val="F4F7F7"/>
            </a:solidFill>
            <a:prstDash val="solid"/>
          </a:ln>
        </p:spPr>
      </p:sp>
      <p:sp>
        <p:nvSpPr>
          <p:cNvPr id="7" name="Text 4"/>
          <p:cNvSpPr txBox="1"/>
          <p:nvPr/>
        </p:nvSpPr>
        <p:spPr>
          <a:xfrm>
            <a:off x="6492240" y="1581912"/>
            <a:ext cx="493776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All_Beauty — kiểm tra pipeline</a:t>
            </a:r>
            <a:endParaRPr lang="en-US" sz="1600" dirty="0"/>
          </a:p>
        </p:txBody>
      </p:sp>
      <p:sp>
        <p:nvSpPr>
          <p:cNvPr id="8" name="Text 5"/>
          <p:cNvSpPr txBox="1"/>
          <p:nvPr/>
        </p:nvSpPr>
        <p:spPr>
          <a:xfrm>
            <a:off x="6492240" y="2075688"/>
            <a:ext cx="4937760" cy="64008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0,69 triệu dòng. Quá nhỏ; chỉ 3,98% target validation còn warm-start.</a:t>
            </a:r>
            <a:endParaRPr lang="en-US" sz="1300" dirty="0"/>
          </a:p>
        </p:txBody>
      </p:sp>
      <p:sp>
        <p:nvSpPr>
          <p:cNvPr id="9" name="Shape 6"/>
          <p:cNvSpPr/>
          <p:nvPr/>
        </p:nvSpPr>
        <p:spPr>
          <a:xfrm>
            <a:off x="6309360" y="2926080"/>
            <a:ext cx="5303520" cy="1600200"/>
          </a:xfrm>
          <a:prstGeom prst="roundRect">
            <a:avLst>
              <a:gd name="adj" fmla="val 4571"/>
            </a:avLst>
          </a:prstGeom>
          <a:solidFill>
            <a:srgbClr val="FCF1DF"/>
          </a:solidFill>
          <a:ln w="12700">
            <a:solidFill>
              <a:srgbClr val="FCF1DF"/>
            </a:solidFill>
            <a:prstDash val="solid"/>
          </a:ln>
        </p:spPr>
      </p:sp>
      <p:sp>
        <p:nvSpPr>
          <p:cNvPr id="10" name="Text 7"/>
          <p:cNvSpPr txBox="1"/>
          <p:nvPr/>
        </p:nvSpPr>
        <p:spPr>
          <a:xfrm>
            <a:off x="6492240" y="3044952"/>
            <a:ext cx="493776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Baby_Products — dữ liệu chính</a:t>
            </a:r>
            <a:endParaRPr lang="en-US" sz="1600" dirty="0"/>
          </a:p>
        </p:txBody>
      </p:sp>
      <p:sp>
        <p:nvSpPr>
          <p:cNvPr id="11" name="Text 8"/>
          <p:cNvSpPr txBox="1"/>
          <p:nvPr/>
        </p:nvSpPr>
        <p:spPr>
          <a:xfrm>
            <a:off x="6492240" y="3538728"/>
            <a:ext cx="4937760" cy="91440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5,95 triệu dòng, 3,39 triệu user, 217.654 item. Đủ lớn để thấy chi phí sampling, long-tail rõ, vẫn chạy được ma trận thí nghiệm trên Colab T4.</a:t>
            </a:r>
            <a:endParaRPr lang="en-US" sz="1300" dirty="0"/>
          </a:p>
        </p:txBody>
      </p:sp>
      <p:sp>
        <p:nvSpPr>
          <p:cNvPr id="12" name="Shape 9"/>
          <p:cNvSpPr/>
          <p:nvPr/>
        </p:nvSpPr>
        <p:spPr>
          <a:xfrm>
            <a:off x="6309360" y="4663440"/>
            <a:ext cx="5303520" cy="1325880"/>
          </a:xfrm>
          <a:prstGeom prst="roundRect">
            <a:avLst>
              <a:gd name="adj" fmla="val 5517"/>
            </a:avLst>
          </a:prstGeom>
          <a:solidFill>
            <a:srgbClr val="F4F7F7"/>
          </a:solidFill>
          <a:ln w="12700">
            <a:solidFill>
              <a:srgbClr val="F4F7F7"/>
            </a:solidFill>
            <a:prstDash val="solid"/>
          </a:ln>
        </p:spPr>
      </p:sp>
      <p:sp>
        <p:nvSpPr>
          <p:cNvPr id="13" name="Text 10"/>
          <p:cNvSpPr txBox="1"/>
          <p:nvPr/>
        </p:nvSpPr>
        <p:spPr>
          <a:xfrm>
            <a:off x="6492240" y="4782312"/>
            <a:ext cx="493776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Home_and_Kitchen — tham chiếu quy mô</a:t>
            </a:r>
            <a:endParaRPr lang="en-US" sz="1600" dirty="0"/>
          </a:p>
        </p:txBody>
      </p:sp>
      <p:sp>
        <p:nvSpPr>
          <p:cNvPr id="14" name="Text 11"/>
          <p:cNvSpPr txBox="1"/>
          <p:nvPr/>
        </p:nvSpPr>
        <p:spPr>
          <a:xfrm>
            <a:off x="6492240" y="5276088"/>
            <a:ext cx="4937760" cy="64008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66,6 triệu dòng (11,2 lần Baby). Dành cho stress test sau khi có kết quả Baby.</a:t>
            </a:r>
            <a:endParaRPr lang="en-US" sz="1300" dirty="0"/>
          </a:p>
        </p:txBody>
      </p:sp>
      <p:sp>
        <p:nvSpPr>
          <p:cNvPr id="15" name="Text 12"/>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Đã cân nhắc MovieLens 25M, Gowalla, Yelp2018, MIND, KuaiRec: phù hợp câu hỏi khác (nội dung, exposure, split ngẫu nhiên) — dùng làm bối cảnh, chưa chạy.</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Nhiễu: có nhiều không, có nên loại bỏ?</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12</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743200"/>
                <a:gridCol w="2560320"/>
                <a:gridCol w="2286000"/>
                <a:gridCol w="3474720"/>
              </a:tblGrid>
              <a:tr h="658368">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Loại</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Mức độ trong Baby_Products</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Quyết định</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Lý do</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658368">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Rating ngoài miền 1–5</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1 dòng (rating 0.0)</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b="1" dirty="0">
                          <a:solidFill>
                            <a:srgbClr val="C8553D"/>
                          </a:solidFill>
                          <a:latin typeface="Calibri" pitchFamily="34" charset="0"/>
                          <a:ea typeface="Calibri" pitchFamily="34" charset="-122"/>
                          <a:cs typeface="Calibri" pitchFamily="34" charset="-120"/>
                        </a:rPr>
                        <a:t>Loại</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Lỗi dữ liệu rõ ràng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58368">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Trùng cặp, thiếu ID, sai timestamp</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0 dòng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b="1" dirty="0">
                          <a:solidFill>
                            <a:srgbClr val="2E7D7A"/>
                          </a:solidFill>
                          <a:latin typeface="Calibri" pitchFamily="34" charset="0"/>
                          <a:ea typeface="Calibri" pitchFamily="34" charset="-122"/>
                          <a:cs typeface="Calibri" pitchFamily="34" charset="-120"/>
                        </a:rPr>
                        <a:t>Không cần xử lý</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Đã kiểm tra chính xác trên toàn file</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58368">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Rating thấp 1–3★</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1.298.047 dòng (21,8%)</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b="1" dirty="0">
                          <a:solidFill>
                            <a:srgbClr val="E89B2D"/>
                          </a:solidFill>
                          <a:latin typeface="Calibri" pitchFamily="34" charset="0"/>
                          <a:ea typeface="Calibri" pitchFamily="34" charset="-122"/>
                          <a:cs typeface="Calibri" pitchFamily="34" charset="-120"/>
                        </a:rPr>
                        <a:t>Không làm cạnh positive</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Không phải lỗi; đồ án chọn không coi là positive (P4)</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58368">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User / item chỉ 1 tương tác</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71,76% user; 33,35% item</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b="1" dirty="0">
                          <a:solidFill>
                            <a:srgbClr val="2E7D7A"/>
                          </a:solidFill>
                          <a:latin typeface="Calibri" pitchFamily="34" charset="0"/>
                          <a:ea typeface="Calibri" pitchFamily="34" charset="-122"/>
                          <a:cs typeface="Calibri" pitchFamily="34" charset="-120"/>
                        </a:rPr>
                        <a:t>Giữ, không lọc k-core</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Lọc k-core sẽ xóa các node này khỏi graph</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58368">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Hành vi bất thường (bot, spam, đánh giá dồn dập)</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0,1% tương tác từ user-ngày ≥20 đánh giá; tối đa 48/ngày</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b="1" dirty="0">
                          <a:solidFill>
                            <a:srgbClr val="2E7D7A"/>
                          </a:solidFill>
                          <a:latin typeface="Calibri" pitchFamily="34" charset="0"/>
                          <a:ea typeface="Calibri" pitchFamily="34" charset="-122"/>
                          <a:cs typeface="Calibri" pitchFamily="34" charset="-120"/>
                        </a:rPr>
                        <a:t>Giữ, chỉ báo cáo</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Quá ít để ảnh hưởng; không có quy tắc xóa đăng ký trước</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58368">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Thiên lệch phổ biến</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Top 1% item giữ 44,1% tương tác</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b="1" dirty="0">
                          <a:solidFill>
                            <a:srgbClr val="2E7D7A"/>
                          </a:solidFill>
                          <a:latin typeface="Calibri" pitchFamily="34" charset="0"/>
                          <a:ea typeface="Calibri" pitchFamily="34" charset="-122"/>
                          <a:cs typeface="Calibri" pitchFamily="34" charset="-120"/>
                        </a:rPr>
                        <a:t>Giữ, báo theo nhóm</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Không phải nhiễu nhưng làm lệch chỉ số tổng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897880"/>
            <a:ext cx="11064240" cy="411480"/>
          </a:xfrm>
          <a:prstGeom prst="rect">
            <a:avLst/>
          </a:prstGeom>
          <a:noFill/>
          <a:ln/>
        </p:spPr>
        <p:txBody>
          <a:bodyPr wrap="square" lIns="0" tIns="0" rIns="0" bIns="0" rtlCol="0" anchor="ctr"/>
          <a:lstStyle/>
          <a:p>
            <a:pPr indent="0" marL="0">
              <a:buNone/>
            </a:pPr>
            <a:r>
              <a:rPr lang="en-US" sz="1500" i="1" dirty="0">
                <a:solidFill>
                  <a:srgbClr val="2E7D7A"/>
                </a:solidFill>
                <a:latin typeface="Calibri" pitchFamily="34" charset="0"/>
                <a:ea typeface="Calibri" pitchFamily="34" charset="-122"/>
                <a:cs typeface="Calibri" pitchFamily="34" charset="-120"/>
              </a:rPr>
              <a:t>Kết luận: nhiễu dạng lỗi rất ít (1/5.953.891 dòng). Thách thức chính không phải nhiễu mà là thưa và mất cân bằng.</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Rating và cách chọn tương tác positive</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13</a:t>
            </a:r>
            <a:endParaRPr lang="en-US" sz="1000" dirty="0"/>
          </a:p>
        </p:txBody>
      </p:sp>
      <p:graphicFrame>
        <p:nvGraphicFramePr>
          <p:cNvPr id="5" name="Chart 0" descr=""/>
          <p:cNvGraphicFramePr/>
          <p:nvPr/>
        </p:nvGraphicFramePr>
        <p:xfrm>
          <a:off x="457200" y="1371600"/>
          <a:ext cx="4754880" cy="3017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4480560"/>
            <a:ext cx="4572000" cy="914400"/>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Hình chữ J: 66,7% là 5★, 21,8% là 1–3★, trung bình 4,21. Rating của Baby_Products lệch mạnh về tích cực nên 4★ đã thấp hơn trung bình.</a:t>
            </a:r>
            <a:endParaRPr lang="en-US" sz="13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0" y="1417320"/>
          <a:ext cx="6126480" cy="914400"/>
        </p:xfrm>
        <a:graphic>
          <a:graphicData uri="http://schemas.openxmlformats.org/drawingml/2006/table">
            <a:tbl>
              <a:tblPr/>
              <a:tblGrid>
                <a:gridCol w="2286000"/>
                <a:gridCol w="1280160"/>
                <a:gridCol w="1280160"/>
                <a:gridCol w="128016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Chính sách</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Tất cả</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P4: 4–5★</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P5: chỉ 5★</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Tương tác</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5.953.890</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13262A"/>
                          </a:solidFill>
                          <a:latin typeface="Calibri" pitchFamily="34" charset="0"/>
                          <a:ea typeface="Calibri" pitchFamily="34" charset="-122"/>
                          <a:cs typeface="Calibri" pitchFamily="34" charset="-120"/>
                        </a:rPr>
                        <a:t>4.655.843</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CF1D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3.973.866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User</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3.386.206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13262A"/>
                          </a:solidFill>
                          <a:latin typeface="Calibri" pitchFamily="34" charset="0"/>
                          <a:ea typeface="Calibri" pitchFamily="34" charset="-122"/>
                          <a:cs typeface="Calibri" pitchFamily="34" charset="-120"/>
                        </a:rPr>
                        <a:t>2.769.312</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CF1D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2.476.012</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Sản phẩm</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217.654</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13262A"/>
                          </a:solidFill>
                          <a:latin typeface="Calibri" pitchFamily="34" charset="0"/>
                          <a:ea typeface="Calibri" pitchFamily="34" charset="-122"/>
                          <a:cs typeface="Calibri" pitchFamily="34" charset="-120"/>
                        </a:rPr>
                        <a:t>194.722</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CF1D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182.226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User chỉ 1 tương tác</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70,01%</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13262A"/>
                          </a:solidFill>
                          <a:latin typeface="Calibri" pitchFamily="34" charset="0"/>
                          <a:ea typeface="Calibri" pitchFamily="34" charset="-122"/>
                          <a:cs typeface="Calibri" pitchFamily="34" charset="-120"/>
                        </a:rPr>
                        <a:t>71,64%</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CF1D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73,18%</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Sản phẩm chỉ 1 tương tác</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31,65%</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13262A"/>
                          </a:solidFill>
                          <a:latin typeface="Calibri" pitchFamily="34" charset="0"/>
                          <a:ea typeface="Calibri" pitchFamily="34" charset="-122"/>
                          <a:cs typeface="Calibri" pitchFamily="34" charset="-120"/>
                        </a:rPr>
                        <a:t>33,13%</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CF1D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34,34%</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Target validation còn warm</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24,50%</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13262A"/>
                          </a:solidFill>
                          <a:latin typeface="Calibri" pitchFamily="34" charset="0"/>
                          <a:ea typeface="Calibri" pitchFamily="34" charset="-122"/>
                          <a:cs typeface="Calibri" pitchFamily="34" charset="-120"/>
                        </a:rPr>
                        <a:t>21,90%</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CF1D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20,34%</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User validation chưa từng thấy</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75,07%</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b="1" dirty="0">
                          <a:solidFill>
                            <a:srgbClr val="13262A"/>
                          </a:solidFill>
                          <a:latin typeface="Calibri" pitchFamily="34" charset="0"/>
                          <a:ea typeface="Calibri" pitchFamily="34" charset="-122"/>
                          <a:cs typeface="Calibri" pitchFamily="34" charset="-120"/>
                        </a:rPr>
                        <a:t>77,43%</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CF1D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78,88%</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
        <p:nvSpPr>
          <p:cNvPr id="8" name="Shape 4"/>
          <p:cNvSpPr/>
          <p:nvPr/>
        </p:nvSpPr>
        <p:spPr>
          <a:xfrm>
            <a:off x="5486400" y="4892040"/>
            <a:ext cx="6126480" cy="1325880"/>
          </a:xfrm>
          <a:prstGeom prst="roundRect">
            <a:avLst>
              <a:gd name="adj" fmla="val 5517"/>
            </a:avLst>
          </a:prstGeom>
          <a:solidFill>
            <a:srgbClr val="E6F0EF"/>
          </a:solidFill>
          <a:ln w="12700">
            <a:solidFill>
              <a:srgbClr val="E6F0EF"/>
            </a:solidFill>
            <a:prstDash val="solid"/>
          </a:ln>
        </p:spPr>
      </p:sp>
      <p:sp>
        <p:nvSpPr>
          <p:cNvPr id="9" name="Text 5"/>
          <p:cNvSpPr txBox="1"/>
          <p:nvPr/>
        </p:nvSpPr>
        <p:spPr>
          <a:xfrm>
            <a:off x="5669280" y="5010912"/>
            <a:ext cx="5760720" cy="420624"/>
          </a:xfrm>
          <a:prstGeom prst="rect">
            <a:avLst/>
          </a:prstGeom>
          <a:noFill/>
          <a:ln/>
        </p:spPr>
        <p:txBody>
          <a:bodyPr wrap="square" lIns="0" tIns="0" rIns="0" bIns="0" rtlCol="0" anchor="ctr"/>
          <a:lstStyle/>
          <a:p>
            <a:pPr indent="0" marL="0">
              <a:buNone/>
            </a:pPr>
            <a:r>
              <a:rPr lang="en-US" sz="1400" b="1" dirty="0">
                <a:solidFill>
                  <a:srgbClr val="13262A"/>
                </a:solidFill>
                <a:latin typeface="Calibri" pitchFamily="34" charset="0"/>
                <a:ea typeface="Calibri" pitchFamily="34" charset="-122"/>
                <a:cs typeface="Calibri" pitchFamily="34" charset="-120"/>
              </a:rPr>
              <a:t>Vì sao chọn P4</a:t>
            </a:r>
            <a:endParaRPr lang="en-US" sz="1400" dirty="0"/>
          </a:p>
        </p:txBody>
      </p:sp>
      <p:sp>
        <p:nvSpPr>
          <p:cNvPr id="10" name="Text 6"/>
          <p:cNvSpPr txBox="1"/>
          <p:nvPr/>
        </p:nvSpPr>
        <p:spPr>
          <a:xfrm>
            <a:off x="5669280" y="5504688"/>
            <a:ext cx="5760720" cy="64008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Gợi ý top-N cần tín hiệu “thích”. Coi mọi rating là positive sẽ gộp 1–3★; chỉ lấy 5★ làm mất 14,6% tương tác và tăng cold-start. P4 là điểm cân bằng; chọn trước khi có kết quả model.</a:t>
            </a:r>
            <a:endParaRPr lang="en-US" sz="1300" dirty="0"/>
          </a:p>
        </p:txBody>
      </p:sp>
      <p:sp>
        <p:nvSpPr>
          <p:cNvPr id="11" name="Text 7"/>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06_code/results/Baby_Products_protocol_audit.json (semantic_snapshots all_observed / P4 / P5, cùng mốc t1, t2).</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Bao nhiêu sản phẩm, phân bố tương tác theo sản phẩm</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1371600"/>
            <a:ext cx="1737360" cy="502920"/>
          </a:xfrm>
          <a:prstGeom prst="rect">
            <a:avLst/>
          </a:prstGeom>
          <a:noFill/>
          <a:ln/>
        </p:spPr>
        <p:txBody>
          <a:bodyPr wrap="square" lIns="0" tIns="0" rIns="0" bIns="0" rtlCol="0" anchor="ctr"/>
          <a:lstStyle/>
          <a:p>
            <a:pPr indent="0" marL="0">
              <a:buNone/>
            </a:pPr>
            <a:r>
              <a:rPr lang="en-US" sz="2400" b="1" dirty="0">
                <a:solidFill>
                  <a:srgbClr val="2E7D7A"/>
                </a:solidFill>
                <a:latin typeface="Cambria" pitchFamily="34" charset="0"/>
                <a:ea typeface="Cambria" pitchFamily="34" charset="-122"/>
                <a:cs typeface="Cambria" pitchFamily="34" charset="-120"/>
              </a:rPr>
              <a:t>217.654</a:t>
            </a:r>
            <a:endParaRPr lang="en-US" sz="2400" dirty="0"/>
          </a:p>
        </p:txBody>
      </p:sp>
      <p:sp>
        <p:nvSpPr>
          <p:cNvPr id="6" name="Text 4"/>
          <p:cNvSpPr txBox="1"/>
          <p:nvPr/>
        </p:nvSpPr>
        <p:spPr>
          <a:xfrm>
            <a:off x="548640" y="1874520"/>
            <a:ext cx="1691640" cy="502920"/>
          </a:xfrm>
          <a:prstGeom prst="rect">
            <a:avLst/>
          </a:prstGeom>
          <a:noFill/>
          <a:ln/>
        </p:spPr>
        <p:txBody>
          <a:bodyPr wrap="square" lIns="0" tIns="0" rIns="0" bIns="0" rtlCol="0" anchor="t"/>
          <a:lstStyle/>
          <a:p>
            <a:pPr indent="0" marL="0">
              <a:buNone/>
            </a:pPr>
            <a:r>
              <a:rPr lang="en-US" sz="1100" dirty="0">
                <a:solidFill>
                  <a:srgbClr val="5E6B6E"/>
                </a:solidFill>
                <a:latin typeface="Calibri" pitchFamily="34" charset="0"/>
                <a:ea typeface="Calibri" pitchFamily="34" charset="-122"/>
                <a:cs typeface="Calibri" pitchFamily="34" charset="-120"/>
              </a:rPr>
              <a:t>item trong dữ liệu raw</a:t>
            </a:r>
            <a:endParaRPr lang="en-US" sz="1100" dirty="0"/>
          </a:p>
        </p:txBody>
      </p:sp>
      <p:sp>
        <p:nvSpPr>
          <p:cNvPr id="7" name="Shape 5"/>
          <p:cNvSpPr/>
          <p:nvPr/>
        </p:nvSpPr>
        <p:spPr>
          <a:xfrm>
            <a:off x="2148840" y="1627632"/>
            <a:ext cx="246888" cy="914"/>
          </a:xfrm>
          <a:prstGeom prst="line">
            <a:avLst/>
          </a:prstGeom>
          <a:noFill/>
          <a:ln w="22225">
            <a:solidFill>
              <a:srgbClr val="C9D3D2"/>
            </a:solidFill>
            <a:prstDash val="solid"/>
            <a:tailEnd type="triangle"/>
          </a:ln>
        </p:spPr>
      </p:sp>
      <p:sp>
        <p:nvSpPr>
          <p:cNvPr id="8" name="Text 6"/>
          <p:cNvSpPr txBox="1"/>
          <p:nvPr/>
        </p:nvSpPr>
        <p:spPr>
          <a:xfrm>
            <a:off x="2423160" y="1371600"/>
            <a:ext cx="1737360" cy="502920"/>
          </a:xfrm>
          <a:prstGeom prst="rect">
            <a:avLst/>
          </a:prstGeom>
          <a:noFill/>
          <a:ln/>
        </p:spPr>
        <p:txBody>
          <a:bodyPr wrap="square" lIns="0" tIns="0" rIns="0" bIns="0" rtlCol="0" anchor="ctr"/>
          <a:lstStyle/>
          <a:p>
            <a:pPr indent="0" marL="0">
              <a:buNone/>
            </a:pPr>
            <a:r>
              <a:rPr lang="en-US" sz="2400" b="1" dirty="0">
                <a:solidFill>
                  <a:srgbClr val="2E7D7A"/>
                </a:solidFill>
                <a:latin typeface="Cambria" pitchFamily="34" charset="0"/>
                <a:ea typeface="Cambria" pitchFamily="34" charset="-122"/>
                <a:cs typeface="Cambria" pitchFamily="34" charset="-120"/>
              </a:rPr>
              <a:t>194.722</a:t>
            </a:r>
            <a:endParaRPr lang="en-US" sz="2400" dirty="0"/>
          </a:p>
        </p:txBody>
      </p:sp>
      <p:sp>
        <p:nvSpPr>
          <p:cNvPr id="9" name="Text 7"/>
          <p:cNvSpPr txBox="1"/>
          <p:nvPr/>
        </p:nvSpPr>
        <p:spPr>
          <a:xfrm>
            <a:off x="2423160" y="1874520"/>
            <a:ext cx="1691640" cy="502920"/>
          </a:xfrm>
          <a:prstGeom prst="rect">
            <a:avLst/>
          </a:prstGeom>
          <a:noFill/>
          <a:ln/>
        </p:spPr>
        <p:txBody>
          <a:bodyPr wrap="square" lIns="0" tIns="0" rIns="0" bIns="0" rtlCol="0" anchor="t"/>
          <a:lstStyle/>
          <a:p>
            <a:pPr indent="0" marL="0">
              <a:buNone/>
            </a:pPr>
            <a:r>
              <a:rPr lang="en-US" sz="1100" dirty="0">
                <a:solidFill>
                  <a:srgbClr val="5E6B6E"/>
                </a:solidFill>
                <a:latin typeface="Calibri" pitchFamily="34" charset="0"/>
                <a:ea typeface="Calibri" pitchFamily="34" charset="-122"/>
                <a:cs typeface="Calibri" pitchFamily="34" charset="-120"/>
              </a:rPr>
              <a:t>item còn tương tác 4–5★ (P4)</a:t>
            </a:r>
            <a:endParaRPr lang="en-US" sz="1100" dirty="0"/>
          </a:p>
        </p:txBody>
      </p:sp>
      <p:sp>
        <p:nvSpPr>
          <p:cNvPr id="10" name="Shape 8"/>
          <p:cNvSpPr/>
          <p:nvPr/>
        </p:nvSpPr>
        <p:spPr>
          <a:xfrm>
            <a:off x="4023360" y="1627632"/>
            <a:ext cx="246888" cy="914"/>
          </a:xfrm>
          <a:prstGeom prst="line">
            <a:avLst/>
          </a:prstGeom>
          <a:noFill/>
          <a:ln w="22225">
            <a:solidFill>
              <a:srgbClr val="C9D3D2"/>
            </a:solidFill>
            <a:prstDash val="solid"/>
            <a:tailEnd type="triangle"/>
          </a:ln>
        </p:spPr>
      </p:sp>
      <p:sp>
        <p:nvSpPr>
          <p:cNvPr id="11" name="Text 9"/>
          <p:cNvSpPr txBox="1"/>
          <p:nvPr/>
        </p:nvSpPr>
        <p:spPr>
          <a:xfrm>
            <a:off x="4297680" y="1371600"/>
            <a:ext cx="1737360" cy="502920"/>
          </a:xfrm>
          <a:prstGeom prst="rect">
            <a:avLst/>
          </a:prstGeom>
          <a:noFill/>
          <a:ln/>
        </p:spPr>
        <p:txBody>
          <a:bodyPr wrap="square" lIns="0" tIns="0" rIns="0" bIns="0" rtlCol="0" anchor="ctr"/>
          <a:lstStyle/>
          <a:p>
            <a:pPr indent="0" marL="0">
              <a:buNone/>
            </a:pPr>
            <a:r>
              <a:rPr lang="en-US" sz="2400" b="1" dirty="0">
                <a:solidFill>
                  <a:srgbClr val="0F4C4F"/>
                </a:solidFill>
                <a:latin typeface="Cambria" pitchFamily="34" charset="0"/>
                <a:ea typeface="Cambria" pitchFamily="34" charset="-122"/>
                <a:cs typeface="Cambria" pitchFamily="34" charset="-120"/>
              </a:rPr>
              <a:t>162.125</a:t>
            </a:r>
            <a:endParaRPr lang="en-US" sz="2400" dirty="0"/>
          </a:p>
        </p:txBody>
      </p:sp>
      <p:sp>
        <p:nvSpPr>
          <p:cNvPr id="12" name="Text 10"/>
          <p:cNvSpPr txBox="1"/>
          <p:nvPr/>
        </p:nvSpPr>
        <p:spPr>
          <a:xfrm>
            <a:off x="4297680" y="1874520"/>
            <a:ext cx="1691640" cy="502920"/>
          </a:xfrm>
          <a:prstGeom prst="rect">
            <a:avLst/>
          </a:prstGeom>
          <a:noFill/>
          <a:ln/>
        </p:spPr>
        <p:txBody>
          <a:bodyPr wrap="square" lIns="0" tIns="0" rIns="0" bIns="0" rtlCol="0" anchor="t"/>
          <a:lstStyle/>
          <a:p>
            <a:pPr indent="0" marL="0">
              <a:buNone/>
            </a:pPr>
            <a:r>
              <a:rPr lang="en-US" sz="1100" dirty="0">
                <a:solidFill>
                  <a:srgbClr val="5E6B6E"/>
                </a:solidFill>
                <a:latin typeface="Calibri" pitchFamily="34" charset="0"/>
                <a:ea typeface="Calibri" pitchFamily="34" charset="-122"/>
                <a:cs typeface="Calibri" pitchFamily="34" charset="-120"/>
              </a:rPr>
              <a:t>item có trong graph train (trước t1)</a:t>
            </a:r>
            <a:endParaRPr lang="en-US" sz="1100" dirty="0"/>
          </a:p>
        </p:txBody>
      </p:sp>
      <p:graphicFrame>
        <p:nvGraphicFramePr>
          <p:cNvPr id="13" name="Chart 0" descr=""/>
          <p:cNvGraphicFramePr/>
          <p:nvPr/>
        </p:nvGraphicFramePr>
        <p:xfrm>
          <a:off x="457200" y="2514600"/>
          <a:ext cx="5760720" cy="3703320"/>
        </p:xfrm>
        <a:graphic xmlns:a="http://schemas.openxmlformats.org/drawingml/2006/main">
          <a:graphicData uri="http://schemas.openxmlformats.org/drawingml/2006/chart">
            <c:chart xmlns:c="http://schemas.openxmlformats.org/drawingml/2006/chart" r:id="rId1"/>
          </a:graphicData>
        </a:graphic>
      </p:graphicFrame>
      <p:graphicFrame>
        <p:nvGraphicFramePr>
          <p:cNvPr id="14" name="Chart 1" descr=""/>
          <p:cNvGraphicFramePr/>
          <p:nvPr/>
        </p:nvGraphicFramePr>
        <p:xfrm>
          <a:off x="6400800" y="1325880"/>
          <a:ext cx="2468880" cy="2651760"/>
        </p:xfrm>
        <a:graphic xmlns:a="http://schemas.openxmlformats.org/drawingml/2006/main">
          <a:graphicData uri="http://schemas.openxmlformats.org/drawingml/2006/chart">
            <c:chart xmlns:c="http://schemas.openxmlformats.org/drawingml/2006/chart" r:id="rId2"/>
          </a:graphicData>
        </a:graphic>
      </p:graphicFrame>
      <p:sp>
        <p:nvSpPr>
          <p:cNvPr id="15" name="Shape 11"/>
          <p:cNvSpPr/>
          <p:nvPr/>
        </p:nvSpPr>
        <p:spPr>
          <a:xfrm>
            <a:off x="9052560" y="1371600"/>
            <a:ext cx="2560320" cy="2606040"/>
          </a:xfrm>
          <a:prstGeom prst="roundRect">
            <a:avLst>
              <a:gd name="adj" fmla="val 2857"/>
            </a:avLst>
          </a:prstGeom>
          <a:solidFill>
            <a:srgbClr val="F8E6E1"/>
          </a:solidFill>
          <a:ln w="12700">
            <a:solidFill>
              <a:srgbClr val="F8E6E1"/>
            </a:solidFill>
            <a:prstDash val="solid"/>
          </a:ln>
        </p:spPr>
      </p:sp>
      <p:sp>
        <p:nvSpPr>
          <p:cNvPr id="16" name="Text 12"/>
          <p:cNvSpPr txBox="1"/>
          <p:nvPr/>
        </p:nvSpPr>
        <p:spPr>
          <a:xfrm>
            <a:off x="9235440" y="1490472"/>
            <a:ext cx="2194560" cy="420624"/>
          </a:xfrm>
          <a:prstGeom prst="rect">
            <a:avLst/>
          </a:prstGeom>
          <a:noFill/>
          <a:ln/>
        </p:spPr>
        <p:txBody>
          <a:bodyPr wrap="square" lIns="0" tIns="0" rIns="0" bIns="0" rtlCol="0" anchor="ctr"/>
          <a:lstStyle/>
          <a:p>
            <a:pPr indent="0" marL="0">
              <a:buNone/>
            </a:pPr>
            <a:r>
              <a:rPr lang="en-US" sz="1400" b="1" dirty="0">
                <a:solidFill>
                  <a:srgbClr val="13262A"/>
                </a:solidFill>
                <a:latin typeface="Calibri" pitchFamily="34" charset="0"/>
                <a:ea typeface="Calibri" pitchFamily="34" charset="-122"/>
                <a:cs typeface="Calibri" pitchFamily="34" charset="-120"/>
              </a:rPr>
              <a:t>Không đủ dữ liệu</a:t>
            </a:r>
            <a:endParaRPr lang="en-US" sz="1400" dirty="0"/>
          </a:p>
        </p:txBody>
      </p:sp>
      <p:sp>
        <p:nvSpPr>
          <p:cNvPr id="17" name="Text 13"/>
          <p:cNvSpPr txBox="1"/>
          <p:nvPr/>
        </p:nvSpPr>
        <p:spPr>
          <a:xfrm>
            <a:off x="9235440" y="1984248"/>
            <a:ext cx="2194560" cy="1920240"/>
          </a:xfrm>
          <a:prstGeom prst="rect">
            <a:avLst/>
          </a:prstGeom>
          <a:noFill/>
          <a:ln/>
        </p:spPr>
        <p:txBody>
          <a:bodyPr wrap="square" lIns="0" tIns="0" rIns="0" bIns="0" rtlCol="0" anchor="t"/>
          <a:lstStyle/>
          <a:p>
            <a:pPr indent="0" marL="0">
              <a:spcAft>
                <a:spcPts val="300"/>
              </a:spcAft>
              <a:buNone/>
            </a:pPr>
            <a:r>
              <a:rPr lang="en-US" sz="1200" dirty="0">
                <a:solidFill>
                  <a:srgbClr val="13262A"/>
                </a:solidFill>
                <a:latin typeface="Calibri" pitchFamily="34" charset="0"/>
                <a:ea typeface="Calibri" pitchFamily="34" charset="-122"/>
                <a:cs typeface="Calibri" pitchFamily="34" charset="-120"/>
              </a:rPr>
              <a:t>71,76% user chỉ có 1 tương tác. Chỉ 21,9% dòng validation có user và item đã thấy trong train; 239.908 dòng loại vì user mới (cold-start, ngoài phạm vi).</a:t>
            </a:r>
            <a:endParaRPr lang="en-US" sz="1200" dirty="0"/>
          </a:p>
        </p:txBody>
      </p:sp>
      <p:sp>
        <p:nvSpPr>
          <p:cNvPr id="18" name="Shape 14"/>
          <p:cNvSpPr/>
          <p:nvPr/>
        </p:nvSpPr>
        <p:spPr>
          <a:xfrm>
            <a:off x="6400800" y="4160520"/>
            <a:ext cx="5212080" cy="2057400"/>
          </a:xfrm>
          <a:prstGeom prst="roundRect">
            <a:avLst>
              <a:gd name="adj" fmla="val 3556"/>
            </a:avLst>
          </a:prstGeom>
          <a:solidFill>
            <a:srgbClr val="E6F0EF"/>
          </a:solidFill>
          <a:ln w="12700">
            <a:solidFill>
              <a:srgbClr val="E6F0EF"/>
            </a:solidFill>
            <a:prstDash val="solid"/>
          </a:ln>
        </p:spPr>
      </p:sp>
      <p:sp>
        <p:nvSpPr>
          <p:cNvPr id="19" name="Text 15"/>
          <p:cNvSpPr txBox="1"/>
          <p:nvPr/>
        </p:nvSpPr>
        <p:spPr>
          <a:xfrm>
            <a:off x="6583680" y="4279392"/>
            <a:ext cx="4846320" cy="420624"/>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Biểu diễn dữ liệu</a:t>
            </a:r>
            <a:endParaRPr lang="en-US" sz="1500" dirty="0"/>
          </a:p>
        </p:txBody>
      </p:sp>
      <p:sp>
        <p:nvSpPr>
          <p:cNvPr id="20" name="Text 16"/>
          <p:cNvSpPr txBox="1"/>
          <p:nvPr/>
        </p:nvSpPr>
        <p:spPr>
          <a:xfrm>
            <a:off x="6583680" y="4773168"/>
            <a:ext cx="4846320" cy="137160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Graph hai phía G = (U ∪ I, E): node là user hoặc sản phẩm; cạnh là tương tác 4–5★ có thời điểm. Không dùng rating làm trọng số, không có feature → mỗi node học một embedding ID. Metadata sản phẩm chỉ dùng cho đánh giá ngữ nghĩa (chương 3).</a:t>
            </a:r>
            <a:endParaRPr lang="en-US" sz="1300" dirty="0"/>
          </a:p>
        </p:txBody>
      </p:sp>
      <p:sp>
        <p:nvSpPr>
          <p:cNvPr id="21" name="Text 17"/>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33,35% sản phẩm chỉ có 1 tương tác nhưng chiếm 1,4% tương tác; 3,9% sản phẩm có &gt;100 tương tác chiếm 67,0% tương tác.</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Mất cân bằng, dồn về item phổ biến, long-tail</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15</a:t>
            </a:r>
            <a:endParaRPr lang="en-US" sz="1000" dirty="0"/>
          </a:p>
        </p:txBody>
      </p:sp>
      <p:graphicFrame>
        <p:nvGraphicFramePr>
          <p:cNvPr id="5" name="Chart 0" descr=""/>
          <p:cNvGraphicFramePr/>
          <p:nvPr/>
        </p:nvGraphicFramePr>
        <p:xfrm>
          <a:off x="457200" y="1417320"/>
          <a:ext cx="3749040" cy="4846320"/>
        </p:xfrm>
        <a:graphic xmlns:a="http://schemas.openxmlformats.org/drawingml/2006/main">
          <a:graphicData uri="http://schemas.openxmlformats.org/drawingml/2006/chart">
            <c:chart xmlns:c="http://schemas.openxmlformats.org/drawingml/2006/chart" r:id="rId1"/>
          </a:graphicData>
        </a:graphic>
      </p:graphicFrame>
      <p:pic>
        <p:nvPicPr>
          <p:cNvPr id="6" name="Image 0" descr="ds/02_degree_long_tail.png">    </p:cNvPr>
          <p:cNvPicPr>
            <a:picLocks noChangeAspect="1"/>
          </p:cNvPicPr>
          <p:nvPr/>
        </p:nvPicPr>
        <p:blipFill>
          <a:blip r:embed="rId2"/>
          <a:stretch>
            <a:fillRect/>
          </a:stretch>
        </p:blipFill>
        <p:spPr>
          <a:xfrm>
            <a:off x="4389120" y="1417320"/>
            <a:ext cx="4114800" cy="2624328"/>
          </a:xfrm>
          <a:prstGeom prst="rect">
            <a:avLst/>
          </a:prstGeom>
        </p:spPr>
      </p:pic>
      <p:sp>
        <p:nvSpPr>
          <p:cNvPr id="7" name="Text 3"/>
          <p:cNvSpPr txBox="1"/>
          <p:nvPr/>
        </p:nvSpPr>
        <p:spPr>
          <a:xfrm>
            <a:off x="4389120" y="4206240"/>
            <a:ext cx="2011680" cy="502920"/>
          </a:xfrm>
          <a:prstGeom prst="rect">
            <a:avLst/>
          </a:prstGeom>
          <a:noFill/>
          <a:ln/>
        </p:spPr>
        <p:txBody>
          <a:bodyPr wrap="square" lIns="0" tIns="0" rIns="0" bIns="0" rtlCol="0" anchor="ctr"/>
          <a:lstStyle/>
          <a:p>
            <a:pPr indent="0" marL="0">
              <a:buNone/>
            </a:pPr>
            <a:r>
              <a:rPr lang="en-US" sz="2600" b="1" dirty="0">
                <a:solidFill>
                  <a:srgbClr val="C8553D"/>
                </a:solidFill>
                <a:latin typeface="Cambria" pitchFamily="34" charset="0"/>
                <a:ea typeface="Cambria" pitchFamily="34" charset="-122"/>
                <a:cs typeface="Cambria" pitchFamily="34" charset="-120"/>
              </a:rPr>
              <a:t>71,76%</a:t>
            </a:r>
            <a:endParaRPr lang="en-US" sz="2600" dirty="0"/>
          </a:p>
        </p:txBody>
      </p:sp>
      <p:sp>
        <p:nvSpPr>
          <p:cNvPr id="8" name="Text 4"/>
          <p:cNvSpPr txBox="1"/>
          <p:nvPr/>
        </p:nvSpPr>
        <p:spPr>
          <a:xfrm>
            <a:off x="4389120" y="4709160"/>
            <a:ext cx="2011680" cy="411480"/>
          </a:xfrm>
          <a:prstGeom prst="rect">
            <a:avLst/>
          </a:prstGeom>
          <a:noFill/>
          <a:ln/>
        </p:spPr>
        <p:txBody>
          <a:bodyPr wrap="square" lIns="0" tIns="0" rIns="0" bIns="0" rtlCol="0" anchor="t"/>
          <a:lstStyle/>
          <a:p>
            <a:pPr indent="0" marL="0">
              <a:buNone/>
            </a:pPr>
            <a:r>
              <a:rPr lang="en-US" sz="1100" dirty="0">
                <a:solidFill>
                  <a:srgbClr val="5E6B6E"/>
                </a:solidFill>
                <a:latin typeface="Calibri" pitchFamily="34" charset="0"/>
                <a:ea typeface="Calibri" pitchFamily="34" charset="-122"/>
                <a:cs typeface="Calibri" pitchFamily="34" charset="-120"/>
              </a:rPr>
              <a:t>user train chỉ có 1 interaction</a:t>
            </a:r>
            <a:endParaRPr lang="en-US" sz="1100" dirty="0"/>
          </a:p>
        </p:txBody>
      </p:sp>
      <p:sp>
        <p:nvSpPr>
          <p:cNvPr id="9" name="Text 5"/>
          <p:cNvSpPr txBox="1"/>
          <p:nvPr/>
        </p:nvSpPr>
        <p:spPr>
          <a:xfrm>
            <a:off x="6492240" y="4206240"/>
            <a:ext cx="2011680" cy="502920"/>
          </a:xfrm>
          <a:prstGeom prst="rect">
            <a:avLst/>
          </a:prstGeom>
          <a:noFill/>
          <a:ln/>
        </p:spPr>
        <p:txBody>
          <a:bodyPr wrap="square" lIns="0" tIns="0" rIns="0" bIns="0" rtlCol="0" anchor="ctr"/>
          <a:lstStyle/>
          <a:p>
            <a:pPr indent="0" marL="0">
              <a:buNone/>
            </a:pPr>
            <a:r>
              <a:rPr lang="en-US" sz="2600" b="1" dirty="0">
                <a:solidFill>
                  <a:srgbClr val="C8553D"/>
                </a:solidFill>
                <a:latin typeface="Cambria" pitchFamily="34" charset="0"/>
                <a:ea typeface="Cambria" pitchFamily="34" charset="-122"/>
                <a:cs typeface="Cambria" pitchFamily="34" charset="-120"/>
              </a:rPr>
              <a:t>0,8584</a:t>
            </a:r>
            <a:endParaRPr lang="en-US" sz="2600" dirty="0"/>
          </a:p>
        </p:txBody>
      </p:sp>
      <p:sp>
        <p:nvSpPr>
          <p:cNvPr id="10" name="Text 6"/>
          <p:cNvSpPr txBox="1"/>
          <p:nvPr/>
        </p:nvSpPr>
        <p:spPr>
          <a:xfrm>
            <a:off x="6492240" y="4709160"/>
            <a:ext cx="2011680" cy="411480"/>
          </a:xfrm>
          <a:prstGeom prst="rect">
            <a:avLst/>
          </a:prstGeom>
          <a:noFill/>
          <a:ln/>
        </p:spPr>
        <p:txBody>
          <a:bodyPr wrap="square" lIns="0" tIns="0" rIns="0" bIns="0" rtlCol="0" anchor="t"/>
          <a:lstStyle/>
          <a:p>
            <a:pPr indent="0" marL="0">
              <a:buNone/>
            </a:pPr>
            <a:r>
              <a:rPr lang="en-US" sz="1100" dirty="0">
                <a:solidFill>
                  <a:srgbClr val="5E6B6E"/>
                </a:solidFill>
                <a:latin typeface="Calibri" pitchFamily="34" charset="0"/>
                <a:ea typeface="Calibri" pitchFamily="34" charset="-122"/>
                <a:cs typeface="Calibri" pitchFamily="34" charset="-120"/>
              </a:rPr>
              <a:t>Gini bậc item</a:t>
            </a:r>
            <a:endParaRPr lang="en-US" sz="1100" dirty="0"/>
          </a:p>
        </p:txBody>
      </p:sp>
      <p:sp>
        <p:nvSpPr>
          <p:cNvPr id="11" name="Text 7"/>
          <p:cNvSpPr txBox="1"/>
          <p:nvPr/>
        </p:nvSpPr>
        <p:spPr>
          <a:xfrm>
            <a:off x="4389120" y="5257800"/>
            <a:ext cx="2011680" cy="502920"/>
          </a:xfrm>
          <a:prstGeom prst="rect">
            <a:avLst/>
          </a:prstGeom>
          <a:noFill/>
          <a:ln/>
        </p:spPr>
        <p:txBody>
          <a:bodyPr wrap="square" lIns="0" tIns="0" rIns="0" bIns="0" rtlCol="0" anchor="ctr"/>
          <a:lstStyle/>
          <a:p>
            <a:pPr indent="0" marL="0">
              <a:buNone/>
            </a:pPr>
            <a:r>
              <a:rPr lang="en-US" sz="2600" b="1" dirty="0">
                <a:solidFill>
                  <a:srgbClr val="2E7D7A"/>
                </a:solidFill>
                <a:latin typeface="Cambria" pitchFamily="34" charset="0"/>
                <a:ea typeface="Cambria" pitchFamily="34" charset="-122"/>
                <a:cs typeface="Cambria" pitchFamily="34" charset="-120"/>
              </a:rPr>
              <a:t>1 dòng</a:t>
            </a:r>
            <a:endParaRPr lang="en-US" sz="2600" dirty="0"/>
          </a:p>
        </p:txBody>
      </p:sp>
      <p:sp>
        <p:nvSpPr>
          <p:cNvPr id="12" name="Text 8"/>
          <p:cNvSpPr txBox="1"/>
          <p:nvPr/>
        </p:nvSpPr>
        <p:spPr>
          <a:xfrm>
            <a:off x="4389120" y="5760720"/>
            <a:ext cx="2011680" cy="411480"/>
          </a:xfrm>
          <a:prstGeom prst="rect">
            <a:avLst/>
          </a:prstGeom>
          <a:noFill/>
          <a:ln/>
        </p:spPr>
        <p:txBody>
          <a:bodyPr wrap="square" lIns="0" tIns="0" rIns="0" bIns="0" rtlCol="0" anchor="t"/>
          <a:lstStyle/>
          <a:p>
            <a:pPr indent="0" marL="0">
              <a:buNone/>
            </a:pPr>
            <a:r>
              <a:rPr lang="en-US" sz="1100" dirty="0">
                <a:solidFill>
                  <a:srgbClr val="5E6B6E"/>
                </a:solidFill>
                <a:latin typeface="Calibri" pitchFamily="34" charset="0"/>
                <a:ea typeface="Calibri" pitchFamily="34" charset="-122"/>
                <a:cs typeface="Calibri" pitchFamily="34" charset="-120"/>
              </a:rPr>
              <a:t>rating 0.0 ngoài miền → loại</a:t>
            </a:r>
            <a:endParaRPr lang="en-US" sz="1100" dirty="0"/>
          </a:p>
        </p:txBody>
      </p:sp>
      <p:sp>
        <p:nvSpPr>
          <p:cNvPr id="13" name="Text 9"/>
          <p:cNvSpPr txBox="1"/>
          <p:nvPr/>
        </p:nvSpPr>
        <p:spPr>
          <a:xfrm>
            <a:off x="6492240" y="5257800"/>
            <a:ext cx="2011680" cy="502920"/>
          </a:xfrm>
          <a:prstGeom prst="rect">
            <a:avLst/>
          </a:prstGeom>
          <a:noFill/>
          <a:ln/>
        </p:spPr>
        <p:txBody>
          <a:bodyPr wrap="square" lIns="0" tIns="0" rIns="0" bIns="0" rtlCol="0" anchor="ctr"/>
          <a:lstStyle/>
          <a:p>
            <a:pPr indent="0" marL="0">
              <a:buNone/>
            </a:pPr>
            <a:r>
              <a:rPr lang="en-US" sz="2600" b="1" dirty="0">
                <a:solidFill>
                  <a:srgbClr val="2E7D7A"/>
                </a:solidFill>
                <a:latin typeface="Cambria" pitchFamily="34" charset="0"/>
                <a:ea typeface="Cambria" pitchFamily="34" charset="-122"/>
                <a:cs typeface="Cambria" pitchFamily="34" charset="-120"/>
              </a:rPr>
              <a:t>0</a:t>
            </a:r>
            <a:endParaRPr lang="en-US" sz="2600" dirty="0"/>
          </a:p>
        </p:txBody>
      </p:sp>
      <p:sp>
        <p:nvSpPr>
          <p:cNvPr id="14" name="Text 10"/>
          <p:cNvSpPr txBox="1"/>
          <p:nvPr/>
        </p:nvSpPr>
        <p:spPr>
          <a:xfrm>
            <a:off x="6492240" y="5760720"/>
            <a:ext cx="2011680" cy="411480"/>
          </a:xfrm>
          <a:prstGeom prst="rect">
            <a:avLst/>
          </a:prstGeom>
          <a:noFill/>
          <a:ln/>
        </p:spPr>
        <p:txBody>
          <a:bodyPr wrap="square" lIns="0" tIns="0" rIns="0" bIns="0" rtlCol="0" anchor="t"/>
          <a:lstStyle/>
          <a:p>
            <a:pPr indent="0" marL="0">
              <a:buNone/>
            </a:pPr>
            <a:r>
              <a:rPr lang="en-US" sz="1100" dirty="0">
                <a:solidFill>
                  <a:srgbClr val="5E6B6E"/>
                </a:solidFill>
                <a:latin typeface="Calibri" pitchFamily="34" charset="0"/>
                <a:ea typeface="Calibri" pitchFamily="34" charset="-122"/>
                <a:cs typeface="Calibri" pitchFamily="34" charset="-120"/>
              </a:rPr>
              <a:t>dòng trùng, thiếu ID, sai timestamp</a:t>
            </a:r>
            <a:endParaRPr lang="en-US" sz="1100" dirty="0"/>
          </a:p>
        </p:txBody>
      </p:sp>
      <p:sp>
        <p:nvSpPr>
          <p:cNvPr id="15" name="Shape 11"/>
          <p:cNvSpPr/>
          <p:nvPr/>
        </p:nvSpPr>
        <p:spPr>
          <a:xfrm>
            <a:off x="8732520" y="1417320"/>
            <a:ext cx="2926080" cy="4846320"/>
          </a:xfrm>
          <a:prstGeom prst="roundRect">
            <a:avLst>
              <a:gd name="adj" fmla="val 2500"/>
            </a:avLst>
          </a:prstGeom>
          <a:solidFill>
            <a:srgbClr val="FCF1DF"/>
          </a:solidFill>
          <a:ln w="12700">
            <a:solidFill>
              <a:srgbClr val="FCF1DF"/>
            </a:solidFill>
            <a:prstDash val="solid"/>
          </a:ln>
        </p:spPr>
      </p:sp>
      <p:sp>
        <p:nvSpPr>
          <p:cNvPr id="16" name="Text 12"/>
          <p:cNvSpPr txBox="1"/>
          <p:nvPr/>
        </p:nvSpPr>
        <p:spPr>
          <a:xfrm>
            <a:off x="8915400" y="1536192"/>
            <a:ext cx="256032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Hệ quả cho thiết kế</a:t>
            </a:r>
            <a:endParaRPr lang="en-US" sz="1600" dirty="0"/>
          </a:p>
        </p:txBody>
      </p:sp>
      <p:sp>
        <p:nvSpPr>
          <p:cNvPr id="17" name="Text 13"/>
          <p:cNvSpPr txBox="1"/>
          <p:nvPr/>
        </p:nvSpPr>
        <p:spPr>
          <a:xfrm>
            <a:off x="8915400" y="1965960"/>
            <a:ext cx="2606040" cy="42062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3262A"/>
                </a:solidFill>
                <a:latin typeface="Calibri" pitchFamily="34" charset="0"/>
                <a:ea typeface="Calibri" pitchFamily="34" charset="-122"/>
                <a:cs typeface="Calibri" pitchFamily="34" charset="-120"/>
              </a:rPr>
              <a:t>Nhiễu thấp: chỉ loại 1 dòng; không lọc k-core để không làm mất long-tail thật.</a:t>
            </a:r>
            <a:endParaRPr lang="en-US" sz="1300" dirty="0"/>
          </a:p>
          <a:p>
            <a:pPr marL="203200" indent="-203200">
              <a:spcAft>
                <a:spcPts val="600"/>
              </a:spcAft>
              <a:buSzPct val="100000"/>
              <a:buChar char="•"/>
            </a:pPr>
            <a:r>
              <a:rPr lang="en-US" sz="1300" dirty="0">
                <a:solidFill>
                  <a:srgbClr val="13262A"/>
                </a:solidFill>
                <a:latin typeface="Calibri" pitchFamily="34" charset="0"/>
                <a:ea typeface="Calibri" pitchFamily="34" charset="-122"/>
                <a:cs typeface="Calibri" pitchFamily="34" charset="-120"/>
              </a:rPr>
              <a:t>Mất cân bằng mạnh → score tổng có thể tăng chỉ nhờ item phổ biến. Phải báo exposure/hit theo head–body–tail.</a:t>
            </a:r>
            <a:endParaRPr lang="en-US" sz="1300" dirty="0"/>
          </a:p>
          <a:p>
            <a:pPr marL="203200" indent="-203200">
              <a:spcAft>
                <a:spcPts val="600"/>
              </a:spcAft>
              <a:buSzPct val="100000"/>
              <a:buChar char="•"/>
            </a:pPr>
            <a:r>
              <a:rPr lang="en-US" sz="1300" dirty="0">
                <a:solidFill>
                  <a:srgbClr val="13262A"/>
                </a:solidFill>
                <a:latin typeface="Calibri" pitchFamily="34" charset="0"/>
                <a:ea typeface="Calibri" pitchFamily="34" charset="-122"/>
                <a:cs typeface="Calibri" pitchFamily="34" charset="-120"/>
              </a:rPr>
              <a:t>User gần như không có ngữ cảnh riêng → lựa chọn sampler có ý nghĩa chủ yếu ở layer đi qua item.</a:t>
            </a:r>
            <a:endParaRPr lang="en-US" sz="1300" dirty="0"/>
          </a:p>
          <a:p>
            <a:pPr marL="203200" indent="-203200">
              <a:spcAft>
                <a:spcPts val="600"/>
              </a:spcAft>
              <a:buSzPct val="100000"/>
              <a:buChar char="•"/>
            </a:pPr>
            <a:r>
              <a:rPr lang="en-US" sz="1300" dirty="0">
                <a:solidFill>
                  <a:srgbClr val="13262A"/>
                </a:solidFill>
                <a:latin typeface="Calibri" pitchFamily="34" charset="0"/>
                <a:ea typeface="Calibri" pitchFamily="34" charset="-122"/>
                <a:cs typeface="Calibri" pitchFamily="34" charset="-120"/>
              </a:rPr>
              <a:t>Sampler học được có thể dồn về hub → theo dõi bậc/nhóm của node được chọn.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Không đủ dữ liệu: tương lai chủ yếu là user mới</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16</a:t>
            </a:r>
            <a:endParaRPr lang="en-US" sz="1000" dirty="0"/>
          </a:p>
        </p:txBody>
      </p:sp>
      <p:graphicFrame>
        <p:nvGraphicFramePr>
          <p:cNvPr id="5" name="Chart 0" descr=""/>
          <p:cNvGraphicFramePr/>
          <p:nvPr/>
        </p:nvGraphicFramePr>
        <p:xfrm>
          <a:off x="457200" y="132588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943600" y="1417320"/>
            <a:ext cx="1737360" cy="731520"/>
          </a:xfrm>
          <a:prstGeom prst="rect">
            <a:avLst/>
          </a:prstGeom>
          <a:noFill/>
          <a:ln/>
        </p:spPr>
        <p:txBody>
          <a:bodyPr wrap="square" lIns="0" tIns="0" rIns="0" bIns="0" rtlCol="0" anchor="ctr"/>
          <a:lstStyle/>
          <a:p>
            <a:pPr indent="0" marL="0">
              <a:buNone/>
            </a:pPr>
            <a:r>
              <a:rPr lang="en-US" sz="2800" b="1" dirty="0">
                <a:solidFill>
                  <a:srgbClr val="C8553D"/>
                </a:solidFill>
                <a:latin typeface="Cambria" pitchFamily="34" charset="0"/>
                <a:ea typeface="Cambria" pitchFamily="34" charset="-122"/>
                <a:cs typeface="Cambria" pitchFamily="34" charset="-120"/>
              </a:rPr>
              <a:t>71,76%</a:t>
            </a:r>
            <a:endParaRPr lang="en-US" sz="2800" dirty="0"/>
          </a:p>
        </p:txBody>
      </p:sp>
      <p:sp>
        <p:nvSpPr>
          <p:cNvPr id="7" name="Text 4"/>
          <p:cNvSpPr txBox="1"/>
          <p:nvPr/>
        </p:nvSpPr>
        <p:spPr>
          <a:xfrm>
            <a:off x="7726680" y="1417320"/>
            <a:ext cx="3886200" cy="731520"/>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user trong graph train chỉ có 1 tương tác → gần như không có lịch sử cá nhân</a:t>
            </a:r>
            <a:endParaRPr lang="en-US" sz="1300" dirty="0"/>
          </a:p>
        </p:txBody>
      </p:sp>
      <p:sp>
        <p:nvSpPr>
          <p:cNvPr id="8" name="Text 5"/>
          <p:cNvSpPr txBox="1"/>
          <p:nvPr/>
        </p:nvSpPr>
        <p:spPr>
          <a:xfrm>
            <a:off x="5943600" y="2404872"/>
            <a:ext cx="1737360" cy="731520"/>
          </a:xfrm>
          <a:prstGeom prst="rect">
            <a:avLst/>
          </a:prstGeom>
          <a:noFill/>
          <a:ln/>
        </p:spPr>
        <p:txBody>
          <a:bodyPr wrap="square" lIns="0" tIns="0" rIns="0" bIns="0" rtlCol="0" anchor="ctr"/>
          <a:lstStyle/>
          <a:p>
            <a:pPr indent="0" marL="0">
              <a:buNone/>
            </a:pPr>
            <a:r>
              <a:rPr lang="en-US" sz="2800" b="1" dirty="0">
                <a:solidFill>
                  <a:srgbClr val="C8553D"/>
                </a:solidFill>
                <a:latin typeface="Cambria" pitchFamily="34" charset="0"/>
                <a:ea typeface="Cambria" pitchFamily="34" charset="-122"/>
                <a:cs typeface="Cambria" pitchFamily="34" charset="-120"/>
              </a:rPr>
              <a:t>64,2%</a:t>
            </a:r>
            <a:endParaRPr lang="en-US" sz="2800" dirty="0"/>
          </a:p>
        </p:txBody>
      </p:sp>
      <p:sp>
        <p:nvSpPr>
          <p:cNvPr id="9" name="Text 6"/>
          <p:cNvSpPr txBox="1"/>
          <p:nvPr/>
        </p:nvSpPr>
        <p:spPr>
          <a:xfrm>
            <a:off x="7726680" y="2404872"/>
            <a:ext cx="3886200" cy="731520"/>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tương tác validation đến từ user chưa xuất hiện trong train (cold-start)</a:t>
            </a:r>
            <a:endParaRPr lang="en-US" sz="1300" dirty="0"/>
          </a:p>
        </p:txBody>
      </p:sp>
      <p:sp>
        <p:nvSpPr>
          <p:cNvPr id="10" name="Text 7"/>
          <p:cNvSpPr txBox="1"/>
          <p:nvPr/>
        </p:nvSpPr>
        <p:spPr>
          <a:xfrm>
            <a:off x="5943600" y="3392424"/>
            <a:ext cx="1737360" cy="731520"/>
          </a:xfrm>
          <a:prstGeom prst="rect">
            <a:avLst/>
          </a:prstGeom>
          <a:noFill/>
          <a:ln/>
        </p:spPr>
        <p:txBody>
          <a:bodyPr wrap="square" lIns="0" tIns="0" rIns="0" bIns="0" rtlCol="0" anchor="ctr"/>
          <a:lstStyle/>
          <a:p>
            <a:pPr indent="0" marL="0">
              <a:buNone/>
            </a:pPr>
            <a:r>
              <a:rPr lang="en-US" sz="2800" b="1" dirty="0">
                <a:solidFill>
                  <a:srgbClr val="0F4C4F"/>
                </a:solidFill>
                <a:latin typeface="Cambria" pitchFamily="34" charset="0"/>
                <a:ea typeface="Cambria" pitchFamily="34" charset="-122"/>
                <a:cs typeface="Cambria" pitchFamily="34" charset="-120"/>
              </a:rPr>
              <a:t>21,9%</a:t>
            </a:r>
            <a:endParaRPr lang="en-US" sz="2800" dirty="0"/>
          </a:p>
        </p:txBody>
      </p:sp>
      <p:sp>
        <p:nvSpPr>
          <p:cNvPr id="11" name="Text 8"/>
          <p:cNvSpPr txBox="1"/>
          <p:nvPr/>
        </p:nvSpPr>
        <p:spPr>
          <a:xfrm>
            <a:off x="7726680" y="3392424"/>
            <a:ext cx="3886200" cy="731520"/>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tương tác validation dùng được cho gợi ý warm-start (81.871 target)</a:t>
            </a:r>
            <a:endParaRPr lang="en-US" sz="1300" dirty="0"/>
          </a:p>
        </p:txBody>
      </p:sp>
      <p:sp>
        <p:nvSpPr>
          <p:cNvPr id="12" name="Text 9"/>
          <p:cNvSpPr txBox="1"/>
          <p:nvPr/>
        </p:nvSpPr>
        <p:spPr>
          <a:xfrm>
            <a:off x="5943600" y="4379976"/>
            <a:ext cx="1737360" cy="731520"/>
          </a:xfrm>
          <a:prstGeom prst="rect">
            <a:avLst/>
          </a:prstGeom>
          <a:noFill/>
          <a:ln/>
        </p:spPr>
        <p:txBody>
          <a:bodyPr wrap="square" lIns="0" tIns="0" rIns="0" bIns="0" rtlCol="0" anchor="ctr"/>
          <a:lstStyle/>
          <a:p>
            <a:pPr indent="0" marL="0">
              <a:buNone/>
            </a:pPr>
            <a:r>
              <a:rPr lang="en-US" sz="2800" b="1" dirty="0">
                <a:solidFill>
                  <a:srgbClr val="C8553D"/>
                </a:solidFill>
                <a:latin typeface="Cambria" pitchFamily="34" charset="0"/>
                <a:ea typeface="Cambria" pitchFamily="34" charset="-122"/>
                <a:cs typeface="Cambria" pitchFamily="34" charset="-120"/>
              </a:rPr>
              <a:t>9,8%</a:t>
            </a:r>
            <a:endParaRPr lang="en-US" sz="2800" dirty="0"/>
          </a:p>
        </p:txBody>
      </p:sp>
      <p:sp>
        <p:nvSpPr>
          <p:cNvPr id="13" name="Text 10"/>
          <p:cNvSpPr txBox="1"/>
          <p:nvPr/>
        </p:nvSpPr>
        <p:spPr>
          <a:xfrm>
            <a:off x="7726680" y="4379976"/>
            <a:ext cx="3886200" cy="731520"/>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tỷ lệ tương ứng ở cửa sổ test: càng xa mốc train, càng ít warm</a:t>
            </a:r>
            <a:endParaRPr lang="en-US" sz="1300" dirty="0"/>
          </a:p>
        </p:txBody>
      </p:sp>
      <p:sp>
        <p:nvSpPr>
          <p:cNvPr id="14" name="Shape 11"/>
          <p:cNvSpPr/>
          <p:nvPr/>
        </p:nvSpPr>
        <p:spPr>
          <a:xfrm>
            <a:off x="5943600" y="5440680"/>
            <a:ext cx="5669280" cy="822960"/>
          </a:xfrm>
          <a:prstGeom prst="roundRect">
            <a:avLst>
              <a:gd name="adj" fmla="val 8889"/>
            </a:avLst>
          </a:prstGeom>
          <a:solidFill>
            <a:srgbClr val="FCF1DF"/>
          </a:solidFill>
          <a:ln w="12700">
            <a:solidFill>
              <a:srgbClr val="FCF1DF"/>
            </a:solidFill>
            <a:prstDash val="solid"/>
          </a:ln>
        </p:spPr>
      </p:sp>
      <p:sp>
        <p:nvSpPr>
          <p:cNvPr id="15" name="Text 12"/>
          <p:cNvSpPr txBox="1"/>
          <p:nvPr/>
        </p:nvSpPr>
        <p:spPr>
          <a:xfrm>
            <a:off x="6126480" y="5559552"/>
            <a:ext cx="5303520" cy="420624"/>
          </a:xfrm>
          <a:prstGeom prst="rect">
            <a:avLst/>
          </a:prstGeom>
          <a:noFill/>
          <a:ln/>
        </p:spPr>
        <p:txBody>
          <a:bodyPr wrap="square" lIns="0" tIns="0" rIns="0" bIns="0" rtlCol="0" anchor="ctr"/>
          <a:lstStyle/>
          <a:p>
            <a:pPr indent="0" marL="0">
              <a:buNone/>
            </a:pPr>
            <a:r>
              <a:rPr lang="en-US" sz="1400" b="1" dirty="0">
                <a:solidFill>
                  <a:srgbClr val="13262A"/>
                </a:solidFill>
                <a:latin typeface="Calibri" pitchFamily="34" charset="0"/>
                <a:ea typeface="Calibri" pitchFamily="34" charset="-122"/>
                <a:cs typeface="Calibri" pitchFamily="34" charset="-120"/>
              </a:rPr>
              <a:t>Hệ quả</a:t>
            </a:r>
            <a:endParaRPr lang="en-US" sz="1400" dirty="0"/>
          </a:p>
        </p:txBody>
      </p:sp>
      <p:sp>
        <p:nvSpPr>
          <p:cNvPr id="16" name="Text 13"/>
          <p:cNvSpPr txBox="1"/>
          <p:nvPr/>
        </p:nvSpPr>
        <p:spPr>
          <a:xfrm>
            <a:off x="6949440" y="5440680"/>
            <a:ext cx="4572000" cy="822960"/>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Đồ án giới hạn ở warm-start; cold-start nằm ngoài phạm vi.</a:t>
            </a:r>
            <a:endParaRPr lang="en-US" sz="1250" dirty="0"/>
          </a:p>
        </p:txBody>
      </p:sp>
      <p:sp>
        <p:nvSpPr>
          <p:cNvPr id="17" name="Text 14"/>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data_story_summary.json (temporal_population) và baby_p4_g2c_manifest.json. Chỉ đếm số dòng, không dùng target để thiết kế.</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Dữ liệu theo thời gian và các cửa sổ chia</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17</a:t>
            </a:r>
            <a:endParaRPr lang="en-US" sz="1000" dirty="0"/>
          </a:p>
        </p:txBody>
      </p:sp>
      <p:graphicFrame>
        <p:nvGraphicFramePr>
          <p:cNvPr id="5" name="Chart 0" descr=""/>
          <p:cNvGraphicFramePr/>
          <p:nvPr/>
        </p:nvGraphicFramePr>
        <p:xfrm>
          <a:off x="457200" y="1325880"/>
          <a:ext cx="6949440" cy="384048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7680960" y="1417320"/>
          <a:ext cx="3931920" cy="914400"/>
        </p:xfrm>
        <a:graphic>
          <a:graphicData uri="http://schemas.openxmlformats.org/drawingml/2006/table">
            <a:tbl>
              <a:tblPr/>
              <a:tblGrid>
                <a:gridCol w="1097280"/>
                <a:gridCol w="1188720"/>
                <a:gridCol w="164592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Mốc</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Ngày</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Vai trò</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384048">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Dữ liệu đầu</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10/06/2000</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t0</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05/09/2020</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Bắt đầu cửa sổ development</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t1</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11/08/2021</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Hết graph train</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t2</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16/07/2022</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Hết validation, bắt đầu test</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Dữ liệu cuối</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12/09/2023</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00" dirty="0">
                          <a:solidFill>
                            <a:srgbClr val="13262A"/>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7680960" y="3886200"/>
            <a:ext cx="3931920" cy="2377440"/>
          </a:xfrm>
          <a:prstGeom prst="rect">
            <a:avLst/>
          </a:prstGeom>
          <a:noFill/>
          <a:ln/>
        </p:spPr>
        <p:txBody>
          <a:bodyPr wrap="square" lIns="0" tIns="0" rIns="0" bIns="0" rtlCol="0" anchor="t"/>
          <a:lstStyle/>
          <a:p>
            <a:pPr marL="203200" indent="-203200">
              <a:spcAft>
                <a:spcPts val="600"/>
              </a:spcAft>
              <a:buSzPct val="100000"/>
              <a:buChar char="•"/>
            </a:pPr>
            <a:r>
              <a:rPr lang="en-US" sz="1300" dirty="0">
                <a:solidFill>
                  <a:srgbClr val="13262A"/>
                </a:solidFill>
                <a:latin typeface="Calibri" pitchFamily="34" charset="0"/>
                <a:ea typeface="Calibri" pitchFamily="34" charset="-122"/>
                <a:cs typeface="Calibri" pitchFamily="34" charset="-120"/>
              </a:rPr>
              <a:t>Tăng mạnh từ 2013, đỉnh 2019–2020, giảm dần sau 2021: phân bố thay đổi theo thời gian → chia theo thời gian thay vì ngẫu nhiên.</a:t>
            </a:r>
            <a:endParaRPr lang="en-US" sz="1300" dirty="0"/>
          </a:p>
          <a:p>
            <a:pPr marL="203200" indent="-203200">
              <a:spcAft>
                <a:spcPts val="600"/>
              </a:spcAft>
              <a:buSzPct val="100000"/>
              <a:buChar char="•"/>
            </a:pPr>
            <a:r>
              <a:rPr lang="en-US" sz="1300" dirty="0">
                <a:solidFill>
                  <a:srgbClr val="13262A"/>
                </a:solidFill>
                <a:latin typeface="Calibri" pitchFamily="34" charset="0"/>
                <a:ea typeface="Calibri" pitchFamily="34" charset="-122"/>
                <a:cs typeface="Calibri" pitchFamily="34" charset="-120"/>
              </a:rPr>
              <a:t>Cửa sổ development thực tế: 553.157 tương tác 4–5★, 105.401 target warm; quy tắc t0 chính đủ điều kiện.</a:t>
            </a:r>
            <a:endParaRPr lang="en-US" sz="1300" dirty="0"/>
          </a:p>
          <a:p>
            <a:pPr marL="203200" indent="-203200">
              <a:spcAft>
                <a:spcPts val="600"/>
              </a:spcAft>
              <a:buSzPct val="100000"/>
              <a:buChar char="•"/>
            </a:pPr>
            <a:r>
              <a:rPr lang="en-US" sz="1300" dirty="0">
                <a:solidFill>
                  <a:srgbClr val="13262A"/>
                </a:solidFill>
                <a:latin typeface="Calibri" pitchFamily="34" charset="0"/>
                <a:ea typeface="Calibri" pitchFamily="34" charset="-122"/>
                <a:cs typeface="Calibri" pitchFamily="34" charset="-120"/>
              </a:rPr>
              <a:t>32.050 dòng trùng timestamp với dòng khác; không có dòng nào đúng bằng t1 hoặc t2.</a:t>
            </a:r>
            <a:endParaRPr lang="en-US" sz="1300" dirty="0"/>
          </a:p>
        </p:txBody>
      </p:sp>
      <p:sp>
        <p:nvSpPr>
          <p:cNvPr id="8" name="Text 4"/>
          <p:cNvSpPr txBox="1"/>
          <p:nvPr/>
        </p:nvSpPr>
        <p:spPr>
          <a:xfrm>
            <a:off x="548640" y="5303520"/>
            <a:ext cx="6858000" cy="457200"/>
          </a:xfrm>
          <a:prstGeom prst="rect">
            <a:avLst/>
          </a:prstGeom>
          <a:noFill/>
          <a:ln/>
        </p:spPr>
        <p:txBody>
          <a:bodyPr wrap="square" lIns="0" tIns="0" rIns="0" bIns="0" rtlCol="0" anchor="ctr"/>
          <a:lstStyle/>
          <a:p>
            <a:pPr indent="0" marL="0">
              <a:buNone/>
            </a:pPr>
            <a:r>
              <a:rPr lang="en-US" sz="1200" i="1" dirty="0">
                <a:solidFill>
                  <a:srgbClr val="2E7D7A"/>
                </a:solidFill>
                <a:latin typeface="Calibri" pitchFamily="34" charset="0"/>
                <a:ea typeface="Calibri" pitchFamily="34" charset="-122"/>
                <a:cs typeface="Calibri" pitchFamily="34" charset="-120"/>
              </a:rPr>
              <a:t>Chi tiết độ trôi và khoảng cách giữa hai tương tác: phần “Hành vi theo thời gian”.</a:t>
            </a:r>
            <a:endParaRPr lang="en-US" sz="1200" dirty="0"/>
          </a:p>
        </p:txBody>
      </p:sp>
      <p:sp>
        <p:nvSpPr>
          <p:cNvPr id="9" name="Text 5"/>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data_story_summary.json (monthly_p4), Baby_Products_protocol_audit.json (timestamp_audit). Số development: development_graph_manifest.json.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Cấu trúc graph huấn luyện</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1417320"/>
            <a:ext cx="2697480" cy="594360"/>
          </a:xfrm>
          <a:prstGeom prst="rect">
            <a:avLst/>
          </a:prstGeom>
          <a:noFill/>
          <a:ln/>
        </p:spPr>
        <p:txBody>
          <a:bodyPr wrap="square" lIns="0" tIns="0" rIns="0" bIns="0" rtlCol="0" anchor="ctr"/>
          <a:lstStyle/>
          <a:p>
            <a:pPr indent="0" marL="0">
              <a:buNone/>
            </a:pPr>
            <a:r>
              <a:rPr lang="en-US" sz="2600" b="1" dirty="0">
                <a:solidFill>
                  <a:srgbClr val="0F4C4F"/>
                </a:solidFill>
                <a:latin typeface="Cambria" pitchFamily="34" charset="0"/>
                <a:ea typeface="Cambria" pitchFamily="34" charset="-122"/>
                <a:cs typeface="Cambria" pitchFamily="34" charset="-120"/>
              </a:rPr>
              <a:t>2.480.433</a:t>
            </a:r>
            <a:endParaRPr lang="en-US" sz="2600" dirty="0"/>
          </a:p>
        </p:txBody>
      </p:sp>
      <p:sp>
        <p:nvSpPr>
          <p:cNvPr id="6" name="Text 4"/>
          <p:cNvSpPr txBox="1"/>
          <p:nvPr/>
        </p:nvSpPr>
        <p:spPr>
          <a:xfrm>
            <a:off x="548640" y="2011680"/>
            <a:ext cx="2697480" cy="640080"/>
          </a:xfrm>
          <a:prstGeom prst="rect">
            <a:avLst/>
          </a:prstGeom>
          <a:noFill/>
          <a:ln/>
        </p:spPr>
        <p:txBody>
          <a:bodyPr wrap="square" lIns="0" tIns="0" rIns="0" bIns="0" rtlCol="0" anchor="t"/>
          <a:lstStyle/>
          <a:p>
            <a:pPr indent="0" marL="0">
              <a:buNone/>
            </a:pPr>
            <a:r>
              <a:rPr lang="en-US" sz="1200" dirty="0">
                <a:solidFill>
                  <a:srgbClr val="5E6B6E"/>
                </a:solidFill>
                <a:latin typeface="Calibri" pitchFamily="34" charset="0"/>
                <a:ea typeface="Calibri" pitchFamily="34" charset="-122"/>
                <a:cs typeface="Calibri" pitchFamily="34" charset="-120"/>
              </a:rPr>
              <a:t>node (2.318.308 user + 162.125 sản phẩm)</a:t>
            </a:r>
            <a:endParaRPr lang="en-US" sz="1200" dirty="0"/>
          </a:p>
        </p:txBody>
      </p:sp>
      <p:sp>
        <p:nvSpPr>
          <p:cNvPr id="7" name="Text 5"/>
          <p:cNvSpPr txBox="1"/>
          <p:nvPr/>
        </p:nvSpPr>
        <p:spPr>
          <a:xfrm>
            <a:off x="3383280" y="1417320"/>
            <a:ext cx="2697480" cy="594360"/>
          </a:xfrm>
          <a:prstGeom prst="rect">
            <a:avLst/>
          </a:prstGeom>
          <a:noFill/>
          <a:ln/>
        </p:spPr>
        <p:txBody>
          <a:bodyPr wrap="square" lIns="0" tIns="0" rIns="0" bIns="0" rtlCol="0" anchor="ctr"/>
          <a:lstStyle/>
          <a:p>
            <a:pPr indent="0" marL="0">
              <a:buNone/>
            </a:pPr>
            <a:r>
              <a:rPr lang="en-US" sz="2600" b="1" dirty="0">
                <a:solidFill>
                  <a:srgbClr val="0F4C4F"/>
                </a:solidFill>
                <a:latin typeface="Cambria" pitchFamily="34" charset="0"/>
                <a:ea typeface="Cambria" pitchFamily="34" charset="-122"/>
                <a:cs typeface="Cambria" pitchFamily="34" charset="-120"/>
              </a:rPr>
              <a:t>3.868.654</a:t>
            </a:r>
            <a:endParaRPr lang="en-US" sz="2600" dirty="0"/>
          </a:p>
        </p:txBody>
      </p:sp>
      <p:sp>
        <p:nvSpPr>
          <p:cNvPr id="8" name="Text 6"/>
          <p:cNvSpPr txBox="1"/>
          <p:nvPr/>
        </p:nvSpPr>
        <p:spPr>
          <a:xfrm>
            <a:off x="3383280" y="2011680"/>
            <a:ext cx="2697480" cy="640080"/>
          </a:xfrm>
          <a:prstGeom prst="rect">
            <a:avLst/>
          </a:prstGeom>
          <a:noFill/>
          <a:ln/>
        </p:spPr>
        <p:txBody>
          <a:bodyPr wrap="square" lIns="0" tIns="0" rIns="0" bIns="0" rtlCol="0" anchor="t"/>
          <a:lstStyle/>
          <a:p>
            <a:pPr indent="0" marL="0">
              <a:buNone/>
            </a:pPr>
            <a:r>
              <a:rPr lang="en-US" sz="1200" dirty="0">
                <a:solidFill>
                  <a:srgbClr val="5E6B6E"/>
                </a:solidFill>
                <a:latin typeface="Calibri" pitchFamily="34" charset="0"/>
                <a:ea typeface="Calibri" pitchFamily="34" charset="-122"/>
                <a:cs typeface="Calibri" pitchFamily="34" charset="-120"/>
              </a:rPr>
              <a:t>cạnh; mật độ 1,03 × 10⁻⁵</a:t>
            </a:r>
            <a:endParaRPr lang="en-US" sz="1200" dirty="0"/>
          </a:p>
        </p:txBody>
      </p:sp>
      <p:sp>
        <p:nvSpPr>
          <p:cNvPr id="9" name="Text 7"/>
          <p:cNvSpPr txBox="1"/>
          <p:nvPr/>
        </p:nvSpPr>
        <p:spPr>
          <a:xfrm>
            <a:off x="548640" y="2743200"/>
            <a:ext cx="2697480" cy="594360"/>
          </a:xfrm>
          <a:prstGeom prst="rect">
            <a:avLst/>
          </a:prstGeom>
          <a:noFill/>
          <a:ln/>
        </p:spPr>
        <p:txBody>
          <a:bodyPr wrap="square" lIns="0" tIns="0" rIns="0" bIns="0" rtlCol="0" anchor="ctr"/>
          <a:lstStyle/>
          <a:p>
            <a:pPr indent="0" marL="0">
              <a:buNone/>
            </a:pPr>
            <a:r>
              <a:rPr lang="en-US" sz="2600" b="1" dirty="0">
                <a:solidFill>
                  <a:srgbClr val="0F4C4F"/>
                </a:solidFill>
                <a:latin typeface="Cambria" pitchFamily="34" charset="0"/>
                <a:ea typeface="Cambria" pitchFamily="34" charset="-122"/>
                <a:cs typeface="Cambria" pitchFamily="34" charset="-120"/>
              </a:rPr>
              <a:t>96,5%</a:t>
            </a:r>
            <a:endParaRPr lang="en-US" sz="2600" dirty="0"/>
          </a:p>
        </p:txBody>
      </p:sp>
      <p:sp>
        <p:nvSpPr>
          <p:cNvPr id="10" name="Text 8"/>
          <p:cNvSpPr txBox="1"/>
          <p:nvPr/>
        </p:nvSpPr>
        <p:spPr>
          <a:xfrm>
            <a:off x="548640" y="3337560"/>
            <a:ext cx="2697480" cy="640080"/>
          </a:xfrm>
          <a:prstGeom prst="rect">
            <a:avLst/>
          </a:prstGeom>
          <a:noFill/>
          <a:ln/>
        </p:spPr>
        <p:txBody>
          <a:bodyPr wrap="square" lIns="0" tIns="0" rIns="0" bIns="0" rtlCol="0" anchor="t"/>
          <a:lstStyle/>
          <a:p>
            <a:pPr indent="0" marL="0">
              <a:buNone/>
            </a:pPr>
            <a:r>
              <a:rPr lang="en-US" sz="1200" dirty="0">
                <a:solidFill>
                  <a:srgbClr val="5E6B6E"/>
                </a:solidFill>
                <a:latin typeface="Calibri" pitchFamily="34" charset="0"/>
                <a:ea typeface="Calibri" pitchFamily="34" charset="-122"/>
                <a:cs typeface="Calibri" pitchFamily="34" charset="-120"/>
              </a:rPr>
              <a:t>node nằm trong thành phần liên thông lớn nhất; 34.288 thành phần</a:t>
            </a:r>
            <a:endParaRPr lang="en-US" sz="1200" dirty="0"/>
          </a:p>
        </p:txBody>
      </p:sp>
      <p:sp>
        <p:nvSpPr>
          <p:cNvPr id="11" name="Text 9"/>
          <p:cNvSpPr txBox="1"/>
          <p:nvPr/>
        </p:nvSpPr>
        <p:spPr>
          <a:xfrm>
            <a:off x="3383280" y="2743200"/>
            <a:ext cx="2697480" cy="594360"/>
          </a:xfrm>
          <a:prstGeom prst="rect">
            <a:avLst/>
          </a:prstGeom>
          <a:noFill/>
          <a:ln/>
        </p:spPr>
        <p:txBody>
          <a:bodyPr wrap="square" lIns="0" tIns="0" rIns="0" bIns="0" rtlCol="0" anchor="ctr"/>
          <a:lstStyle/>
          <a:p>
            <a:pPr indent="0" marL="0">
              <a:buNone/>
            </a:pPr>
            <a:r>
              <a:rPr lang="en-US" sz="2600" b="1" dirty="0">
                <a:solidFill>
                  <a:srgbClr val="0F4C4F"/>
                </a:solidFill>
                <a:latin typeface="Cambria" pitchFamily="34" charset="0"/>
                <a:ea typeface="Cambria" pitchFamily="34" charset="-122"/>
                <a:cs typeface="Cambria" pitchFamily="34" charset="-120"/>
              </a:rPr>
              <a:t>≈ 1.009</a:t>
            </a:r>
            <a:endParaRPr lang="en-US" sz="2600" dirty="0"/>
          </a:p>
        </p:txBody>
      </p:sp>
      <p:sp>
        <p:nvSpPr>
          <p:cNvPr id="12" name="Text 10"/>
          <p:cNvSpPr txBox="1"/>
          <p:nvPr/>
        </p:nvSpPr>
        <p:spPr>
          <a:xfrm>
            <a:off x="3383280" y="3337560"/>
            <a:ext cx="2697480" cy="640080"/>
          </a:xfrm>
          <a:prstGeom prst="rect">
            <a:avLst/>
          </a:prstGeom>
          <a:noFill/>
          <a:ln/>
        </p:spPr>
        <p:txBody>
          <a:bodyPr wrap="square" lIns="0" tIns="0" rIns="0" bIns="0" rtlCol="0" anchor="t"/>
          <a:lstStyle/>
          <a:p>
            <a:pPr indent="0" marL="0">
              <a:buNone/>
            </a:pPr>
            <a:r>
              <a:rPr lang="en-US" sz="1200" dirty="0">
                <a:solidFill>
                  <a:srgbClr val="5E6B6E"/>
                </a:solidFill>
                <a:latin typeface="Calibri" pitchFamily="34" charset="0"/>
                <a:ea typeface="Calibri" pitchFamily="34" charset="-122"/>
                <a:cs typeface="Calibri" pitchFamily="34" charset="-120"/>
              </a:rPr>
              <a:t>bậc kỳ vọng của sản phẩm khi đi theo một cạnh (Σd²/Σd), so với trung bình 23,9</a:t>
            </a:r>
            <a:endParaRPr lang="en-US" sz="1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5486400" cy="914400"/>
        </p:xfrm>
        <a:graphic>
          <a:graphicData uri="http://schemas.openxmlformats.org/drawingml/2006/table">
            <a:tbl>
              <a:tblPr/>
              <a:tblGrid>
                <a:gridCol w="1463040"/>
                <a:gridCol w="1371600"/>
                <a:gridCol w="1325880"/>
                <a:gridCol w="132588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Nhóm sản phẩm</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Quy tắc bậc</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 sản phẩm</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 cạnh</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Head</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 397</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1,00%</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44,16%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Body</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13–396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18,92%</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45,45%</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Tail</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 12</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80,07%</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10,39%</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
        <p:nvSpPr>
          <p:cNvPr id="14" name="Shape 11"/>
          <p:cNvSpPr/>
          <p:nvPr/>
        </p:nvSpPr>
        <p:spPr>
          <a:xfrm>
            <a:off x="6400800" y="1417320"/>
            <a:ext cx="5212080" cy="2331720"/>
          </a:xfrm>
          <a:prstGeom prst="roundRect">
            <a:avLst>
              <a:gd name="adj" fmla="val 3137"/>
            </a:avLst>
          </a:prstGeom>
          <a:solidFill>
            <a:srgbClr val="E6F0EF"/>
          </a:solidFill>
          <a:ln w="12700">
            <a:solidFill>
              <a:srgbClr val="E6F0EF"/>
            </a:solidFill>
            <a:prstDash val="solid"/>
          </a:ln>
        </p:spPr>
      </p:sp>
      <p:sp>
        <p:nvSpPr>
          <p:cNvPr id="15" name="Text 12"/>
          <p:cNvSpPr txBox="1"/>
          <p:nvPr/>
        </p:nvSpPr>
        <p:spPr>
          <a:xfrm>
            <a:off x="6583680" y="1536192"/>
            <a:ext cx="4846320" cy="420624"/>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Đọc cấu trúc này thế nào</a:t>
            </a:r>
            <a:endParaRPr lang="en-US" sz="1500" dirty="0"/>
          </a:p>
        </p:txBody>
      </p:sp>
      <p:sp>
        <p:nvSpPr>
          <p:cNvPr id="16" name="Text 13"/>
          <p:cNvSpPr txBox="1"/>
          <p:nvPr/>
        </p:nvSpPr>
        <p:spPr>
          <a:xfrm>
            <a:off x="6583680" y="2029968"/>
            <a:ext cx="4846320" cy="1645920"/>
          </a:xfrm>
          <a:prstGeom prst="rect">
            <a:avLst/>
          </a:prstGeom>
          <a:noFill/>
          <a:ln/>
        </p:spPr>
        <p:txBody>
          <a:bodyPr wrap="square" lIns="0" tIns="0" rIns="0" bIns="0" rtlCol="0" anchor="t"/>
          <a:lstStyle/>
          <a:p>
            <a:pPr indent="0" marL="0">
              <a:spcAft>
                <a:spcPts val="300"/>
              </a:spcAft>
              <a:buNone/>
            </a:pPr>
            <a:r>
              <a:rPr lang="en-US" sz="1350" dirty="0">
                <a:solidFill>
                  <a:srgbClr val="13262A"/>
                </a:solidFill>
                <a:latin typeface="Calibri" pitchFamily="34" charset="0"/>
                <a:ea typeface="Calibri" pitchFamily="34" charset="-122"/>
                <a:cs typeface="Calibri" pitchFamily="34" charset="-120"/>
              </a:rPr>
              <a:t>96,5% node thuộc một thành phần liên thông; đo không lấy mẫu, lan truyền 3 bước từ batch 1.024 triplet chạm 93% node. Item head có ít nhất 397 user; 80% sản phẩm tail chỉ giữ 10% cạnh.</a:t>
            </a:r>
            <a:endParaRPr lang="en-US" sz="1350" dirty="0"/>
          </a:p>
        </p:txBody>
      </p:sp>
      <p:sp>
        <p:nvSpPr>
          <p:cNvPr id="17" name="Shape 14"/>
          <p:cNvSpPr/>
          <p:nvPr/>
        </p:nvSpPr>
        <p:spPr>
          <a:xfrm>
            <a:off x="6400800" y="3886200"/>
            <a:ext cx="5212080" cy="2331720"/>
          </a:xfrm>
          <a:prstGeom prst="roundRect">
            <a:avLst>
              <a:gd name="adj" fmla="val 3137"/>
            </a:avLst>
          </a:prstGeom>
          <a:solidFill>
            <a:srgbClr val="FCF1DF"/>
          </a:solidFill>
          <a:ln w="12700">
            <a:solidFill>
              <a:srgbClr val="FCF1DF"/>
            </a:solidFill>
            <a:prstDash val="solid"/>
          </a:ln>
        </p:spPr>
      </p:sp>
      <p:sp>
        <p:nvSpPr>
          <p:cNvPr id="18" name="Text 15"/>
          <p:cNvSpPr txBox="1"/>
          <p:nvPr/>
        </p:nvSpPr>
        <p:spPr>
          <a:xfrm>
            <a:off x="6583680" y="4005072"/>
            <a:ext cx="4846320" cy="420624"/>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Đo thêm (notebook 11)</a:t>
            </a:r>
            <a:endParaRPr lang="en-US" sz="1500" dirty="0"/>
          </a:p>
        </p:txBody>
      </p:sp>
      <p:sp>
        <p:nvSpPr>
          <p:cNvPr id="19" name="Text 16"/>
          <p:cNvSpPr txBox="1"/>
          <p:nvPr/>
        </p:nvSpPr>
        <p:spPr>
          <a:xfrm>
            <a:off x="6583680" y="4498848"/>
            <a:ext cx="4846320" cy="164592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4,89 triệu cặp sản phẩm đồng mua. 20,7% sản phẩm (25,8% tail) không có sản phẩm đồng mua nào — chỉ được user một-tương-tác chạm tới. Một user ngẫu nhiên chạm trung vị 524 user sau 2 bước và 974 sản phẩm sau 3 bước.</a:t>
            </a:r>
            <a:endParaRPr lang="en-US" sz="1300" dirty="0"/>
          </a:p>
        </p:txBody>
      </p:sp>
      <p:sp>
        <p:nvSpPr>
          <p:cNvPr id="20" name="Text 17"/>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data_story_summary.json (training_graph), configs/cohorts_v1.json (khóa trước khi có kết quả model).</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Đường đi dữ liệu và chia theo thời gian</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19</a:t>
            </a:r>
            <a:endParaRPr lang="en-US" sz="1000" dirty="0"/>
          </a:p>
        </p:txBody>
      </p:sp>
      <p:sp>
        <p:nvSpPr>
          <p:cNvPr id="5" name="Shape 3"/>
          <p:cNvSpPr/>
          <p:nvPr/>
        </p:nvSpPr>
        <p:spPr>
          <a:xfrm>
            <a:off x="548640" y="1508760"/>
            <a:ext cx="1645920" cy="502920"/>
          </a:xfrm>
          <a:prstGeom prst="roundRect">
            <a:avLst>
              <a:gd name="adj" fmla="val 10909"/>
            </a:avLst>
          </a:prstGeom>
          <a:solidFill>
            <a:srgbClr val="0F4C4F"/>
          </a:solidFill>
          <a:ln w="12700">
            <a:solidFill>
              <a:srgbClr val="0F4C4F"/>
            </a:solidFill>
            <a:prstDash val="solid"/>
          </a:ln>
        </p:spPr>
      </p:sp>
      <p:sp>
        <p:nvSpPr>
          <p:cNvPr id="6" name="Text 4"/>
          <p:cNvSpPr txBox="1"/>
          <p:nvPr/>
        </p:nvSpPr>
        <p:spPr>
          <a:xfrm>
            <a:off x="621792" y="1508760"/>
            <a:ext cx="149961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Raw CSV</a:t>
            </a:r>
            <a:endParaRPr lang="en-US" sz="1400" dirty="0"/>
          </a:p>
        </p:txBody>
      </p:sp>
      <p:sp>
        <p:nvSpPr>
          <p:cNvPr id="7" name="Text 5"/>
          <p:cNvSpPr txBox="1"/>
          <p:nvPr/>
        </p:nvSpPr>
        <p:spPr>
          <a:xfrm>
            <a:off x="548640" y="2057400"/>
            <a:ext cx="1645920" cy="640080"/>
          </a:xfrm>
          <a:prstGeom prst="rect">
            <a:avLst/>
          </a:prstGeom>
          <a:noFill/>
          <a:ln/>
        </p:spPr>
        <p:txBody>
          <a:bodyPr wrap="square" lIns="0" tIns="0" rIns="0" bIns="0" rtlCol="0" anchor="t"/>
          <a:lstStyle/>
          <a:p>
            <a:pPr algn="ctr" indent="0" marL="0">
              <a:buNone/>
            </a:pPr>
            <a:r>
              <a:rPr lang="en-US" sz="1200" dirty="0">
                <a:solidFill>
                  <a:srgbClr val="5E6B6E"/>
                </a:solidFill>
                <a:latin typeface="Calibri" pitchFamily="34" charset="0"/>
                <a:ea typeface="Calibri" pitchFamily="34" charset="-122"/>
                <a:cs typeface="Calibri" pitchFamily="34" charset="-120"/>
              </a:rPr>
              <a:t>5,95 tr dòng</a:t>
            </a:r>
            <a:endParaRPr lang="en-US" sz="1200" dirty="0"/>
          </a:p>
          <a:p>
            <a:pPr algn="ctr" indent="0" marL="0">
              <a:buNone/>
            </a:pPr>
            <a:r>
              <a:rPr lang="en-US" sz="1200" dirty="0">
                <a:solidFill>
                  <a:srgbClr val="5E6B6E"/>
                </a:solidFill>
                <a:latin typeface="Calibri" pitchFamily="34" charset="0"/>
                <a:ea typeface="Calibri" pitchFamily="34" charset="-122"/>
                <a:cs typeface="Calibri" pitchFamily="34" charset="-120"/>
              </a:rPr>
              <a:t>kiểm SHA-256</a:t>
            </a:r>
            <a:endParaRPr lang="en-US" sz="1200" dirty="0"/>
          </a:p>
        </p:txBody>
      </p:sp>
      <p:sp>
        <p:nvSpPr>
          <p:cNvPr id="8" name="Shape 6"/>
          <p:cNvSpPr/>
          <p:nvPr/>
        </p:nvSpPr>
        <p:spPr>
          <a:xfrm>
            <a:off x="2194560" y="1760220"/>
            <a:ext cx="246888" cy="914"/>
          </a:xfrm>
          <a:prstGeom prst="line">
            <a:avLst/>
          </a:prstGeom>
          <a:noFill/>
          <a:ln w="22225">
            <a:solidFill>
              <a:srgbClr val="5E6B6E"/>
            </a:solidFill>
            <a:prstDash val="solid"/>
            <a:tailEnd type="triangle"/>
          </a:ln>
        </p:spPr>
      </p:sp>
      <p:sp>
        <p:nvSpPr>
          <p:cNvPr id="9" name="Shape 7"/>
          <p:cNvSpPr/>
          <p:nvPr/>
        </p:nvSpPr>
        <p:spPr>
          <a:xfrm>
            <a:off x="2441448" y="1508760"/>
            <a:ext cx="1645920" cy="502920"/>
          </a:xfrm>
          <a:prstGeom prst="roundRect">
            <a:avLst>
              <a:gd name="adj" fmla="val 10909"/>
            </a:avLst>
          </a:prstGeom>
          <a:solidFill>
            <a:srgbClr val="0F4C4F"/>
          </a:solidFill>
          <a:ln w="12700">
            <a:solidFill>
              <a:srgbClr val="0F4C4F"/>
            </a:solidFill>
            <a:prstDash val="solid"/>
          </a:ln>
        </p:spPr>
      </p:sp>
      <p:sp>
        <p:nvSpPr>
          <p:cNvPr id="10" name="Text 8"/>
          <p:cNvSpPr txBox="1"/>
          <p:nvPr/>
        </p:nvSpPr>
        <p:spPr>
          <a:xfrm>
            <a:off x="2514600" y="1508760"/>
            <a:ext cx="149961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Audit</a:t>
            </a:r>
            <a:endParaRPr lang="en-US" sz="1400" dirty="0"/>
          </a:p>
        </p:txBody>
      </p:sp>
      <p:sp>
        <p:nvSpPr>
          <p:cNvPr id="11" name="Text 9"/>
          <p:cNvSpPr txBox="1"/>
          <p:nvPr/>
        </p:nvSpPr>
        <p:spPr>
          <a:xfrm>
            <a:off x="2441448" y="2057400"/>
            <a:ext cx="1645920" cy="640080"/>
          </a:xfrm>
          <a:prstGeom prst="rect">
            <a:avLst/>
          </a:prstGeom>
          <a:noFill/>
          <a:ln/>
        </p:spPr>
        <p:txBody>
          <a:bodyPr wrap="square" lIns="0" tIns="0" rIns="0" bIns="0" rtlCol="0" anchor="t"/>
          <a:lstStyle/>
          <a:p>
            <a:pPr algn="ctr" indent="0" marL="0">
              <a:buNone/>
            </a:pPr>
            <a:r>
              <a:rPr lang="en-US" sz="1200" dirty="0">
                <a:solidFill>
                  <a:srgbClr val="5E6B6E"/>
                </a:solidFill>
                <a:latin typeface="Calibri" pitchFamily="34" charset="0"/>
                <a:ea typeface="Calibri" pitchFamily="34" charset="-122"/>
                <a:cs typeface="Calibri" pitchFamily="34" charset="-120"/>
              </a:rPr>
              <a:t>schema, trùng,</a:t>
            </a:r>
            <a:endParaRPr lang="en-US" sz="1200" dirty="0"/>
          </a:p>
          <a:p>
            <a:pPr algn="ctr" indent="0" marL="0">
              <a:buNone/>
            </a:pPr>
            <a:r>
              <a:rPr lang="en-US" sz="1200" dirty="0">
                <a:solidFill>
                  <a:srgbClr val="5E6B6E"/>
                </a:solidFill>
                <a:latin typeface="Calibri" pitchFamily="34" charset="0"/>
                <a:ea typeface="Calibri" pitchFamily="34" charset="-122"/>
                <a:cs typeface="Calibri" pitchFamily="34" charset="-120"/>
              </a:rPr>
              <a:t>nhiễu, rating</a:t>
            </a:r>
            <a:endParaRPr lang="en-US" sz="1200" dirty="0"/>
          </a:p>
        </p:txBody>
      </p:sp>
      <p:sp>
        <p:nvSpPr>
          <p:cNvPr id="12" name="Shape 10"/>
          <p:cNvSpPr/>
          <p:nvPr/>
        </p:nvSpPr>
        <p:spPr>
          <a:xfrm>
            <a:off x="4087368" y="1760220"/>
            <a:ext cx="246888" cy="914"/>
          </a:xfrm>
          <a:prstGeom prst="line">
            <a:avLst/>
          </a:prstGeom>
          <a:noFill/>
          <a:ln w="22225">
            <a:solidFill>
              <a:srgbClr val="5E6B6E"/>
            </a:solidFill>
            <a:prstDash val="solid"/>
            <a:tailEnd type="triangle"/>
          </a:ln>
        </p:spPr>
      </p:sp>
      <p:sp>
        <p:nvSpPr>
          <p:cNvPr id="13" name="Shape 11"/>
          <p:cNvSpPr/>
          <p:nvPr/>
        </p:nvSpPr>
        <p:spPr>
          <a:xfrm>
            <a:off x="4334256" y="1508760"/>
            <a:ext cx="1645920" cy="502920"/>
          </a:xfrm>
          <a:prstGeom prst="roundRect">
            <a:avLst>
              <a:gd name="adj" fmla="val 10909"/>
            </a:avLst>
          </a:prstGeom>
          <a:solidFill>
            <a:srgbClr val="0F4C4F"/>
          </a:solidFill>
          <a:ln w="12700">
            <a:solidFill>
              <a:srgbClr val="0F4C4F"/>
            </a:solidFill>
            <a:prstDash val="solid"/>
          </a:ln>
        </p:spPr>
      </p:sp>
      <p:sp>
        <p:nvSpPr>
          <p:cNvPr id="14" name="Text 12"/>
          <p:cNvSpPr txBox="1"/>
          <p:nvPr/>
        </p:nvSpPr>
        <p:spPr>
          <a:xfrm>
            <a:off x="4407408" y="1508760"/>
            <a:ext cx="149961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P4</a:t>
            </a:r>
            <a:endParaRPr lang="en-US" sz="1400" dirty="0"/>
          </a:p>
        </p:txBody>
      </p:sp>
      <p:sp>
        <p:nvSpPr>
          <p:cNvPr id="15" name="Text 13"/>
          <p:cNvSpPr txBox="1"/>
          <p:nvPr/>
        </p:nvSpPr>
        <p:spPr>
          <a:xfrm>
            <a:off x="4334256" y="2057400"/>
            <a:ext cx="1645920" cy="640080"/>
          </a:xfrm>
          <a:prstGeom prst="rect">
            <a:avLst/>
          </a:prstGeom>
          <a:noFill/>
          <a:ln/>
        </p:spPr>
        <p:txBody>
          <a:bodyPr wrap="square" lIns="0" tIns="0" rIns="0" bIns="0" rtlCol="0" anchor="t"/>
          <a:lstStyle/>
          <a:p>
            <a:pPr algn="ctr" indent="0" marL="0">
              <a:buNone/>
            </a:pPr>
            <a:r>
              <a:rPr lang="en-US" sz="1200" dirty="0">
                <a:solidFill>
                  <a:srgbClr val="5E6B6E"/>
                </a:solidFill>
                <a:latin typeface="Calibri" pitchFamily="34" charset="0"/>
                <a:ea typeface="Calibri" pitchFamily="34" charset="-122"/>
                <a:cs typeface="Calibri" pitchFamily="34" charset="-120"/>
              </a:rPr>
              <a:t>4–5★ → positive</a:t>
            </a:r>
            <a:endParaRPr lang="en-US" sz="1200" dirty="0"/>
          </a:p>
          <a:p>
            <a:pPr algn="ctr" indent="0" marL="0">
              <a:buNone/>
            </a:pPr>
            <a:r>
              <a:rPr lang="en-US" sz="1200" dirty="0">
                <a:solidFill>
                  <a:srgbClr val="5E6B6E"/>
                </a:solidFill>
                <a:latin typeface="Calibri" pitchFamily="34" charset="0"/>
                <a:ea typeface="Calibri" pitchFamily="34" charset="-122"/>
                <a:cs typeface="Calibri" pitchFamily="34" charset="-120"/>
              </a:rPr>
              <a:t>4,66 tr dòng</a:t>
            </a:r>
            <a:endParaRPr lang="en-US" sz="1200" dirty="0"/>
          </a:p>
        </p:txBody>
      </p:sp>
      <p:sp>
        <p:nvSpPr>
          <p:cNvPr id="16" name="Shape 14"/>
          <p:cNvSpPr/>
          <p:nvPr/>
        </p:nvSpPr>
        <p:spPr>
          <a:xfrm>
            <a:off x="5980176" y="1760220"/>
            <a:ext cx="246888" cy="914"/>
          </a:xfrm>
          <a:prstGeom prst="line">
            <a:avLst/>
          </a:prstGeom>
          <a:noFill/>
          <a:ln w="22225">
            <a:solidFill>
              <a:srgbClr val="5E6B6E"/>
            </a:solidFill>
            <a:prstDash val="solid"/>
            <a:tailEnd type="triangle"/>
          </a:ln>
        </p:spPr>
      </p:sp>
      <p:sp>
        <p:nvSpPr>
          <p:cNvPr id="17" name="Shape 15"/>
          <p:cNvSpPr/>
          <p:nvPr/>
        </p:nvSpPr>
        <p:spPr>
          <a:xfrm>
            <a:off x="6227064" y="1508760"/>
            <a:ext cx="1645920" cy="502920"/>
          </a:xfrm>
          <a:prstGeom prst="roundRect">
            <a:avLst>
              <a:gd name="adj" fmla="val 10909"/>
            </a:avLst>
          </a:prstGeom>
          <a:solidFill>
            <a:srgbClr val="E89B2D"/>
          </a:solidFill>
          <a:ln w="12700">
            <a:solidFill>
              <a:srgbClr val="E89B2D"/>
            </a:solidFill>
            <a:prstDash val="solid"/>
          </a:ln>
        </p:spPr>
      </p:sp>
      <p:sp>
        <p:nvSpPr>
          <p:cNvPr id="18" name="Text 16"/>
          <p:cNvSpPr txBox="1"/>
          <p:nvPr/>
        </p:nvSpPr>
        <p:spPr>
          <a:xfrm>
            <a:off x="6300216" y="1508760"/>
            <a:ext cx="1499616" cy="502920"/>
          </a:xfrm>
          <a:prstGeom prst="rect">
            <a:avLst/>
          </a:prstGeom>
          <a:noFill/>
          <a:ln/>
        </p:spPr>
        <p:txBody>
          <a:bodyPr wrap="square" lIns="0" tIns="0" rIns="0" bIns="0" rtlCol="0" anchor="ctr"/>
          <a:lstStyle/>
          <a:p>
            <a:pPr algn="ctr" indent="0" marL="0">
              <a:buNone/>
            </a:pPr>
            <a:r>
              <a:rPr lang="en-US" sz="1400" b="1" dirty="0">
                <a:solidFill>
                  <a:srgbClr val="13262A"/>
                </a:solidFill>
                <a:latin typeface="Calibri" pitchFamily="34" charset="0"/>
                <a:ea typeface="Calibri" pitchFamily="34" charset="-122"/>
                <a:cs typeface="Calibri" pitchFamily="34" charset="-120"/>
              </a:rPr>
              <a:t>Chia thời gian</a:t>
            </a:r>
            <a:endParaRPr lang="en-US" sz="1400" dirty="0"/>
          </a:p>
        </p:txBody>
      </p:sp>
      <p:sp>
        <p:nvSpPr>
          <p:cNvPr id="19" name="Text 17"/>
          <p:cNvSpPr txBox="1"/>
          <p:nvPr/>
        </p:nvSpPr>
        <p:spPr>
          <a:xfrm>
            <a:off x="6227064" y="2057400"/>
            <a:ext cx="1645920" cy="640080"/>
          </a:xfrm>
          <a:prstGeom prst="rect">
            <a:avLst/>
          </a:prstGeom>
          <a:noFill/>
          <a:ln/>
        </p:spPr>
        <p:txBody>
          <a:bodyPr wrap="square" lIns="0" tIns="0" rIns="0" bIns="0" rtlCol="0" anchor="t"/>
          <a:lstStyle/>
          <a:p>
            <a:pPr algn="ctr" indent="0" marL="0">
              <a:buNone/>
            </a:pPr>
            <a:r>
              <a:rPr lang="en-US" sz="1200" dirty="0">
                <a:solidFill>
                  <a:srgbClr val="5E6B6E"/>
                </a:solidFill>
                <a:latin typeface="Calibri" pitchFamily="34" charset="0"/>
                <a:ea typeface="Calibri" pitchFamily="34" charset="-122"/>
                <a:cs typeface="Calibri" pitchFamily="34" charset="-120"/>
              </a:rPr>
              <a:t>t0 &lt; t1 &lt; t2</a:t>
            </a:r>
            <a:endParaRPr lang="en-US" sz="1200" dirty="0"/>
          </a:p>
        </p:txBody>
      </p:sp>
      <p:sp>
        <p:nvSpPr>
          <p:cNvPr id="20" name="Shape 18"/>
          <p:cNvSpPr/>
          <p:nvPr/>
        </p:nvSpPr>
        <p:spPr>
          <a:xfrm>
            <a:off x="7872984" y="1760220"/>
            <a:ext cx="246888" cy="914"/>
          </a:xfrm>
          <a:prstGeom prst="line">
            <a:avLst/>
          </a:prstGeom>
          <a:noFill/>
          <a:ln w="22225">
            <a:solidFill>
              <a:srgbClr val="5E6B6E"/>
            </a:solidFill>
            <a:prstDash val="solid"/>
            <a:tailEnd type="triangle"/>
          </a:ln>
        </p:spPr>
      </p:sp>
      <p:sp>
        <p:nvSpPr>
          <p:cNvPr id="21" name="Shape 19"/>
          <p:cNvSpPr/>
          <p:nvPr/>
        </p:nvSpPr>
        <p:spPr>
          <a:xfrm>
            <a:off x="8119872" y="1508760"/>
            <a:ext cx="1645920" cy="502920"/>
          </a:xfrm>
          <a:prstGeom prst="roundRect">
            <a:avLst>
              <a:gd name="adj" fmla="val 10909"/>
            </a:avLst>
          </a:prstGeom>
          <a:solidFill>
            <a:srgbClr val="0F4C4F"/>
          </a:solidFill>
          <a:ln w="12700">
            <a:solidFill>
              <a:srgbClr val="0F4C4F"/>
            </a:solidFill>
            <a:prstDash val="solid"/>
          </a:ln>
        </p:spPr>
      </p:sp>
      <p:sp>
        <p:nvSpPr>
          <p:cNvPr id="22" name="Text 20"/>
          <p:cNvSpPr txBox="1"/>
          <p:nvPr/>
        </p:nvSpPr>
        <p:spPr>
          <a:xfrm>
            <a:off x="8193024" y="1508760"/>
            <a:ext cx="149961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Graph train</a:t>
            </a:r>
            <a:endParaRPr lang="en-US" sz="1400" dirty="0"/>
          </a:p>
        </p:txBody>
      </p:sp>
      <p:sp>
        <p:nvSpPr>
          <p:cNvPr id="23" name="Text 21"/>
          <p:cNvSpPr txBox="1"/>
          <p:nvPr/>
        </p:nvSpPr>
        <p:spPr>
          <a:xfrm>
            <a:off x="8119872" y="2057400"/>
            <a:ext cx="1645920" cy="640080"/>
          </a:xfrm>
          <a:prstGeom prst="rect">
            <a:avLst/>
          </a:prstGeom>
          <a:noFill/>
          <a:ln/>
        </p:spPr>
        <p:txBody>
          <a:bodyPr wrap="square" lIns="0" tIns="0" rIns="0" bIns="0" rtlCol="0" anchor="t"/>
          <a:lstStyle/>
          <a:p>
            <a:pPr algn="ctr" indent="0" marL="0">
              <a:buNone/>
            </a:pPr>
            <a:r>
              <a:rPr lang="en-US" sz="1200" dirty="0">
                <a:solidFill>
                  <a:srgbClr val="5E6B6E"/>
                </a:solidFill>
                <a:latin typeface="Calibri" pitchFamily="34" charset="0"/>
                <a:ea typeface="Calibri" pitchFamily="34" charset="-122"/>
                <a:cs typeface="Calibri" pitchFamily="34" charset="-120"/>
              </a:rPr>
              <a:t>chỉ cạnh quá khứ</a:t>
            </a:r>
            <a:endParaRPr lang="en-US" sz="1200" dirty="0"/>
          </a:p>
          <a:p>
            <a:pPr algn="ctr" indent="0" marL="0">
              <a:buNone/>
            </a:pPr>
            <a:r>
              <a:rPr lang="en-US" sz="1200" dirty="0">
                <a:solidFill>
                  <a:srgbClr val="5E6B6E"/>
                </a:solidFill>
                <a:latin typeface="Calibri" pitchFamily="34" charset="0"/>
                <a:ea typeface="Calibri" pitchFamily="34" charset="-122"/>
                <a:cs typeface="Calibri" pitchFamily="34" charset="-120"/>
              </a:rPr>
              <a:t>mapping ID</a:t>
            </a:r>
            <a:endParaRPr lang="en-US" sz="1200" dirty="0"/>
          </a:p>
        </p:txBody>
      </p:sp>
      <p:sp>
        <p:nvSpPr>
          <p:cNvPr id="24" name="Shape 22"/>
          <p:cNvSpPr/>
          <p:nvPr/>
        </p:nvSpPr>
        <p:spPr>
          <a:xfrm>
            <a:off x="9765792" y="1760220"/>
            <a:ext cx="246888" cy="914"/>
          </a:xfrm>
          <a:prstGeom prst="line">
            <a:avLst/>
          </a:prstGeom>
          <a:noFill/>
          <a:ln w="22225">
            <a:solidFill>
              <a:srgbClr val="5E6B6E"/>
            </a:solidFill>
            <a:prstDash val="solid"/>
            <a:tailEnd type="triangle"/>
          </a:ln>
        </p:spPr>
      </p:sp>
      <p:sp>
        <p:nvSpPr>
          <p:cNvPr id="25" name="Shape 23"/>
          <p:cNvSpPr/>
          <p:nvPr/>
        </p:nvSpPr>
        <p:spPr>
          <a:xfrm>
            <a:off x="10012680" y="1508760"/>
            <a:ext cx="1645920" cy="502920"/>
          </a:xfrm>
          <a:prstGeom prst="roundRect">
            <a:avLst>
              <a:gd name="adj" fmla="val 10909"/>
            </a:avLst>
          </a:prstGeom>
          <a:solidFill>
            <a:srgbClr val="0F4C4F"/>
          </a:solidFill>
          <a:ln w="12700">
            <a:solidFill>
              <a:srgbClr val="0F4C4F"/>
            </a:solidFill>
            <a:prstDash val="solid"/>
          </a:ln>
        </p:spPr>
      </p:sp>
      <p:sp>
        <p:nvSpPr>
          <p:cNvPr id="26" name="Text 24"/>
          <p:cNvSpPr txBox="1"/>
          <p:nvPr/>
        </p:nvSpPr>
        <p:spPr>
          <a:xfrm>
            <a:off x="10085832" y="1508760"/>
            <a:ext cx="1499616" cy="502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Train + đánh giá</a:t>
            </a:r>
            <a:endParaRPr lang="en-US" sz="1400" dirty="0"/>
          </a:p>
        </p:txBody>
      </p:sp>
      <p:sp>
        <p:nvSpPr>
          <p:cNvPr id="27" name="Text 25"/>
          <p:cNvSpPr txBox="1"/>
          <p:nvPr/>
        </p:nvSpPr>
        <p:spPr>
          <a:xfrm>
            <a:off x="10012680" y="2057400"/>
            <a:ext cx="1645920" cy="640080"/>
          </a:xfrm>
          <a:prstGeom prst="rect">
            <a:avLst/>
          </a:prstGeom>
          <a:noFill/>
          <a:ln/>
        </p:spPr>
        <p:txBody>
          <a:bodyPr wrap="square" lIns="0" tIns="0" rIns="0" bIns="0" rtlCol="0" anchor="t"/>
          <a:lstStyle/>
          <a:p>
            <a:pPr algn="ctr" indent="0" marL="0">
              <a:buNone/>
            </a:pPr>
            <a:r>
              <a:rPr lang="en-US" sz="1200" dirty="0">
                <a:solidFill>
                  <a:srgbClr val="5E6B6E"/>
                </a:solidFill>
                <a:latin typeface="Calibri" pitchFamily="34" charset="0"/>
                <a:ea typeface="Calibri" pitchFamily="34" charset="-122"/>
                <a:cs typeface="Calibri" pitchFamily="34" charset="-120"/>
              </a:rPr>
              <a:t>sampled train,</a:t>
            </a:r>
            <a:endParaRPr lang="en-US" sz="1200" dirty="0"/>
          </a:p>
          <a:p>
            <a:pPr algn="ctr" indent="0" marL="0">
              <a:buNone/>
            </a:pPr>
            <a:r>
              <a:rPr lang="en-US" sz="1200" dirty="0">
                <a:solidFill>
                  <a:srgbClr val="5E6B6E"/>
                </a:solidFill>
                <a:latin typeface="Calibri" pitchFamily="34" charset="0"/>
                <a:ea typeface="Calibri" pitchFamily="34" charset="-122"/>
                <a:cs typeface="Calibri" pitchFamily="34" charset="-120"/>
              </a:rPr>
              <a:t>full-graph rank</a:t>
            </a:r>
            <a:endParaRPr lang="en-US" sz="1200" dirty="0"/>
          </a:p>
        </p:txBody>
      </p:sp>
      <p:sp>
        <p:nvSpPr>
          <p:cNvPr id="28" name="Shape 26"/>
          <p:cNvSpPr/>
          <p:nvPr/>
        </p:nvSpPr>
        <p:spPr>
          <a:xfrm>
            <a:off x="731520" y="3429000"/>
            <a:ext cx="10698480" cy="0"/>
          </a:xfrm>
          <a:prstGeom prst="line">
            <a:avLst/>
          </a:prstGeom>
          <a:noFill/>
          <a:ln w="25400">
            <a:solidFill>
              <a:srgbClr val="13262A"/>
            </a:solidFill>
            <a:prstDash val="solid"/>
          </a:ln>
        </p:spPr>
      </p:sp>
      <p:sp>
        <p:nvSpPr>
          <p:cNvPr id="29" name="Shape 27"/>
          <p:cNvSpPr/>
          <p:nvPr/>
        </p:nvSpPr>
        <p:spPr>
          <a:xfrm>
            <a:off x="731520" y="3566160"/>
            <a:ext cx="4389120" cy="502920"/>
          </a:xfrm>
          <a:prstGeom prst="rect">
            <a:avLst/>
          </a:prstGeom>
          <a:solidFill>
            <a:srgbClr val="E6F0EF"/>
          </a:solidFill>
          <a:ln w="12700">
            <a:solidFill>
              <a:srgbClr val="FFFFFF"/>
            </a:solidFill>
            <a:prstDash val="solid"/>
          </a:ln>
        </p:spPr>
      </p:sp>
      <p:sp>
        <p:nvSpPr>
          <p:cNvPr id="30" name="Text 28"/>
          <p:cNvSpPr txBox="1"/>
          <p:nvPr/>
        </p:nvSpPr>
        <p:spPr>
          <a:xfrm>
            <a:off x="777240" y="3566160"/>
            <a:ext cx="4297680" cy="502920"/>
          </a:xfrm>
          <a:prstGeom prst="rect">
            <a:avLst/>
          </a:prstGeom>
          <a:noFill/>
          <a:ln/>
        </p:spPr>
        <p:txBody>
          <a:bodyPr wrap="square" lIns="0" tIns="0" rIns="0" bIns="0" rtlCol="0" anchor="ctr"/>
          <a:lstStyle/>
          <a:p>
            <a:pPr algn="ctr" indent="0" marL="0">
              <a:buNone/>
            </a:pPr>
            <a:r>
              <a:rPr lang="en-US" sz="1200" b="1" dirty="0">
                <a:solidFill>
                  <a:srgbClr val="13262A"/>
                </a:solidFill>
                <a:latin typeface="Calibri" pitchFamily="34" charset="0"/>
                <a:ea typeface="Calibri" pitchFamily="34" charset="-122"/>
                <a:cs typeface="Calibri" pitchFamily="34" charset="-120"/>
              </a:rPr>
              <a:t>G_dev_train: phát triển phương pháp</a:t>
            </a:r>
            <a:endParaRPr lang="en-US" sz="1200" dirty="0"/>
          </a:p>
        </p:txBody>
      </p:sp>
      <p:sp>
        <p:nvSpPr>
          <p:cNvPr id="31" name="Shape 29"/>
          <p:cNvSpPr/>
          <p:nvPr/>
        </p:nvSpPr>
        <p:spPr>
          <a:xfrm>
            <a:off x="5120640" y="3566160"/>
            <a:ext cx="2103120" cy="502920"/>
          </a:xfrm>
          <a:prstGeom prst="rect">
            <a:avLst/>
          </a:prstGeom>
          <a:solidFill>
            <a:srgbClr val="2E7D7A"/>
          </a:solidFill>
          <a:ln w="12700">
            <a:solidFill>
              <a:srgbClr val="FFFFFF"/>
            </a:solidFill>
            <a:prstDash val="solid"/>
          </a:ln>
        </p:spPr>
      </p:sp>
      <p:sp>
        <p:nvSpPr>
          <p:cNvPr id="32" name="Text 30"/>
          <p:cNvSpPr txBox="1"/>
          <p:nvPr/>
        </p:nvSpPr>
        <p:spPr>
          <a:xfrm>
            <a:off x="5166360" y="3566160"/>
            <a:ext cx="20116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D_dev: chọn cấu hình</a:t>
            </a:r>
            <a:endParaRPr lang="en-US" sz="1200" dirty="0"/>
          </a:p>
        </p:txBody>
      </p:sp>
      <p:sp>
        <p:nvSpPr>
          <p:cNvPr id="33" name="Shape 31"/>
          <p:cNvSpPr/>
          <p:nvPr/>
        </p:nvSpPr>
        <p:spPr>
          <a:xfrm>
            <a:off x="7223760" y="3566160"/>
            <a:ext cx="2103120" cy="502920"/>
          </a:xfrm>
          <a:prstGeom prst="rect">
            <a:avLst/>
          </a:prstGeom>
          <a:solidFill>
            <a:srgbClr val="E89B2D"/>
          </a:solidFill>
          <a:ln w="12700">
            <a:solidFill>
              <a:srgbClr val="FFFFFF"/>
            </a:solidFill>
            <a:prstDash val="solid"/>
          </a:ln>
        </p:spPr>
      </p:sp>
      <p:sp>
        <p:nvSpPr>
          <p:cNvPr id="34" name="Text 32"/>
          <p:cNvSpPr txBox="1"/>
          <p:nvPr/>
        </p:nvSpPr>
        <p:spPr>
          <a:xfrm>
            <a:off x="7269480" y="3566160"/>
            <a:ext cx="2011680" cy="502920"/>
          </a:xfrm>
          <a:prstGeom prst="rect">
            <a:avLst/>
          </a:prstGeom>
          <a:noFill/>
          <a:ln/>
        </p:spPr>
        <p:txBody>
          <a:bodyPr wrap="square" lIns="0" tIns="0" rIns="0" bIns="0" rtlCol="0" anchor="ctr"/>
          <a:lstStyle/>
          <a:p>
            <a:pPr algn="ctr" indent="0" marL="0">
              <a:buNone/>
            </a:pPr>
            <a:r>
              <a:rPr lang="en-US" sz="1200" b="1" dirty="0">
                <a:solidFill>
                  <a:srgbClr val="13262A"/>
                </a:solidFill>
                <a:latin typeface="Calibri" pitchFamily="34" charset="0"/>
                <a:ea typeface="Calibri" pitchFamily="34" charset="-122"/>
                <a:cs typeface="Calibri" pitchFamily="34" charset="-120"/>
              </a:rPr>
              <a:t>Validation: holdout sau freeze</a:t>
            </a:r>
            <a:endParaRPr lang="en-US" sz="1200" dirty="0"/>
          </a:p>
        </p:txBody>
      </p:sp>
      <p:sp>
        <p:nvSpPr>
          <p:cNvPr id="35" name="Shape 33"/>
          <p:cNvSpPr/>
          <p:nvPr/>
        </p:nvSpPr>
        <p:spPr>
          <a:xfrm>
            <a:off x="9326880" y="3566160"/>
            <a:ext cx="2103120" cy="502920"/>
          </a:xfrm>
          <a:prstGeom prst="rect">
            <a:avLst/>
          </a:prstGeom>
          <a:solidFill>
            <a:srgbClr val="C8553D"/>
          </a:solidFill>
          <a:ln w="12700">
            <a:solidFill>
              <a:srgbClr val="FFFFFF"/>
            </a:solidFill>
            <a:prstDash val="solid"/>
          </a:ln>
        </p:spPr>
      </p:sp>
      <p:sp>
        <p:nvSpPr>
          <p:cNvPr id="36" name="Text 34"/>
          <p:cNvSpPr txBox="1"/>
          <p:nvPr/>
        </p:nvSpPr>
        <p:spPr>
          <a:xfrm>
            <a:off x="9372600" y="3566160"/>
            <a:ext cx="201168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Test: chưa đọc</a:t>
            </a:r>
            <a:endParaRPr lang="en-US" sz="1200" dirty="0"/>
          </a:p>
        </p:txBody>
      </p:sp>
      <p:sp>
        <p:nvSpPr>
          <p:cNvPr id="37" name="Shape 35"/>
          <p:cNvSpPr/>
          <p:nvPr/>
        </p:nvSpPr>
        <p:spPr>
          <a:xfrm>
            <a:off x="5120640" y="3154680"/>
            <a:ext cx="0" cy="411480"/>
          </a:xfrm>
          <a:prstGeom prst="line">
            <a:avLst/>
          </a:prstGeom>
          <a:noFill/>
          <a:ln w="19050">
            <a:solidFill>
              <a:srgbClr val="13262A"/>
            </a:solidFill>
            <a:prstDash val="solid"/>
          </a:ln>
        </p:spPr>
      </p:sp>
      <p:sp>
        <p:nvSpPr>
          <p:cNvPr id="38" name="Text 36"/>
          <p:cNvSpPr txBox="1"/>
          <p:nvPr/>
        </p:nvSpPr>
        <p:spPr>
          <a:xfrm>
            <a:off x="4023360" y="2788920"/>
            <a:ext cx="2194560" cy="320040"/>
          </a:xfrm>
          <a:prstGeom prst="rect">
            <a:avLst/>
          </a:prstGeom>
          <a:noFill/>
          <a:ln/>
        </p:spPr>
        <p:txBody>
          <a:bodyPr wrap="square" lIns="0" tIns="0" rIns="0" bIns="0" rtlCol="0" anchor="ctr"/>
          <a:lstStyle/>
          <a:p>
            <a:pPr algn="ctr" indent="0" marL="0">
              <a:buNone/>
            </a:pPr>
            <a:r>
              <a:rPr lang="en-US" sz="1200" dirty="0">
                <a:solidFill>
                  <a:srgbClr val="13262A"/>
                </a:solidFill>
                <a:latin typeface="Calibri" pitchFamily="34" charset="0"/>
                <a:ea typeface="Calibri" pitchFamily="34" charset="-122"/>
                <a:cs typeface="Calibri" pitchFamily="34" charset="-120"/>
              </a:rPr>
              <a:t>t0 = t1 − (t2 − t1)</a:t>
            </a:r>
            <a:endParaRPr lang="en-US" sz="1200" dirty="0"/>
          </a:p>
        </p:txBody>
      </p:sp>
      <p:sp>
        <p:nvSpPr>
          <p:cNvPr id="39" name="Shape 37"/>
          <p:cNvSpPr/>
          <p:nvPr/>
        </p:nvSpPr>
        <p:spPr>
          <a:xfrm>
            <a:off x="7223760" y="3154680"/>
            <a:ext cx="0" cy="411480"/>
          </a:xfrm>
          <a:prstGeom prst="line">
            <a:avLst/>
          </a:prstGeom>
          <a:noFill/>
          <a:ln w="19050">
            <a:solidFill>
              <a:srgbClr val="13262A"/>
            </a:solidFill>
            <a:prstDash val="solid"/>
          </a:ln>
        </p:spPr>
      </p:sp>
      <p:sp>
        <p:nvSpPr>
          <p:cNvPr id="40" name="Text 38"/>
          <p:cNvSpPr txBox="1"/>
          <p:nvPr/>
        </p:nvSpPr>
        <p:spPr>
          <a:xfrm>
            <a:off x="6126480" y="2788920"/>
            <a:ext cx="2194560" cy="320040"/>
          </a:xfrm>
          <a:prstGeom prst="rect">
            <a:avLst/>
          </a:prstGeom>
          <a:noFill/>
          <a:ln/>
        </p:spPr>
        <p:txBody>
          <a:bodyPr wrap="square" lIns="0" tIns="0" rIns="0" bIns="0" rtlCol="0" anchor="ctr"/>
          <a:lstStyle/>
          <a:p>
            <a:pPr algn="ctr" indent="0" marL="0">
              <a:buNone/>
            </a:pPr>
            <a:r>
              <a:rPr lang="en-US" sz="1200" dirty="0">
                <a:solidFill>
                  <a:srgbClr val="13262A"/>
                </a:solidFill>
                <a:latin typeface="Calibri" pitchFamily="34" charset="0"/>
                <a:ea typeface="Calibri" pitchFamily="34" charset="-122"/>
                <a:cs typeface="Calibri" pitchFamily="34" charset="-120"/>
              </a:rPr>
              <a:t>t1 (2021-08-11)</a:t>
            </a:r>
            <a:endParaRPr lang="en-US" sz="1200" dirty="0"/>
          </a:p>
        </p:txBody>
      </p:sp>
      <p:sp>
        <p:nvSpPr>
          <p:cNvPr id="41" name="Shape 39"/>
          <p:cNvSpPr/>
          <p:nvPr/>
        </p:nvSpPr>
        <p:spPr>
          <a:xfrm>
            <a:off x="9326880" y="3154680"/>
            <a:ext cx="0" cy="411480"/>
          </a:xfrm>
          <a:prstGeom prst="line">
            <a:avLst/>
          </a:prstGeom>
          <a:noFill/>
          <a:ln w="19050">
            <a:solidFill>
              <a:srgbClr val="13262A"/>
            </a:solidFill>
            <a:prstDash val="solid"/>
          </a:ln>
        </p:spPr>
      </p:sp>
      <p:sp>
        <p:nvSpPr>
          <p:cNvPr id="42" name="Text 40"/>
          <p:cNvSpPr txBox="1"/>
          <p:nvPr/>
        </p:nvSpPr>
        <p:spPr>
          <a:xfrm>
            <a:off x="8229600" y="2788920"/>
            <a:ext cx="2194560" cy="320040"/>
          </a:xfrm>
          <a:prstGeom prst="rect">
            <a:avLst/>
          </a:prstGeom>
          <a:noFill/>
          <a:ln/>
        </p:spPr>
        <p:txBody>
          <a:bodyPr wrap="square" lIns="0" tIns="0" rIns="0" bIns="0" rtlCol="0" anchor="ctr"/>
          <a:lstStyle/>
          <a:p>
            <a:pPr algn="ctr" indent="0" marL="0">
              <a:buNone/>
            </a:pPr>
            <a:r>
              <a:rPr lang="en-US" sz="1200" dirty="0">
                <a:solidFill>
                  <a:srgbClr val="13262A"/>
                </a:solidFill>
                <a:latin typeface="Calibri" pitchFamily="34" charset="0"/>
                <a:ea typeface="Calibri" pitchFamily="34" charset="-122"/>
                <a:cs typeface="Calibri" pitchFamily="34" charset="-120"/>
              </a:rPr>
              <a:t>t2 (2022-07-16)</a:t>
            </a:r>
            <a:endParaRPr lang="en-US" sz="1200" dirty="0"/>
          </a:p>
        </p:txBody>
      </p:sp>
      <p:sp>
        <p:nvSpPr>
          <p:cNvPr id="43" name="Text 41"/>
          <p:cNvSpPr txBox="1"/>
          <p:nvPr/>
        </p:nvSpPr>
        <p:spPr>
          <a:xfrm>
            <a:off x="548640" y="4434840"/>
            <a:ext cx="11064240" cy="1737360"/>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3262A"/>
                </a:solidFill>
                <a:latin typeface="Calibri" pitchFamily="34" charset="0"/>
                <a:ea typeface="Calibri" pitchFamily="34" charset="-122"/>
                <a:cs typeface="Calibri" pitchFamily="34" charset="-120"/>
              </a:rPr>
              <a:t>Graph train hiện tại: 3.868.654 cạnh, 2.318.308 user, 162.125 item. Validation 81.871 target warm-start; test 40.587 (chưa đọc).</a:t>
            </a:r>
            <a:endParaRPr lang="en-US" sz="1600" dirty="0"/>
          </a:p>
          <a:p>
            <a:pPr marL="203200" indent="-203200">
              <a:spcAft>
                <a:spcPts val="600"/>
              </a:spcAft>
              <a:buSzPct val="100000"/>
              <a:buChar char="•"/>
            </a:pPr>
            <a:r>
              <a:rPr lang="en-US" sz="1600" dirty="0">
                <a:solidFill>
                  <a:srgbClr val="13262A"/>
                </a:solidFill>
                <a:latin typeface="Calibri" pitchFamily="34" charset="0"/>
                <a:ea typeface="Calibri" pitchFamily="34" charset="-122"/>
                <a:cs typeface="Calibri" pitchFamily="34" charset="-120"/>
              </a:rPr>
              <a:t>Validation đã bị pilot nhìn thấy → mọi điều chỉnh phương pháp chỉ dùng development split mới, cùng độ dài với cửa sổ validation.</a:t>
            </a:r>
            <a:endParaRPr lang="en-US" sz="1600" dirty="0"/>
          </a:p>
          <a:p>
            <a:pPr marL="203200" indent="-203200">
              <a:spcAft>
                <a:spcPts val="600"/>
              </a:spcAft>
              <a:buSzPct val="100000"/>
              <a:buChar char="•"/>
            </a:pPr>
            <a:r>
              <a:rPr lang="en-US" sz="1600" dirty="0">
                <a:solidFill>
                  <a:srgbClr val="13262A"/>
                </a:solidFill>
                <a:latin typeface="Calibri" pitchFamily="34" charset="0"/>
                <a:ea typeface="Calibri" pitchFamily="34" charset="-122"/>
                <a:cs typeface="Calibri" pitchFamily="34" charset="-120"/>
              </a:rPr>
              <a:t>Cạnh tương lai không được vào graph, degree, candidate, feature sampler, normalization hay hàm mục tiêu.</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Rating theo độ phổ biến sản phẩm và theo user</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20</a:t>
            </a:r>
            <a:endParaRPr lang="en-US" sz="1000" dirty="0"/>
          </a:p>
        </p:txBody>
      </p:sp>
      <p:graphicFrame>
        <p:nvGraphicFramePr>
          <p:cNvPr id="5" name="Chart 0" descr=""/>
          <p:cNvGraphicFramePr/>
          <p:nvPr/>
        </p:nvGraphicFramePr>
        <p:xfrm>
          <a:off x="457200" y="1325880"/>
          <a:ext cx="5669280" cy="31089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4526280"/>
            <a:ext cx="5486400" cy="914400"/>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Rating trung bình tăng đều từ 4,07 (sản phẩm 1 rating) lên 4,31 (sản phẩm &gt;1000 rating). Sản phẩm phổ biến vừa nhiều tương tác vừa được đánh giá tốt hơn → positive P4 càng dồn về head.</a:t>
            </a:r>
            <a:endParaRPr lang="en-US" sz="1300" dirty="0"/>
          </a:p>
        </p:txBody>
      </p:sp>
      <p:sp>
        <p:nvSpPr>
          <p:cNvPr id="7" name="Text 4"/>
          <p:cNvSpPr txBox="1"/>
          <p:nvPr/>
        </p:nvSpPr>
        <p:spPr>
          <a:xfrm>
            <a:off x="6400800" y="1417320"/>
            <a:ext cx="2560320" cy="594360"/>
          </a:xfrm>
          <a:prstGeom prst="rect">
            <a:avLst/>
          </a:prstGeom>
          <a:noFill/>
          <a:ln/>
        </p:spPr>
        <p:txBody>
          <a:bodyPr wrap="square" lIns="0" tIns="0" rIns="0" bIns="0" rtlCol="0" anchor="ctr"/>
          <a:lstStyle/>
          <a:p>
            <a:pPr indent="0" marL="0">
              <a:buNone/>
            </a:pPr>
            <a:r>
              <a:rPr lang="en-US" sz="2400" b="1" dirty="0">
                <a:solidFill>
                  <a:srgbClr val="0F4C4F"/>
                </a:solidFill>
                <a:latin typeface="Cambria" pitchFamily="34" charset="0"/>
                <a:ea typeface="Cambria" pitchFamily="34" charset="-122"/>
                <a:cs typeface="Cambria" pitchFamily="34" charset="-120"/>
              </a:rPr>
              <a:t>44,2%</a:t>
            </a:r>
            <a:endParaRPr lang="en-US" sz="2400" dirty="0"/>
          </a:p>
        </p:txBody>
      </p:sp>
      <p:sp>
        <p:nvSpPr>
          <p:cNvPr id="8" name="Text 5"/>
          <p:cNvSpPr txBox="1"/>
          <p:nvPr/>
        </p:nvSpPr>
        <p:spPr>
          <a:xfrm>
            <a:off x="6400800" y="2011680"/>
            <a:ext cx="2468880" cy="640080"/>
          </a:xfrm>
          <a:prstGeom prst="rect">
            <a:avLst/>
          </a:prstGeom>
          <a:noFill/>
          <a:ln/>
        </p:spPr>
        <p:txBody>
          <a:bodyPr wrap="square" lIns="0" tIns="0" rIns="0" bIns="0" rtlCol="0" anchor="t"/>
          <a:lstStyle/>
          <a:p>
            <a:pPr indent="0" marL="0">
              <a:buNone/>
            </a:pPr>
            <a:r>
              <a:rPr lang="en-US" sz="1200" dirty="0">
                <a:solidFill>
                  <a:srgbClr val="5E6B6E"/>
                </a:solidFill>
                <a:latin typeface="Calibri" pitchFamily="34" charset="0"/>
                <a:ea typeface="Calibri" pitchFamily="34" charset="-122"/>
                <a:cs typeface="Calibri" pitchFamily="34" charset="-120"/>
              </a:rPr>
              <a:t>user có ≥2 rating cho mọi sản phẩm cùng một mức</a:t>
            </a:r>
            <a:endParaRPr lang="en-US" sz="1200" dirty="0"/>
          </a:p>
        </p:txBody>
      </p:sp>
      <p:sp>
        <p:nvSpPr>
          <p:cNvPr id="9" name="Text 6"/>
          <p:cNvSpPr txBox="1"/>
          <p:nvPr/>
        </p:nvSpPr>
        <p:spPr>
          <a:xfrm>
            <a:off x="9052560" y="1417320"/>
            <a:ext cx="2560320" cy="594360"/>
          </a:xfrm>
          <a:prstGeom prst="rect">
            <a:avLst/>
          </a:prstGeom>
          <a:noFill/>
          <a:ln/>
        </p:spPr>
        <p:txBody>
          <a:bodyPr wrap="square" lIns="0" tIns="0" rIns="0" bIns="0" rtlCol="0" anchor="ctr"/>
          <a:lstStyle/>
          <a:p>
            <a:pPr indent="0" marL="0">
              <a:buNone/>
            </a:pPr>
            <a:r>
              <a:rPr lang="en-US" sz="2400" b="1" dirty="0">
                <a:solidFill>
                  <a:srgbClr val="0F4C4F"/>
                </a:solidFill>
                <a:latin typeface="Cambria" pitchFamily="34" charset="0"/>
                <a:ea typeface="Cambria" pitchFamily="34" charset="-122"/>
                <a:cs typeface="Cambria" pitchFamily="34" charset="-120"/>
              </a:rPr>
              <a:t>18,1%</a:t>
            </a:r>
            <a:endParaRPr lang="en-US" sz="2400" dirty="0"/>
          </a:p>
        </p:txBody>
      </p:sp>
      <p:sp>
        <p:nvSpPr>
          <p:cNvPr id="10" name="Text 7"/>
          <p:cNvSpPr txBox="1"/>
          <p:nvPr/>
        </p:nvSpPr>
        <p:spPr>
          <a:xfrm>
            <a:off x="9052560" y="2011680"/>
            <a:ext cx="2468880" cy="640080"/>
          </a:xfrm>
          <a:prstGeom prst="rect">
            <a:avLst/>
          </a:prstGeom>
          <a:noFill/>
          <a:ln/>
        </p:spPr>
        <p:txBody>
          <a:bodyPr wrap="square" lIns="0" tIns="0" rIns="0" bIns="0" rtlCol="0" anchor="t"/>
          <a:lstStyle/>
          <a:p>
            <a:pPr indent="0" marL="0">
              <a:buNone/>
            </a:pPr>
            <a:r>
              <a:rPr lang="en-US" sz="1200" dirty="0">
                <a:solidFill>
                  <a:srgbClr val="5E6B6E"/>
                </a:solidFill>
                <a:latin typeface="Calibri" pitchFamily="34" charset="0"/>
                <a:ea typeface="Calibri" pitchFamily="34" charset="-122"/>
                <a:cs typeface="Calibri" pitchFamily="34" charset="-120"/>
              </a:rPr>
              <a:t>user có ≥5 rating chỉ cho 5★</a:t>
            </a:r>
            <a:endParaRPr lang="en-US" sz="1200" dirty="0"/>
          </a:p>
        </p:txBody>
      </p:sp>
      <p:sp>
        <p:nvSpPr>
          <p:cNvPr id="11" name="Text 8"/>
          <p:cNvSpPr txBox="1"/>
          <p:nvPr/>
        </p:nvSpPr>
        <p:spPr>
          <a:xfrm>
            <a:off x="6400800" y="2788920"/>
            <a:ext cx="2560320" cy="594360"/>
          </a:xfrm>
          <a:prstGeom prst="rect">
            <a:avLst/>
          </a:prstGeom>
          <a:noFill/>
          <a:ln/>
        </p:spPr>
        <p:txBody>
          <a:bodyPr wrap="square" lIns="0" tIns="0" rIns="0" bIns="0" rtlCol="0" anchor="ctr"/>
          <a:lstStyle/>
          <a:p>
            <a:pPr indent="0" marL="0">
              <a:buNone/>
            </a:pPr>
            <a:r>
              <a:rPr lang="en-US" sz="2400" b="1" dirty="0">
                <a:solidFill>
                  <a:srgbClr val="0F4C4F"/>
                </a:solidFill>
                <a:latin typeface="Cambria" pitchFamily="34" charset="0"/>
                <a:ea typeface="Cambria" pitchFamily="34" charset="-122"/>
                <a:cs typeface="Cambria" pitchFamily="34" charset="-120"/>
              </a:rPr>
              <a:t>0,58</a:t>
            </a:r>
            <a:endParaRPr lang="en-US" sz="2400" dirty="0"/>
          </a:p>
        </p:txBody>
      </p:sp>
      <p:sp>
        <p:nvSpPr>
          <p:cNvPr id="12" name="Text 9"/>
          <p:cNvSpPr txBox="1"/>
          <p:nvPr/>
        </p:nvSpPr>
        <p:spPr>
          <a:xfrm>
            <a:off x="6400800" y="3383280"/>
            <a:ext cx="2468880" cy="640080"/>
          </a:xfrm>
          <a:prstGeom prst="rect">
            <a:avLst/>
          </a:prstGeom>
          <a:noFill/>
          <a:ln/>
        </p:spPr>
        <p:txBody>
          <a:bodyPr wrap="square" lIns="0" tIns="0" rIns="0" bIns="0" rtlCol="0" anchor="t"/>
          <a:lstStyle/>
          <a:p>
            <a:pPr indent="0" marL="0">
              <a:buNone/>
            </a:pPr>
            <a:r>
              <a:rPr lang="en-US" sz="1200" dirty="0">
                <a:solidFill>
                  <a:srgbClr val="5E6B6E"/>
                </a:solidFill>
                <a:latin typeface="Calibri" pitchFamily="34" charset="0"/>
                <a:ea typeface="Calibri" pitchFamily="34" charset="-122"/>
                <a:cs typeface="Calibri" pitchFamily="34" charset="-120"/>
              </a:rPr>
              <a:t>độ lệch chuẩn rating trung vị của user (≥2 rating)</a:t>
            </a:r>
            <a:endParaRPr lang="en-US" sz="1200" dirty="0"/>
          </a:p>
        </p:txBody>
      </p:sp>
      <p:sp>
        <p:nvSpPr>
          <p:cNvPr id="13" name="Text 10"/>
          <p:cNvSpPr txBox="1"/>
          <p:nvPr/>
        </p:nvSpPr>
        <p:spPr>
          <a:xfrm>
            <a:off x="9052560" y="2788920"/>
            <a:ext cx="2560320" cy="594360"/>
          </a:xfrm>
          <a:prstGeom prst="rect">
            <a:avLst/>
          </a:prstGeom>
          <a:noFill/>
          <a:ln/>
        </p:spPr>
        <p:txBody>
          <a:bodyPr wrap="square" lIns="0" tIns="0" rIns="0" bIns="0" rtlCol="0" anchor="ctr"/>
          <a:lstStyle/>
          <a:p>
            <a:pPr indent="0" marL="0">
              <a:buNone/>
            </a:pPr>
            <a:r>
              <a:rPr lang="en-US" sz="2400" b="1" dirty="0">
                <a:solidFill>
                  <a:srgbClr val="0F4C4F"/>
                </a:solidFill>
                <a:latin typeface="Cambria" pitchFamily="34" charset="0"/>
                <a:ea typeface="Cambria" pitchFamily="34" charset="-122"/>
                <a:cs typeface="Cambria" pitchFamily="34" charset="-120"/>
              </a:rPr>
              <a:t>4,18 → 4,34</a:t>
            </a:r>
            <a:endParaRPr lang="en-US" sz="2400" dirty="0"/>
          </a:p>
        </p:txBody>
      </p:sp>
      <p:sp>
        <p:nvSpPr>
          <p:cNvPr id="14" name="Text 11"/>
          <p:cNvSpPr txBox="1"/>
          <p:nvPr/>
        </p:nvSpPr>
        <p:spPr>
          <a:xfrm>
            <a:off x="9052560" y="3383280"/>
            <a:ext cx="2468880" cy="640080"/>
          </a:xfrm>
          <a:prstGeom prst="rect">
            <a:avLst/>
          </a:prstGeom>
          <a:noFill/>
          <a:ln/>
        </p:spPr>
        <p:txBody>
          <a:bodyPr wrap="square" lIns="0" tIns="0" rIns="0" bIns="0" rtlCol="0" anchor="t"/>
          <a:lstStyle/>
          <a:p>
            <a:pPr indent="0" marL="0">
              <a:buNone/>
            </a:pPr>
            <a:r>
              <a:rPr lang="en-US" sz="1200" dirty="0">
                <a:solidFill>
                  <a:srgbClr val="5E6B6E"/>
                </a:solidFill>
                <a:latin typeface="Calibri" pitchFamily="34" charset="0"/>
                <a:ea typeface="Calibri" pitchFamily="34" charset="-122"/>
                <a:cs typeface="Calibri" pitchFamily="34" charset="-120"/>
              </a:rPr>
              <a:t>rating trung bình từ user 1 rating đến user &gt;20 rating</a:t>
            </a:r>
            <a:endParaRPr lang="en-US" sz="1200" dirty="0"/>
          </a:p>
        </p:txBody>
      </p:sp>
      <p:sp>
        <p:nvSpPr>
          <p:cNvPr id="15" name="Shape 12"/>
          <p:cNvSpPr/>
          <p:nvPr/>
        </p:nvSpPr>
        <p:spPr>
          <a:xfrm>
            <a:off x="6400800" y="4251960"/>
            <a:ext cx="5212080" cy="2011680"/>
          </a:xfrm>
          <a:prstGeom prst="roundRect">
            <a:avLst>
              <a:gd name="adj" fmla="val 3636"/>
            </a:avLst>
          </a:prstGeom>
          <a:solidFill>
            <a:srgbClr val="E6F0EF"/>
          </a:solidFill>
          <a:ln w="12700">
            <a:solidFill>
              <a:srgbClr val="E6F0EF"/>
            </a:solidFill>
            <a:prstDash val="solid"/>
          </a:ln>
        </p:spPr>
      </p:sp>
      <p:sp>
        <p:nvSpPr>
          <p:cNvPr id="16" name="Text 13"/>
          <p:cNvSpPr txBox="1"/>
          <p:nvPr/>
        </p:nvSpPr>
        <p:spPr>
          <a:xfrm>
            <a:off x="6583680" y="4370832"/>
            <a:ext cx="4846320" cy="420624"/>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Hệ quả</a:t>
            </a:r>
            <a:endParaRPr lang="en-US" sz="1500" dirty="0"/>
          </a:p>
        </p:txBody>
      </p:sp>
      <p:sp>
        <p:nvSpPr>
          <p:cNvPr id="17" name="Text 14"/>
          <p:cNvSpPr txBox="1"/>
          <p:nvPr/>
        </p:nvSpPr>
        <p:spPr>
          <a:xfrm>
            <a:off x="6583680" y="4864608"/>
            <a:ext cx="4846320" cy="132588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Nhiều user cho mọi sản phẩm cùng một mức → giá trị rating tuyệt đối khó so sánh giữa user (diễn giải, chưa kiểm định); đồ án dùng tín hiệu nhị phân 4–5★. Positive đã lệch về head từ dữ liệu → báo kết quả theo head/body/tail.</a:t>
            </a:r>
            <a:endParaRPr lang="en-US" sz="1300" dirty="0"/>
          </a:p>
        </p:txBody>
      </p:sp>
      <p:sp>
        <p:nvSpPr>
          <p:cNvPr id="18" name="Text 15"/>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results/dataset_deep_analysis/deep_analysis_summary.json (S1_rating), 4.886.112 rating trước t1.</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Hành vi theo thời gian và độ trôi của sản phẩm phổ biến</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21</a:t>
            </a:r>
            <a:endParaRPr lang="en-US" sz="1000" dirty="0"/>
          </a:p>
        </p:txBody>
      </p:sp>
      <p:graphicFrame>
        <p:nvGraphicFramePr>
          <p:cNvPr id="5" name="Chart 0" descr=""/>
          <p:cNvGraphicFramePr/>
          <p:nvPr/>
        </p:nvGraphicFramePr>
        <p:xfrm>
          <a:off x="457200" y="1325880"/>
          <a:ext cx="6035040" cy="38404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766560" y="1371600"/>
            <a:ext cx="1828800" cy="777240"/>
          </a:xfrm>
          <a:prstGeom prst="rect">
            <a:avLst/>
          </a:prstGeom>
          <a:noFill/>
          <a:ln/>
        </p:spPr>
        <p:txBody>
          <a:bodyPr wrap="square" lIns="0" tIns="0" rIns="0" bIns="0" rtlCol="0" anchor="ctr"/>
          <a:lstStyle/>
          <a:p>
            <a:pPr indent="0" marL="0">
              <a:buNone/>
            </a:pPr>
            <a:r>
              <a:rPr lang="en-US" sz="2000" b="1" dirty="0">
                <a:solidFill>
                  <a:srgbClr val="0F4C4F"/>
                </a:solidFill>
                <a:latin typeface="Cambria" pitchFamily="34" charset="0"/>
                <a:ea typeface="Cambria" pitchFamily="34" charset="-122"/>
                <a:cs typeface="Cambria" pitchFamily="34" charset="-120"/>
              </a:rPr>
              <a:t>20,9 ngày</a:t>
            </a:r>
            <a:endParaRPr lang="en-US" sz="2000" dirty="0"/>
          </a:p>
        </p:txBody>
      </p:sp>
      <p:sp>
        <p:nvSpPr>
          <p:cNvPr id="7" name="Text 4"/>
          <p:cNvSpPr txBox="1"/>
          <p:nvPr/>
        </p:nvSpPr>
        <p:spPr>
          <a:xfrm>
            <a:off x="8641080" y="1371600"/>
            <a:ext cx="2971800" cy="777240"/>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khoảng cách trung vị giữa hai tương tác của cùng user (p90: 598 ngày)</a:t>
            </a:r>
            <a:endParaRPr lang="en-US" sz="1250" dirty="0"/>
          </a:p>
        </p:txBody>
      </p:sp>
      <p:sp>
        <p:nvSpPr>
          <p:cNvPr id="8" name="Text 5"/>
          <p:cNvSpPr txBox="1"/>
          <p:nvPr/>
        </p:nvSpPr>
        <p:spPr>
          <a:xfrm>
            <a:off x="6766560" y="2304288"/>
            <a:ext cx="1828800" cy="777240"/>
          </a:xfrm>
          <a:prstGeom prst="rect">
            <a:avLst/>
          </a:prstGeom>
          <a:noFill/>
          <a:ln/>
        </p:spPr>
        <p:txBody>
          <a:bodyPr wrap="square" lIns="0" tIns="0" rIns="0" bIns="0" rtlCol="0" anchor="ctr"/>
          <a:lstStyle/>
          <a:p>
            <a:pPr indent="0" marL="0">
              <a:buNone/>
            </a:pPr>
            <a:r>
              <a:rPr lang="en-US" sz="2000" b="1" dirty="0">
                <a:solidFill>
                  <a:srgbClr val="0F4C4F"/>
                </a:solidFill>
                <a:latin typeface="Cambria" pitchFamily="34" charset="0"/>
                <a:ea typeface="Cambria" pitchFamily="34" charset="-122"/>
                <a:cs typeface="Cambria" pitchFamily="34" charset="-120"/>
              </a:rPr>
              <a:t>41,4%</a:t>
            </a:r>
            <a:endParaRPr lang="en-US" sz="2000" dirty="0"/>
          </a:p>
        </p:txBody>
      </p:sp>
      <p:sp>
        <p:nvSpPr>
          <p:cNvPr id="9" name="Text 6"/>
          <p:cNvSpPr txBox="1"/>
          <p:nvPr/>
        </p:nvSpPr>
        <p:spPr>
          <a:xfrm>
            <a:off x="8641080" y="2304288"/>
            <a:ext cx="2971800" cy="777240"/>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cặp tương tác liên tiếp của user xảy ra trong cùng một ngày</a:t>
            </a:r>
            <a:endParaRPr lang="en-US" sz="1250" dirty="0"/>
          </a:p>
        </p:txBody>
      </p:sp>
      <p:sp>
        <p:nvSpPr>
          <p:cNvPr id="10" name="Text 7"/>
          <p:cNvSpPr txBox="1"/>
          <p:nvPr/>
        </p:nvSpPr>
        <p:spPr>
          <a:xfrm>
            <a:off x="6766560" y="3236976"/>
            <a:ext cx="1828800" cy="777240"/>
          </a:xfrm>
          <a:prstGeom prst="rect">
            <a:avLst/>
          </a:prstGeom>
          <a:noFill/>
          <a:ln/>
        </p:spPr>
        <p:txBody>
          <a:bodyPr wrap="square" lIns="0" tIns="0" rIns="0" bIns="0" rtlCol="0" anchor="ctr"/>
          <a:lstStyle/>
          <a:p>
            <a:pPr indent="0" marL="0">
              <a:buNone/>
            </a:pPr>
            <a:r>
              <a:rPr lang="en-US" sz="2000" b="1" dirty="0">
                <a:solidFill>
                  <a:srgbClr val="0F4C4F"/>
                </a:solidFill>
                <a:latin typeface="Cambria" pitchFamily="34" charset="0"/>
                <a:ea typeface="Cambria" pitchFamily="34" charset="-122"/>
                <a:cs typeface="Cambria" pitchFamily="34" charset="-120"/>
              </a:rPr>
              <a:t>565 ngày</a:t>
            </a:r>
            <a:endParaRPr lang="en-US" sz="2000" dirty="0"/>
          </a:p>
        </p:txBody>
      </p:sp>
      <p:sp>
        <p:nvSpPr>
          <p:cNvPr id="11" name="Text 8"/>
          <p:cNvSpPr txBox="1"/>
          <p:nvPr/>
        </p:nvSpPr>
        <p:spPr>
          <a:xfrm>
            <a:off x="8641080" y="3236976"/>
            <a:ext cx="2971800" cy="777240"/>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thời gian hoạt động trung vị của sản phẩm có ≥2 rating</a:t>
            </a:r>
            <a:endParaRPr lang="en-US" sz="1250" dirty="0"/>
          </a:p>
        </p:txBody>
      </p:sp>
      <p:sp>
        <p:nvSpPr>
          <p:cNvPr id="12" name="Text 9"/>
          <p:cNvSpPr txBox="1"/>
          <p:nvPr/>
        </p:nvSpPr>
        <p:spPr>
          <a:xfrm>
            <a:off x="6766560" y="4169664"/>
            <a:ext cx="1828800" cy="777240"/>
          </a:xfrm>
          <a:prstGeom prst="rect">
            <a:avLst/>
          </a:prstGeom>
          <a:noFill/>
          <a:ln/>
        </p:spPr>
        <p:txBody>
          <a:bodyPr wrap="square" lIns="0" tIns="0" rIns="0" bIns="0" rtlCol="0" anchor="ctr"/>
          <a:lstStyle/>
          <a:p>
            <a:pPr indent="0" marL="0">
              <a:buNone/>
            </a:pPr>
            <a:r>
              <a:rPr lang="en-US" sz="2000" b="1" dirty="0">
                <a:solidFill>
                  <a:srgbClr val="0F4C4F"/>
                </a:solidFill>
                <a:latin typeface="Cambria" pitchFamily="34" charset="0"/>
                <a:ea typeface="Cambria" pitchFamily="34" charset="-122"/>
                <a:cs typeface="Cambria" pitchFamily="34" charset="-120"/>
              </a:rPr>
              <a:t>54–60%</a:t>
            </a:r>
            <a:endParaRPr lang="en-US" sz="2000" dirty="0"/>
          </a:p>
        </p:txBody>
      </p:sp>
      <p:sp>
        <p:nvSpPr>
          <p:cNvPr id="13" name="Text 10"/>
          <p:cNvSpPr txBox="1"/>
          <p:nvPr/>
        </p:nvSpPr>
        <p:spPr>
          <a:xfrm>
            <a:off x="8641080" y="4169664"/>
            <a:ext cx="2971800" cy="777240"/>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tỷ lệ rating mỗi năm (2014–2023) đến từ user lần đầu xuất hiện</a:t>
            </a:r>
            <a:endParaRPr lang="en-US" sz="1250" dirty="0"/>
          </a:p>
        </p:txBody>
      </p:sp>
      <p:sp>
        <p:nvSpPr>
          <p:cNvPr id="14" name="Shape 11"/>
          <p:cNvSpPr/>
          <p:nvPr/>
        </p:nvSpPr>
        <p:spPr>
          <a:xfrm>
            <a:off x="548640" y="5303520"/>
            <a:ext cx="11064240" cy="914400"/>
          </a:xfrm>
          <a:prstGeom prst="roundRect">
            <a:avLst>
              <a:gd name="adj" fmla="val 8000"/>
            </a:avLst>
          </a:prstGeom>
          <a:solidFill>
            <a:srgbClr val="FCF1DF"/>
          </a:solidFill>
          <a:ln w="12700">
            <a:solidFill>
              <a:srgbClr val="FCF1DF"/>
            </a:solidFill>
            <a:prstDash val="solid"/>
          </a:ln>
        </p:spPr>
      </p:sp>
      <p:sp>
        <p:nvSpPr>
          <p:cNvPr id="15" name="Text 12"/>
          <p:cNvSpPr txBox="1"/>
          <p:nvPr/>
        </p:nvSpPr>
        <p:spPr>
          <a:xfrm>
            <a:off x="731520" y="5422392"/>
            <a:ext cx="10698480" cy="420624"/>
          </a:xfrm>
          <a:prstGeom prst="rect">
            <a:avLst/>
          </a:prstGeom>
          <a:noFill/>
          <a:ln/>
        </p:spPr>
        <p:txBody>
          <a:bodyPr wrap="square" lIns="0" tIns="0" rIns="0" bIns="0" rtlCol="0" anchor="ctr"/>
          <a:lstStyle/>
          <a:p>
            <a:pPr indent="0" marL="0">
              <a:buNone/>
            </a:pPr>
            <a:r>
              <a:rPr lang="en-US" sz="1400" b="1" dirty="0">
                <a:solidFill>
                  <a:srgbClr val="13262A"/>
                </a:solidFill>
                <a:latin typeface="Calibri" pitchFamily="34" charset="0"/>
                <a:ea typeface="Calibri" pitchFamily="34" charset="-122"/>
                <a:cs typeface="Calibri" pitchFamily="34" charset="-120"/>
              </a:rPr>
              <a:t>Hệ quả</a:t>
            </a:r>
            <a:endParaRPr lang="en-US" sz="1400" dirty="0"/>
          </a:p>
        </p:txBody>
      </p:sp>
      <p:sp>
        <p:nvSpPr>
          <p:cNvPr id="16" name="Text 13"/>
          <p:cNvSpPr txBox="1"/>
          <p:nvPr/>
        </p:nvSpPr>
        <p:spPr>
          <a:xfrm>
            <a:off x="1600200" y="5303520"/>
            <a:ext cx="9875520" cy="914400"/>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Top 1% năm trước chỉ nhận 23,8–30,3% rating năm sau (top 1% của chính năm đó: 30,8–33,6%) → chia theo thời gian là cần thiết; giả thuyết cần kiểm tra: M1 (bậc tích lũy) có thể bám sản phẩm cũ. 41,4% cặp tương tác liên tiếp cùng ngày.</a:t>
            </a:r>
            <a:endParaRPr lang="en-US" sz="1250" dirty="0"/>
          </a:p>
        </p:txBody>
      </p:sp>
      <p:sp>
        <p:nvSpPr>
          <p:cNvPr id="17" name="Text 14"/>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deep_analysis_summary.json (S2_temporal). Độ trôi và khoảng cách tính trên dữ liệu trước t1; tỷ lệ user mới theo năm dùng toàn bộ số dòng.</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Bất thường: có bot, spam hay đánh giá dồn dập không?</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22</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749040"/>
                <a:gridCol w="3017520"/>
                <a:gridCol w="1645920"/>
                <a:gridCol w="2651760"/>
              </a:tblGrid>
              <a:tr h="512064">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Dấu hiệu</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Số lượng (trước t1)</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Tỷ lệ tương tác</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Đánh giá</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512064">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User đánh giá ≥5 sản phẩm trong 1 ngày</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36.470 user-ngày (33.367 user)</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4,90%</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Chưa kết luận là bất thường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User đánh giá ≥10 sản phẩm trong 1 ngày</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3.335 user-ngày (3.229 user)</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0,87%</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Chưa xác định nguyên nhân</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User đánh giá ≥20 sản phẩm trong 1 ngày</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197 user-ngày (195 user)</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0,10%</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Rất ít; chưa xác định nguyên nhân</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User đánh giá ≥50 sản phẩm trong 1 ngày</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Không có; tối đa 48/ngày</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Cùng user, cùng timestamp</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66 nhóm, 135 dòng, tối đa 3</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Không đáng kể</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Sản phẩm tăng đột biến (≥50/ngày và ≥10× trung vị)</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32 sản phẩm-ngày, 10 sản phẩm</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3.349 dòng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Chưa xác định nguyên nhân</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12064">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User ≥10 rating cho cùng một mức</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2.610 / 31.882 user</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8,2% nhóm này</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Mức rating cụ thể chưa đo</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623560"/>
            <a:ext cx="11064240" cy="548640"/>
          </a:xfrm>
          <a:prstGeom prst="rect">
            <a:avLst/>
          </a:prstGeom>
          <a:noFill/>
          <a:ln/>
        </p:spPr>
        <p:txBody>
          <a:bodyPr wrap="square" lIns="0" tIns="0" rIns="0" bIns="0" rtlCol="0" anchor="ctr"/>
          <a:lstStyle/>
          <a:p>
            <a:pPr indent="0" marL="0">
              <a:buNone/>
            </a:pPr>
            <a:r>
              <a:rPr lang="en-US" sz="1400" i="1" dirty="0">
                <a:solidFill>
                  <a:srgbClr val="2E7D7A"/>
                </a:solidFill>
                <a:latin typeface="Calibri" pitchFamily="34" charset="0"/>
                <a:ea typeface="Calibri" pitchFamily="34" charset="-122"/>
                <a:cs typeface="Calibri" pitchFamily="34" charset="-120"/>
              </a:rPr>
              <a:t>Kết luận: user-ngày ≥10 đánh giá chiếm 0,87% tương tác, ≥20 chiếm 0,10%. Không xóa (không có quy tắc đăng ký trước); ghi nhận như một hạn chế.</a:t>
            </a:r>
            <a:endParaRPr lang="en-US" sz="1400" dirty="0"/>
          </a:p>
        </p:txBody>
      </p:sp>
      <p:sp>
        <p:nvSpPr>
          <p:cNvPr id="7" name="Text 4"/>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deep_analysis_summary.json (S3_anomalies). Chỉ báo cáo, không có dòng nào bị loại.</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Bùng nổ lân cận: đo thực tế trên graph train</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23</a:t>
            </a:r>
            <a:endParaRPr lang="en-US" sz="1000" dirty="0"/>
          </a:p>
        </p:txBody>
      </p:sp>
      <p:graphicFrame>
        <p:nvGraphicFramePr>
          <p:cNvPr id="5" name="Chart 0" descr=""/>
          <p:cNvGraphicFramePr/>
          <p:nvPr/>
        </p:nvGraphicFramePr>
        <p:xfrm>
          <a:off x="457200" y="1325880"/>
          <a:ext cx="6035040" cy="4206240"/>
        </p:xfrm>
        <a:graphic xmlns:a="http://schemas.openxmlformats.org/drawingml/2006/main">
          <a:graphicData uri="http://schemas.openxmlformats.org/drawingml/2006/chart">
            <c:chart xmlns:c="http://schemas.openxmlformats.org/drawingml/2006/chart" r:id="rId1"/>
          </a:graphicData>
        </a:graphic>
      </p:graphicFrame>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766560" y="1417320"/>
          <a:ext cx="4846320" cy="914400"/>
        </p:xfrm>
        <a:graphic>
          <a:graphicData uri="http://schemas.openxmlformats.org/drawingml/2006/table">
            <a:tbl>
              <a:tblPr/>
              <a:tblGrid>
                <a:gridCol w="2103120"/>
                <a:gridCol w="914400"/>
                <a:gridCol w="914400"/>
                <a:gridCol w="914400"/>
              </a:tblGrid>
              <a:tr h="41148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Một user ngẫu nhiên</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p50</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p90</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p99</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Sản phẩm sau 1 bước</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1</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3</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User sau 2 bước</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524</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4.342</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21.348</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Sản phẩm sau 3 bước</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974</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5.821</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12.979</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6766560" y="3154680"/>
            <a:ext cx="4846320" cy="548640"/>
          </a:xfrm>
          <a:prstGeom prst="rect">
            <a:avLst/>
          </a:prstGeom>
          <a:noFill/>
          <a:ln/>
        </p:spPr>
        <p:txBody>
          <a:bodyPr wrap="square" lIns="0" tIns="0" rIns="0" bIns="0" rtlCol="0" anchor="ctr"/>
          <a:lstStyle/>
          <a:p>
            <a:pPr indent="0" marL="0">
              <a:buNone/>
            </a:pPr>
            <a:r>
              <a:rPr lang="en-US" sz="1200" dirty="0">
                <a:solidFill>
                  <a:srgbClr val="5E6B6E"/>
                </a:solidFill>
                <a:latin typeface="Calibri" pitchFamily="34" charset="0"/>
                <a:ea typeface="Calibri" pitchFamily="34" charset="-122"/>
                <a:cs typeface="Calibri" pitchFamily="34" charset="-120"/>
              </a:rPr>
              <a:t>User có ≥5 tương tác: trung vị 5.483 user sau 2 bước, 7.917 sản phẩm sau 3 bước.</a:t>
            </a:r>
            <a:endParaRPr lang="en-US" sz="1200" dirty="0"/>
          </a:p>
        </p:txBody>
      </p:sp>
      <p:sp>
        <p:nvSpPr>
          <p:cNvPr id="8" name="Shape 4"/>
          <p:cNvSpPr/>
          <p:nvPr/>
        </p:nvSpPr>
        <p:spPr>
          <a:xfrm>
            <a:off x="6766560" y="3840480"/>
            <a:ext cx="4846320" cy="2423160"/>
          </a:xfrm>
          <a:prstGeom prst="roundRect">
            <a:avLst>
              <a:gd name="adj" fmla="val 3019"/>
            </a:avLst>
          </a:prstGeom>
          <a:solidFill>
            <a:srgbClr val="F8E6E1"/>
          </a:solidFill>
          <a:ln w="12700">
            <a:solidFill>
              <a:srgbClr val="F8E6E1"/>
            </a:solidFill>
            <a:prstDash val="solid"/>
          </a:ln>
        </p:spPr>
      </p:sp>
      <p:sp>
        <p:nvSpPr>
          <p:cNvPr id="9" name="Text 5"/>
          <p:cNvSpPr txBox="1"/>
          <p:nvPr/>
        </p:nvSpPr>
        <p:spPr>
          <a:xfrm>
            <a:off x="6949440" y="3959352"/>
            <a:ext cx="4480560" cy="420624"/>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Hệ quả trực tiếp</a:t>
            </a:r>
            <a:endParaRPr lang="en-US" sz="1500" dirty="0"/>
          </a:p>
        </p:txBody>
      </p:sp>
      <p:sp>
        <p:nvSpPr>
          <p:cNvPr id="10" name="Text 6"/>
          <p:cNvSpPr txBox="1"/>
          <p:nvPr/>
        </p:nvSpPr>
        <p:spPr>
          <a:xfrm>
            <a:off x="6949440" y="4453128"/>
            <a:ext cx="4480560" cy="1737360"/>
          </a:xfrm>
          <a:prstGeom prst="rect">
            <a:avLst/>
          </a:prstGeom>
          <a:noFill/>
          <a:ln/>
        </p:spPr>
        <p:txBody>
          <a:bodyPr wrap="square" lIns="0" tIns="0" rIns="0" bIns="0" rtlCol="0" anchor="t"/>
          <a:lstStyle/>
          <a:p>
            <a:pPr indent="0" marL="0">
              <a:spcAft>
                <a:spcPts val="300"/>
              </a:spcAft>
              <a:buNone/>
            </a:pPr>
            <a:r>
              <a:rPr lang="en-US" sz="1350" dirty="0">
                <a:solidFill>
                  <a:srgbClr val="13262A"/>
                </a:solidFill>
                <a:latin typeface="Calibri" pitchFamily="34" charset="0"/>
                <a:ea typeface="Calibri" pitchFamily="34" charset="-122"/>
                <a:cs typeface="Calibri" pitchFamily="34" charset="-120"/>
              </a:rPr>
              <a:t>Batch 65.536 triplet của pilot đã chạm 87% graph ngay bước đầu → gần như full-graph, lấy mẫu không còn ý nghĩa. Budget cho R3 phải bắt đầu từ batch ≤ 4.096, nơi chọn node thực sự quyết định context (R-1).</a:t>
            </a:r>
            <a:endParaRPr lang="en-US" sz="1350" dirty="0"/>
          </a:p>
        </p:txBody>
      </p:sp>
      <p:sp>
        <p:nvSpPr>
          <p:cNvPr id="11" name="Text 7"/>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deep_analysis_summary.json (S4_graph.neighbourhood_explosion_unsampled, 3 lần lặp mỗi batch; unsampled_user_reach, 5.000 user ngẫu nhiên).</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Quan hệ đồng mua và bằng chứng collaborative cho target</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24</a:t>
            </a:r>
            <a:endParaRPr lang="en-US" sz="1000" dirty="0"/>
          </a:p>
        </p:txBody>
      </p:sp>
      <p:graphicFrame>
        <p:nvGraphicFramePr>
          <p:cNvPr id="5" name="Chart 0" descr=""/>
          <p:cNvGraphicFramePr/>
          <p:nvPr/>
        </p:nvGraphicFramePr>
        <p:xfrm>
          <a:off x="457200" y="1325880"/>
          <a:ext cx="512064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760720" y="1325880"/>
          <a:ext cx="5852160" cy="329184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48640" y="4754880"/>
            <a:ext cx="5029200" cy="1508760"/>
          </a:xfrm>
          <a:prstGeom prst="roundRect">
            <a:avLst>
              <a:gd name="adj" fmla="val 4848"/>
            </a:avLst>
          </a:prstGeom>
          <a:solidFill>
            <a:srgbClr val="E6F0EF"/>
          </a:solidFill>
          <a:ln w="12700">
            <a:solidFill>
              <a:srgbClr val="E6F0EF"/>
            </a:solidFill>
            <a:prstDash val="solid"/>
          </a:ln>
        </p:spPr>
      </p:sp>
      <p:sp>
        <p:nvSpPr>
          <p:cNvPr id="8" name="Text 4"/>
          <p:cNvSpPr txBox="1"/>
          <p:nvPr/>
        </p:nvSpPr>
        <p:spPr>
          <a:xfrm>
            <a:off x="731520" y="4873752"/>
            <a:ext cx="4663440" cy="420624"/>
          </a:xfrm>
          <a:prstGeom prst="rect">
            <a:avLst/>
          </a:prstGeom>
          <a:noFill/>
          <a:ln/>
        </p:spPr>
        <p:txBody>
          <a:bodyPr wrap="square" lIns="0" tIns="0" rIns="0" bIns="0" rtlCol="0" anchor="ctr"/>
          <a:lstStyle/>
          <a:p>
            <a:pPr indent="0" marL="0">
              <a:buNone/>
            </a:pPr>
            <a:r>
              <a:rPr lang="en-US" sz="1400" b="1" dirty="0">
                <a:solidFill>
                  <a:srgbClr val="13262A"/>
                </a:solidFill>
                <a:latin typeface="Calibri" pitchFamily="34" charset="0"/>
                <a:ea typeface="Calibri" pitchFamily="34" charset="-122"/>
                <a:cs typeface="Calibri" pitchFamily="34" charset="-120"/>
              </a:rPr>
              <a:t>Chỉ 29% target có bằng chứng đồng mua trực tiếp</a:t>
            </a:r>
            <a:endParaRPr lang="en-US" sz="1400" dirty="0"/>
          </a:p>
        </p:txBody>
      </p:sp>
      <p:sp>
        <p:nvSpPr>
          <p:cNvPr id="9" name="Text 5"/>
          <p:cNvSpPr txBox="1"/>
          <p:nvPr/>
        </p:nvSpPr>
        <p:spPr>
          <a:xfrm>
            <a:off x="731520" y="5367528"/>
            <a:ext cx="4663440" cy="82296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Tail 4,5%. Phần còn lại không có đường đồng mua ngắn; điểm LightGCN vẫn tính được từ embedding hai phía, nhưng thiếu bằng chứng trực tiếp.</a:t>
            </a:r>
            <a:endParaRPr lang="en-US" sz="1300" dirty="0"/>
          </a:p>
        </p:txBody>
      </p:sp>
      <p:sp>
        <p:nvSpPr>
          <p:cNvPr id="10" name="Shape 6"/>
          <p:cNvSpPr/>
          <p:nvPr/>
        </p:nvSpPr>
        <p:spPr>
          <a:xfrm>
            <a:off x="5760720" y="4754880"/>
            <a:ext cx="5852160" cy="1508760"/>
          </a:xfrm>
          <a:prstGeom prst="roundRect">
            <a:avLst>
              <a:gd name="adj" fmla="val 4848"/>
            </a:avLst>
          </a:prstGeom>
          <a:solidFill>
            <a:srgbClr val="F8E6E1"/>
          </a:solidFill>
          <a:ln w="12700">
            <a:solidFill>
              <a:srgbClr val="F8E6E1"/>
            </a:solidFill>
            <a:prstDash val="solid"/>
          </a:ln>
        </p:spPr>
      </p:sp>
      <p:sp>
        <p:nvSpPr>
          <p:cNvPr id="11" name="Text 7"/>
          <p:cNvSpPr txBox="1"/>
          <p:nvPr/>
        </p:nvSpPr>
        <p:spPr>
          <a:xfrm>
            <a:off x="5943600" y="4873752"/>
            <a:ext cx="5486400" cy="420624"/>
          </a:xfrm>
          <a:prstGeom prst="rect">
            <a:avLst/>
          </a:prstGeom>
          <a:noFill/>
          <a:ln/>
        </p:spPr>
        <p:txBody>
          <a:bodyPr wrap="square" lIns="0" tIns="0" rIns="0" bIns="0" rtlCol="0" anchor="ctr"/>
          <a:lstStyle/>
          <a:p>
            <a:pPr indent="0" marL="0">
              <a:buNone/>
            </a:pPr>
            <a:r>
              <a:rPr lang="en-US" sz="1400" b="1" dirty="0">
                <a:solidFill>
                  <a:srgbClr val="13262A"/>
                </a:solidFill>
                <a:latin typeface="Calibri" pitchFamily="34" charset="0"/>
                <a:ea typeface="Calibri" pitchFamily="34" charset="-122"/>
                <a:cs typeface="Calibri" pitchFamily="34" charset="-120"/>
              </a:rPr>
              <a:t>33.560 sản phẩm không nhận collaborative signal</a:t>
            </a:r>
            <a:endParaRPr lang="en-US" sz="1400" dirty="0"/>
          </a:p>
        </p:txBody>
      </p:sp>
      <p:sp>
        <p:nvSpPr>
          <p:cNvPr id="12" name="Text 8"/>
          <p:cNvSpPr txBox="1"/>
          <p:nvPr/>
        </p:nvSpPr>
        <p:spPr>
          <a:xfrm>
            <a:off x="5943600" y="5367528"/>
            <a:ext cx="5486400" cy="82296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4,89 triệu cặp đồng mua, nhưng 20,7% sản phẩm chỉ được user một-tương-tác chạm tới. Không sampler nào tạo ra tín hiệu không tồn tại.</a:t>
            </a:r>
            <a:endParaRPr lang="en-US" sz="1300" dirty="0"/>
          </a:p>
        </p:txBody>
      </p:sp>
      <p:sp>
        <p:nvSpPr>
          <p:cNvPr id="13" name="Text 9"/>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S4_graph.item_item_cooccurrence; R1_dev_target_analysis (20.000 target development mẫu, graph G_dev_train). Không dùng validation/test.</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Development split (gate R1): kết quả</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25</a:t>
            </a:r>
            <a:endParaRPr lang="en-US" sz="1000" dirty="0"/>
          </a:p>
        </p:txBody>
      </p:sp>
      <p:sp>
        <p:nvSpPr>
          <p:cNvPr id="5" name="Text 3"/>
          <p:cNvSpPr txBox="1"/>
          <p:nvPr/>
        </p:nvSpPr>
        <p:spPr>
          <a:xfrm>
            <a:off x="548640" y="1371600"/>
            <a:ext cx="3108960" cy="777240"/>
          </a:xfrm>
          <a:prstGeom prst="rect">
            <a:avLst/>
          </a:prstGeom>
          <a:noFill/>
          <a:ln/>
        </p:spPr>
        <p:txBody>
          <a:bodyPr wrap="square" lIns="0" tIns="0" rIns="0" bIns="0" rtlCol="0" anchor="ctr"/>
          <a:lstStyle/>
          <a:p>
            <a:pPr indent="0" marL="0">
              <a:buNone/>
            </a:pPr>
            <a:r>
              <a:rPr lang="en-US" sz="2200" b="1" dirty="0">
                <a:solidFill>
                  <a:srgbClr val="0F4C4F"/>
                </a:solidFill>
                <a:latin typeface="Cambria" pitchFamily="34" charset="0"/>
                <a:ea typeface="Cambria" pitchFamily="34" charset="-122"/>
                <a:cs typeface="Cambria" pitchFamily="34" charset="-120"/>
              </a:rPr>
              <a:t>05/09/2020</a:t>
            </a:r>
            <a:endParaRPr lang="en-US" sz="2200" dirty="0"/>
          </a:p>
        </p:txBody>
      </p:sp>
      <p:sp>
        <p:nvSpPr>
          <p:cNvPr id="6" name="Text 4"/>
          <p:cNvSpPr txBox="1"/>
          <p:nvPr/>
        </p:nvSpPr>
        <p:spPr>
          <a:xfrm>
            <a:off x="3703320" y="1371600"/>
            <a:ext cx="2651760" cy="777240"/>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t0 = t1 − (t2 − t1); quy tắc chính, không cần dự phòng</a:t>
            </a:r>
            <a:endParaRPr lang="en-US" sz="1250" dirty="0"/>
          </a:p>
        </p:txBody>
      </p:sp>
      <p:sp>
        <p:nvSpPr>
          <p:cNvPr id="7" name="Text 5"/>
          <p:cNvSpPr txBox="1"/>
          <p:nvPr/>
        </p:nvSpPr>
        <p:spPr>
          <a:xfrm>
            <a:off x="548640" y="2331720"/>
            <a:ext cx="3108960" cy="777240"/>
          </a:xfrm>
          <a:prstGeom prst="rect">
            <a:avLst/>
          </a:prstGeom>
          <a:noFill/>
          <a:ln/>
        </p:spPr>
        <p:txBody>
          <a:bodyPr wrap="square" lIns="0" tIns="0" rIns="0" bIns="0" rtlCol="0" anchor="ctr"/>
          <a:lstStyle/>
          <a:p>
            <a:pPr indent="0" marL="0">
              <a:buNone/>
            </a:pPr>
            <a:r>
              <a:rPr lang="en-US" sz="2200" b="1" dirty="0">
                <a:solidFill>
                  <a:srgbClr val="0F4C4F"/>
                </a:solidFill>
                <a:latin typeface="Cambria" pitchFamily="34" charset="0"/>
                <a:ea typeface="Cambria" pitchFamily="34" charset="-122"/>
                <a:cs typeface="Cambria" pitchFamily="34" charset="-120"/>
              </a:rPr>
              <a:t>3.315.497</a:t>
            </a:r>
            <a:endParaRPr lang="en-US" sz="2200" dirty="0"/>
          </a:p>
        </p:txBody>
      </p:sp>
      <p:sp>
        <p:nvSpPr>
          <p:cNvPr id="8" name="Text 6"/>
          <p:cNvSpPr txBox="1"/>
          <p:nvPr/>
        </p:nvSpPr>
        <p:spPr>
          <a:xfrm>
            <a:off x="3703320" y="2331720"/>
            <a:ext cx="2651760" cy="777240"/>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cạnh G_dev_train (85,7% graph train hiện tại)</a:t>
            </a:r>
            <a:endParaRPr lang="en-US" sz="1250" dirty="0"/>
          </a:p>
        </p:txBody>
      </p:sp>
      <p:sp>
        <p:nvSpPr>
          <p:cNvPr id="9" name="Text 7"/>
          <p:cNvSpPr txBox="1"/>
          <p:nvPr/>
        </p:nvSpPr>
        <p:spPr>
          <a:xfrm>
            <a:off x="548640" y="3291840"/>
            <a:ext cx="3108960" cy="777240"/>
          </a:xfrm>
          <a:prstGeom prst="rect">
            <a:avLst/>
          </a:prstGeom>
          <a:noFill/>
          <a:ln/>
        </p:spPr>
        <p:txBody>
          <a:bodyPr wrap="square" lIns="0" tIns="0" rIns="0" bIns="0" rtlCol="0" anchor="ctr"/>
          <a:lstStyle/>
          <a:p>
            <a:pPr indent="0" marL="0">
              <a:buNone/>
            </a:pPr>
            <a:r>
              <a:rPr lang="en-US" sz="2200" b="1" dirty="0">
                <a:solidFill>
                  <a:srgbClr val="0F4C4F"/>
                </a:solidFill>
                <a:latin typeface="Cambria" pitchFamily="34" charset="0"/>
                <a:ea typeface="Cambria" pitchFamily="34" charset="-122"/>
                <a:cs typeface="Cambria" pitchFamily="34" charset="-120"/>
              </a:rPr>
              <a:t>1.965.541 · 144.011</a:t>
            </a:r>
            <a:endParaRPr lang="en-US" sz="2200" dirty="0"/>
          </a:p>
        </p:txBody>
      </p:sp>
      <p:sp>
        <p:nvSpPr>
          <p:cNvPr id="10" name="Text 8"/>
          <p:cNvSpPr txBox="1"/>
          <p:nvPr/>
        </p:nvSpPr>
        <p:spPr>
          <a:xfrm>
            <a:off x="3703320" y="3291840"/>
            <a:ext cx="2651760" cy="777240"/>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user · sản phẩm trong G_dev_train</a:t>
            </a:r>
            <a:endParaRPr lang="en-US" sz="1250" dirty="0"/>
          </a:p>
        </p:txBody>
      </p:sp>
      <p:sp>
        <p:nvSpPr>
          <p:cNvPr id="11" name="Text 9"/>
          <p:cNvSpPr txBox="1"/>
          <p:nvPr/>
        </p:nvSpPr>
        <p:spPr>
          <a:xfrm>
            <a:off x="548640" y="4251960"/>
            <a:ext cx="3108960" cy="777240"/>
          </a:xfrm>
          <a:prstGeom prst="rect">
            <a:avLst/>
          </a:prstGeom>
          <a:noFill/>
          <a:ln/>
        </p:spPr>
        <p:txBody>
          <a:bodyPr wrap="square" lIns="0" tIns="0" rIns="0" bIns="0" rtlCol="0" anchor="ctr"/>
          <a:lstStyle/>
          <a:p>
            <a:pPr indent="0" marL="0">
              <a:buNone/>
            </a:pPr>
            <a:r>
              <a:rPr lang="en-US" sz="2200" b="1" dirty="0">
                <a:solidFill>
                  <a:srgbClr val="0F4C4F"/>
                </a:solidFill>
                <a:latin typeface="Cambria" pitchFamily="34" charset="0"/>
                <a:ea typeface="Cambria" pitchFamily="34" charset="-122"/>
                <a:cs typeface="Cambria" pitchFamily="34" charset="-120"/>
              </a:rPr>
              <a:t>105.401</a:t>
            </a:r>
            <a:endParaRPr lang="en-US" sz="2200" dirty="0"/>
          </a:p>
        </p:txBody>
      </p:sp>
      <p:sp>
        <p:nvSpPr>
          <p:cNvPr id="12" name="Text 10"/>
          <p:cNvSpPr txBox="1"/>
          <p:nvPr/>
        </p:nvSpPr>
        <p:spPr>
          <a:xfrm>
            <a:off x="3703320" y="4251960"/>
            <a:ext cx="2651760" cy="777240"/>
          </a:xfrm>
          <a:prstGeom prst="rect">
            <a:avLst/>
          </a:prstGeom>
          <a:noFill/>
          <a:ln/>
        </p:spPr>
        <p:txBody>
          <a:bodyPr wrap="square" lIns="0" tIns="0" rIns="0" bIns="0" rtlCol="0" anchor="ctr"/>
          <a:lstStyle/>
          <a:p>
            <a:pPr indent="0" marL="0">
              <a:buNone/>
            </a:pPr>
            <a:r>
              <a:rPr lang="en-US" sz="1250" dirty="0">
                <a:solidFill>
                  <a:srgbClr val="13262A"/>
                </a:solidFill>
                <a:latin typeface="Calibri" pitchFamily="34" charset="0"/>
                <a:ea typeface="Calibri" pitchFamily="34" charset="-122"/>
                <a:cs typeface="Calibri" pitchFamily="34" charset="-120"/>
              </a:rPr>
              <a:t>target warm trong [t0, t1) — 19,1% của 553.157 tương tác</a:t>
            </a:r>
            <a:endParaRPr lang="en-US" sz="1250" dirty="0"/>
          </a:p>
        </p:txBody>
      </p:sp>
      <p:graphicFrame>
        <p:nvGraphicFramePr>
          <p:cNvPr id="13" name="Chart 0" descr=""/>
          <p:cNvGraphicFramePr/>
          <p:nvPr/>
        </p:nvGraphicFramePr>
        <p:xfrm>
          <a:off x="6492240" y="1325880"/>
          <a:ext cx="5120640" cy="320040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548640" y="5349240"/>
            <a:ext cx="5760720" cy="914400"/>
          </a:xfrm>
          <a:prstGeom prst="roundRect">
            <a:avLst>
              <a:gd name="adj" fmla="val 8000"/>
            </a:avLst>
          </a:prstGeom>
          <a:solidFill>
            <a:srgbClr val="E6F0EF"/>
          </a:solidFill>
          <a:ln w="12700">
            <a:solidFill>
              <a:srgbClr val="E6F0EF"/>
            </a:solidFill>
            <a:prstDash val="solid"/>
          </a:ln>
        </p:spPr>
      </p:sp>
      <p:sp>
        <p:nvSpPr>
          <p:cNvPr id="15" name="Text 12"/>
          <p:cNvSpPr txBox="1"/>
          <p:nvPr/>
        </p:nvSpPr>
        <p:spPr>
          <a:xfrm>
            <a:off x="731520" y="5468112"/>
            <a:ext cx="5394960" cy="420624"/>
          </a:xfrm>
          <a:prstGeom prst="rect">
            <a:avLst/>
          </a:prstGeom>
          <a:noFill/>
          <a:ln/>
        </p:spPr>
        <p:txBody>
          <a:bodyPr wrap="square" lIns="0" tIns="0" rIns="0" bIns="0" rtlCol="0" anchor="ctr"/>
          <a:lstStyle/>
          <a:p>
            <a:pPr indent="0" marL="0">
              <a:buNone/>
            </a:pPr>
            <a:r>
              <a:rPr lang="en-US" sz="1400" b="1" dirty="0">
                <a:solidFill>
                  <a:srgbClr val="13262A"/>
                </a:solidFill>
                <a:latin typeface="Calibri" pitchFamily="34" charset="0"/>
                <a:ea typeface="Calibri" pitchFamily="34" charset="-122"/>
                <a:cs typeface="Calibri" pitchFamily="34" charset="-120"/>
              </a:rPr>
              <a:t>Cách ly</a:t>
            </a:r>
            <a:endParaRPr lang="en-US" sz="1400" dirty="0"/>
          </a:p>
        </p:txBody>
      </p:sp>
      <p:sp>
        <p:nvSpPr>
          <p:cNvPr id="16" name="Text 13"/>
          <p:cNvSpPr txBox="1"/>
          <p:nvPr/>
        </p:nvSpPr>
        <p:spPr>
          <a:xfrm>
            <a:off x="1645920" y="5349240"/>
            <a:ext cx="4572000" cy="914400"/>
          </a:xfrm>
          <a:prstGeom prst="rect">
            <a:avLst/>
          </a:prstGeom>
          <a:noFill/>
          <a:ln/>
        </p:spPr>
        <p:txBody>
          <a:bodyPr wrap="square" lIns="0" tIns="0" rIns="0" bIns="0" rtlCol="0" anchor="ctr"/>
          <a:lstStyle/>
          <a:p>
            <a:pPr indent="0" marL="0">
              <a:buNone/>
            </a:pPr>
            <a:r>
              <a:rPr lang="en-US" sz="1200" dirty="0">
                <a:solidFill>
                  <a:srgbClr val="13262A"/>
                </a:solidFill>
                <a:latin typeface="Calibri" pitchFamily="34" charset="0"/>
                <a:ea typeface="Calibri" pitchFamily="34" charset="-122"/>
                <a:cs typeface="Calibri" pitchFamily="34" charset="-120"/>
              </a:rPr>
              <a:t>Mọi cạnh train &lt; mọi target; mọi dòng &lt; t1; không dùng dòng validation/test. SHA-256 lưu trong manifest.</a:t>
            </a:r>
            <a:endParaRPr lang="en-US" sz="1200" dirty="0"/>
          </a:p>
        </p:txBody>
      </p:sp>
      <p:sp>
        <p:nvSpPr>
          <p:cNvPr id="17" name="Shape 14"/>
          <p:cNvSpPr/>
          <p:nvPr/>
        </p:nvSpPr>
        <p:spPr>
          <a:xfrm>
            <a:off x="6492240" y="4663440"/>
            <a:ext cx="5120640" cy="1600200"/>
          </a:xfrm>
          <a:prstGeom prst="roundRect">
            <a:avLst>
              <a:gd name="adj" fmla="val 4571"/>
            </a:avLst>
          </a:prstGeom>
          <a:solidFill>
            <a:srgbClr val="FCF1DF"/>
          </a:solidFill>
          <a:ln w="12700">
            <a:solidFill>
              <a:srgbClr val="FCF1DF"/>
            </a:solidFill>
            <a:prstDash val="solid"/>
          </a:ln>
        </p:spPr>
      </p:sp>
      <p:sp>
        <p:nvSpPr>
          <p:cNvPr id="18" name="Text 15"/>
          <p:cNvSpPr txBox="1"/>
          <p:nvPr/>
        </p:nvSpPr>
        <p:spPr>
          <a:xfrm>
            <a:off x="6675120" y="4782312"/>
            <a:ext cx="4754880" cy="420624"/>
          </a:xfrm>
          <a:prstGeom prst="rect">
            <a:avLst/>
          </a:prstGeom>
          <a:noFill/>
          <a:ln/>
        </p:spPr>
        <p:txBody>
          <a:bodyPr wrap="square" lIns="0" tIns="0" rIns="0" bIns="0" rtlCol="0" anchor="ctr"/>
          <a:lstStyle/>
          <a:p>
            <a:pPr indent="0" marL="0">
              <a:buNone/>
            </a:pPr>
            <a:r>
              <a:rPr lang="en-US" sz="1400" b="1" dirty="0">
                <a:solidFill>
                  <a:srgbClr val="13262A"/>
                </a:solidFill>
                <a:latin typeface="Calibri" pitchFamily="34" charset="0"/>
                <a:ea typeface="Calibri" pitchFamily="34" charset="-122"/>
                <a:cs typeface="Calibri" pitchFamily="34" charset="-120"/>
              </a:rPr>
              <a:t>Target user</a:t>
            </a:r>
            <a:endParaRPr lang="en-US" sz="1400" dirty="0"/>
          </a:p>
        </p:txBody>
      </p:sp>
      <p:sp>
        <p:nvSpPr>
          <p:cNvPr id="19" name="Text 16"/>
          <p:cNvSpPr txBox="1"/>
          <p:nvPr/>
        </p:nvSpPr>
        <p:spPr>
          <a:xfrm>
            <a:off x="6675120" y="5276088"/>
            <a:ext cx="4754880" cy="914400"/>
          </a:xfrm>
          <a:prstGeom prst="rect">
            <a:avLst/>
          </a:prstGeom>
          <a:noFill/>
          <a:ln/>
        </p:spPr>
        <p:txBody>
          <a:bodyPr wrap="square" lIns="0" tIns="0" rIns="0" bIns="0" rtlCol="0" anchor="t"/>
          <a:lstStyle/>
          <a:p>
            <a:pPr indent="0" marL="0">
              <a:spcAft>
                <a:spcPts val="300"/>
              </a:spcAft>
              <a:buNone/>
            </a:pPr>
            <a:r>
              <a:rPr lang="en-US" sz="1250" dirty="0">
                <a:solidFill>
                  <a:srgbClr val="13262A"/>
                </a:solidFill>
                <a:latin typeface="Calibri" pitchFamily="34" charset="0"/>
                <a:ea typeface="Calibri" pitchFamily="34" charset="-122"/>
                <a:cs typeface="Calibri" pitchFamily="34" charset="-120"/>
              </a:rPr>
              <a:t>Bậc của user trong G_dev_train: 46,5% target thuộc user 1 tương tác; 39,1% user 2–5; 12,6% user 6–20; 1,8% user &gt;20. 77,2% tương tác trong cửa sổ bị loại vì user mới.</a:t>
            </a:r>
            <a:endParaRPr lang="en-US" sz="1250" dirty="0"/>
          </a:p>
        </p:txBody>
      </p:sp>
      <p:sp>
        <p:nvSpPr>
          <p:cNvPr id="20" name="Text 17"/>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results/grapes_gfn_rec_development/development_graph_manifest.json; test: tests/test_grapes_gfn_rec_protocol.py.</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Metadata sản phẩm: có đủ để đo ngữ nghĩa không?</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26</a:t>
            </a:r>
            <a:endParaRPr lang="en-US" sz="1000" dirty="0"/>
          </a:p>
        </p:txBody>
      </p:sp>
      <p:graphicFrame>
        <p:nvGraphicFramePr>
          <p:cNvPr id="5" name="Chart 0" descr=""/>
          <p:cNvGraphicFramePr/>
          <p:nvPr/>
        </p:nvGraphicFramePr>
        <p:xfrm>
          <a:off x="457200" y="1325880"/>
          <a:ext cx="475488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5394960" y="1325880"/>
          <a:ext cx="6217920" cy="3291840"/>
        </p:xfrm>
        <a:graphic xmlns:a="http://schemas.openxmlformats.org/drawingml/2006/main">
          <a:graphicData uri="http://schemas.openxmlformats.org/drawingml/2006/chart">
            <c:chart xmlns:c="http://schemas.openxmlformats.org/drawingml/2006/chart" r:id="rId2"/>
          </a:graphicData>
        </a:graphic>
      </p:graphicFrame>
      <p:sp>
        <p:nvSpPr>
          <p:cNvPr id="7" name="Shape 3"/>
          <p:cNvSpPr/>
          <p:nvPr/>
        </p:nvSpPr>
        <p:spPr>
          <a:xfrm>
            <a:off x="548640" y="4754880"/>
            <a:ext cx="5486400" cy="1508760"/>
          </a:xfrm>
          <a:prstGeom prst="roundRect">
            <a:avLst>
              <a:gd name="adj" fmla="val 4848"/>
            </a:avLst>
          </a:prstGeom>
          <a:solidFill>
            <a:srgbClr val="E6F0EF"/>
          </a:solidFill>
          <a:ln w="12700">
            <a:solidFill>
              <a:srgbClr val="E6F0EF"/>
            </a:solidFill>
            <a:prstDash val="solid"/>
          </a:ln>
        </p:spPr>
      </p:sp>
      <p:sp>
        <p:nvSpPr>
          <p:cNvPr id="8" name="Text 4"/>
          <p:cNvSpPr txBox="1"/>
          <p:nvPr/>
        </p:nvSpPr>
        <p:spPr>
          <a:xfrm>
            <a:off x="731520" y="4873752"/>
            <a:ext cx="5120640" cy="420624"/>
          </a:xfrm>
          <a:prstGeom prst="rect">
            <a:avLst/>
          </a:prstGeom>
          <a:noFill/>
          <a:ln/>
        </p:spPr>
        <p:txBody>
          <a:bodyPr wrap="square" lIns="0" tIns="0" rIns="0" bIns="0" rtlCol="0" anchor="ctr"/>
          <a:lstStyle/>
          <a:p>
            <a:pPr indent="0" marL="0">
              <a:buNone/>
            </a:pPr>
            <a:r>
              <a:rPr lang="en-US" sz="1400" b="1" dirty="0">
                <a:solidFill>
                  <a:srgbClr val="13262A"/>
                </a:solidFill>
                <a:latin typeface="Calibri" pitchFamily="34" charset="0"/>
                <a:ea typeface="Calibri" pitchFamily="34" charset="-122"/>
                <a:cs typeface="Calibri" pitchFamily="34" charset="-120"/>
              </a:rPr>
              <a:t>Đủ cho semantic match và ILD</a:t>
            </a:r>
            <a:endParaRPr lang="en-US" sz="1400" dirty="0"/>
          </a:p>
        </p:txBody>
      </p:sp>
      <p:sp>
        <p:nvSpPr>
          <p:cNvPr id="9" name="Text 5"/>
          <p:cNvSpPr txBox="1"/>
          <p:nvPr/>
        </p:nvSpPr>
        <p:spPr>
          <a:xfrm>
            <a:off x="731520" y="5367528"/>
            <a:ext cx="5120640" cy="822960"/>
          </a:xfrm>
          <a:prstGeom prst="rect">
            <a:avLst/>
          </a:prstGeom>
          <a:noFill/>
          <a:ln/>
        </p:spPr>
        <p:txBody>
          <a:bodyPr wrap="square" lIns="0" tIns="0" rIns="0" bIns="0" rtlCol="0" anchor="t"/>
          <a:lstStyle/>
          <a:p>
            <a:pPr indent="0" marL="0">
              <a:spcAft>
                <a:spcPts val="300"/>
              </a:spcAft>
              <a:buNone/>
            </a:pPr>
            <a:r>
              <a:rPr lang="en-US" sz="1250" dirty="0">
                <a:solidFill>
                  <a:srgbClr val="13262A"/>
                </a:solidFill>
                <a:latin typeface="Calibri" pitchFamily="34" charset="0"/>
                <a:ea typeface="Calibri" pitchFamily="34" charset="-122"/>
                <a:cs typeface="Calibri" pitchFamily="34" charset="-120"/>
              </a:rPr>
              <a:t>Title gần 100%, danh mục 93,4% → đo được mức khớp văn bản và đa dạng danh mục. Giá chỉ 22,6% → không dùng. Chỉ 61% sản phẩm có main_category là “Baby”.</a:t>
            </a:r>
            <a:endParaRPr lang="en-US" sz="1250" dirty="0"/>
          </a:p>
        </p:txBody>
      </p:sp>
      <p:sp>
        <p:nvSpPr>
          <p:cNvPr id="10" name="Shape 6"/>
          <p:cNvSpPr/>
          <p:nvPr/>
        </p:nvSpPr>
        <p:spPr>
          <a:xfrm>
            <a:off x="6217920" y="4754880"/>
            <a:ext cx="5394960" cy="1508760"/>
          </a:xfrm>
          <a:prstGeom prst="roundRect">
            <a:avLst>
              <a:gd name="adj" fmla="val 4848"/>
            </a:avLst>
          </a:prstGeom>
          <a:solidFill>
            <a:srgbClr val="FCF1DF"/>
          </a:solidFill>
          <a:ln w="12700">
            <a:solidFill>
              <a:srgbClr val="FCF1DF"/>
            </a:solidFill>
            <a:prstDash val="solid"/>
          </a:ln>
        </p:spPr>
      </p:sp>
      <p:sp>
        <p:nvSpPr>
          <p:cNvPr id="11" name="Text 7"/>
          <p:cNvSpPr txBox="1"/>
          <p:nvPr/>
        </p:nvSpPr>
        <p:spPr>
          <a:xfrm>
            <a:off x="6400800" y="4873752"/>
            <a:ext cx="5029200" cy="420624"/>
          </a:xfrm>
          <a:prstGeom prst="rect">
            <a:avLst/>
          </a:prstGeom>
          <a:noFill/>
          <a:ln/>
        </p:spPr>
        <p:txBody>
          <a:bodyPr wrap="square" lIns="0" tIns="0" rIns="0" bIns="0" rtlCol="0" anchor="ctr"/>
          <a:lstStyle/>
          <a:p>
            <a:pPr indent="0" marL="0">
              <a:buNone/>
            </a:pPr>
            <a:r>
              <a:rPr lang="en-US" sz="1400" b="1" dirty="0">
                <a:solidFill>
                  <a:srgbClr val="13262A"/>
                </a:solidFill>
                <a:latin typeface="Calibri" pitchFamily="34" charset="0"/>
                <a:ea typeface="Calibri" pitchFamily="34" charset="-122"/>
                <a:cs typeface="Calibri" pitchFamily="34" charset="-120"/>
              </a:rPr>
              <a:t>Phân bổ theo danh mục cũng lệch</a:t>
            </a:r>
            <a:endParaRPr lang="en-US" sz="1400" dirty="0"/>
          </a:p>
        </p:txBody>
      </p:sp>
      <p:sp>
        <p:nvSpPr>
          <p:cNvPr id="12" name="Text 8"/>
          <p:cNvSpPr txBox="1"/>
          <p:nvPr/>
        </p:nvSpPr>
        <p:spPr>
          <a:xfrm>
            <a:off x="6400800" y="5367528"/>
            <a:ext cx="5029200" cy="822960"/>
          </a:xfrm>
          <a:prstGeom prst="rect">
            <a:avLst/>
          </a:prstGeom>
          <a:noFill/>
          <a:ln/>
        </p:spPr>
        <p:txBody>
          <a:bodyPr wrap="square" lIns="0" tIns="0" rIns="0" bIns="0" rtlCol="0" anchor="t"/>
          <a:lstStyle/>
          <a:p>
            <a:pPr indent="0" marL="0">
              <a:spcAft>
                <a:spcPts val="300"/>
              </a:spcAft>
              <a:buNone/>
            </a:pPr>
            <a:r>
              <a:rPr lang="en-US" sz="1250" dirty="0">
                <a:solidFill>
                  <a:srgbClr val="13262A"/>
                </a:solidFill>
                <a:latin typeface="Calibri" pitchFamily="34" charset="0"/>
                <a:ea typeface="Calibri" pitchFamily="34" charset="-122"/>
                <a:cs typeface="Calibri" pitchFamily="34" charset="-120"/>
              </a:rPr>
              <a:t>Nursery chiếm 32,7% sản phẩm nhưng 22,4% tương tác; Safety 6,0% sản phẩm nhưng 11,3% tương tác. Giá trung vị ~19–20 ở cả head, body, tail (chỉ trên 22,6% sản phẩm có giá).</a:t>
            </a:r>
            <a:endParaRPr lang="en-US" sz="1250" dirty="0"/>
          </a:p>
        </p:txBody>
      </p:sp>
      <p:sp>
        <p:nvSpPr>
          <p:cNvPr id="13" name="Text 9"/>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Nguồn: deep_analysis_summary.json (S6_metadata), meta_Baby_Products.jsonl.gz. Metadata chỉ dùng cho đánh giá, không vào huấn luyện.</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2 · DỮ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Từ dữ liệu đến quyết định thiết kế</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27</a:t>
            </a:r>
            <a:endParaRPr lang="en-US" sz="1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120640"/>
                <a:gridCol w="5943600"/>
              </a:tblGrid>
              <a:tr h="38404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Quan sát</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Quyết định</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384048">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Rating hình chữ J, 21,8% là 1–3★</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Positive = 4–5★ (P4); không dùng rating làm trọng số</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Nhiễu dạng lỗi chỉ 1 dòng</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Không lọc thêm; bất thường chỉ báo cáo</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71,8% user có 1 tương tác; 33% sản phẩm có 1 tương tác</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Không lọc k-core; theo dõi node được sampler chọn theo bậc</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Top 1% sản phẩm giữ 44% tương tác</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Báo exposure/hit theo head–body–tail, không chỉ NDCG tổng</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64% tương tác validation của user mới</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Giới hạn warm-start; cold-start là hướng phát triển</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Phân bố thay đổi mạnh theo năm</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Chia theo thời gian; development split mới trước t1</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Graph gần liên thông, bậc kỳ vọng theo cạnh ~1.009</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Lấy mẫu có budget k; chi phí sampler được tính vào trade-off</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Batch 65.536 triplet chạm 87% graph ngay bước 1</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Budget R3 bắt đầu từ batch ≤ 4.096 cho mọi sampler</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Chỉ 29% target có đường ≤3 bước; tail 4,5%</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Báo kết quả theo nhóm có/không có đường ≤3 bước (DL-003)</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Top 1% sản phẩm chỉ trùng một phần giữa các năm (Jaccard 0,45–0,54)</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Theo dõi M1 (bậc tích lũy) có bám sản phẩm cũ</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Metadata: title ~100%, danh mục 93%, giá 23%</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250" dirty="0">
                          <a:solidFill>
                            <a:srgbClr val="13262A"/>
                          </a:solidFill>
                          <a:latin typeface="Calibri" pitchFamily="34" charset="0"/>
                          <a:ea typeface="Calibri" pitchFamily="34" charset="-122"/>
                          <a:cs typeface="Calibri" pitchFamily="34" charset="-120"/>
                        </a:rPr>
                        <a:t>Đo ngữ nghĩa bằng title + danh mục, không dùng giá</a:t>
                      </a:r>
                      <a:endParaRPr lang="en-US" sz="12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3 · GÓP Ý CỦA CÔ</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Thống nhất khái niệm: context, NDCG, coverage, conversion</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28</a:t>
            </a:r>
            <a:endParaRPr lang="en-US" sz="1000" dirty="0"/>
          </a:p>
        </p:txBody>
      </p:sp>
      <p:sp>
        <p:nvSpPr>
          <p:cNvPr id="5" name="Shape 3"/>
          <p:cNvSpPr/>
          <p:nvPr/>
        </p:nvSpPr>
        <p:spPr>
          <a:xfrm>
            <a:off x="548640" y="1417320"/>
            <a:ext cx="5440680" cy="2240280"/>
          </a:xfrm>
          <a:prstGeom prst="roundRect">
            <a:avLst>
              <a:gd name="adj" fmla="val 3265"/>
            </a:avLst>
          </a:prstGeom>
          <a:solidFill>
            <a:srgbClr val="E6F0EF"/>
          </a:solidFill>
          <a:ln w="12700">
            <a:solidFill>
              <a:srgbClr val="E6F0EF"/>
            </a:solidFill>
            <a:prstDash val="solid"/>
          </a:ln>
        </p:spPr>
      </p:sp>
      <p:sp>
        <p:nvSpPr>
          <p:cNvPr id="6" name="Text 4"/>
          <p:cNvSpPr txBox="1"/>
          <p:nvPr/>
        </p:nvSpPr>
        <p:spPr>
          <a:xfrm>
            <a:off x="731520" y="1536192"/>
            <a:ext cx="507492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Context (ngữ cảnh) trong đồ án này</a:t>
            </a:r>
            <a:endParaRPr lang="en-US" sz="1700" dirty="0"/>
          </a:p>
        </p:txBody>
      </p:sp>
      <p:sp>
        <p:nvSpPr>
          <p:cNvPr id="7" name="Text 5"/>
          <p:cNvSpPr txBox="1"/>
          <p:nvPr/>
        </p:nvSpPr>
        <p:spPr>
          <a:xfrm>
            <a:off x="731520" y="2029968"/>
            <a:ext cx="5074920" cy="1554480"/>
          </a:xfrm>
          <a:prstGeom prst="rect">
            <a:avLst/>
          </a:prstGeom>
          <a:noFill/>
          <a:ln/>
        </p:spPr>
        <p:txBody>
          <a:bodyPr wrap="square" lIns="0" tIns="0" rIns="0" bIns="0" rtlCol="0" anchor="t"/>
          <a:lstStyle/>
          <a:p>
            <a:pPr indent="0" marL="0">
              <a:spcAft>
                <a:spcPts val="300"/>
              </a:spcAft>
              <a:buNone/>
            </a:pPr>
            <a:r>
              <a:rPr lang="en-US" sz="1400" dirty="0">
                <a:solidFill>
                  <a:srgbClr val="13262A"/>
                </a:solidFill>
                <a:latin typeface="Calibri" pitchFamily="34" charset="0"/>
                <a:ea typeface="Calibri" pitchFamily="34" charset="-122"/>
                <a:cs typeface="Calibri" pitchFamily="34" charset="-120"/>
              </a:rPr>
              <a:t>Tập node và cạnh lân cận mà model dùng để tính embedding cho batch ở mỗi layer (ký hiệu K^l). Sampler quyết định context. Không phải ngữ cảnh người dùng như thời gian, thiết bị, vị trí (đó là context-aware recommendation, ngoài phạm vi).</a:t>
            </a:r>
            <a:endParaRPr lang="en-US" sz="1400" dirty="0"/>
          </a:p>
        </p:txBody>
      </p:sp>
      <p:sp>
        <p:nvSpPr>
          <p:cNvPr id="8" name="Shape 6"/>
          <p:cNvSpPr/>
          <p:nvPr/>
        </p:nvSpPr>
        <p:spPr>
          <a:xfrm>
            <a:off x="6172200" y="1417320"/>
            <a:ext cx="5440680" cy="2240280"/>
          </a:xfrm>
          <a:prstGeom prst="roundRect">
            <a:avLst>
              <a:gd name="adj" fmla="val 3265"/>
            </a:avLst>
          </a:prstGeom>
          <a:solidFill>
            <a:srgbClr val="E6F0EF"/>
          </a:solidFill>
          <a:ln w="12700">
            <a:solidFill>
              <a:srgbClr val="E6F0EF"/>
            </a:solidFill>
            <a:prstDash val="solid"/>
          </a:ln>
        </p:spPr>
      </p:sp>
      <p:sp>
        <p:nvSpPr>
          <p:cNvPr id="9" name="Text 7"/>
          <p:cNvSpPr txBox="1"/>
          <p:nvPr/>
        </p:nvSpPr>
        <p:spPr>
          <a:xfrm>
            <a:off x="6355080" y="1536192"/>
            <a:ext cx="507492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NDCG@20 — chỉ số chính</a:t>
            </a:r>
            <a:endParaRPr lang="en-US" sz="1700" dirty="0"/>
          </a:p>
        </p:txBody>
      </p:sp>
      <p:sp>
        <p:nvSpPr>
          <p:cNvPr id="10" name="Text 8"/>
          <p:cNvSpPr txBox="1"/>
          <p:nvPr/>
        </p:nvSpPr>
        <p:spPr>
          <a:xfrm>
            <a:off x="6355080" y="2029968"/>
            <a:ext cx="5074920" cy="1554480"/>
          </a:xfrm>
          <a:prstGeom prst="rect">
            <a:avLst/>
          </a:prstGeom>
          <a:noFill/>
          <a:ln/>
        </p:spPr>
        <p:txBody>
          <a:bodyPr wrap="square" lIns="0" tIns="0" rIns="0" bIns="0" rtlCol="0" anchor="t"/>
          <a:lstStyle/>
          <a:p>
            <a:pPr indent="0" marL="0">
              <a:spcAft>
                <a:spcPts val="300"/>
              </a:spcAft>
              <a:buNone/>
            </a:pPr>
            <a:r>
              <a:rPr lang="en-US" sz="1400" dirty="0">
                <a:solidFill>
                  <a:srgbClr val="13262A"/>
                </a:solidFill>
                <a:latin typeface="Calibri" pitchFamily="34" charset="0"/>
                <a:ea typeface="Calibri" pitchFamily="34" charset="-122"/>
                <a:cs typeface="Calibri" pitchFamily="34" charset="-120"/>
              </a:rPr>
              <a:t>Mỗi dòng đánh giá có 1 item đúng. Xếp toàn bộ catalog, tìm hạng r của item đúng:</a:t>
            </a:r>
            <a:endParaRPr lang="en-US" sz="1400" dirty="0"/>
          </a:p>
          <a:p>
            <a:pPr indent="0" marL="0">
              <a:spcAft>
                <a:spcPts val="300"/>
              </a:spcAft>
              <a:buNone/>
            </a:pPr>
            <a:r>
              <a:rPr lang="en-US" sz="1400" dirty="0">
                <a:solidFill>
                  <a:srgbClr val="13262A"/>
                </a:solidFill>
                <a:latin typeface="Calibri" pitchFamily="34" charset="0"/>
                <a:ea typeface="Calibri" pitchFamily="34" charset="-122"/>
                <a:cs typeface="Calibri" pitchFamily="34" charset="-120"/>
              </a:rPr>
              <a:t>NDCG@20 = 1 / log₂(r + 1) nếu r ≤ 20, ngược lại 0.</a:t>
            </a:r>
            <a:endParaRPr lang="en-US" sz="1400" dirty="0"/>
          </a:p>
          <a:p>
            <a:pPr indent="0" marL="0">
              <a:spcAft>
                <a:spcPts val="300"/>
              </a:spcAft>
              <a:buNone/>
            </a:pPr>
            <a:r>
              <a:rPr lang="en-US" sz="1400" dirty="0">
                <a:solidFill>
                  <a:srgbClr val="13262A"/>
                </a:solidFill>
                <a:latin typeface="Calibri" pitchFamily="34" charset="0"/>
                <a:ea typeface="Calibri" pitchFamily="34" charset="-122"/>
                <a:cs typeface="Calibri" pitchFamily="34" charset="-120"/>
              </a:rPr>
              <a:t>Item đúng đứng càng cao, điểm càng lớn.</a:t>
            </a:r>
            <a:endParaRPr lang="en-US" sz="1400" dirty="0"/>
          </a:p>
        </p:txBody>
      </p:sp>
      <p:graphicFrame>
        <p:nvGraphicFramePr>
          <p:cNvPr id="11" name="Chart 0" descr=""/>
          <p:cNvGraphicFramePr/>
          <p:nvPr/>
        </p:nvGraphicFramePr>
        <p:xfrm>
          <a:off x="6172200" y="3794760"/>
          <a:ext cx="5440680" cy="2423160"/>
        </p:xfrm>
        <a:graphic xmlns:a="http://schemas.openxmlformats.org/drawingml/2006/main">
          <a:graphicData uri="http://schemas.openxmlformats.org/drawingml/2006/chart">
            <c:chart xmlns:c="http://schemas.openxmlformats.org/drawingml/2006/chart" r:id="rId1"/>
          </a:graphicData>
        </a:graphic>
      </p:graphicFrame>
      <p:sp>
        <p:nvSpPr>
          <p:cNvPr id="12" name="Shape 9"/>
          <p:cNvSpPr/>
          <p:nvPr/>
        </p:nvSpPr>
        <p:spPr>
          <a:xfrm>
            <a:off x="548640" y="3794760"/>
            <a:ext cx="2651760" cy="2423160"/>
          </a:xfrm>
          <a:prstGeom prst="roundRect">
            <a:avLst>
              <a:gd name="adj" fmla="val 3019"/>
            </a:avLst>
          </a:prstGeom>
          <a:solidFill>
            <a:srgbClr val="F4F7F7"/>
          </a:solidFill>
          <a:ln w="12700">
            <a:solidFill>
              <a:srgbClr val="F4F7F7"/>
            </a:solidFill>
            <a:prstDash val="solid"/>
          </a:ln>
        </p:spPr>
      </p:sp>
      <p:sp>
        <p:nvSpPr>
          <p:cNvPr id="13" name="Text 10"/>
          <p:cNvSpPr txBox="1"/>
          <p:nvPr/>
        </p:nvSpPr>
        <p:spPr>
          <a:xfrm>
            <a:off x="731520" y="3913632"/>
            <a:ext cx="2286000" cy="420624"/>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Coverage@20</a:t>
            </a:r>
            <a:endParaRPr lang="en-US" sz="1500" dirty="0"/>
          </a:p>
        </p:txBody>
      </p:sp>
      <p:sp>
        <p:nvSpPr>
          <p:cNvPr id="14" name="Text 11"/>
          <p:cNvSpPr txBox="1"/>
          <p:nvPr/>
        </p:nvSpPr>
        <p:spPr>
          <a:xfrm>
            <a:off x="731520" y="4407408"/>
            <a:ext cx="2286000" cy="173736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Tỷ lệ item trong catalog xuất hiện ít nhất một lần trong top-20 của mọi user. Đo độ phủ, chưa đo ý nghĩa.</a:t>
            </a:r>
            <a:endParaRPr lang="en-US" sz="1300" dirty="0"/>
          </a:p>
        </p:txBody>
      </p:sp>
      <p:sp>
        <p:nvSpPr>
          <p:cNvPr id="15" name="Shape 12"/>
          <p:cNvSpPr/>
          <p:nvPr/>
        </p:nvSpPr>
        <p:spPr>
          <a:xfrm>
            <a:off x="3337560" y="3794760"/>
            <a:ext cx="2651760" cy="2423160"/>
          </a:xfrm>
          <a:prstGeom prst="roundRect">
            <a:avLst>
              <a:gd name="adj" fmla="val 3019"/>
            </a:avLst>
          </a:prstGeom>
          <a:solidFill>
            <a:srgbClr val="F8E6E1"/>
          </a:solidFill>
          <a:ln w="12700">
            <a:solidFill>
              <a:srgbClr val="F8E6E1"/>
            </a:solidFill>
            <a:prstDash val="solid"/>
          </a:ln>
        </p:spPr>
      </p:sp>
      <p:sp>
        <p:nvSpPr>
          <p:cNvPr id="16" name="Text 13"/>
          <p:cNvSpPr txBox="1"/>
          <p:nvPr/>
        </p:nvSpPr>
        <p:spPr>
          <a:xfrm>
            <a:off x="3520440" y="3913632"/>
            <a:ext cx="2286000" cy="420624"/>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Conversion</a:t>
            </a:r>
            <a:endParaRPr lang="en-US" sz="1500" dirty="0"/>
          </a:p>
        </p:txBody>
      </p:sp>
      <p:sp>
        <p:nvSpPr>
          <p:cNvPr id="17" name="Text 14"/>
          <p:cNvSpPr txBox="1"/>
          <p:nvPr/>
        </p:nvSpPr>
        <p:spPr>
          <a:xfrm>
            <a:off x="3520440" y="4407408"/>
            <a:ext cx="2286000" cy="173736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Tỷ lệ gợi ý dẫn tới mua. Cần log hiển thị–click–mua; dữ liệu review offline không có. Recall@20 chỉ đo sản phẩm tương lai có vào top-20, không thay được conversion.</a:t>
            </a:r>
            <a:endParaRPr lang="en-US" sz="1300" dirty="0"/>
          </a:p>
        </p:txBody>
      </p:sp>
      <p:sp>
        <p:nvSpPr>
          <p:cNvPr id="18" name="Text 15"/>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NDCG: Järvelin &amp; Kekäläinen [14]. Recall@20 = tỷ lệ dòng có item đúng trong top-20.</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3 · GÓP Ý CỦA CÔ</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Mức khớp ngữ nghĩa và đa dạng sản phẩm được gợi ý</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29</a:t>
            </a:r>
            <a:endParaRPr lang="en-US" sz="1000" dirty="0"/>
          </a:p>
        </p:txBody>
      </p:sp>
      <p:sp>
        <p:nvSpPr>
          <p:cNvPr id="5" name="Shape 3"/>
          <p:cNvSpPr/>
          <p:nvPr/>
        </p:nvSpPr>
        <p:spPr>
          <a:xfrm>
            <a:off x="548640" y="1417320"/>
            <a:ext cx="3566160" cy="2834640"/>
          </a:xfrm>
          <a:prstGeom prst="roundRect">
            <a:avLst>
              <a:gd name="adj" fmla="val 2581"/>
            </a:avLst>
          </a:prstGeom>
          <a:solidFill>
            <a:srgbClr val="E6F0EF"/>
          </a:solidFill>
          <a:ln w="12700">
            <a:solidFill>
              <a:srgbClr val="E6F0EF"/>
            </a:solidFill>
            <a:prstDash val="solid"/>
          </a:ln>
        </p:spPr>
      </p:sp>
      <p:sp>
        <p:nvSpPr>
          <p:cNvPr id="6" name="Text 4"/>
          <p:cNvSpPr txBox="1"/>
          <p:nvPr/>
        </p:nvSpPr>
        <p:spPr>
          <a:xfrm>
            <a:off x="731520" y="1536192"/>
            <a:ext cx="320040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Semantic match@20</a:t>
            </a:r>
            <a:endParaRPr lang="en-US" sz="1600" dirty="0"/>
          </a:p>
        </p:txBody>
      </p:sp>
      <p:sp>
        <p:nvSpPr>
          <p:cNvPr id="7" name="Text 5"/>
          <p:cNvSpPr txBox="1"/>
          <p:nvPr/>
        </p:nvSpPr>
        <p:spPr>
          <a:xfrm>
            <a:off x="731520" y="2029968"/>
            <a:ext cx="3200400" cy="214884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Mức giống về nội dung giữa sản phẩm gợi ý và sản phẩm user thật sự chọn.</a:t>
            </a:r>
            <a:endParaRPr lang="en-US" sz="1300" dirty="0"/>
          </a:p>
          <a:p>
            <a:pPr indent="0" marL="0">
              <a:spcAft>
                <a:spcPts val="300"/>
              </a:spcAft>
              <a:buNone/>
            </a:pPr>
            <a:endParaRPr lang="en-US" sz="1300" dirty="0"/>
          </a:p>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max (hoặc trung bình) cos(e_gợi ý, e_đúng) trên top-20, với e là embedding văn bản title + features [15].</a:t>
            </a:r>
            <a:endParaRPr lang="en-US" sz="1300" dirty="0"/>
          </a:p>
        </p:txBody>
      </p:sp>
      <p:sp>
        <p:nvSpPr>
          <p:cNvPr id="8" name="Shape 6"/>
          <p:cNvSpPr/>
          <p:nvPr/>
        </p:nvSpPr>
        <p:spPr>
          <a:xfrm>
            <a:off x="4297680" y="1417320"/>
            <a:ext cx="3566160" cy="2834640"/>
          </a:xfrm>
          <a:prstGeom prst="roundRect">
            <a:avLst>
              <a:gd name="adj" fmla="val 2581"/>
            </a:avLst>
          </a:prstGeom>
          <a:solidFill>
            <a:srgbClr val="E6F0EF"/>
          </a:solidFill>
          <a:ln w="12700">
            <a:solidFill>
              <a:srgbClr val="E6F0EF"/>
            </a:solidFill>
            <a:prstDash val="solid"/>
          </a:ln>
        </p:spPr>
      </p:sp>
      <p:sp>
        <p:nvSpPr>
          <p:cNvPr id="9" name="Text 7"/>
          <p:cNvSpPr txBox="1"/>
          <p:nvPr/>
        </p:nvSpPr>
        <p:spPr>
          <a:xfrm>
            <a:off x="4480560" y="1536192"/>
            <a:ext cx="320040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ILD@20 (đa dạng trong danh sách)</a:t>
            </a:r>
            <a:endParaRPr lang="en-US" sz="1600" dirty="0"/>
          </a:p>
        </p:txBody>
      </p:sp>
      <p:sp>
        <p:nvSpPr>
          <p:cNvPr id="10" name="Text 8"/>
          <p:cNvSpPr txBox="1"/>
          <p:nvPr/>
        </p:nvSpPr>
        <p:spPr>
          <a:xfrm>
            <a:off x="4480560" y="2029968"/>
            <a:ext cx="3200400" cy="214884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Trung bình khoảng cách giữa mọi cặp trong top-20 [13]:</a:t>
            </a:r>
            <a:endParaRPr lang="en-US" sz="1300" dirty="0"/>
          </a:p>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ILD = 2/(k(k−1)) · Σ d(i, j)</a:t>
            </a:r>
            <a:endParaRPr lang="en-US" sz="1300" dirty="0"/>
          </a:p>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d theo danh mục (1 − Jaccard của đường danh mục) hoặc 1 − cos văn bản.</a:t>
            </a:r>
            <a:endParaRPr lang="en-US" sz="1300" dirty="0"/>
          </a:p>
        </p:txBody>
      </p:sp>
      <p:sp>
        <p:nvSpPr>
          <p:cNvPr id="11" name="Shape 9"/>
          <p:cNvSpPr/>
          <p:nvPr/>
        </p:nvSpPr>
        <p:spPr>
          <a:xfrm>
            <a:off x="8046720" y="1417320"/>
            <a:ext cx="3566160" cy="2834640"/>
          </a:xfrm>
          <a:prstGeom prst="roundRect">
            <a:avLst>
              <a:gd name="adj" fmla="val 2581"/>
            </a:avLst>
          </a:prstGeom>
          <a:solidFill>
            <a:srgbClr val="E6F0EF"/>
          </a:solidFill>
          <a:ln w="12700">
            <a:solidFill>
              <a:srgbClr val="E6F0EF"/>
            </a:solidFill>
            <a:prstDash val="solid"/>
          </a:ln>
        </p:spPr>
      </p:sp>
      <p:sp>
        <p:nvSpPr>
          <p:cNvPr id="12" name="Text 10"/>
          <p:cNvSpPr txBox="1"/>
          <p:nvPr/>
        </p:nvSpPr>
        <p:spPr>
          <a:xfrm>
            <a:off x="8229600" y="1536192"/>
            <a:ext cx="320040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Đa dạng toàn hệ thống</a:t>
            </a:r>
            <a:endParaRPr lang="en-US" sz="1600" dirty="0"/>
          </a:p>
        </p:txBody>
      </p:sp>
      <p:sp>
        <p:nvSpPr>
          <p:cNvPr id="13" name="Text 11"/>
          <p:cNvSpPr txBox="1"/>
          <p:nvPr/>
        </p:nvSpPr>
        <p:spPr>
          <a:xfrm>
            <a:off x="8229600" y="2029968"/>
            <a:ext cx="3200400" cy="214884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Coverage@20: độ phủ catalog.</a:t>
            </a:r>
            <a:endParaRPr lang="en-US" sz="1300" dirty="0"/>
          </a:p>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Gini exposure: gợi ý dồn vào ít sản phẩm hay trải đều.</a:t>
            </a:r>
            <a:endParaRPr lang="en-US" sz="1300" dirty="0"/>
          </a:p>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Category coverage: số danh mục xuất hiện trong gợi ý.</a:t>
            </a:r>
            <a:endParaRPr lang="en-US" sz="13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4434840"/>
          <a:ext cx="11064240" cy="914400"/>
        </p:xfrm>
        <a:graphic>
          <a:graphicData uri="http://schemas.openxmlformats.org/drawingml/2006/table">
            <a:tbl>
              <a:tblPr/>
              <a:tblGrid>
                <a:gridCol w="7498080"/>
                <a:gridCol w="35661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Điều kiện</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Trạng thái</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384048">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Amazon Reviews'23 có meta_Baby_Products (title, categories, features, store, price)</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Có; notebook 11 đã tải và đọc (S6)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Độ phủ trên 162.125 sản phẩm train: title 99,99%, danh mục 93,4%, features 77,6%, giá 22,6%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Đủ cho title + danh mục; không dùng giá</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Metadata không vào huấn luyện → không đổi phương pháp, chỉ thêm phép đo</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Cần cô duyệt (OD-2)</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384048">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Tính trên rank vector đã lưu của R5</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Sau R5</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3 · GÓP Ý CỦA CÔ</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Quan hệ nào giữa các node mang giá trị?</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30</a:t>
            </a:r>
            <a:endParaRPr lang="en-US" sz="1000" dirty="0"/>
          </a:p>
        </p:txBody>
      </p:sp>
      <p:sp>
        <p:nvSpPr>
          <p:cNvPr id="5" name="Shape 3"/>
          <p:cNvSpPr/>
          <p:nvPr/>
        </p:nvSpPr>
        <p:spPr>
          <a:xfrm>
            <a:off x="548640" y="1527048"/>
            <a:ext cx="475488" cy="475488"/>
          </a:xfrm>
          <a:prstGeom prst="ellipse">
            <a:avLst/>
          </a:prstGeom>
          <a:solidFill>
            <a:srgbClr val="0F4C4F"/>
          </a:solidFill>
          <a:ln w="12700">
            <a:solidFill>
              <a:srgbClr val="0F4C4F"/>
            </a:solidFill>
            <a:prstDash val="solid"/>
          </a:ln>
        </p:spPr>
      </p:sp>
      <p:sp>
        <p:nvSpPr>
          <p:cNvPr id="6" name="Text 4"/>
          <p:cNvSpPr txBox="1"/>
          <p:nvPr/>
        </p:nvSpPr>
        <p:spPr>
          <a:xfrm>
            <a:off x="548640" y="152704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88720" y="1417320"/>
            <a:ext cx="2377440" cy="411480"/>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user → item</a:t>
            </a:r>
            <a:endParaRPr lang="en-US" sz="1600" dirty="0"/>
          </a:p>
        </p:txBody>
      </p:sp>
      <p:sp>
        <p:nvSpPr>
          <p:cNvPr id="8" name="Text 6"/>
          <p:cNvSpPr txBox="1"/>
          <p:nvPr/>
        </p:nvSpPr>
        <p:spPr>
          <a:xfrm>
            <a:off x="1188720" y="1828800"/>
            <a:ext cx="2377440" cy="365760"/>
          </a:xfrm>
          <a:prstGeom prst="rect">
            <a:avLst/>
          </a:prstGeom>
          <a:noFill/>
          <a:ln/>
        </p:spPr>
        <p:txBody>
          <a:bodyPr wrap="square" lIns="0" tIns="0" rIns="0" bIns="0" rtlCol="0" anchor="ctr"/>
          <a:lstStyle/>
          <a:p>
            <a:pPr indent="0" marL="0">
              <a:buNone/>
            </a:pPr>
            <a:r>
              <a:rPr lang="en-US" sz="1100" dirty="0">
                <a:solidFill>
                  <a:srgbClr val="5E6B6E"/>
                </a:solidFill>
                <a:latin typeface="Calibri" pitchFamily="34" charset="0"/>
                <a:ea typeface="Calibri" pitchFamily="34" charset="-122"/>
                <a:cs typeface="Calibri" pitchFamily="34" charset="-120"/>
              </a:rPr>
              <a:t>Lịch sử trực tiếp</a:t>
            </a:r>
            <a:endParaRPr lang="en-US" sz="1100" dirty="0"/>
          </a:p>
        </p:txBody>
      </p:sp>
      <p:sp>
        <p:nvSpPr>
          <p:cNvPr id="9" name="Text 7"/>
          <p:cNvSpPr txBox="1"/>
          <p:nvPr/>
        </p:nvSpPr>
        <p:spPr>
          <a:xfrm>
            <a:off x="3657600" y="1417320"/>
            <a:ext cx="3291840" cy="777240"/>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Tín hiệu mạnh nhất cho user; với user 1 tương tác đây là toàn bộ thông tin.</a:t>
            </a:r>
            <a:endParaRPr lang="en-US" sz="1300" dirty="0"/>
          </a:p>
        </p:txBody>
      </p:sp>
      <p:sp>
        <p:nvSpPr>
          <p:cNvPr id="10" name="Shape 8"/>
          <p:cNvSpPr/>
          <p:nvPr/>
        </p:nvSpPr>
        <p:spPr>
          <a:xfrm>
            <a:off x="548640" y="2459736"/>
            <a:ext cx="475488" cy="475488"/>
          </a:xfrm>
          <a:prstGeom prst="ellipse">
            <a:avLst/>
          </a:prstGeom>
          <a:solidFill>
            <a:srgbClr val="2E7D7A"/>
          </a:solidFill>
          <a:ln w="12700">
            <a:solidFill>
              <a:srgbClr val="2E7D7A"/>
            </a:solidFill>
            <a:prstDash val="solid"/>
          </a:ln>
        </p:spPr>
      </p:sp>
      <p:sp>
        <p:nvSpPr>
          <p:cNvPr id="11" name="Text 9"/>
          <p:cNvSpPr txBox="1"/>
          <p:nvPr/>
        </p:nvSpPr>
        <p:spPr>
          <a:xfrm>
            <a:off x="548640" y="245973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1188720" y="2350008"/>
            <a:ext cx="2377440" cy="411480"/>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item → user → item</a:t>
            </a:r>
            <a:endParaRPr lang="en-US" sz="1600" dirty="0"/>
          </a:p>
        </p:txBody>
      </p:sp>
      <p:sp>
        <p:nvSpPr>
          <p:cNvPr id="13" name="Text 11"/>
          <p:cNvSpPr txBox="1"/>
          <p:nvPr/>
        </p:nvSpPr>
        <p:spPr>
          <a:xfrm>
            <a:off x="1188720" y="2761488"/>
            <a:ext cx="2377440" cy="365760"/>
          </a:xfrm>
          <a:prstGeom prst="rect">
            <a:avLst/>
          </a:prstGeom>
          <a:noFill/>
          <a:ln/>
        </p:spPr>
        <p:txBody>
          <a:bodyPr wrap="square" lIns="0" tIns="0" rIns="0" bIns="0" rtlCol="0" anchor="ctr"/>
          <a:lstStyle/>
          <a:p>
            <a:pPr indent="0" marL="0">
              <a:buNone/>
            </a:pPr>
            <a:r>
              <a:rPr lang="en-US" sz="1100" dirty="0">
                <a:solidFill>
                  <a:srgbClr val="5E6B6E"/>
                </a:solidFill>
                <a:latin typeface="Calibri" pitchFamily="34" charset="0"/>
                <a:ea typeface="Calibri" pitchFamily="34" charset="-122"/>
                <a:cs typeface="Calibri" pitchFamily="34" charset="-120"/>
              </a:rPr>
              <a:t>“Người mua A cũng mua B”</a:t>
            </a:r>
            <a:endParaRPr lang="en-US" sz="1100" dirty="0"/>
          </a:p>
        </p:txBody>
      </p:sp>
      <p:sp>
        <p:nvSpPr>
          <p:cNvPr id="14" name="Text 12"/>
          <p:cNvSpPr txBox="1"/>
          <p:nvPr/>
        </p:nvSpPr>
        <p:spPr>
          <a:xfrm>
            <a:off x="3657600" y="2350008"/>
            <a:ext cx="3291840" cy="777240"/>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Collaborative signal cốt lõi của LightGCN, xuất hiện từ bước 2.</a:t>
            </a:r>
            <a:endParaRPr lang="en-US" sz="1300" dirty="0"/>
          </a:p>
        </p:txBody>
      </p:sp>
      <p:sp>
        <p:nvSpPr>
          <p:cNvPr id="15" name="Shape 13"/>
          <p:cNvSpPr/>
          <p:nvPr/>
        </p:nvSpPr>
        <p:spPr>
          <a:xfrm>
            <a:off x="548640" y="3392424"/>
            <a:ext cx="475488" cy="475488"/>
          </a:xfrm>
          <a:prstGeom prst="ellipse">
            <a:avLst/>
          </a:prstGeom>
          <a:solidFill>
            <a:srgbClr val="E89B2D"/>
          </a:solidFill>
          <a:ln w="12700">
            <a:solidFill>
              <a:srgbClr val="E89B2D"/>
            </a:solidFill>
            <a:prstDash val="solid"/>
          </a:ln>
        </p:spPr>
      </p:sp>
      <p:sp>
        <p:nvSpPr>
          <p:cNvPr id="16" name="Text 14"/>
          <p:cNvSpPr txBox="1"/>
          <p:nvPr/>
        </p:nvSpPr>
        <p:spPr>
          <a:xfrm>
            <a:off x="548640" y="339242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188720" y="3282696"/>
            <a:ext cx="2377440" cy="411480"/>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qua item head</a:t>
            </a:r>
            <a:endParaRPr lang="en-US" sz="1600" dirty="0"/>
          </a:p>
        </p:txBody>
      </p:sp>
      <p:sp>
        <p:nvSpPr>
          <p:cNvPr id="18" name="Text 16"/>
          <p:cNvSpPr txBox="1"/>
          <p:nvPr/>
        </p:nvSpPr>
        <p:spPr>
          <a:xfrm>
            <a:off x="1188720" y="3694176"/>
            <a:ext cx="2377440" cy="365760"/>
          </a:xfrm>
          <a:prstGeom prst="rect">
            <a:avLst/>
          </a:prstGeom>
          <a:noFill/>
          <a:ln/>
        </p:spPr>
        <p:txBody>
          <a:bodyPr wrap="square" lIns="0" tIns="0" rIns="0" bIns="0" rtlCol="0" anchor="ctr"/>
          <a:lstStyle/>
          <a:p>
            <a:pPr indent="0" marL="0">
              <a:buNone/>
            </a:pPr>
            <a:r>
              <a:rPr lang="en-US" sz="1100" dirty="0">
                <a:solidFill>
                  <a:srgbClr val="5E6B6E"/>
                </a:solidFill>
                <a:latin typeface="Calibri" pitchFamily="34" charset="0"/>
                <a:ea typeface="Calibri" pitchFamily="34" charset="-122"/>
                <a:cs typeface="Calibri" pitchFamily="34" charset="-120"/>
              </a:rPr>
              <a:t>Bậc ≥ 397 · 1% item · 44% cạnh</a:t>
            </a:r>
            <a:endParaRPr lang="en-US" sz="1100" dirty="0"/>
          </a:p>
        </p:txBody>
      </p:sp>
      <p:sp>
        <p:nvSpPr>
          <p:cNvPr id="19" name="Text 17"/>
          <p:cNvSpPr txBox="1"/>
          <p:nvPr/>
        </p:nvSpPr>
        <p:spPr>
          <a:xfrm>
            <a:off x="3657600" y="3282696"/>
            <a:ext cx="3291840" cy="777240"/>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Mang phần lớn bằng chứng đồng mua: 53% target head có đường ≤3 bước.</a:t>
            </a:r>
            <a:endParaRPr lang="en-US" sz="1300" dirty="0"/>
          </a:p>
        </p:txBody>
      </p:sp>
      <p:sp>
        <p:nvSpPr>
          <p:cNvPr id="20" name="Shape 18"/>
          <p:cNvSpPr/>
          <p:nvPr/>
        </p:nvSpPr>
        <p:spPr>
          <a:xfrm>
            <a:off x="548640" y="4325112"/>
            <a:ext cx="475488" cy="475488"/>
          </a:xfrm>
          <a:prstGeom prst="ellipse">
            <a:avLst/>
          </a:prstGeom>
          <a:solidFill>
            <a:srgbClr val="C8553D"/>
          </a:solidFill>
          <a:ln w="12700">
            <a:solidFill>
              <a:srgbClr val="C8553D"/>
            </a:solidFill>
            <a:prstDash val="solid"/>
          </a:ln>
        </p:spPr>
      </p:sp>
      <p:sp>
        <p:nvSpPr>
          <p:cNvPr id="21" name="Text 19"/>
          <p:cNvSpPr txBox="1"/>
          <p:nvPr/>
        </p:nvSpPr>
        <p:spPr>
          <a:xfrm>
            <a:off x="548640" y="432511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1188720" y="4215384"/>
            <a:ext cx="2377440" cy="411480"/>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qua item tail</a:t>
            </a:r>
            <a:endParaRPr lang="en-US" sz="1600" dirty="0"/>
          </a:p>
        </p:txBody>
      </p:sp>
      <p:sp>
        <p:nvSpPr>
          <p:cNvPr id="23" name="Text 21"/>
          <p:cNvSpPr txBox="1"/>
          <p:nvPr/>
        </p:nvSpPr>
        <p:spPr>
          <a:xfrm>
            <a:off x="1188720" y="4626864"/>
            <a:ext cx="2377440" cy="365760"/>
          </a:xfrm>
          <a:prstGeom prst="rect">
            <a:avLst/>
          </a:prstGeom>
          <a:noFill/>
          <a:ln/>
        </p:spPr>
        <p:txBody>
          <a:bodyPr wrap="square" lIns="0" tIns="0" rIns="0" bIns="0" rtlCol="0" anchor="ctr"/>
          <a:lstStyle/>
          <a:p>
            <a:pPr indent="0" marL="0">
              <a:buNone/>
            </a:pPr>
            <a:r>
              <a:rPr lang="en-US" sz="1100" dirty="0">
                <a:solidFill>
                  <a:srgbClr val="5E6B6E"/>
                </a:solidFill>
                <a:latin typeface="Calibri" pitchFamily="34" charset="0"/>
                <a:ea typeface="Calibri" pitchFamily="34" charset="-122"/>
                <a:cs typeface="Calibri" pitchFamily="34" charset="-120"/>
              </a:rPr>
              <a:t>Bậc ≤ 12 · 80% item · 10% cạnh</a:t>
            </a:r>
            <a:endParaRPr lang="en-US" sz="1100" dirty="0"/>
          </a:p>
        </p:txBody>
      </p:sp>
      <p:sp>
        <p:nvSpPr>
          <p:cNvPr id="24" name="Text 22"/>
          <p:cNvSpPr txBox="1"/>
          <p:nvPr/>
        </p:nvSpPr>
        <p:spPr>
          <a:xfrm>
            <a:off x="3657600" y="4215384"/>
            <a:ext cx="3291840" cy="777240"/>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Ít quan sát; chỉ 4,5% target tail có đường đồng mua ≤3 bước.</a:t>
            </a:r>
            <a:endParaRPr lang="en-US" sz="1300" dirty="0"/>
          </a:p>
        </p:txBody>
      </p:sp>
      <p:sp>
        <p:nvSpPr>
          <p:cNvPr id="25" name="Shape 23"/>
          <p:cNvSpPr/>
          <p:nvPr/>
        </p:nvSpPr>
        <p:spPr>
          <a:xfrm>
            <a:off x="548640" y="5257800"/>
            <a:ext cx="475488" cy="475488"/>
          </a:xfrm>
          <a:prstGeom prst="ellipse">
            <a:avLst/>
          </a:prstGeom>
          <a:solidFill>
            <a:srgbClr val="5E6B6E"/>
          </a:solidFill>
          <a:ln w="12700">
            <a:solidFill>
              <a:srgbClr val="5E6B6E"/>
            </a:solidFill>
            <a:prstDash val="solid"/>
          </a:ln>
        </p:spPr>
      </p:sp>
      <p:sp>
        <p:nvSpPr>
          <p:cNvPr id="26" name="Text 24"/>
          <p:cNvSpPr txBox="1"/>
          <p:nvPr/>
        </p:nvSpPr>
        <p:spPr>
          <a:xfrm>
            <a:off x="548640" y="525780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1188720" y="5148072"/>
            <a:ext cx="2377440" cy="411480"/>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qua user hoạt động nhiều</a:t>
            </a:r>
            <a:endParaRPr lang="en-US" sz="1600" dirty="0"/>
          </a:p>
        </p:txBody>
      </p:sp>
      <p:sp>
        <p:nvSpPr>
          <p:cNvPr id="28" name="Text 26"/>
          <p:cNvSpPr txBox="1"/>
          <p:nvPr/>
        </p:nvSpPr>
        <p:spPr>
          <a:xfrm>
            <a:off x="1188720" y="5559552"/>
            <a:ext cx="2377440" cy="365760"/>
          </a:xfrm>
          <a:prstGeom prst="rect">
            <a:avLst/>
          </a:prstGeom>
          <a:noFill/>
          <a:ln/>
        </p:spPr>
        <p:txBody>
          <a:bodyPr wrap="square" lIns="0" tIns="0" rIns="0" bIns="0" rtlCol="0" anchor="ctr"/>
          <a:lstStyle/>
          <a:p>
            <a:pPr indent="0" marL="0">
              <a:buNone/>
            </a:pPr>
            <a:r>
              <a:rPr lang="en-US" sz="1100" dirty="0">
                <a:solidFill>
                  <a:srgbClr val="5E6B6E"/>
                </a:solidFill>
                <a:latin typeface="Calibri" pitchFamily="34" charset="0"/>
                <a:ea typeface="Calibri" pitchFamily="34" charset="-122"/>
                <a:cs typeface="Calibri" pitchFamily="34" charset="-120"/>
              </a:rPr>
              <a:t>Bậc user cao (p99 = 9)</a:t>
            </a:r>
            <a:endParaRPr lang="en-US" sz="1100" dirty="0"/>
          </a:p>
        </p:txBody>
      </p:sp>
      <p:sp>
        <p:nvSpPr>
          <p:cNvPr id="29" name="Text 27"/>
          <p:cNvSpPr txBox="1"/>
          <p:nvPr/>
        </p:nvSpPr>
        <p:spPr>
          <a:xfrm>
            <a:off x="3657600" y="5148072"/>
            <a:ext cx="3291840" cy="777240"/>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Cầu nối nhiều sản phẩm (giả thuyết về vai trò).</a:t>
            </a:r>
            <a:endParaRPr lang="en-US" sz="1300" dirty="0"/>
          </a:p>
        </p:txBody>
      </p:sp>
      <p:sp>
        <p:nvSpPr>
          <p:cNvPr id="30" name="Shape 28"/>
          <p:cNvSpPr/>
          <p:nvPr/>
        </p:nvSpPr>
        <p:spPr>
          <a:xfrm>
            <a:off x="7223760" y="1417320"/>
            <a:ext cx="4389120" cy="2240280"/>
          </a:xfrm>
          <a:prstGeom prst="roundRect">
            <a:avLst>
              <a:gd name="adj" fmla="val 3265"/>
            </a:avLst>
          </a:prstGeom>
          <a:solidFill>
            <a:srgbClr val="FCF1DF"/>
          </a:solidFill>
          <a:ln w="12700">
            <a:solidFill>
              <a:srgbClr val="FCF1DF"/>
            </a:solidFill>
            <a:prstDash val="solid"/>
          </a:ln>
        </p:spPr>
      </p:sp>
      <p:sp>
        <p:nvSpPr>
          <p:cNvPr id="31" name="Text 29"/>
          <p:cNvSpPr txBox="1"/>
          <p:nvPr/>
        </p:nvSpPr>
        <p:spPr>
          <a:xfrm>
            <a:off x="7406640" y="1536192"/>
            <a:ext cx="402336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Không giả định trước giá trị</a:t>
            </a:r>
            <a:endParaRPr lang="en-US" sz="1600" dirty="0"/>
          </a:p>
        </p:txBody>
      </p:sp>
      <p:sp>
        <p:nvSpPr>
          <p:cNvPr id="32" name="Text 30"/>
          <p:cNvSpPr txBox="1"/>
          <p:nvPr/>
        </p:nvSpPr>
        <p:spPr>
          <a:xfrm>
            <a:off x="7406640" y="2029968"/>
            <a:ext cx="4023360" cy="1554480"/>
          </a:xfrm>
          <a:prstGeom prst="rect">
            <a:avLst/>
          </a:prstGeom>
          <a:noFill/>
          <a:ln/>
        </p:spPr>
        <p:txBody>
          <a:bodyPr wrap="square" lIns="0" tIns="0" rIns="0" bIns="0" rtlCol="0" anchor="t"/>
          <a:lstStyle/>
          <a:p>
            <a:pPr indent="0" marL="0">
              <a:spcAft>
                <a:spcPts val="300"/>
              </a:spcAft>
              <a:buNone/>
            </a:pPr>
            <a:r>
              <a:rPr lang="en-US" sz="1400" dirty="0">
                <a:solidFill>
                  <a:srgbClr val="13262A"/>
                </a:solidFill>
                <a:latin typeface="Calibri" pitchFamily="34" charset="0"/>
                <a:ea typeface="Calibri" pitchFamily="34" charset="-122"/>
                <a:cs typeface="Calibri" pitchFamily="34" charset="-120"/>
              </a:rPr>
              <a:t>Heuristic cố định (M1 ưu tiên head, M2 phạt hub) áp đặt một câu trả lời. GRAPES-GFN-Rec để sampler học: quan hệ nào giúp BPR loss giảm sẽ được chọn nhiều hơn.</a:t>
            </a:r>
            <a:endParaRPr lang="en-US" sz="1400" dirty="0"/>
          </a:p>
        </p:txBody>
      </p:sp>
      <p:sp>
        <p:nvSpPr>
          <p:cNvPr id="33" name="Shape 31"/>
          <p:cNvSpPr/>
          <p:nvPr/>
        </p:nvSpPr>
        <p:spPr>
          <a:xfrm>
            <a:off x="7223760" y="3794760"/>
            <a:ext cx="4389120" cy="2423160"/>
          </a:xfrm>
          <a:prstGeom prst="roundRect">
            <a:avLst>
              <a:gd name="adj" fmla="val 3019"/>
            </a:avLst>
          </a:prstGeom>
          <a:solidFill>
            <a:srgbClr val="E6F0EF"/>
          </a:solidFill>
          <a:ln w="12700">
            <a:solidFill>
              <a:srgbClr val="E6F0EF"/>
            </a:solidFill>
            <a:prstDash val="solid"/>
          </a:ln>
        </p:spPr>
      </p:sp>
      <p:sp>
        <p:nvSpPr>
          <p:cNvPr id="34" name="Text 32"/>
          <p:cNvSpPr txBox="1"/>
          <p:nvPr/>
        </p:nvSpPr>
        <p:spPr>
          <a:xfrm>
            <a:off x="7406640" y="3913632"/>
            <a:ext cx="402336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Đo lại bằng dữ liệu (RQ3, RQ4)</a:t>
            </a:r>
            <a:endParaRPr lang="en-US" sz="1600" dirty="0"/>
          </a:p>
        </p:txBody>
      </p:sp>
      <p:sp>
        <p:nvSpPr>
          <p:cNvPr id="35" name="Text 33"/>
          <p:cNvSpPr txBox="1"/>
          <p:nvPr/>
        </p:nvSpPr>
        <p:spPr>
          <a:xfrm>
            <a:off x="7406640" y="4407408"/>
            <a:ext cx="4023360" cy="1737360"/>
          </a:xfrm>
          <a:prstGeom prst="rect">
            <a:avLst/>
          </a:prstGeom>
          <a:noFill/>
          <a:ln/>
        </p:spPr>
        <p:txBody>
          <a:bodyPr wrap="square" lIns="0" tIns="0" rIns="0" bIns="0" rtlCol="0" anchor="t"/>
          <a:lstStyle/>
          <a:p>
            <a:pPr indent="0" marL="0">
              <a:spcAft>
                <a:spcPts val="300"/>
              </a:spcAft>
              <a:buNone/>
            </a:pPr>
            <a:r>
              <a:rPr lang="en-US" sz="1400" dirty="0">
                <a:solidFill>
                  <a:srgbClr val="13262A"/>
                </a:solidFill>
                <a:latin typeface="Calibri" pitchFamily="34" charset="0"/>
                <a:ea typeface="Calibri" pitchFamily="34" charset="-122"/>
                <a:cs typeface="Calibri" pitchFamily="34" charset="-120"/>
              </a:rPr>
              <a:t>Phân phối loại node, bậc, nhóm head/body/tail của node được chọn theo layer, so với M0 và M1 trên cùng tập ứng viên. Khi budget chặt hơn, quan hệ nào vẫn được giữ cho biết quan hệ nào quan trọng nhất.</a:t>
            </a:r>
            <a:endParaRPr lang="en-US" sz="1400" dirty="0"/>
          </a:p>
        </p:txBody>
      </p:sp>
      <p:sp>
        <p:nvSpPr>
          <p:cNvPr id="36" name="Text 34"/>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Mô tả vai trò từng loại quan hệ là giả thuyết, kiểm chứng ở RQ3. Ngưỡng head/body/tail: 06_code/configs/cohorts_v1.json.</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3 · GÓP Ý CỦA CÔ</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Ưu tiên tiêu chí nào thì các giá trị khác thay đổi ra sao</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31</a:t>
            </a:r>
            <a:endParaRPr lang="en-US" sz="1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94560"/>
                <a:gridCol w="2651760"/>
                <a:gridCol w="3840480"/>
                <a:gridCol w="2377440"/>
              </a:tblGrid>
              <a:tr h="713232">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Nếu chỉ tối ưu</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Điều có thể xảy ra</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Bằng chứng trên Baby_Products</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50" b="1" dirty="0">
                          <a:solidFill>
                            <a:srgbClr val="FFFFFF"/>
                          </a:solidFill>
                          <a:latin typeface="Calibri" pitchFamily="34" charset="0"/>
                          <a:ea typeface="Calibri" pitchFamily="34" charset="-122"/>
                          <a:cs typeface="Calibri" pitchFamily="34" charset="-120"/>
                        </a:rPr>
                        <a:t>Cách đồ án đo</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713232">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Độ chính xác tổng (NDCG)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Dồn về sản phẩm phổ biến, độ phủ sụp</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MostPop: NDCG@20 0,0059 nhưng chỉ gợi ý 25 sản phẩm, coverage 0,00015, 100% exposure ở head</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NDCG kèm coverage và exposure theo nhóm</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713232">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Độ phủ / đa dạng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Có thể giảm độ chính xác</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BPR-MF: coverage 0,0335 (~218 lần MostPop) nhưng NDCG@20 0,0041</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Đồ thị NDCG–coverage</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713232">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Chi phí thấp (budget k nhỏ)</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Giả thuyết: ít ngữ cảnh, chất lượng giảm</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Chưa đo — là RQ4</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NDCG–thời gian ở 2 mức budget</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713232">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Đưa sản phẩm tail lên</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Giả thuyết: exposure tail tăng nhưng hit tail không tăng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Chưa đo cho phương pháp mới</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Exposure và hit tail tách riêng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713232">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Mức khớp ngữ nghĩa</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Chưa đo; giả thuyết: giảm đa dạng</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Chưa đo — metadata đã có, số chờ R5</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50" dirty="0">
                          <a:solidFill>
                            <a:srgbClr val="13262A"/>
                          </a:solidFill>
                          <a:latin typeface="Calibri" pitchFamily="34" charset="0"/>
                          <a:ea typeface="Calibri" pitchFamily="34" charset="-122"/>
                          <a:cs typeface="Calibri" pitchFamily="34" charset="-120"/>
                        </a:rPr>
                        <a:t>Semantic match@20 cùng ILD@20</a:t>
                      </a:r>
                      <a:endParaRPr lang="en-US" sz="13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715000"/>
            <a:ext cx="11064240" cy="548640"/>
          </a:xfrm>
          <a:prstGeom prst="rect">
            <a:avLst/>
          </a:prstGeom>
          <a:noFill/>
          <a:ln/>
        </p:spPr>
        <p:txBody>
          <a:bodyPr wrap="square" lIns="0" tIns="0" rIns="0" bIns="0" rtlCol="0" anchor="ctr"/>
          <a:lstStyle/>
          <a:p>
            <a:pPr indent="0" marL="0">
              <a:buNone/>
            </a:pPr>
            <a:r>
              <a:rPr lang="en-US" sz="1400" i="1" dirty="0">
                <a:solidFill>
                  <a:srgbClr val="2E7D7A"/>
                </a:solidFill>
                <a:latin typeface="Calibri" pitchFamily="34" charset="0"/>
                <a:ea typeface="Calibri" pitchFamily="34" charset="-122"/>
                <a:cs typeface="Calibri" pitchFamily="34" charset="-120"/>
              </a:rPr>
              <a:t>Không chọn phương pháp bằng một con số. Kết quả được báo như mặt trận Pareto: không phương pháp nào được coi là tốt hơn nếu nó thua ở một trục mà không thắng ở trục khác.</a:t>
            </a:r>
            <a:endParaRPr lang="en-US" sz="1400" dirty="0"/>
          </a:p>
        </p:txBody>
      </p:sp>
      <p:sp>
        <p:nvSpPr>
          <p:cNvPr id="7" name="Text 4"/>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MostPop (không huấn luyện) và BPR-MF (5 epoch) là baseline sanity cũ trên validation — chỉ minh họa trade-off của dữ liệu, không phải kết quả GRAPES-GFN-Rec.</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4 · PHƯƠNG PHÁP</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Kiến trúc tổng thể GRAPES-GFN-Rec</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32</a:t>
            </a:r>
            <a:endParaRPr lang="en-US" sz="1000" dirty="0"/>
          </a:p>
        </p:txBody>
      </p:sp>
      <p:sp>
        <p:nvSpPr>
          <p:cNvPr id="5" name="Text 3"/>
          <p:cNvSpPr txBox="1"/>
          <p:nvPr/>
        </p:nvSpPr>
        <p:spPr>
          <a:xfrm>
            <a:off x="548640" y="1371600"/>
            <a:ext cx="3657600" cy="320040"/>
          </a:xfrm>
          <a:prstGeom prst="rect">
            <a:avLst/>
          </a:prstGeom>
          <a:noFill/>
          <a:ln/>
        </p:spPr>
        <p:txBody>
          <a:bodyPr wrap="square" lIns="0" tIns="0" rIns="0" bIns="0" rtlCol="0" anchor="ctr"/>
          <a:lstStyle/>
          <a:p>
            <a:pPr indent="0" marL="0">
              <a:buNone/>
            </a:pPr>
            <a:r>
              <a:rPr lang="en-US" sz="1300" b="1" dirty="0">
                <a:solidFill>
                  <a:srgbClr val="2E7D7A"/>
                </a:solidFill>
                <a:latin typeface="Calibri" pitchFamily="34" charset="0"/>
                <a:ea typeface="Calibri" pitchFamily="34" charset="-122"/>
                <a:cs typeface="Calibri" pitchFamily="34" charset="-120"/>
              </a:rPr>
              <a:t>Huấn luyện một bước</a:t>
            </a:r>
            <a:endParaRPr lang="en-US" sz="1300" dirty="0"/>
          </a:p>
        </p:txBody>
      </p:sp>
      <p:sp>
        <p:nvSpPr>
          <p:cNvPr id="6" name="Shape 4"/>
          <p:cNvSpPr/>
          <p:nvPr/>
        </p:nvSpPr>
        <p:spPr>
          <a:xfrm>
            <a:off x="548640" y="1828800"/>
            <a:ext cx="1828800" cy="868680"/>
          </a:xfrm>
          <a:prstGeom prst="roundRect">
            <a:avLst>
              <a:gd name="adj" fmla="val 6316"/>
            </a:avLst>
          </a:prstGeom>
          <a:solidFill>
            <a:srgbClr val="E6F0EF"/>
          </a:solidFill>
          <a:ln w="12700">
            <a:solidFill>
              <a:srgbClr val="E6F0EF"/>
            </a:solidFill>
            <a:prstDash val="solid"/>
          </a:ln>
        </p:spPr>
      </p:sp>
      <p:sp>
        <p:nvSpPr>
          <p:cNvPr id="7" name="Text 5"/>
          <p:cNvSpPr txBox="1"/>
          <p:nvPr/>
        </p:nvSpPr>
        <p:spPr>
          <a:xfrm>
            <a:off x="621792" y="1828800"/>
            <a:ext cx="1682496" cy="868680"/>
          </a:xfrm>
          <a:prstGeom prst="rect">
            <a:avLst/>
          </a:prstGeom>
          <a:noFill/>
          <a:ln/>
        </p:spPr>
        <p:txBody>
          <a:bodyPr wrap="square" lIns="0" tIns="0" rIns="0" bIns="0" rtlCol="0" anchor="ctr"/>
          <a:lstStyle/>
          <a:p>
            <a:pPr algn="ctr" indent="0" marL="0">
              <a:buNone/>
            </a:pPr>
            <a:r>
              <a:rPr lang="en-US" sz="1300" b="1" dirty="0">
                <a:solidFill>
                  <a:srgbClr val="13262A"/>
                </a:solidFill>
                <a:latin typeface="Calibri" pitchFamily="34" charset="0"/>
                <a:ea typeface="Calibri" pitchFamily="34" charset="-122"/>
                <a:cs typeface="Calibri" pitchFamily="34" charset="-120"/>
              </a:rPr>
              <a:t>Batch BPR</a:t>
            </a:r>
            <a:endParaRPr lang="en-US" sz="1300" dirty="0"/>
          </a:p>
          <a:p>
            <a:pPr algn="ctr" indent="0" marL="0">
              <a:buNone/>
            </a:pPr>
            <a:r>
              <a:rPr lang="en-US" sz="1300" b="1" dirty="0">
                <a:solidFill>
                  <a:srgbClr val="13262A"/>
                </a:solidFill>
                <a:latin typeface="Calibri" pitchFamily="34" charset="0"/>
                <a:ea typeface="Calibri" pitchFamily="34" charset="-122"/>
                <a:cs typeface="Calibri" pitchFamily="34" charset="-120"/>
              </a:rPr>
              <a:t>(u, i⁺, i⁻)</a:t>
            </a:r>
            <a:endParaRPr lang="en-US" sz="1300" dirty="0"/>
          </a:p>
        </p:txBody>
      </p:sp>
      <p:sp>
        <p:nvSpPr>
          <p:cNvPr id="8" name="Shape 6"/>
          <p:cNvSpPr/>
          <p:nvPr/>
        </p:nvSpPr>
        <p:spPr>
          <a:xfrm>
            <a:off x="2743200" y="1828800"/>
            <a:ext cx="2103120" cy="868680"/>
          </a:xfrm>
          <a:prstGeom prst="roundRect">
            <a:avLst>
              <a:gd name="adj" fmla="val 6316"/>
            </a:avLst>
          </a:prstGeom>
          <a:solidFill>
            <a:srgbClr val="E6F0EF"/>
          </a:solidFill>
          <a:ln w="12700">
            <a:solidFill>
              <a:srgbClr val="E6F0EF"/>
            </a:solidFill>
            <a:prstDash val="solid"/>
          </a:ln>
        </p:spPr>
      </p:sp>
      <p:sp>
        <p:nvSpPr>
          <p:cNvPr id="9" name="Text 7"/>
          <p:cNvSpPr txBox="1"/>
          <p:nvPr/>
        </p:nvSpPr>
        <p:spPr>
          <a:xfrm>
            <a:off x="2816352" y="1828800"/>
            <a:ext cx="1956816" cy="868680"/>
          </a:xfrm>
          <a:prstGeom prst="rect">
            <a:avLst/>
          </a:prstGeom>
          <a:noFill/>
          <a:ln/>
        </p:spPr>
        <p:txBody>
          <a:bodyPr wrap="square" lIns="0" tIns="0" rIns="0" bIns="0" rtlCol="0" anchor="ctr"/>
          <a:lstStyle/>
          <a:p>
            <a:pPr algn="ctr" indent="0" marL="0">
              <a:buNone/>
            </a:pPr>
            <a:r>
              <a:rPr lang="en-US" sz="1300" b="1" dirty="0">
                <a:solidFill>
                  <a:srgbClr val="13262A"/>
                </a:solidFill>
                <a:latin typeface="Calibri" pitchFamily="34" charset="0"/>
                <a:ea typeface="Calibri" pitchFamily="34" charset="-122"/>
                <a:cs typeface="Calibri" pitchFamily="34" charset="-120"/>
              </a:rPr>
              <a:t>V⁰ = user, item mua,</a:t>
            </a:r>
            <a:endParaRPr lang="en-US" sz="1300" dirty="0"/>
          </a:p>
          <a:p>
            <a:pPr algn="ctr" indent="0" marL="0">
              <a:buNone/>
            </a:pPr>
            <a:r>
              <a:rPr lang="en-US" sz="1300" b="1" dirty="0">
                <a:solidFill>
                  <a:srgbClr val="13262A"/>
                </a:solidFill>
                <a:latin typeface="Calibri" pitchFamily="34" charset="0"/>
                <a:ea typeface="Calibri" pitchFamily="34" charset="-122"/>
                <a:cs typeface="Calibri" pitchFamily="34" charset="-120"/>
              </a:rPr>
              <a:t>item âm</a:t>
            </a:r>
            <a:endParaRPr lang="en-US" sz="1300" dirty="0"/>
          </a:p>
        </p:txBody>
      </p:sp>
      <p:sp>
        <p:nvSpPr>
          <p:cNvPr id="10" name="Shape 8"/>
          <p:cNvSpPr/>
          <p:nvPr/>
        </p:nvSpPr>
        <p:spPr>
          <a:xfrm>
            <a:off x="5212080" y="1828800"/>
            <a:ext cx="2743200" cy="868680"/>
          </a:xfrm>
          <a:prstGeom prst="roundRect">
            <a:avLst>
              <a:gd name="adj" fmla="val 6316"/>
            </a:avLst>
          </a:prstGeom>
          <a:solidFill>
            <a:srgbClr val="0F4C4F"/>
          </a:solidFill>
          <a:ln w="12700">
            <a:solidFill>
              <a:srgbClr val="0F4C4F"/>
            </a:solidFill>
            <a:prstDash val="solid"/>
          </a:ln>
        </p:spPr>
      </p:sp>
      <p:sp>
        <p:nvSpPr>
          <p:cNvPr id="11" name="Text 9"/>
          <p:cNvSpPr txBox="1"/>
          <p:nvPr/>
        </p:nvSpPr>
        <p:spPr>
          <a:xfrm>
            <a:off x="5285232" y="1828800"/>
            <a:ext cx="2596896"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Sampler GCN_S</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chọn k node / layer (Gumbel Top-k)</a:t>
            </a:r>
            <a:endParaRPr lang="en-US" sz="1300" dirty="0"/>
          </a:p>
        </p:txBody>
      </p:sp>
      <p:sp>
        <p:nvSpPr>
          <p:cNvPr id="12" name="Shape 10"/>
          <p:cNvSpPr/>
          <p:nvPr/>
        </p:nvSpPr>
        <p:spPr>
          <a:xfrm>
            <a:off x="8321040" y="1828800"/>
            <a:ext cx="3291840" cy="868680"/>
          </a:xfrm>
          <a:prstGeom prst="roundRect">
            <a:avLst>
              <a:gd name="adj" fmla="val 6316"/>
            </a:avLst>
          </a:prstGeom>
          <a:solidFill>
            <a:srgbClr val="0F4C4F"/>
          </a:solidFill>
          <a:ln w="12700">
            <a:solidFill>
              <a:srgbClr val="0F4C4F"/>
            </a:solidFill>
            <a:prstDash val="solid"/>
          </a:ln>
        </p:spPr>
      </p:sp>
      <p:sp>
        <p:nvSpPr>
          <p:cNvPr id="13" name="Text 11"/>
          <p:cNvSpPr txBox="1"/>
          <p:nvPr/>
        </p:nvSpPr>
        <p:spPr>
          <a:xfrm>
            <a:off x="8394192" y="1828800"/>
            <a:ext cx="3145536" cy="8686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Sampled LightGCN</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trên K¹…K^L</a:t>
            </a:r>
            <a:endParaRPr lang="en-US" sz="1300" dirty="0"/>
          </a:p>
        </p:txBody>
      </p:sp>
      <p:sp>
        <p:nvSpPr>
          <p:cNvPr id="14" name="Shape 12"/>
          <p:cNvSpPr/>
          <p:nvPr/>
        </p:nvSpPr>
        <p:spPr>
          <a:xfrm>
            <a:off x="2377440" y="2263140"/>
            <a:ext cx="365760" cy="914"/>
          </a:xfrm>
          <a:prstGeom prst="line">
            <a:avLst/>
          </a:prstGeom>
          <a:noFill/>
          <a:ln w="22225">
            <a:solidFill>
              <a:srgbClr val="5E6B6E"/>
            </a:solidFill>
            <a:prstDash val="solid"/>
            <a:tailEnd type="triangle"/>
          </a:ln>
        </p:spPr>
      </p:sp>
      <p:sp>
        <p:nvSpPr>
          <p:cNvPr id="15" name="Shape 13"/>
          <p:cNvSpPr/>
          <p:nvPr/>
        </p:nvSpPr>
        <p:spPr>
          <a:xfrm>
            <a:off x="4846320" y="2263140"/>
            <a:ext cx="365760" cy="914"/>
          </a:xfrm>
          <a:prstGeom prst="line">
            <a:avLst/>
          </a:prstGeom>
          <a:noFill/>
          <a:ln w="22225">
            <a:solidFill>
              <a:srgbClr val="5E6B6E"/>
            </a:solidFill>
            <a:prstDash val="solid"/>
            <a:tailEnd type="triangle"/>
          </a:ln>
        </p:spPr>
      </p:sp>
      <p:sp>
        <p:nvSpPr>
          <p:cNvPr id="16" name="Shape 14"/>
          <p:cNvSpPr/>
          <p:nvPr/>
        </p:nvSpPr>
        <p:spPr>
          <a:xfrm>
            <a:off x="7955280" y="2263140"/>
            <a:ext cx="365760" cy="914"/>
          </a:xfrm>
          <a:prstGeom prst="line">
            <a:avLst/>
          </a:prstGeom>
          <a:noFill/>
          <a:ln w="22225">
            <a:solidFill>
              <a:srgbClr val="5E6B6E"/>
            </a:solidFill>
            <a:prstDash val="solid"/>
            <a:tailEnd type="triangle"/>
          </a:ln>
        </p:spPr>
      </p:sp>
      <p:sp>
        <p:nvSpPr>
          <p:cNvPr id="17" name="Shape 15"/>
          <p:cNvSpPr/>
          <p:nvPr/>
        </p:nvSpPr>
        <p:spPr>
          <a:xfrm>
            <a:off x="8321040" y="3154680"/>
            <a:ext cx="3291840" cy="731520"/>
          </a:xfrm>
          <a:prstGeom prst="roundRect">
            <a:avLst>
              <a:gd name="adj" fmla="val 7500"/>
            </a:avLst>
          </a:prstGeom>
          <a:solidFill>
            <a:srgbClr val="FCF1DF"/>
          </a:solidFill>
          <a:ln w="12700">
            <a:solidFill>
              <a:srgbClr val="FCF1DF"/>
            </a:solidFill>
            <a:prstDash val="solid"/>
          </a:ln>
        </p:spPr>
      </p:sp>
      <p:sp>
        <p:nvSpPr>
          <p:cNvPr id="18" name="Text 16"/>
          <p:cNvSpPr txBox="1"/>
          <p:nvPr/>
        </p:nvSpPr>
        <p:spPr>
          <a:xfrm>
            <a:off x="8394192" y="3154680"/>
            <a:ext cx="3145536" cy="731520"/>
          </a:xfrm>
          <a:prstGeom prst="rect">
            <a:avLst/>
          </a:prstGeom>
          <a:noFill/>
          <a:ln/>
        </p:spPr>
        <p:txBody>
          <a:bodyPr wrap="square" lIns="0" tIns="0" rIns="0" bIns="0" rtlCol="0" anchor="ctr"/>
          <a:lstStyle/>
          <a:p>
            <a:pPr algn="ctr" indent="0" marL="0">
              <a:buNone/>
            </a:pPr>
            <a:r>
              <a:rPr lang="en-US" sz="1300" b="1" dirty="0">
                <a:solidFill>
                  <a:srgbClr val="13262A"/>
                </a:solidFill>
                <a:latin typeface="Calibri" pitchFamily="34" charset="0"/>
                <a:ea typeface="Calibri" pitchFamily="34" charset="-122"/>
                <a:cs typeface="Calibri" pitchFamily="34" charset="-120"/>
              </a:rPr>
              <a:t>BPR loss → cập nhật Θ_R</a:t>
            </a:r>
            <a:endParaRPr lang="en-US" sz="1300" dirty="0"/>
          </a:p>
        </p:txBody>
      </p:sp>
      <p:sp>
        <p:nvSpPr>
          <p:cNvPr id="19" name="Shape 17"/>
          <p:cNvSpPr/>
          <p:nvPr/>
        </p:nvSpPr>
        <p:spPr>
          <a:xfrm>
            <a:off x="9966960" y="2697480"/>
            <a:ext cx="914" cy="457200"/>
          </a:xfrm>
          <a:prstGeom prst="line">
            <a:avLst/>
          </a:prstGeom>
          <a:noFill/>
          <a:ln w="22225">
            <a:solidFill>
              <a:srgbClr val="5E6B6E"/>
            </a:solidFill>
            <a:prstDash val="solid"/>
            <a:tailEnd type="triangle"/>
          </a:ln>
        </p:spPr>
      </p:sp>
      <p:sp>
        <p:nvSpPr>
          <p:cNvPr id="20" name="Shape 18"/>
          <p:cNvSpPr/>
          <p:nvPr/>
        </p:nvSpPr>
        <p:spPr>
          <a:xfrm>
            <a:off x="5212080" y="3154680"/>
            <a:ext cx="2743200" cy="731520"/>
          </a:xfrm>
          <a:prstGeom prst="roundRect">
            <a:avLst>
              <a:gd name="adj" fmla="val 7500"/>
            </a:avLst>
          </a:prstGeom>
          <a:solidFill>
            <a:srgbClr val="F4F7F7"/>
          </a:solidFill>
          <a:ln w="12700">
            <a:solidFill>
              <a:srgbClr val="F4F7F7"/>
            </a:solidFill>
            <a:prstDash val="solid"/>
          </a:ln>
        </p:spPr>
      </p:sp>
      <p:sp>
        <p:nvSpPr>
          <p:cNvPr id="21" name="Text 19"/>
          <p:cNvSpPr txBox="1"/>
          <p:nvPr/>
        </p:nvSpPr>
        <p:spPr>
          <a:xfrm>
            <a:off x="5285232" y="3154680"/>
            <a:ext cx="2596896" cy="731520"/>
          </a:xfrm>
          <a:prstGeom prst="rect">
            <a:avLst/>
          </a:prstGeom>
          <a:noFill/>
          <a:ln/>
        </p:spPr>
        <p:txBody>
          <a:bodyPr wrap="square" lIns="0" tIns="0" rIns="0" bIns="0" rtlCol="0" anchor="ctr"/>
          <a:lstStyle/>
          <a:p>
            <a:pPr algn="ctr" indent="0" marL="0">
              <a:buNone/>
            </a:pPr>
            <a:r>
              <a:rPr lang="en-US" sz="1300" b="1" dirty="0">
                <a:solidFill>
                  <a:srgbClr val="13262A"/>
                </a:solidFill>
                <a:latin typeface="Calibri" pitchFamily="34" charset="0"/>
                <a:ea typeface="Calibri" pitchFamily="34" charset="-122"/>
                <a:cs typeface="Calibri" pitchFamily="34" charset="-120"/>
              </a:rPr>
              <a:t>log q (tổng các layer)</a:t>
            </a:r>
            <a:endParaRPr lang="en-US" sz="1300" dirty="0"/>
          </a:p>
        </p:txBody>
      </p:sp>
      <p:sp>
        <p:nvSpPr>
          <p:cNvPr id="22" name="Shape 20"/>
          <p:cNvSpPr/>
          <p:nvPr/>
        </p:nvSpPr>
        <p:spPr>
          <a:xfrm>
            <a:off x="6583680" y="2697480"/>
            <a:ext cx="914" cy="457200"/>
          </a:xfrm>
          <a:prstGeom prst="line">
            <a:avLst/>
          </a:prstGeom>
          <a:noFill/>
          <a:ln w="22225">
            <a:solidFill>
              <a:srgbClr val="5E6B6E"/>
            </a:solidFill>
            <a:prstDash val="solid"/>
            <a:tailEnd type="triangle"/>
          </a:ln>
        </p:spPr>
      </p:sp>
      <p:sp>
        <p:nvSpPr>
          <p:cNvPr id="23" name="Shape 21"/>
          <p:cNvSpPr/>
          <p:nvPr/>
        </p:nvSpPr>
        <p:spPr>
          <a:xfrm>
            <a:off x="2743200" y="3154680"/>
            <a:ext cx="2103120" cy="731520"/>
          </a:xfrm>
          <a:prstGeom prst="roundRect">
            <a:avLst>
              <a:gd name="adj" fmla="val 7500"/>
            </a:avLst>
          </a:prstGeom>
          <a:solidFill>
            <a:srgbClr val="F4F7F7"/>
          </a:solidFill>
          <a:ln w="12700">
            <a:solidFill>
              <a:srgbClr val="F4F7F7"/>
            </a:solidFill>
            <a:prstDash val="solid"/>
          </a:ln>
        </p:spPr>
      </p:sp>
      <p:sp>
        <p:nvSpPr>
          <p:cNvPr id="24" name="Text 22"/>
          <p:cNvSpPr txBox="1"/>
          <p:nvPr/>
        </p:nvSpPr>
        <p:spPr>
          <a:xfrm>
            <a:off x="2816352" y="3154680"/>
            <a:ext cx="1956816" cy="731520"/>
          </a:xfrm>
          <a:prstGeom prst="rect">
            <a:avLst/>
          </a:prstGeom>
          <a:noFill/>
          <a:ln/>
        </p:spPr>
        <p:txBody>
          <a:bodyPr wrap="square" lIns="0" tIns="0" rIns="0" bIns="0" rtlCol="0" anchor="ctr"/>
          <a:lstStyle/>
          <a:p>
            <a:pPr algn="ctr" indent="0" marL="0">
              <a:buNone/>
            </a:pPr>
            <a:r>
              <a:rPr lang="en-US" sz="1300" b="1" dirty="0">
                <a:solidFill>
                  <a:srgbClr val="13262A"/>
                </a:solidFill>
                <a:latin typeface="Calibri" pitchFamily="34" charset="0"/>
                <a:ea typeface="Calibri" pitchFamily="34" charset="-122"/>
                <a:cs typeface="Calibri" pitchFamily="34" charset="-120"/>
              </a:rPr>
              <a:t>GCN_Z → log Z(V⁰)</a:t>
            </a:r>
            <a:endParaRPr lang="en-US" sz="1300" dirty="0"/>
          </a:p>
        </p:txBody>
      </p:sp>
      <p:sp>
        <p:nvSpPr>
          <p:cNvPr id="25" name="Shape 23"/>
          <p:cNvSpPr/>
          <p:nvPr/>
        </p:nvSpPr>
        <p:spPr>
          <a:xfrm>
            <a:off x="3794760" y="2697480"/>
            <a:ext cx="914" cy="457200"/>
          </a:xfrm>
          <a:prstGeom prst="line">
            <a:avLst/>
          </a:prstGeom>
          <a:noFill/>
          <a:ln w="22225">
            <a:solidFill>
              <a:srgbClr val="5E6B6E"/>
            </a:solidFill>
            <a:prstDash val="solid"/>
            <a:tailEnd type="triangle"/>
          </a:ln>
        </p:spPr>
      </p:sp>
      <p:sp>
        <p:nvSpPr>
          <p:cNvPr id="26" name="Shape 24"/>
          <p:cNvSpPr/>
          <p:nvPr/>
        </p:nvSpPr>
        <p:spPr>
          <a:xfrm>
            <a:off x="2743200" y="4297680"/>
            <a:ext cx="8869680" cy="777240"/>
          </a:xfrm>
          <a:prstGeom prst="roundRect">
            <a:avLst>
              <a:gd name="adj" fmla="val 7059"/>
            </a:avLst>
          </a:prstGeom>
          <a:solidFill>
            <a:srgbClr val="E89B2D"/>
          </a:solidFill>
          <a:ln w="12700">
            <a:solidFill>
              <a:srgbClr val="E89B2D"/>
            </a:solidFill>
            <a:prstDash val="solid"/>
          </a:ln>
        </p:spPr>
      </p:sp>
      <p:sp>
        <p:nvSpPr>
          <p:cNvPr id="27" name="Text 25"/>
          <p:cNvSpPr txBox="1"/>
          <p:nvPr/>
        </p:nvSpPr>
        <p:spPr>
          <a:xfrm>
            <a:off x="2816352" y="4297680"/>
            <a:ext cx="8723376" cy="777240"/>
          </a:xfrm>
          <a:prstGeom prst="rect">
            <a:avLst/>
          </a:prstGeom>
          <a:noFill/>
          <a:ln/>
        </p:spPr>
        <p:txBody>
          <a:bodyPr wrap="square" lIns="0" tIns="0" rIns="0" bIns="0" rtlCol="0" anchor="ctr"/>
          <a:lstStyle/>
          <a:p>
            <a:pPr algn="ctr" indent="0" marL="0">
              <a:buNone/>
            </a:pPr>
            <a:r>
              <a:rPr lang="en-US" sz="1400" b="1" dirty="0">
                <a:solidFill>
                  <a:srgbClr val="13262A"/>
                </a:solidFill>
                <a:latin typeface="Calibri" pitchFamily="34" charset="0"/>
                <a:ea typeface="Calibri" pitchFamily="34" charset="-122"/>
                <a:cs typeface="Calibri" pitchFamily="34" charset="-120"/>
              </a:rPr>
              <a:t>Trajectory Balance: (log Z + log q + α · BPR đã detach)²  →  cập nhật Θ_S ∪ Θ_Z</a:t>
            </a:r>
            <a:endParaRPr lang="en-US" sz="1400" dirty="0"/>
          </a:p>
        </p:txBody>
      </p:sp>
      <p:sp>
        <p:nvSpPr>
          <p:cNvPr id="28" name="Shape 26"/>
          <p:cNvSpPr/>
          <p:nvPr/>
        </p:nvSpPr>
        <p:spPr>
          <a:xfrm>
            <a:off x="3794760" y="3886200"/>
            <a:ext cx="914" cy="411480"/>
          </a:xfrm>
          <a:prstGeom prst="line">
            <a:avLst/>
          </a:prstGeom>
          <a:noFill/>
          <a:ln w="22225">
            <a:solidFill>
              <a:srgbClr val="5E6B6E"/>
            </a:solidFill>
            <a:prstDash val="solid"/>
            <a:tailEnd type="triangle"/>
          </a:ln>
        </p:spPr>
      </p:sp>
      <p:sp>
        <p:nvSpPr>
          <p:cNvPr id="29" name="Shape 27"/>
          <p:cNvSpPr/>
          <p:nvPr/>
        </p:nvSpPr>
        <p:spPr>
          <a:xfrm>
            <a:off x="6583680" y="3886200"/>
            <a:ext cx="914" cy="411480"/>
          </a:xfrm>
          <a:prstGeom prst="line">
            <a:avLst/>
          </a:prstGeom>
          <a:noFill/>
          <a:ln w="22225">
            <a:solidFill>
              <a:srgbClr val="5E6B6E"/>
            </a:solidFill>
            <a:prstDash val="solid"/>
            <a:tailEnd type="triangle"/>
          </a:ln>
        </p:spPr>
      </p:sp>
      <p:sp>
        <p:nvSpPr>
          <p:cNvPr id="30" name="Shape 28"/>
          <p:cNvSpPr/>
          <p:nvPr/>
        </p:nvSpPr>
        <p:spPr>
          <a:xfrm>
            <a:off x="9966960" y="3886200"/>
            <a:ext cx="914" cy="411480"/>
          </a:xfrm>
          <a:prstGeom prst="line">
            <a:avLst/>
          </a:prstGeom>
          <a:noFill/>
          <a:ln w="22225">
            <a:solidFill>
              <a:srgbClr val="5E6B6E"/>
            </a:solidFill>
            <a:prstDash val="solid"/>
            <a:tailEnd type="triangle"/>
          </a:ln>
        </p:spPr>
      </p:sp>
      <p:sp>
        <p:nvSpPr>
          <p:cNvPr id="31" name="Text 29"/>
          <p:cNvSpPr txBox="1"/>
          <p:nvPr/>
        </p:nvSpPr>
        <p:spPr>
          <a:xfrm>
            <a:off x="548640" y="5349240"/>
            <a:ext cx="3657600" cy="320040"/>
          </a:xfrm>
          <a:prstGeom prst="rect">
            <a:avLst/>
          </a:prstGeom>
          <a:noFill/>
          <a:ln/>
        </p:spPr>
        <p:txBody>
          <a:bodyPr wrap="square" lIns="0" tIns="0" rIns="0" bIns="0" rtlCol="0" anchor="ctr"/>
          <a:lstStyle/>
          <a:p>
            <a:pPr indent="0" marL="0">
              <a:buNone/>
            </a:pPr>
            <a:r>
              <a:rPr lang="en-US" sz="1300" b="1" dirty="0">
                <a:solidFill>
                  <a:srgbClr val="2E7D7A"/>
                </a:solidFill>
                <a:latin typeface="Calibri" pitchFamily="34" charset="0"/>
                <a:ea typeface="Calibri" pitchFamily="34" charset="-122"/>
                <a:cs typeface="Calibri" pitchFamily="34" charset="-120"/>
              </a:rPr>
              <a:t>Suy luận</a:t>
            </a:r>
            <a:endParaRPr lang="en-US" sz="1300" dirty="0"/>
          </a:p>
        </p:txBody>
      </p:sp>
      <p:sp>
        <p:nvSpPr>
          <p:cNvPr id="32" name="Shape 30"/>
          <p:cNvSpPr/>
          <p:nvPr/>
        </p:nvSpPr>
        <p:spPr>
          <a:xfrm>
            <a:off x="548640" y="5715000"/>
            <a:ext cx="11064240" cy="548640"/>
          </a:xfrm>
          <a:prstGeom prst="roundRect">
            <a:avLst>
              <a:gd name="adj" fmla="val 10000"/>
            </a:avLst>
          </a:prstGeom>
          <a:solidFill>
            <a:srgbClr val="E6F0EF"/>
          </a:solidFill>
          <a:ln w="12700">
            <a:solidFill>
              <a:srgbClr val="E6F0EF"/>
            </a:solidFill>
            <a:prstDash val="solid"/>
          </a:ln>
        </p:spPr>
      </p:sp>
      <p:sp>
        <p:nvSpPr>
          <p:cNvPr id="33" name="Text 31"/>
          <p:cNvSpPr txBox="1"/>
          <p:nvPr/>
        </p:nvSpPr>
        <p:spPr>
          <a:xfrm>
            <a:off x="621792" y="5715000"/>
            <a:ext cx="10917936" cy="548640"/>
          </a:xfrm>
          <a:prstGeom prst="rect">
            <a:avLst/>
          </a:prstGeom>
          <a:noFill/>
          <a:ln/>
        </p:spPr>
        <p:txBody>
          <a:bodyPr wrap="square" lIns="0" tIns="0" rIns="0" bIns="0" rtlCol="0" anchor="ctr"/>
          <a:lstStyle/>
          <a:p>
            <a:pPr algn="ctr" indent="0" marL="0">
              <a:buNone/>
            </a:pPr>
            <a:r>
              <a:rPr lang="en-US" sz="1300" b="1" dirty="0">
                <a:solidFill>
                  <a:srgbClr val="13262A"/>
                </a:solidFill>
                <a:latin typeface="Calibri" pitchFamily="34" charset="0"/>
                <a:ea typeface="Calibri" pitchFamily="34" charset="-122"/>
                <a:cs typeface="Calibri" pitchFamily="34" charset="-120"/>
              </a:rPr>
              <a:t>Không lấy mẫu: LightGCN trên toàn bộ graph train → xếp hạng toàn catalog → NDCG@20, Recall@20, coverage, head/tail</a:t>
            </a:r>
            <a:endParaRPr lang="en-US" sz="1300" dirty="0"/>
          </a:p>
        </p:txBody>
      </p:sp>
      <p:sp>
        <p:nvSpPr>
          <p:cNvPr id="34" name="Text 32"/>
          <p:cNvSpPr txBox="1"/>
          <p:nvPr/>
        </p:nvSpPr>
        <p:spPr>
          <a:xfrm>
            <a:off x="548640" y="3154680"/>
            <a:ext cx="2011680" cy="1005840"/>
          </a:xfrm>
          <a:prstGeom prst="rect">
            <a:avLst/>
          </a:prstGeom>
          <a:noFill/>
          <a:ln/>
        </p:spPr>
        <p:txBody>
          <a:bodyPr wrap="square" lIns="0" tIns="0" rIns="0" bIns="0" rtlCol="0" anchor="t"/>
          <a:lstStyle/>
          <a:p>
            <a:pPr indent="0" marL="0">
              <a:buNone/>
            </a:pPr>
            <a:r>
              <a:rPr lang="en-US" sz="1100" i="1" dirty="0">
                <a:solidFill>
                  <a:srgbClr val="5E6B6E"/>
                </a:solidFill>
                <a:latin typeface="Calibri" pitchFamily="34" charset="0"/>
                <a:ea typeface="Calibri" pitchFamily="34" charset="-122"/>
                <a:cs typeface="Calibri" pitchFamily="34" charset="-120"/>
              </a:rPr>
              <a:t>Sampler không nhận gradient BPR; recommender không nhận gradient TB (đã có test kiểm chứng).</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4 · PHƯƠNG PHÁP</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Một bước lấy mẫu trong layer l</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33</a:t>
            </a:r>
            <a:endParaRPr lang="en-US" sz="1000" dirty="0"/>
          </a:p>
        </p:txBody>
      </p:sp>
      <p:sp>
        <p:nvSpPr>
          <p:cNvPr id="5" name="Shape 3"/>
          <p:cNvSpPr/>
          <p:nvPr/>
        </p:nvSpPr>
        <p:spPr>
          <a:xfrm>
            <a:off x="548640" y="1536192"/>
            <a:ext cx="475488" cy="475488"/>
          </a:xfrm>
          <a:prstGeom prst="ellipse">
            <a:avLst/>
          </a:prstGeom>
          <a:solidFill>
            <a:srgbClr val="0F4C4F"/>
          </a:solidFill>
          <a:ln w="12700">
            <a:solidFill>
              <a:srgbClr val="0F4C4F"/>
            </a:solidFill>
            <a:prstDash val="solid"/>
          </a:ln>
        </p:spPr>
      </p:sp>
      <p:sp>
        <p:nvSpPr>
          <p:cNvPr id="6" name="Text 4"/>
          <p:cNvSpPr txBox="1"/>
          <p:nvPr/>
        </p:nvSpPr>
        <p:spPr>
          <a:xfrm>
            <a:off x="548640" y="153619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188720" y="1463040"/>
            <a:ext cx="1554480" cy="621792"/>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Ứng viên</a:t>
            </a:r>
            <a:endParaRPr lang="en-US" sz="1600" dirty="0"/>
          </a:p>
        </p:txBody>
      </p:sp>
      <p:sp>
        <p:nvSpPr>
          <p:cNvPr id="8" name="Text 6"/>
          <p:cNvSpPr txBox="1"/>
          <p:nvPr/>
        </p:nvSpPr>
        <p:spPr>
          <a:xfrm>
            <a:off x="2743200" y="1463040"/>
            <a:ext cx="4663440" cy="621792"/>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C^l = hàng xóm của K^(l−1) trong graph train, trừ chính K^(l−1).</a:t>
            </a:r>
            <a:endParaRPr lang="en-US" sz="1300" dirty="0"/>
          </a:p>
        </p:txBody>
      </p:sp>
      <p:sp>
        <p:nvSpPr>
          <p:cNvPr id="9" name="Shape 7"/>
          <p:cNvSpPr/>
          <p:nvPr/>
        </p:nvSpPr>
        <p:spPr>
          <a:xfrm>
            <a:off x="548640" y="2322576"/>
            <a:ext cx="475488" cy="475488"/>
          </a:xfrm>
          <a:prstGeom prst="ellipse">
            <a:avLst/>
          </a:prstGeom>
          <a:solidFill>
            <a:srgbClr val="0F4C4F"/>
          </a:solidFill>
          <a:ln w="12700">
            <a:solidFill>
              <a:srgbClr val="0F4C4F"/>
            </a:solidFill>
            <a:prstDash val="solid"/>
          </a:ln>
        </p:spPr>
      </p:sp>
      <p:sp>
        <p:nvSpPr>
          <p:cNvPr id="10" name="Text 8"/>
          <p:cNvSpPr txBox="1"/>
          <p:nvPr/>
        </p:nvSpPr>
        <p:spPr>
          <a:xfrm>
            <a:off x="548640" y="232257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txBox="1"/>
          <p:nvPr/>
        </p:nvSpPr>
        <p:spPr>
          <a:xfrm>
            <a:off x="1188720" y="2249424"/>
            <a:ext cx="1554480" cy="621792"/>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Feature</a:t>
            </a:r>
            <a:endParaRPr lang="en-US" sz="1600" dirty="0"/>
          </a:p>
        </p:txBody>
      </p:sp>
      <p:sp>
        <p:nvSpPr>
          <p:cNvPr id="12" name="Text 10"/>
          <p:cNvSpPr txBox="1"/>
          <p:nvPr/>
        </p:nvSpPr>
        <p:spPr>
          <a:xfrm>
            <a:off x="2743200" y="2249424"/>
            <a:ext cx="4663440" cy="621792"/>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Embedding ID riêng của sampler, loại user/item, log(1 + degree train) chuẩn hóa, cờ đã thuộc V⁰…V^(l−1).</a:t>
            </a:r>
            <a:endParaRPr lang="en-US" sz="1300" dirty="0"/>
          </a:p>
        </p:txBody>
      </p:sp>
      <p:sp>
        <p:nvSpPr>
          <p:cNvPr id="13" name="Shape 11"/>
          <p:cNvSpPr/>
          <p:nvPr/>
        </p:nvSpPr>
        <p:spPr>
          <a:xfrm>
            <a:off x="548640" y="3108960"/>
            <a:ext cx="475488" cy="475488"/>
          </a:xfrm>
          <a:prstGeom prst="ellipse">
            <a:avLst/>
          </a:prstGeom>
          <a:solidFill>
            <a:srgbClr val="0F4C4F"/>
          </a:solidFill>
          <a:ln w="12700">
            <a:solidFill>
              <a:srgbClr val="0F4C4F"/>
            </a:solidFill>
            <a:prstDash val="solid"/>
          </a:ln>
        </p:spPr>
      </p:sp>
      <p:sp>
        <p:nvSpPr>
          <p:cNvPr id="14" name="Text 12"/>
          <p:cNvSpPr txBox="1"/>
          <p:nvPr/>
        </p:nvSpPr>
        <p:spPr>
          <a:xfrm>
            <a:off x="548640" y="3108960"/>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txBox="1"/>
          <p:nvPr/>
        </p:nvSpPr>
        <p:spPr>
          <a:xfrm>
            <a:off x="1188720" y="3035808"/>
            <a:ext cx="1554480" cy="621792"/>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Chấm điểm</a:t>
            </a:r>
            <a:endParaRPr lang="en-US" sz="1600" dirty="0"/>
          </a:p>
        </p:txBody>
      </p:sp>
      <p:sp>
        <p:nvSpPr>
          <p:cNvPr id="16" name="Text 14"/>
          <p:cNvSpPr txBox="1"/>
          <p:nvPr/>
        </p:nvSpPr>
        <p:spPr>
          <a:xfrm>
            <a:off x="2743200" y="3035808"/>
            <a:ext cx="4663440" cy="621792"/>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GCN_S hai lớp trên subgraph K^(l−1) ∪ C^l → logit, xác suất p = σ(logit).</a:t>
            </a:r>
            <a:endParaRPr lang="en-US" sz="1300" dirty="0"/>
          </a:p>
        </p:txBody>
      </p:sp>
      <p:sp>
        <p:nvSpPr>
          <p:cNvPr id="17" name="Shape 15"/>
          <p:cNvSpPr/>
          <p:nvPr/>
        </p:nvSpPr>
        <p:spPr>
          <a:xfrm>
            <a:off x="548640" y="3895344"/>
            <a:ext cx="475488" cy="475488"/>
          </a:xfrm>
          <a:prstGeom prst="ellipse">
            <a:avLst/>
          </a:prstGeom>
          <a:solidFill>
            <a:srgbClr val="E89B2D"/>
          </a:solidFill>
          <a:ln w="12700">
            <a:solidFill>
              <a:srgbClr val="E89B2D"/>
            </a:solidFill>
            <a:prstDash val="solid"/>
          </a:ln>
        </p:spPr>
      </p:sp>
      <p:sp>
        <p:nvSpPr>
          <p:cNvPr id="18" name="Text 16"/>
          <p:cNvSpPr txBox="1"/>
          <p:nvPr/>
        </p:nvSpPr>
        <p:spPr>
          <a:xfrm>
            <a:off x="548640" y="3895344"/>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txBox="1"/>
          <p:nvPr/>
        </p:nvSpPr>
        <p:spPr>
          <a:xfrm>
            <a:off x="1188720" y="3822192"/>
            <a:ext cx="1554480" cy="621792"/>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Chọn</a:t>
            </a:r>
            <a:endParaRPr lang="en-US" sz="1600" dirty="0"/>
          </a:p>
        </p:txBody>
      </p:sp>
      <p:sp>
        <p:nvSpPr>
          <p:cNvPr id="20" name="Text 18"/>
          <p:cNvSpPr txBox="1"/>
          <p:nvPr/>
        </p:nvSpPr>
        <p:spPr>
          <a:xfrm>
            <a:off x="2743200" y="3822192"/>
            <a:ext cx="4663440" cy="621792"/>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Gumbel Top-k trên log p: chọn đúng min(k, |C^l|) node, không trùng.</a:t>
            </a:r>
            <a:endParaRPr lang="en-US" sz="1300" dirty="0"/>
          </a:p>
        </p:txBody>
      </p:sp>
      <p:sp>
        <p:nvSpPr>
          <p:cNvPr id="21" name="Shape 19"/>
          <p:cNvSpPr/>
          <p:nvPr/>
        </p:nvSpPr>
        <p:spPr>
          <a:xfrm>
            <a:off x="548640" y="4681728"/>
            <a:ext cx="475488" cy="475488"/>
          </a:xfrm>
          <a:prstGeom prst="ellipse">
            <a:avLst/>
          </a:prstGeom>
          <a:solidFill>
            <a:srgbClr val="0F4C4F"/>
          </a:solidFill>
          <a:ln w="12700">
            <a:solidFill>
              <a:srgbClr val="0F4C4F"/>
            </a:solidFill>
            <a:prstDash val="solid"/>
          </a:ln>
        </p:spPr>
      </p:sp>
      <p:sp>
        <p:nvSpPr>
          <p:cNvPr id="22" name="Text 20"/>
          <p:cNvSpPr txBox="1"/>
          <p:nvPr/>
        </p:nvSpPr>
        <p:spPr>
          <a:xfrm>
            <a:off x="548640" y="4681728"/>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txBox="1"/>
          <p:nvPr/>
        </p:nvSpPr>
        <p:spPr>
          <a:xfrm>
            <a:off x="1188720" y="4608576"/>
            <a:ext cx="1554480" cy="621792"/>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Xác suất</a:t>
            </a:r>
            <a:endParaRPr lang="en-US" sz="1600" dirty="0"/>
          </a:p>
        </p:txBody>
      </p:sp>
      <p:sp>
        <p:nvSpPr>
          <p:cNvPr id="24" name="Text 22"/>
          <p:cNvSpPr txBox="1"/>
          <p:nvPr/>
        </p:nvSpPr>
        <p:spPr>
          <a:xfrm>
            <a:off x="2743200" y="4608576"/>
            <a:ext cx="4663440" cy="621792"/>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log q_l = Σ chọn log p + Σ không chọn log(1 − p).</a:t>
            </a:r>
            <a:endParaRPr lang="en-US" sz="1300" dirty="0"/>
          </a:p>
        </p:txBody>
      </p:sp>
      <p:sp>
        <p:nvSpPr>
          <p:cNvPr id="25" name="Shape 23"/>
          <p:cNvSpPr/>
          <p:nvPr/>
        </p:nvSpPr>
        <p:spPr>
          <a:xfrm>
            <a:off x="548640" y="5468112"/>
            <a:ext cx="475488" cy="475488"/>
          </a:xfrm>
          <a:prstGeom prst="ellipse">
            <a:avLst/>
          </a:prstGeom>
          <a:solidFill>
            <a:srgbClr val="0F4C4F"/>
          </a:solidFill>
          <a:ln w="12700">
            <a:solidFill>
              <a:srgbClr val="0F4C4F"/>
            </a:solidFill>
            <a:prstDash val="solid"/>
          </a:ln>
        </p:spPr>
      </p:sp>
      <p:sp>
        <p:nvSpPr>
          <p:cNvPr id="26" name="Text 24"/>
          <p:cNvSpPr txBox="1"/>
          <p:nvPr/>
        </p:nvSpPr>
        <p:spPr>
          <a:xfrm>
            <a:off x="548640" y="5468112"/>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txBox="1"/>
          <p:nvPr/>
        </p:nvSpPr>
        <p:spPr>
          <a:xfrm>
            <a:off x="1188720" y="5394960"/>
            <a:ext cx="1554480" cy="621792"/>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Trạng thái</a:t>
            </a:r>
            <a:endParaRPr lang="en-US" sz="1600" dirty="0"/>
          </a:p>
        </p:txBody>
      </p:sp>
      <p:sp>
        <p:nvSpPr>
          <p:cNvPr id="28" name="Text 26"/>
          <p:cNvSpPr txBox="1"/>
          <p:nvPr/>
        </p:nvSpPr>
        <p:spPr>
          <a:xfrm>
            <a:off x="2743200" y="5394960"/>
            <a:ext cx="4663440" cy="621792"/>
          </a:xfrm>
          <a:prstGeom prst="rect">
            <a:avLst/>
          </a:prstGeom>
          <a:noFill/>
          <a:ln/>
        </p:spPr>
        <p:txBody>
          <a:bodyPr wrap="square" lIns="0" tIns="0" rIns="0" bIns="0" rtlCol="0" anchor="ctr"/>
          <a:lstStyle/>
          <a:p>
            <a:pPr indent="0" marL="0">
              <a:buNone/>
            </a:pPr>
            <a:r>
              <a:rPr lang="en-US" sz="1300" dirty="0">
                <a:solidFill>
                  <a:srgbClr val="13262A"/>
                </a:solidFill>
                <a:latin typeface="Calibri" pitchFamily="34" charset="0"/>
                <a:ea typeface="Calibri" pitchFamily="34" charset="-122"/>
                <a:cs typeface="Calibri" pitchFamily="34" charset="-120"/>
              </a:rPr>
              <a:t>K^l = V⁰ ∪ V^l (không cộng dồn; node có thể quay lại ở layer sau).</a:t>
            </a:r>
            <a:endParaRPr lang="en-US" sz="1300" dirty="0"/>
          </a:p>
        </p:txBody>
      </p:sp>
      <p:sp>
        <p:nvSpPr>
          <p:cNvPr id="29" name="Shape 27"/>
          <p:cNvSpPr/>
          <p:nvPr/>
        </p:nvSpPr>
        <p:spPr>
          <a:xfrm>
            <a:off x="7772400" y="1463040"/>
            <a:ext cx="3840480" cy="2148840"/>
          </a:xfrm>
          <a:prstGeom prst="roundRect">
            <a:avLst>
              <a:gd name="adj" fmla="val 3404"/>
            </a:avLst>
          </a:prstGeom>
          <a:solidFill>
            <a:srgbClr val="E6F0EF"/>
          </a:solidFill>
          <a:ln w="12700">
            <a:solidFill>
              <a:srgbClr val="E6F0EF"/>
            </a:solidFill>
            <a:prstDash val="solid"/>
          </a:ln>
        </p:spPr>
      </p:sp>
      <p:sp>
        <p:nvSpPr>
          <p:cNvPr id="30" name="Text 28"/>
          <p:cNvSpPr txBox="1"/>
          <p:nvPr/>
        </p:nvSpPr>
        <p:spPr>
          <a:xfrm>
            <a:off x="7955280" y="1581912"/>
            <a:ext cx="347472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Ba sampler, một đường code</a:t>
            </a:r>
            <a:endParaRPr lang="en-US" sz="1600" dirty="0"/>
          </a:p>
        </p:txBody>
      </p:sp>
      <p:sp>
        <p:nvSpPr>
          <p:cNvPr id="31" name="Text 29"/>
          <p:cNvSpPr txBox="1"/>
          <p:nvPr/>
        </p:nvSpPr>
        <p:spPr>
          <a:xfrm>
            <a:off x="7955280" y="2075688"/>
            <a:ext cx="3474720" cy="146304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Learned: điểm từ GCN_S, có log q.</a:t>
            </a:r>
            <a:endParaRPr lang="en-US" sz="1300" dirty="0"/>
          </a:p>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Uniform (M0): điểm bằng nhau.</a:t>
            </a:r>
            <a:endParaRPr lang="en-US" sz="1300" dirty="0"/>
          </a:p>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Degree (M1): điểm = log(degree).</a:t>
            </a:r>
            <a:endParaRPr lang="en-US" sz="1300" dirty="0"/>
          </a:p>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Khác nhau duy nhất ở cách tính điểm → so sánh công bằng.</a:t>
            </a:r>
            <a:endParaRPr lang="en-US" sz="1300" dirty="0"/>
          </a:p>
        </p:txBody>
      </p:sp>
      <p:sp>
        <p:nvSpPr>
          <p:cNvPr id="32" name="Shape 30"/>
          <p:cNvSpPr/>
          <p:nvPr/>
        </p:nvSpPr>
        <p:spPr>
          <a:xfrm>
            <a:off x="7772400" y="3794760"/>
            <a:ext cx="3840480" cy="2377440"/>
          </a:xfrm>
          <a:prstGeom prst="roundRect">
            <a:avLst>
              <a:gd name="adj" fmla="val 3077"/>
            </a:avLst>
          </a:prstGeom>
          <a:solidFill>
            <a:srgbClr val="F8E6E1"/>
          </a:solidFill>
          <a:ln w="12700">
            <a:solidFill>
              <a:srgbClr val="F8E6E1"/>
            </a:solidFill>
            <a:prstDash val="solid"/>
          </a:ln>
        </p:spPr>
      </p:sp>
      <p:sp>
        <p:nvSpPr>
          <p:cNvPr id="33" name="Text 31"/>
          <p:cNvSpPr txBox="1"/>
          <p:nvPr/>
        </p:nvSpPr>
        <p:spPr>
          <a:xfrm>
            <a:off x="7955280" y="3913632"/>
            <a:ext cx="347472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Giới hạn đã chứng minh bằng test</a:t>
            </a:r>
            <a:endParaRPr lang="en-US" sz="1600" dirty="0"/>
          </a:p>
        </p:txBody>
      </p:sp>
      <p:sp>
        <p:nvSpPr>
          <p:cNvPr id="34" name="Text 32"/>
          <p:cNvSpPr txBox="1"/>
          <p:nvPr/>
        </p:nvSpPr>
        <p:spPr>
          <a:xfrm>
            <a:off x="7955280" y="4407408"/>
            <a:ext cx="3474720" cy="169164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Vì K^l không cộng dồn, khi V⁰ có cả user lẫn item, một số node ở bước 1 bị rơi khỏi bước 2 → không tương đương Full LightGCN kể cả khi lấy hết. Đây là tính chất kế thừa từ GRAPES, sẽ nêu trong báo cáo.</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4 · PHƯƠNG PHÁP</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Hàm mục tiêu và phân quyền tham số</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34</a:t>
            </a:r>
            <a:endParaRPr lang="en-US" sz="1000" dirty="0"/>
          </a:p>
        </p:txBody>
      </p:sp>
      <p:sp>
        <p:nvSpPr>
          <p:cNvPr id="5" name="Shape 3"/>
          <p:cNvSpPr/>
          <p:nvPr/>
        </p:nvSpPr>
        <p:spPr>
          <a:xfrm>
            <a:off x="548640" y="1463040"/>
            <a:ext cx="5440680" cy="2194560"/>
          </a:xfrm>
          <a:prstGeom prst="roundRect">
            <a:avLst>
              <a:gd name="adj" fmla="val 3333"/>
            </a:avLst>
          </a:prstGeom>
          <a:solidFill>
            <a:srgbClr val="E6F0EF"/>
          </a:solidFill>
          <a:ln w="12700">
            <a:solidFill>
              <a:srgbClr val="E6F0EF"/>
            </a:solidFill>
            <a:prstDash val="solid"/>
          </a:ln>
        </p:spPr>
      </p:sp>
      <p:sp>
        <p:nvSpPr>
          <p:cNvPr id="6" name="Text 4"/>
          <p:cNvSpPr txBox="1"/>
          <p:nvPr/>
        </p:nvSpPr>
        <p:spPr>
          <a:xfrm>
            <a:off x="731520" y="1581912"/>
            <a:ext cx="5074920" cy="420624"/>
          </a:xfrm>
          <a:prstGeom prst="rect">
            <a:avLst/>
          </a:prstGeom>
          <a:noFill/>
          <a:ln/>
        </p:spPr>
        <p:txBody>
          <a:bodyPr wrap="square" lIns="0" tIns="0" rIns="0" bIns="0" rtlCol="0" anchor="ctr"/>
          <a:lstStyle/>
          <a:p>
            <a:pPr indent="0" marL="0">
              <a:buNone/>
            </a:pPr>
            <a:r>
              <a:rPr lang="en-US" sz="1800" b="1" dirty="0">
                <a:solidFill>
                  <a:srgbClr val="13262A"/>
                </a:solidFill>
                <a:latin typeface="Calibri" pitchFamily="34" charset="0"/>
                <a:ea typeface="Calibri" pitchFamily="34" charset="-122"/>
                <a:cs typeface="Calibri" pitchFamily="34" charset="-120"/>
              </a:rPr>
              <a:t>Recommender (Θ_R)</a:t>
            </a:r>
            <a:endParaRPr lang="en-US" sz="1800" dirty="0"/>
          </a:p>
        </p:txBody>
      </p:sp>
      <p:sp>
        <p:nvSpPr>
          <p:cNvPr id="7" name="Text 5"/>
          <p:cNvSpPr txBox="1"/>
          <p:nvPr/>
        </p:nvSpPr>
        <p:spPr>
          <a:xfrm>
            <a:off x="731520" y="2075688"/>
            <a:ext cx="5074920" cy="150876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L_BPR = − mean log σ( z_u·z_i⁺ − z_u·z_i⁻ )</a:t>
            </a:r>
            <a:endParaRPr lang="en-US" sz="1500" dirty="0"/>
          </a:p>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L_model = L_BPR + λ · ‖e⁰‖²</a:t>
            </a:r>
            <a:endParaRPr lang="en-US" sz="1500" dirty="0"/>
          </a:p>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Optimizer riêng; chỉ nhận gradient từ L_model.</a:t>
            </a:r>
            <a:endParaRPr lang="en-US" sz="1500" dirty="0"/>
          </a:p>
        </p:txBody>
      </p:sp>
      <p:sp>
        <p:nvSpPr>
          <p:cNvPr id="8" name="Shape 6"/>
          <p:cNvSpPr/>
          <p:nvPr/>
        </p:nvSpPr>
        <p:spPr>
          <a:xfrm>
            <a:off x="6172200" y="1463040"/>
            <a:ext cx="5440680" cy="2194560"/>
          </a:xfrm>
          <a:prstGeom prst="roundRect">
            <a:avLst>
              <a:gd name="adj" fmla="val 3333"/>
            </a:avLst>
          </a:prstGeom>
          <a:solidFill>
            <a:srgbClr val="FCF1DF"/>
          </a:solidFill>
          <a:ln w="12700">
            <a:solidFill>
              <a:srgbClr val="FCF1DF"/>
            </a:solidFill>
            <a:prstDash val="solid"/>
          </a:ln>
        </p:spPr>
      </p:sp>
      <p:sp>
        <p:nvSpPr>
          <p:cNvPr id="9" name="Text 7"/>
          <p:cNvSpPr txBox="1"/>
          <p:nvPr/>
        </p:nvSpPr>
        <p:spPr>
          <a:xfrm>
            <a:off x="6355080" y="1581912"/>
            <a:ext cx="5074920" cy="420624"/>
          </a:xfrm>
          <a:prstGeom prst="rect">
            <a:avLst/>
          </a:prstGeom>
          <a:noFill/>
          <a:ln/>
        </p:spPr>
        <p:txBody>
          <a:bodyPr wrap="square" lIns="0" tIns="0" rIns="0" bIns="0" rtlCol="0" anchor="ctr"/>
          <a:lstStyle/>
          <a:p>
            <a:pPr indent="0" marL="0">
              <a:buNone/>
            </a:pPr>
            <a:r>
              <a:rPr lang="en-US" sz="1800" b="1" dirty="0">
                <a:solidFill>
                  <a:srgbClr val="13262A"/>
                </a:solidFill>
                <a:latin typeface="Calibri" pitchFamily="34" charset="0"/>
                <a:ea typeface="Calibri" pitchFamily="34" charset="-122"/>
                <a:cs typeface="Calibri" pitchFamily="34" charset="-120"/>
              </a:rPr>
              <a:t>Sampler (Θ_S ∪ Θ_Z)</a:t>
            </a:r>
            <a:endParaRPr lang="en-US" sz="1800" dirty="0"/>
          </a:p>
        </p:txBody>
      </p:sp>
      <p:sp>
        <p:nvSpPr>
          <p:cNvPr id="10" name="Text 8"/>
          <p:cNvSpPr txBox="1"/>
          <p:nvPr/>
        </p:nvSpPr>
        <p:spPr>
          <a:xfrm>
            <a:off x="6355080" y="2075688"/>
            <a:ext cx="5074920" cy="150876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L_TB = ( log Z(V⁰) + Σ_l log q_l + α · stopgrad(L_BPR) )²</a:t>
            </a:r>
            <a:endParaRPr lang="en-US" sz="1500" dirty="0"/>
          </a:p>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Phần thưởng R = exp(−α · L_BPR)</a:t>
            </a:r>
            <a:endParaRPr lang="en-US" sz="1500" dirty="0"/>
          </a:p>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Adam riêng; không gradient qua Top-k.</a:t>
            </a:r>
            <a:endParaRPr lang="en-US" sz="1500" dirty="0"/>
          </a:p>
        </p:txBody>
      </p:sp>
      <p:sp>
        <p:nvSpPr>
          <p:cNvPr id="11" name="Text 9"/>
          <p:cNvSpPr txBox="1"/>
          <p:nvPr/>
        </p:nvSpPr>
        <p:spPr>
          <a:xfrm>
            <a:off x="548640" y="3840480"/>
            <a:ext cx="11064240" cy="457200"/>
          </a:xfrm>
          <a:prstGeom prst="rect">
            <a:avLst/>
          </a:prstGeom>
          <a:noFill/>
          <a:ln/>
        </p:spPr>
        <p:txBody>
          <a:bodyPr wrap="square" lIns="0" tIns="0" rIns="0" bIns="0" rtlCol="0" anchor="ctr"/>
          <a:lstStyle/>
          <a:p>
            <a:pPr indent="0" marL="0">
              <a:buNone/>
            </a:pPr>
            <a:r>
              <a:rPr lang="en-US" sz="1500" i="1" dirty="0">
                <a:solidFill>
                  <a:srgbClr val="2E7D7A"/>
                </a:solidFill>
                <a:latin typeface="Calibri" pitchFamily="34" charset="0"/>
                <a:ea typeface="Calibri" pitchFamily="34" charset="-122"/>
                <a:cs typeface="Calibri" pitchFamily="34" charset="-120"/>
              </a:rPr>
              <a:t>Ý nghĩa: trajectory (tập node được chọn) làm BPR loss thấp hơn sẽ có xác suất cao hơn, tỷ lệ với phần thưởng.</a:t>
            </a:r>
            <a:endParaRPr lang="en-US" sz="1500" dirty="0"/>
          </a:p>
        </p:txBody>
      </p:sp>
      <p:sp>
        <p:nvSpPr>
          <p:cNvPr id="12" name="Text 10"/>
          <p:cNvSpPr txBox="1"/>
          <p:nvPr/>
        </p:nvSpPr>
        <p:spPr>
          <a:xfrm>
            <a:off x="548640" y="4526280"/>
            <a:ext cx="2560320" cy="731520"/>
          </a:xfrm>
          <a:prstGeom prst="rect">
            <a:avLst/>
          </a:prstGeom>
          <a:noFill/>
          <a:ln/>
        </p:spPr>
        <p:txBody>
          <a:bodyPr wrap="square" lIns="0" tIns="0" rIns="0" bIns="0" rtlCol="0" anchor="ctr"/>
          <a:lstStyle/>
          <a:p>
            <a:pPr indent="0" marL="0">
              <a:buNone/>
            </a:pPr>
            <a:r>
              <a:rPr lang="en-US" sz="3600" b="1" dirty="0">
                <a:solidFill>
                  <a:srgbClr val="0F4C4F"/>
                </a:solidFill>
                <a:latin typeface="Cambria" pitchFamily="34" charset="0"/>
                <a:ea typeface="Cambria" pitchFamily="34" charset="-122"/>
                <a:cs typeface="Cambria" pitchFamily="34" charset="-120"/>
              </a:rPr>
              <a:t>28</a:t>
            </a:r>
            <a:endParaRPr lang="en-US" sz="3600" dirty="0"/>
          </a:p>
        </p:txBody>
      </p:sp>
      <p:sp>
        <p:nvSpPr>
          <p:cNvPr id="13" name="Text 11"/>
          <p:cNvSpPr txBox="1"/>
          <p:nvPr/>
        </p:nvSpPr>
        <p:spPr>
          <a:xfrm>
            <a:off x="548640" y="5257800"/>
            <a:ext cx="2560320" cy="548640"/>
          </a:xfrm>
          <a:prstGeom prst="rect">
            <a:avLst/>
          </a:prstGeom>
          <a:noFill/>
          <a:ln/>
        </p:spPr>
        <p:txBody>
          <a:bodyPr wrap="square" lIns="0" tIns="0" rIns="0" bIns="0" rtlCol="0" anchor="t"/>
          <a:lstStyle/>
          <a:p>
            <a:pPr indent="0" marL="0">
              <a:buNone/>
            </a:pPr>
            <a:r>
              <a:rPr lang="en-US" sz="1300" dirty="0">
                <a:solidFill>
                  <a:srgbClr val="5E6B6E"/>
                </a:solidFill>
                <a:latin typeface="Calibri" pitchFamily="34" charset="0"/>
                <a:ea typeface="Calibri" pitchFamily="34" charset="-122"/>
                <a:cs typeface="Calibri" pitchFamily="34" charset="-120"/>
              </a:rPr>
              <a:t>oracle test pass (PyTorch CPU)</a:t>
            </a:r>
            <a:endParaRPr lang="en-US" sz="1300" dirty="0"/>
          </a:p>
        </p:txBody>
      </p:sp>
      <p:sp>
        <p:nvSpPr>
          <p:cNvPr id="14" name="Text 12"/>
          <p:cNvSpPr txBox="1"/>
          <p:nvPr/>
        </p:nvSpPr>
        <p:spPr>
          <a:xfrm>
            <a:off x="3337560" y="4526280"/>
            <a:ext cx="2560320" cy="731520"/>
          </a:xfrm>
          <a:prstGeom prst="rect">
            <a:avLst/>
          </a:prstGeom>
          <a:noFill/>
          <a:ln/>
        </p:spPr>
        <p:txBody>
          <a:bodyPr wrap="square" lIns="0" tIns="0" rIns="0" bIns="0" rtlCol="0" anchor="ctr"/>
          <a:lstStyle/>
          <a:p>
            <a:pPr indent="0" marL="0">
              <a:buNone/>
            </a:pPr>
            <a:r>
              <a:rPr lang="en-US" sz="3600" b="1" dirty="0">
                <a:solidFill>
                  <a:srgbClr val="0F4C4F"/>
                </a:solidFill>
                <a:latin typeface="Cambria" pitchFamily="34" charset="0"/>
                <a:ea typeface="Cambria" pitchFamily="34" charset="-122"/>
                <a:cs typeface="Cambria" pitchFamily="34" charset="-120"/>
              </a:rPr>
              <a:t>4/4</a:t>
            </a:r>
            <a:endParaRPr lang="en-US" sz="3600" dirty="0"/>
          </a:p>
        </p:txBody>
      </p:sp>
      <p:sp>
        <p:nvSpPr>
          <p:cNvPr id="15" name="Text 13"/>
          <p:cNvSpPr txBox="1"/>
          <p:nvPr/>
        </p:nvSpPr>
        <p:spPr>
          <a:xfrm>
            <a:off x="3337560" y="5257800"/>
            <a:ext cx="2560320" cy="548640"/>
          </a:xfrm>
          <a:prstGeom prst="rect">
            <a:avLst/>
          </a:prstGeom>
          <a:noFill/>
          <a:ln/>
        </p:spPr>
        <p:txBody>
          <a:bodyPr wrap="square" lIns="0" tIns="0" rIns="0" bIns="0" rtlCol="0" anchor="t"/>
          <a:lstStyle/>
          <a:p>
            <a:pPr indent="0" marL="0">
              <a:buNone/>
            </a:pPr>
            <a:r>
              <a:rPr lang="en-US" sz="1300" dirty="0">
                <a:solidFill>
                  <a:srgbClr val="5E6B6E"/>
                </a:solidFill>
                <a:latin typeface="Calibri" pitchFamily="34" charset="0"/>
                <a:ea typeface="Calibri" pitchFamily="34" charset="-122"/>
                <a:cs typeface="Calibri" pitchFamily="34" charset="-120"/>
              </a:rPr>
              <a:t>lỗi cài cố ý bị test bắt</a:t>
            </a:r>
            <a:endParaRPr lang="en-US" sz="1300" dirty="0"/>
          </a:p>
        </p:txBody>
      </p:sp>
      <p:sp>
        <p:nvSpPr>
          <p:cNvPr id="16" name="Text 14"/>
          <p:cNvSpPr txBox="1"/>
          <p:nvPr/>
        </p:nvSpPr>
        <p:spPr>
          <a:xfrm>
            <a:off x="6126480" y="4526280"/>
            <a:ext cx="2560320" cy="731520"/>
          </a:xfrm>
          <a:prstGeom prst="rect">
            <a:avLst/>
          </a:prstGeom>
          <a:noFill/>
          <a:ln/>
        </p:spPr>
        <p:txBody>
          <a:bodyPr wrap="square" lIns="0" tIns="0" rIns="0" bIns="0" rtlCol="0" anchor="ctr"/>
          <a:lstStyle/>
          <a:p>
            <a:pPr indent="0" marL="0">
              <a:buNone/>
            </a:pPr>
            <a:r>
              <a:rPr lang="en-US" sz="3600" b="1" dirty="0">
                <a:solidFill>
                  <a:srgbClr val="0F4C4F"/>
                </a:solidFill>
                <a:latin typeface="Cambria" pitchFamily="34" charset="0"/>
                <a:ea typeface="Cambria" pitchFamily="34" charset="-122"/>
                <a:cs typeface="Cambria" pitchFamily="34" charset="-120"/>
              </a:rPr>
              <a:t>T20</a:t>
            </a:r>
            <a:endParaRPr lang="en-US" sz="3600" dirty="0"/>
          </a:p>
        </p:txBody>
      </p:sp>
      <p:sp>
        <p:nvSpPr>
          <p:cNvPr id="17" name="Text 15"/>
          <p:cNvSpPr txBox="1"/>
          <p:nvPr/>
        </p:nvSpPr>
        <p:spPr>
          <a:xfrm>
            <a:off x="6126480" y="5257800"/>
            <a:ext cx="2560320" cy="548640"/>
          </a:xfrm>
          <a:prstGeom prst="rect">
            <a:avLst/>
          </a:prstGeom>
          <a:noFill/>
          <a:ln/>
        </p:spPr>
        <p:txBody>
          <a:bodyPr wrap="square" lIns="0" tIns="0" rIns="0" bIns="0" rtlCol="0" anchor="t"/>
          <a:lstStyle/>
          <a:p>
            <a:pPr indent="0" marL="0">
              <a:buNone/>
            </a:pPr>
            <a:r>
              <a:rPr lang="en-US" sz="1300" dirty="0">
                <a:solidFill>
                  <a:srgbClr val="5E6B6E"/>
                </a:solidFill>
                <a:latin typeface="Calibri" pitchFamily="34" charset="0"/>
                <a:ea typeface="Calibri" pitchFamily="34" charset="-122"/>
                <a:cs typeface="Calibri" pitchFamily="34" charset="-120"/>
              </a:rPr>
              <a:t>TB không chạm Θ_R; BPR không chạm Θ_S</a:t>
            </a:r>
            <a:endParaRPr lang="en-US" sz="1300" dirty="0"/>
          </a:p>
        </p:txBody>
      </p:sp>
      <p:sp>
        <p:nvSpPr>
          <p:cNvPr id="18" name="Text 16"/>
          <p:cNvSpPr txBox="1"/>
          <p:nvPr/>
        </p:nvSpPr>
        <p:spPr>
          <a:xfrm>
            <a:off x="8915400" y="4526280"/>
            <a:ext cx="2560320" cy="731520"/>
          </a:xfrm>
          <a:prstGeom prst="rect">
            <a:avLst/>
          </a:prstGeom>
          <a:noFill/>
          <a:ln/>
        </p:spPr>
        <p:txBody>
          <a:bodyPr wrap="square" lIns="0" tIns="0" rIns="0" bIns="0" rtlCol="0" anchor="ctr"/>
          <a:lstStyle/>
          <a:p>
            <a:pPr indent="0" marL="0">
              <a:buNone/>
            </a:pPr>
            <a:r>
              <a:rPr lang="en-US" sz="3600" b="1" dirty="0">
                <a:solidFill>
                  <a:srgbClr val="0F4C4F"/>
                </a:solidFill>
                <a:latin typeface="Cambria" pitchFamily="34" charset="0"/>
                <a:ea typeface="Cambria" pitchFamily="34" charset="-122"/>
                <a:cs typeface="Cambria" pitchFamily="34" charset="-120"/>
              </a:rPr>
              <a:t>G7</a:t>
            </a:r>
            <a:endParaRPr lang="en-US" sz="3600" dirty="0"/>
          </a:p>
        </p:txBody>
      </p:sp>
      <p:sp>
        <p:nvSpPr>
          <p:cNvPr id="19" name="Text 17"/>
          <p:cNvSpPr txBox="1"/>
          <p:nvPr/>
        </p:nvSpPr>
        <p:spPr>
          <a:xfrm>
            <a:off x="8915400" y="5257800"/>
            <a:ext cx="2560320" cy="548640"/>
          </a:xfrm>
          <a:prstGeom prst="rect">
            <a:avLst/>
          </a:prstGeom>
          <a:noFill/>
          <a:ln/>
        </p:spPr>
        <p:txBody>
          <a:bodyPr wrap="square" lIns="0" tIns="0" rIns="0" bIns="0" rtlCol="0" anchor="t"/>
          <a:lstStyle/>
          <a:p>
            <a:pPr indent="0" marL="0">
              <a:buNone/>
            </a:pPr>
            <a:r>
              <a:rPr lang="en-US" sz="1300" dirty="0">
                <a:solidFill>
                  <a:srgbClr val="5E6B6E"/>
                </a:solidFill>
                <a:latin typeface="Calibri" pitchFamily="34" charset="0"/>
                <a:ea typeface="Calibri" pitchFamily="34" charset="-122"/>
                <a:cs typeface="Calibri" pitchFamily="34" charset="-120"/>
              </a:rPr>
              <a:t>tham số sampler thay đổi sau 1 bước</a:t>
            </a:r>
            <a:endParaRPr lang="en-US" sz="1300" dirty="0"/>
          </a:p>
        </p:txBody>
      </p:sp>
      <p:sp>
        <p:nvSpPr>
          <p:cNvPr id="20" name="Text 18"/>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Lỗi cài cố ý: bỏ detach trong TB, bỏ số hạng node không chọn trong log q, cộng dồn K^l, sai dấu REINFORCE. Ablation: GRAPES-RL-Rec dùng L = stopgrad(L_BPR) · log q.</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4 · PHƯƠNG PHÁP</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Những điểm riêng của bài toán gợi ý phải xử lý</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35</a:t>
            </a:r>
            <a:endParaRPr lang="en-US" sz="1000" dirty="0"/>
          </a:p>
        </p:txBody>
      </p:sp>
      <p:sp>
        <p:nvSpPr>
          <p:cNvPr id="5" name="Shape 3"/>
          <p:cNvSpPr/>
          <p:nvPr/>
        </p:nvSpPr>
        <p:spPr>
          <a:xfrm>
            <a:off x="548640" y="1463040"/>
            <a:ext cx="3566160" cy="2240280"/>
          </a:xfrm>
          <a:prstGeom prst="roundRect">
            <a:avLst>
              <a:gd name="adj" fmla="val 3265"/>
            </a:avLst>
          </a:prstGeom>
          <a:solidFill>
            <a:srgbClr val="F4F7F7"/>
          </a:solidFill>
          <a:ln w="12700">
            <a:solidFill>
              <a:srgbClr val="F4F7F7"/>
            </a:solidFill>
            <a:prstDash val="solid"/>
          </a:ln>
        </p:spPr>
      </p:sp>
      <p:sp>
        <p:nvSpPr>
          <p:cNvPr id="6" name="Shape 4"/>
          <p:cNvSpPr/>
          <p:nvPr/>
        </p:nvSpPr>
        <p:spPr>
          <a:xfrm>
            <a:off x="731520" y="1600200"/>
            <a:ext cx="384048" cy="384048"/>
          </a:xfrm>
          <a:prstGeom prst="ellipse">
            <a:avLst/>
          </a:prstGeom>
          <a:solidFill>
            <a:srgbClr val="C8553D"/>
          </a:solidFill>
          <a:ln w="12700">
            <a:solidFill>
              <a:srgbClr val="C8553D"/>
            </a:solidFill>
            <a:prstDash val="solid"/>
          </a:ln>
        </p:spPr>
      </p:sp>
      <p:sp>
        <p:nvSpPr>
          <p:cNvPr id="7" name="Text 5"/>
          <p:cNvSpPr txBox="1"/>
          <p:nvPr/>
        </p:nvSpPr>
        <p:spPr>
          <a:xfrm>
            <a:off x="73152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R-1</a:t>
            </a:r>
            <a:endParaRPr lang="en-US" sz="1300" dirty="0"/>
          </a:p>
        </p:txBody>
      </p:sp>
      <p:sp>
        <p:nvSpPr>
          <p:cNvPr id="8" name="Text 6"/>
          <p:cNvSpPr txBox="1"/>
          <p:nvPr/>
        </p:nvSpPr>
        <p:spPr>
          <a:xfrm>
            <a:off x="1234440" y="1581912"/>
            <a:ext cx="269748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Quá ít phần thưởng</a:t>
            </a:r>
            <a:endParaRPr lang="en-US" sz="1700" dirty="0"/>
          </a:p>
        </p:txBody>
      </p:sp>
      <p:sp>
        <p:nvSpPr>
          <p:cNvPr id="9" name="Text 7"/>
          <p:cNvSpPr txBox="1"/>
          <p:nvPr/>
        </p:nvSpPr>
        <p:spPr>
          <a:xfrm>
            <a:off x="731520" y="2075688"/>
            <a:ext cx="3200400" cy="155448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Nếu dùng budget pilot (batch 65.536, ~300 bước), một sampler học được chỉ nhận ~300 phần thưởng. Chọn lại batch/budget chung cho mọi sampler.</a:t>
            </a:r>
            <a:endParaRPr lang="en-US" sz="1500" dirty="0"/>
          </a:p>
        </p:txBody>
      </p:sp>
      <p:sp>
        <p:nvSpPr>
          <p:cNvPr id="10" name="Shape 8"/>
          <p:cNvSpPr/>
          <p:nvPr/>
        </p:nvSpPr>
        <p:spPr>
          <a:xfrm>
            <a:off x="4297680" y="1463040"/>
            <a:ext cx="3566160" cy="2240280"/>
          </a:xfrm>
          <a:prstGeom prst="roundRect">
            <a:avLst>
              <a:gd name="adj" fmla="val 3265"/>
            </a:avLst>
          </a:prstGeom>
          <a:solidFill>
            <a:srgbClr val="F4F7F7"/>
          </a:solidFill>
          <a:ln w="12700">
            <a:solidFill>
              <a:srgbClr val="F4F7F7"/>
            </a:solidFill>
            <a:prstDash val="solid"/>
          </a:ln>
        </p:spPr>
      </p:sp>
      <p:sp>
        <p:nvSpPr>
          <p:cNvPr id="11" name="Shape 9"/>
          <p:cNvSpPr/>
          <p:nvPr/>
        </p:nvSpPr>
        <p:spPr>
          <a:xfrm>
            <a:off x="4480560" y="1600200"/>
            <a:ext cx="384048" cy="384048"/>
          </a:xfrm>
          <a:prstGeom prst="ellipse">
            <a:avLst/>
          </a:prstGeom>
          <a:solidFill>
            <a:srgbClr val="0F4C4F"/>
          </a:solidFill>
          <a:ln w="12700">
            <a:solidFill>
              <a:srgbClr val="0F4C4F"/>
            </a:solidFill>
            <a:prstDash val="solid"/>
          </a:ln>
        </p:spPr>
      </p:sp>
      <p:sp>
        <p:nvSpPr>
          <p:cNvPr id="12" name="Text 10"/>
          <p:cNvSpPr txBox="1"/>
          <p:nvPr/>
        </p:nvSpPr>
        <p:spPr>
          <a:xfrm>
            <a:off x="448056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R-2</a:t>
            </a:r>
            <a:endParaRPr lang="en-US" sz="1300" dirty="0"/>
          </a:p>
        </p:txBody>
      </p:sp>
      <p:sp>
        <p:nvSpPr>
          <p:cNvPr id="13" name="Text 11"/>
          <p:cNvSpPr txBox="1"/>
          <p:nvPr/>
        </p:nvSpPr>
        <p:spPr>
          <a:xfrm>
            <a:off x="4983480" y="1581912"/>
            <a:ext cx="269748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Thang phần thưởng</a:t>
            </a:r>
            <a:endParaRPr lang="en-US" sz="1700" dirty="0"/>
          </a:p>
        </p:txBody>
      </p:sp>
      <p:sp>
        <p:nvSpPr>
          <p:cNvPr id="14" name="Text 12"/>
          <p:cNvSpPr txBox="1"/>
          <p:nvPr/>
        </p:nvSpPr>
        <p:spPr>
          <a:xfrm>
            <a:off x="4480560" y="2075688"/>
            <a:ext cx="3200400" cy="155448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BPR ≈ 0,69 và chênh lệch nhỏ; α quá nhỏ thì log q lấn át. Quét α, log_z_init trên D_dev, log từng thành phần.</a:t>
            </a:r>
            <a:endParaRPr lang="en-US" sz="1500" dirty="0"/>
          </a:p>
        </p:txBody>
      </p:sp>
      <p:sp>
        <p:nvSpPr>
          <p:cNvPr id="15" name="Shape 13"/>
          <p:cNvSpPr/>
          <p:nvPr/>
        </p:nvSpPr>
        <p:spPr>
          <a:xfrm>
            <a:off x="8046720" y="1463040"/>
            <a:ext cx="3566160" cy="2240280"/>
          </a:xfrm>
          <a:prstGeom prst="roundRect">
            <a:avLst>
              <a:gd name="adj" fmla="val 3265"/>
            </a:avLst>
          </a:prstGeom>
          <a:solidFill>
            <a:srgbClr val="F4F7F7"/>
          </a:solidFill>
          <a:ln w="12700">
            <a:solidFill>
              <a:srgbClr val="F4F7F7"/>
            </a:solidFill>
            <a:prstDash val="solid"/>
          </a:ln>
        </p:spPr>
      </p:sp>
      <p:sp>
        <p:nvSpPr>
          <p:cNvPr id="16" name="Shape 14"/>
          <p:cNvSpPr/>
          <p:nvPr/>
        </p:nvSpPr>
        <p:spPr>
          <a:xfrm>
            <a:off x="8229600" y="1600200"/>
            <a:ext cx="384048" cy="384048"/>
          </a:xfrm>
          <a:prstGeom prst="ellipse">
            <a:avLst/>
          </a:prstGeom>
          <a:solidFill>
            <a:srgbClr val="0F4C4F"/>
          </a:solidFill>
          <a:ln w="12700">
            <a:solidFill>
              <a:srgbClr val="0F4C4F"/>
            </a:solidFill>
            <a:prstDash val="solid"/>
          </a:ln>
        </p:spPr>
      </p:sp>
      <p:sp>
        <p:nvSpPr>
          <p:cNvPr id="17" name="Text 15"/>
          <p:cNvSpPr txBox="1"/>
          <p:nvPr/>
        </p:nvSpPr>
        <p:spPr>
          <a:xfrm>
            <a:off x="8229600" y="16002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R-3</a:t>
            </a:r>
            <a:endParaRPr lang="en-US" sz="1300" dirty="0"/>
          </a:p>
        </p:txBody>
      </p:sp>
      <p:sp>
        <p:nvSpPr>
          <p:cNvPr id="18" name="Text 16"/>
          <p:cNvSpPr txBox="1"/>
          <p:nvPr/>
        </p:nvSpPr>
        <p:spPr>
          <a:xfrm>
            <a:off x="8732520" y="1581912"/>
            <a:ext cx="269748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Phần thưởng thay đổi</a:t>
            </a:r>
            <a:endParaRPr lang="en-US" sz="1700" dirty="0"/>
          </a:p>
        </p:txBody>
      </p:sp>
      <p:sp>
        <p:nvSpPr>
          <p:cNvPr id="19" name="Text 17"/>
          <p:cNvSpPr txBox="1"/>
          <p:nvPr/>
        </p:nvSpPr>
        <p:spPr>
          <a:xfrm>
            <a:off x="8229600" y="2075688"/>
            <a:ext cx="3200400" cy="155448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Recommender học thêm thì cùng trajectory cho loss khác. Giữ như GRAPES, ghi log drift.</a:t>
            </a:r>
            <a:endParaRPr lang="en-US" sz="1500" dirty="0"/>
          </a:p>
        </p:txBody>
      </p:sp>
      <p:sp>
        <p:nvSpPr>
          <p:cNvPr id="20" name="Shape 18"/>
          <p:cNvSpPr/>
          <p:nvPr/>
        </p:nvSpPr>
        <p:spPr>
          <a:xfrm>
            <a:off x="548640" y="3886200"/>
            <a:ext cx="3566160" cy="2240280"/>
          </a:xfrm>
          <a:prstGeom prst="roundRect">
            <a:avLst>
              <a:gd name="adj" fmla="val 3265"/>
            </a:avLst>
          </a:prstGeom>
          <a:solidFill>
            <a:srgbClr val="F4F7F7"/>
          </a:solidFill>
          <a:ln w="12700">
            <a:solidFill>
              <a:srgbClr val="F4F7F7"/>
            </a:solidFill>
            <a:prstDash val="solid"/>
          </a:ln>
        </p:spPr>
      </p:sp>
      <p:sp>
        <p:nvSpPr>
          <p:cNvPr id="21" name="Shape 19"/>
          <p:cNvSpPr/>
          <p:nvPr/>
        </p:nvSpPr>
        <p:spPr>
          <a:xfrm>
            <a:off x="731520" y="4023360"/>
            <a:ext cx="384048" cy="384048"/>
          </a:xfrm>
          <a:prstGeom prst="ellipse">
            <a:avLst/>
          </a:prstGeom>
          <a:solidFill>
            <a:srgbClr val="0F4C4F"/>
          </a:solidFill>
          <a:ln w="12700">
            <a:solidFill>
              <a:srgbClr val="0F4C4F"/>
            </a:solidFill>
            <a:prstDash val="solid"/>
          </a:ln>
        </p:spPr>
      </p:sp>
      <p:sp>
        <p:nvSpPr>
          <p:cNvPr id="22" name="Text 20"/>
          <p:cNvSpPr txBox="1"/>
          <p:nvPr/>
        </p:nvSpPr>
        <p:spPr>
          <a:xfrm>
            <a:off x="731520" y="4023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R-4</a:t>
            </a:r>
            <a:endParaRPr lang="en-US" sz="1300" dirty="0"/>
          </a:p>
        </p:txBody>
      </p:sp>
      <p:sp>
        <p:nvSpPr>
          <p:cNvPr id="23" name="Text 21"/>
          <p:cNvSpPr txBox="1"/>
          <p:nvPr/>
        </p:nvSpPr>
        <p:spPr>
          <a:xfrm>
            <a:off x="1234440" y="4005072"/>
            <a:ext cx="269748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Graph cực thưa</a:t>
            </a:r>
            <a:endParaRPr lang="en-US" sz="1700" dirty="0"/>
          </a:p>
        </p:txBody>
      </p:sp>
      <p:sp>
        <p:nvSpPr>
          <p:cNvPr id="24" name="Text 22"/>
          <p:cNvSpPr txBox="1"/>
          <p:nvPr/>
        </p:nvSpPr>
        <p:spPr>
          <a:xfrm>
            <a:off x="731520" y="4498848"/>
            <a:ext cx="3200400" cy="155448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71,76% user có 1 cạnh; theo dõi bậc/loại/nhóm node được chọn để phát hiện dồn về hub.</a:t>
            </a:r>
            <a:endParaRPr lang="en-US" sz="1500" dirty="0"/>
          </a:p>
        </p:txBody>
      </p:sp>
      <p:sp>
        <p:nvSpPr>
          <p:cNvPr id="25" name="Shape 23"/>
          <p:cNvSpPr/>
          <p:nvPr/>
        </p:nvSpPr>
        <p:spPr>
          <a:xfrm>
            <a:off x="4297680" y="3886200"/>
            <a:ext cx="3566160" cy="2240280"/>
          </a:xfrm>
          <a:prstGeom prst="roundRect">
            <a:avLst>
              <a:gd name="adj" fmla="val 3265"/>
            </a:avLst>
          </a:prstGeom>
          <a:solidFill>
            <a:srgbClr val="F4F7F7"/>
          </a:solidFill>
          <a:ln w="12700">
            <a:solidFill>
              <a:srgbClr val="F4F7F7"/>
            </a:solidFill>
            <a:prstDash val="solid"/>
          </a:ln>
        </p:spPr>
      </p:sp>
      <p:sp>
        <p:nvSpPr>
          <p:cNvPr id="26" name="Shape 24"/>
          <p:cNvSpPr/>
          <p:nvPr/>
        </p:nvSpPr>
        <p:spPr>
          <a:xfrm>
            <a:off x="4480560" y="4023360"/>
            <a:ext cx="384048" cy="384048"/>
          </a:xfrm>
          <a:prstGeom prst="ellipse">
            <a:avLst/>
          </a:prstGeom>
          <a:solidFill>
            <a:srgbClr val="0F4C4F"/>
          </a:solidFill>
          <a:ln w="12700">
            <a:solidFill>
              <a:srgbClr val="0F4C4F"/>
            </a:solidFill>
            <a:prstDash val="solid"/>
          </a:ln>
        </p:spPr>
      </p:sp>
      <p:sp>
        <p:nvSpPr>
          <p:cNvPr id="27" name="Text 25"/>
          <p:cNvSpPr txBox="1"/>
          <p:nvPr/>
        </p:nvSpPr>
        <p:spPr>
          <a:xfrm>
            <a:off x="4480560" y="4023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R-5</a:t>
            </a:r>
            <a:endParaRPr lang="en-US" sz="1300" dirty="0"/>
          </a:p>
        </p:txBody>
      </p:sp>
      <p:sp>
        <p:nvSpPr>
          <p:cNvPr id="28" name="Text 26"/>
          <p:cNvSpPr txBox="1"/>
          <p:nvPr/>
        </p:nvSpPr>
        <p:spPr>
          <a:xfrm>
            <a:off x="4983480" y="4005072"/>
            <a:ext cx="269748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Chi phí sampler</a:t>
            </a:r>
            <a:endParaRPr lang="en-US" sz="1700" dirty="0"/>
          </a:p>
        </p:txBody>
      </p:sp>
      <p:sp>
        <p:nvSpPr>
          <p:cNvPr id="29" name="Text 27"/>
          <p:cNvSpPr txBox="1"/>
          <p:nvPr/>
        </p:nvSpPr>
        <p:spPr>
          <a:xfrm>
            <a:off x="4480560" y="4498848"/>
            <a:ext cx="3200400" cy="155448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Embedding cho 2,48 triệu node + GCN_S có thể đắt hơn LightGCN. Tính cả sampler vào chi phí; có ngưỡng khả thi T4.</a:t>
            </a:r>
            <a:endParaRPr lang="en-US" sz="1500" dirty="0"/>
          </a:p>
        </p:txBody>
      </p:sp>
      <p:sp>
        <p:nvSpPr>
          <p:cNvPr id="30" name="Shape 28"/>
          <p:cNvSpPr/>
          <p:nvPr/>
        </p:nvSpPr>
        <p:spPr>
          <a:xfrm>
            <a:off x="8046720" y="3886200"/>
            <a:ext cx="3566160" cy="2240280"/>
          </a:xfrm>
          <a:prstGeom prst="roundRect">
            <a:avLst>
              <a:gd name="adj" fmla="val 3265"/>
            </a:avLst>
          </a:prstGeom>
          <a:solidFill>
            <a:srgbClr val="F4F7F7"/>
          </a:solidFill>
          <a:ln w="12700">
            <a:solidFill>
              <a:srgbClr val="F4F7F7"/>
            </a:solidFill>
            <a:prstDash val="solid"/>
          </a:ln>
        </p:spPr>
      </p:sp>
      <p:sp>
        <p:nvSpPr>
          <p:cNvPr id="31" name="Shape 29"/>
          <p:cNvSpPr/>
          <p:nvPr/>
        </p:nvSpPr>
        <p:spPr>
          <a:xfrm>
            <a:off x="8229600" y="4023360"/>
            <a:ext cx="384048" cy="384048"/>
          </a:xfrm>
          <a:prstGeom prst="ellipse">
            <a:avLst/>
          </a:prstGeom>
          <a:solidFill>
            <a:srgbClr val="C8553D"/>
          </a:solidFill>
          <a:ln w="12700">
            <a:solidFill>
              <a:srgbClr val="C8553D"/>
            </a:solidFill>
            <a:prstDash val="solid"/>
          </a:ln>
        </p:spPr>
      </p:sp>
      <p:sp>
        <p:nvSpPr>
          <p:cNvPr id="32" name="Text 30"/>
          <p:cNvSpPr txBox="1"/>
          <p:nvPr/>
        </p:nvSpPr>
        <p:spPr>
          <a:xfrm>
            <a:off x="8229600" y="40233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R-6</a:t>
            </a:r>
            <a:endParaRPr lang="en-US" sz="1300" dirty="0"/>
          </a:p>
        </p:txBody>
      </p:sp>
      <p:sp>
        <p:nvSpPr>
          <p:cNvPr id="33" name="Text 31"/>
          <p:cNvSpPr txBox="1"/>
          <p:nvPr/>
        </p:nvSpPr>
        <p:spPr>
          <a:xfrm>
            <a:off x="8732520" y="4005072"/>
            <a:ext cx="2697480" cy="420624"/>
          </a:xfrm>
          <a:prstGeom prst="rect">
            <a:avLst/>
          </a:prstGeom>
          <a:noFill/>
          <a:ln/>
        </p:spPr>
        <p:txBody>
          <a:bodyPr wrap="square" lIns="0" tIns="0" rIns="0" bIns="0" rtlCol="0" anchor="ctr"/>
          <a:lstStyle/>
          <a:p>
            <a:pPr indent="0" marL="0">
              <a:buNone/>
            </a:pPr>
            <a:r>
              <a:rPr lang="en-US" sz="1700" b="1" dirty="0">
                <a:solidFill>
                  <a:srgbClr val="13262A"/>
                </a:solidFill>
                <a:latin typeface="Calibri" pitchFamily="34" charset="0"/>
                <a:ea typeface="Calibri" pitchFamily="34" charset="-122"/>
                <a:cs typeface="Calibri" pitchFamily="34" charset="-120"/>
              </a:rPr>
              <a:t>Backbone yếu</a:t>
            </a:r>
            <a:endParaRPr lang="en-US" sz="1700" dirty="0"/>
          </a:p>
        </p:txBody>
      </p:sp>
      <p:sp>
        <p:nvSpPr>
          <p:cNvPr id="34" name="Text 32"/>
          <p:cNvSpPr txBox="1"/>
          <p:nvPr/>
        </p:nvSpPr>
        <p:spPr>
          <a:xfrm>
            <a:off x="8229600" y="4498848"/>
            <a:ext cx="3200400" cy="1554480"/>
          </a:xfrm>
          <a:prstGeom prst="rect">
            <a:avLst/>
          </a:prstGeom>
          <a:noFill/>
          <a:ln/>
        </p:spPr>
        <p:txBody>
          <a:bodyPr wrap="square" lIns="0" tIns="0" rIns="0" bIns="0" rtlCol="0" anchor="t"/>
          <a:lstStyle/>
          <a:p>
            <a:pPr indent="0" marL="0">
              <a:spcAft>
                <a:spcPts val="300"/>
              </a:spcAft>
              <a:buNone/>
            </a:pPr>
            <a:r>
              <a:rPr lang="en-US" sz="1500" dirty="0">
                <a:solidFill>
                  <a:srgbClr val="13262A"/>
                </a:solidFill>
                <a:latin typeface="Calibri" pitchFamily="34" charset="0"/>
                <a:ea typeface="Calibri" pitchFamily="34" charset="-122"/>
                <a:cs typeface="Calibri" pitchFamily="34" charset="-120"/>
              </a:rPr>
              <a:t>Full LightGCN phải vượt MostPop trên D_dev trước khi so sánh sampler.</a:t>
            </a:r>
            <a:endParaRPr lang="en-US" sz="1500" dirty="0"/>
          </a:p>
        </p:txBody>
      </p:sp>
      <p:sp>
        <p:nvSpPr>
          <p:cNvPr id="35" name="Text 33"/>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Thêm: R-7 item âm cũng là mục tiêu của sampler; R-8 cạnh positive của batch có thể rò qua propagation → ablation che cạnh tạm thời (D9).</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5 · THIẾT KẾ THỰC NGHIỆM</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So sánh với các phương pháp khác</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36</a:t>
            </a:r>
            <a:endParaRPr lang="en-US" sz="1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1737360"/>
                <a:gridCol w="2560320"/>
                <a:gridCol w="3383280"/>
                <a:gridCol w="3383280"/>
              </a:tblGrid>
              <a:tr h="512064">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Tầng</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Phương pháp</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Vai trò</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Câu hỏi trả lời</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512064">
                <a:tc>
                  <a:txBody>
                    <a:bodyPr/>
                    <a:lstStyle/>
                    <a:p>
                      <a:pPr indent="0" marL="0">
                        <a:buNone/>
                      </a:pPr>
                      <a:r>
                        <a:rPr lang="en-US" sz="1500" b="1" dirty="0">
                          <a:solidFill>
                            <a:srgbClr val="13262A"/>
                          </a:solidFill>
                          <a:latin typeface="Calibri" pitchFamily="34" charset="0"/>
                          <a:ea typeface="Calibri" pitchFamily="34" charset="-122"/>
                          <a:cs typeface="Calibri" pitchFamily="34" charset="-120"/>
                        </a:rPr>
                        <a:t>A · cùng budget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b="1" dirty="0">
                          <a:solidFill>
                            <a:srgbClr val="13262A"/>
                          </a:solidFill>
                          <a:latin typeface="Calibri" pitchFamily="34" charset="0"/>
                          <a:ea typeface="Calibri" pitchFamily="34" charset="-122"/>
                          <a:cs typeface="Calibri" pitchFamily="34" charset="-120"/>
                        </a:rPr>
                        <a:t>GRAPES-GFN-Rec</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b="1" dirty="0">
                          <a:solidFill>
                            <a:srgbClr val="13262A"/>
                          </a:solidFill>
                          <a:latin typeface="Calibri" pitchFamily="34" charset="0"/>
                          <a:ea typeface="Calibri" pitchFamily="34" charset="-122"/>
                          <a:cs typeface="Calibri" pitchFamily="34" charset="-120"/>
                        </a:rPr>
                        <a:t>Phương pháp đề xuất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b="1" dirty="0">
                          <a:solidFill>
                            <a:srgbClr val="13262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A · cùng budget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M0 Uniform</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Đối chứng trung lập</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Học có hơn chọn ngẫu nhiên?</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A · cùng budget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M1 Degree-importance</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Đối chứng tĩnh theo bậc</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Học có hơn ưu tiên node phổ biến?</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A · cùng budget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GRAPES-RL-Rec</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Ablation hàm mục tiêu</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GFlowNet TB có cần hơn REINFORCE?</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E6F0EF"/>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B · tham chiếu</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Full LightGCN</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Không lấy mẫu</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Lấy mẫu mất bao nhiêu chất lượng?</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B · tham chiếu</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MostPop, BPR-MF</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Sanity</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Graph và propagation có giá trị?</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C · tùy chọn</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GraphSAGE fan-out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Lấy mẫu theo từng node</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Layer-wise học được vs node-wise?</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r>
              <a:tr h="512064">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Phụ lục</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M2 frontier (pilot)</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Lịch sử</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c>
                  <a:txBody>
                    <a:bodyPr/>
                    <a:lstStyle/>
                    <a:p>
                      <a:pPr indent="0" marL="0">
                        <a:buNone/>
                      </a:pPr>
                      <a:r>
                        <a:rPr lang="en-US" sz="1500" dirty="0">
                          <a:solidFill>
                            <a:srgbClr val="13262A"/>
                          </a:solidFill>
                          <a:latin typeface="Calibri" pitchFamily="34" charset="0"/>
                          <a:ea typeface="Calibri" pitchFamily="34" charset="-122"/>
                          <a:cs typeface="Calibri" pitchFamily="34" charset="-120"/>
                        </a:rPr>
                        <a:t>Không nằm trong so sánh chính</a:t>
                      </a:r>
                      <a:endParaRPr lang="en-US" sz="15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4F7F7"/>
                    </a:solidFill>
                  </a:tcPr>
                </a:tc>
              </a:tr>
            </a:tbl>
          </a:graphicData>
        </a:graphic>
      </p:graphicFrame>
      <p:sp>
        <p:nvSpPr>
          <p:cNvPr id="6" name="Text 3"/>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Tầng A chạy lại toàn bộ trên budget mới, cùng graph, thứ tự triplet, negative, khởi tạo, seed, evaluator, GPU. Số liệu M0/M1 pilot không được dùng lại.</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5 · THIẾT KẾ THỰC NGHIỆM</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Đo gì và vì sao</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37</a:t>
            </a:r>
            <a:endParaRPr lang="en-US" sz="1000" dirty="0"/>
          </a:p>
        </p:txBody>
      </p:sp>
      <p:sp>
        <p:nvSpPr>
          <p:cNvPr id="5" name="Shape 3"/>
          <p:cNvSpPr/>
          <p:nvPr/>
        </p:nvSpPr>
        <p:spPr>
          <a:xfrm>
            <a:off x="548640" y="1463040"/>
            <a:ext cx="2606040" cy="3291840"/>
          </a:xfrm>
          <a:prstGeom prst="roundRect">
            <a:avLst>
              <a:gd name="adj" fmla="val 2807"/>
            </a:avLst>
          </a:prstGeom>
          <a:solidFill>
            <a:srgbClr val="F4F7F7"/>
          </a:solidFill>
          <a:ln w="12700">
            <a:solidFill>
              <a:srgbClr val="F4F7F7"/>
            </a:solidFill>
            <a:prstDash val="solid"/>
          </a:ln>
        </p:spPr>
      </p:sp>
      <p:sp>
        <p:nvSpPr>
          <p:cNvPr id="6" name="Shape 4"/>
          <p:cNvSpPr/>
          <p:nvPr/>
        </p:nvSpPr>
        <p:spPr>
          <a:xfrm>
            <a:off x="731520" y="1645920"/>
            <a:ext cx="438912" cy="438912"/>
          </a:xfrm>
          <a:prstGeom prst="ellipse">
            <a:avLst/>
          </a:prstGeom>
          <a:solidFill>
            <a:srgbClr val="0F4C4F"/>
          </a:solidFill>
          <a:ln w="12700">
            <a:solidFill>
              <a:srgbClr val="0F4C4F"/>
            </a:solidFill>
            <a:prstDash val="solid"/>
          </a:ln>
        </p:spPr>
      </p:sp>
      <p:sp>
        <p:nvSpPr>
          <p:cNvPr id="7" name="Text 5"/>
          <p:cNvSpPr txBox="1"/>
          <p:nvPr/>
        </p:nvSpPr>
        <p:spPr>
          <a:xfrm>
            <a:off x="731520" y="16459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280160" y="1600200"/>
            <a:ext cx="1783080" cy="548640"/>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Chất lượng xếp hạng</a:t>
            </a:r>
            <a:endParaRPr lang="en-US" sz="1500" dirty="0"/>
          </a:p>
        </p:txBody>
      </p:sp>
      <p:sp>
        <p:nvSpPr>
          <p:cNvPr id="9" name="Text 7"/>
          <p:cNvSpPr txBox="1"/>
          <p:nvPr/>
        </p:nvSpPr>
        <p:spPr>
          <a:xfrm>
            <a:off x="731520" y="2331720"/>
            <a:ext cx="2286000" cy="228600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NDCG@20 (chính): item đúng ở vị trí cao được tính nhiều hơn</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Recall@20: item đúng có vào top-20</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Δ NDCG@20 ghép cặp theo seed</a:t>
            </a:r>
            <a:endParaRPr lang="en-US" sz="1450" dirty="0"/>
          </a:p>
        </p:txBody>
      </p:sp>
      <p:sp>
        <p:nvSpPr>
          <p:cNvPr id="10" name="Shape 8"/>
          <p:cNvSpPr/>
          <p:nvPr/>
        </p:nvSpPr>
        <p:spPr>
          <a:xfrm>
            <a:off x="3337560" y="1463040"/>
            <a:ext cx="2606040" cy="3291840"/>
          </a:xfrm>
          <a:prstGeom prst="roundRect">
            <a:avLst>
              <a:gd name="adj" fmla="val 2807"/>
            </a:avLst>
          </a:prstGeom>
          <a:solidFill>
            <a:srgbClr val="F4F7F7"/>
          </a:solidFill>
          <a:ln w="12700">
            <a:solidFill>
              <a:srgbClr val="F4F7F7"/>
            </a:solidFill>
            <a:prstDash val="solid"/>
          </a:ln>
        </p:spPr>
      </p:sp>
      <p:sp>
        <p:nvSpPr>
          <p:cNvPr id="11" name="Shape 9"/>
          <p:cNvSpPr/>
          <p:nvPr/>
        </p:nvSpPr>
        <p:spPr>
          <a:xfrm>
            <a:off x="3520440" y="1645920"/>
            <a:ext cx="438912" cy="438912"/>
          </a:xfrm>
          <a:prstGeom prst="ellipse">
            <a:avLst/>
          </a:prstGeom>
          <a:solidFill>
            <a:srgbClr val="2E7D7A"/>
          </a:solidFill>
          <a:ln w="12700">
            <a:solidFill>
              <a:srgbClr val="2E7D7A"/>
            </a:solidFill>
            <a:prstDash val="solid"/>
          </a:ln>
        </p:spPr>
      </p:sp>
      <p:sp>
        <p:nvSpPr>
          <p:cNvPr id="12" name="Text 10"/>
          <p:cNvSpPr txBox="1"/>
          <p:nvPr/>
        </p:nvSpPr>
        <p:spPr>
          <a:xfrm>
            <a:off x="3520440" y="16459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4069080" y="1600200"/>
            <a:ext cx="1783080" cy="548640"/>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Phân bổ &amp; đa dạng</a:t>
            </a:r>
            <a:endParaRPr lang="en-US" sz="1500" dirty="0"/>
          </a:p>
        </p:txBody>
      </p:sp>
      <p:sp>
        <p:nvSpPr>
          <p:cNvPr id="14" name="Text 12"/>
          <p:cNvSpPr txBox="1"/>
          <p:nvPr/>
        </p:nvSpPr>
        <p:spPr>
          <a:xfrm>
            <a:off x="3520440" y="2331720"/>
            <a:ext cx="2286000" cy="228600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Catalog Coverage@20</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Exposure và hit theo head / body / tail</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Gini exposure</a:t>
            </a:r>
            <a:endParaRPr lang="en-US" sz="1450" dirty="0"/>
          </a:p>
        </p:txBody>
      </p:sp>
      <p:sp>
        <p:nvSpPr>
          <p:cNvPr id="15" name="Shape 13"/>
          <p:cNvSpPr/>
          <p:nvPr/>
        </p:nvSpPr>
        <p:spPr>
          <a:xfrm>
            <a:off x="6126480" y="1463040"/>
            <a:ext cx="2606040" cy="3291840"/>
          </a:xfrm>
          <a:prstGeom prst="roundRect">
            <a:avLst>
              <a:gd name="adj" fmla="val 2807"/>
            </a:avLst>
          </a:prstGeom>
          <a:solidFill>
            <a:srgbClr val="F4F7F7"/>
          </a:solidFill>
          <a:ln w="12700">
            <a:solidFill>
              <a:srgbClr val="F4F7F7"/>
            </a:solidFill>
            <a:prstDash val="solid"/>
          </a:ln>
        </p:spPr>
      </p:sp>
      <p:sp>
        <p:nvSpPr>
          <p:cNvPr id="16" name="Shape 14"/>
          <p:cNvSpPr/>
          <p:nvPr/>
        </p:nvSpPr>
        <p:spPr>
          <a:xfrm>
            <a:off x="6309360" y="1645920"/>
            <a:ext cx="438912" cy="438912"/>
          </a:xfrm>
          <a:prstGeom prst="ellipse">
            <a:avLst/>
          </a:prstGeom>
          <a:solidFill>
            <a:srgbClr val="E89B2D"/>
          </a:solidFill>
          <a:ln w="12700">
            <a:solidFill>
              <a:srgbClr val="E89B2D"/>
            </a:solidFill>
            <a:prstDash val="solid"/>
          </a:ln>
        </p:spPr>
      </p:sp>
      <p:sp>
        <p:nvSpPr>
          <p:cNvPr id="17" name="Text 15"/>
          <p:cNvSpPr txBox="1"/>
          <p:nvPr/>
        </p:nvSpPr>
        <p:spPr>
          <a:xfrm>
            <a:off x="6309360" y="16459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6858000" y="1600200"/>
            <a:ext cx="1783080" cy="548640"/>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Chi phí (trade-off)</a:t>
            </a:r>
            <a:endParaRPr lang="en-US" sz="1500" dirty="0"/>
          </a:p>
        </p:txBody>
      </p:sp>
      <p:sp>
        <p:nvSpPr>
          <p:cNvPr id="19" name="Text 17"/>
          <p:cNvSpPr txBox="1"/>
          <p:nvPr/>
        </p:nvSpPr>
        <p:spPr>
          <a:xfrm>
            <a:off x="6309360" y="2331720"/>
            <a:ext cx="2286000" cy="228600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Thời gian sampler, TB, propagation, epoch</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Peak GPU memory</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Số node / cạnh thực tế mỗi layer</a:t>
            </a:r>
            <a:endParaRPr lang="en-US" sz="1450" dirty="0"/>
          </a:p>
        </p:txBody>
      </p:sp>
      <p:sp>
        <p:nvSpPr>
          <p:cNvPr id="20" name="Shape 18"/>
          <p:cNvSpPr/>
          <p:nvPr/>
        </p:nvSpPr>
        <p:spPr>
          <a:xfrm>
            <a:off x="8915400" y="1463040"/>
            <a:ext cx="2606040" cy="3291840"/>
          </a:xfrm>
          <a:prstGeom prst="roundRect">
            <a:avLst>
              <a:gd name="adj" fmla="val 2807"/>
            </a:avLst>
          </a:prstGeom>
          <a:solidFill>
            <a:srgbClr val="F4F7F7"/>
          </a:solidFill>
          <a:ln w="12700">
            <a:solidFill>
              <a:srgbClr val="F4F7F7"/>
            </a:solidFill>
            <a:prstDash val="solid"/>
          </a:ln>
        </p:spPr>
      </p:sp>
      <p:sp>
        <p:nvSpPr>
          <p:cNvPr id="21" name="Shape 19"/>
          <p:cNvSpPr/>
          <p:nvPr/>
        </p:nvSpPr>
        <p:spPr>
          <a:xfrm>
            <a:off x="9098280" y="1645920"/>
            <a:ext cx="438912" cy="438912"/>
          </a:xfrm>
          <a:prstGeom prst="ellipse">
            <a:avLst/>
          </a:prstGeom>
          <a:solidFill>
            <a:srgbClr val="C8553D"/>
          </a:solidFill>
          <a:ln w="12700">
            <a:solidFill>
              <a:srgbClr val="C8553D"/>
            </a:solidFill>
            <a:prstDash val="solid"/>
          </a:ln>
        </p:spPr>
      </p:sp>
      <p:sp>
        <p:nvSpPr>
          <p:cNvPr id="22" name="Text 20"/>
          <p:cNvSpPr txBox="1"/>
          <p:nvPr/>
        </p:nvSpPr>
        <p:spPr>
          <a:xfrm>
            <a:off x="9098280" y="164592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txBox="1"/>
          <p:nvPr/>
        </p:nvSpPr>
        <p:spPr>
          <a:xfrm>
            <a:off x="9646920" y="1600200"/>
            <a:ext cx="1783080" cy="548640"/>
          </a:xfrm>
          <a:prstGeom prst="rect">
            <a:avLst/>
          </a:prstGeom>
          <a:noFill/>
          <a:ln/>
        </p:spPr>
        <p:txBody>
          <a:bodyPr wrap="square" lIns="0" tIns="0" rIns="0" bIns="0" rtlCol="0" anchor="ctr"/>
          <a:lstStyle/>
          <a:p>
            <a:pPr indent="0" marL="0">
              <a:buNone/>
            </a:pPr>
            <a:r>
              <a:rPr lang="en-US" sz="1500" b="1" dirty="0">
                <a:solidFill>
                  <a:srgbClr val="13262A"/>
                </a:solidFill>
                <a:latin typeface="Calibri" pitchFamily="34" charset="0"/>
                <a:ea typeface="Calibri" pitchFamily="34" charset="-122"/>
                <a:cs typeface="Calibri" pitchFamily="34" charset="-120"/>
              </a:rPr>
              <a:t>Hành vi sampler</a:t>
            </a:r>
            <a:endParaRPr lang="en-US" sz="1500" dirty="0"/>
          </a:p>
        </p:txBody>
      </p:sp>
      <p:sp>
        <p:nvSpPr>
          <p:cNvPr id="24" name="Text 22"/>
          <p:cNvSpPr txBox="1"/>
          <p:nvPr/>
        </p:nvSpPr>
        <p:spPr>
          <a:xfrm>
            <a:off x="9098280" y="2331720"/>
            <a:ext cx="2286000" cy="2286000"/>
          </a:xfrm>
          <a:prstGeom prst="rect">
            <a:avLst/>
          </a:prstGeom>
          <a:noFill/>
          <a:ln/>
        </p:spPr>
        <p:txBody>
          <a:bodyPr wrap="square" lIns="0" tIns="0" rIns="0" bIns="0" rtlCol="0" anchor="t"/>
          <a:lstStyle/>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Bậc, loại, nhóm của node được chọn</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Entropy, p_min / p_max</a:t>
            </a:r>
            <a:endParaRPr lang="en-US" sz="1450" dirty="0"/>
          </a:p>
          <a:p>
            <a:pPr marL="203200" indent="-203200">
              <a:spcAft>
                <a:spcPts val="600"/>
              </a:spcAft>
              <a:buSzPct val="100000"/>
              <a:buChar char="•"/>
            </a:pPr>
            <a:r>
              <a:rPr lang="en-US" sz="1450" dirty="0">
                <a:solidFill>
                  <a:srgbClr val="13262A"/>
                </a:solidFill>
                <a:latin typeface="Calibri" pitchFamily="34" charset="0"/>
                <a:ea typeface="Calibri" pitchFamily="34" charset="-122"/>
                <a:cs typeface="Calibri" pitchFamily="34" charset="-120"/>
              </a:rPr>
              <a:t>Có dồn về hub không (RQ3)</a:t>
            </a:r>
            <a:endParaRPr lang="en-US" sz="1450" dirty="0"/>
          </a:p>
        </p:txBody>
      </p:sp>
      <p:sp>
        <p:nvSpPr>
          <p:cNvPr id="25" name="Shape 23"/>
          <p:cNvSpPr/>
          <p:nvPr/>
        </p:nvSpPr>
        <p:spPr>
          <a:xfrm>
            <a:off x="548640" y="4937760"/>
            <a:ext cx="11064240" cy="1280160"/>
          </a:xfrm>
          <a:prstGeom prst="roundRect">
            <a:avLst>
              <a:gd name="adj" fmla="val 5714"/>
            </a:avLst>
          </a:prstGeom>
          <a:solidFill>
            <a:srgbClr val="FCF1DF"/>
          </a:solidFill>
          <a:ln w="12700">
            <a:solidFill>
              <a:srgbClr val="FCF1DF"/>
            </a:solidFill>
            <a:prstDash val="solid"/>
          </a:ln>
        </p:spPr>
      </p:sp>
      <p:sp>
        <p:nvSpPr>
          <p:cNvPr id="26" name="Text 24"/>
          <p:cNvSpPr txBox="1"/>
          <p:nvPr/>
        </p:nvSpPr>
        <p:spPr>
          <a:xfrm>
            <a:off x="731520" y="5056632"/>
            <a:ext cx="10698480" cy="420624"/>
          </a:xfrm>
          <a:prstGeom prst="rect">
            <a:avLst/>
          </a:prstGeom>
          <a:noFill/>
          <a:ln/>
        </p:spPr>
        <p:txBody>
          <a:bodyPr wrap="square" lIns="0" tIns="0" rIns="0" bIns="0" rtlCol="0" anchor="ctr"/>
          <a:lstStyle/>
          <a:p>
            <a:pPr indent="0" marL="0">
              <a:buNone/>
            </a:pPr>
            <a:r>
              <a:rPr lang="en-US" sz="1600" b="1" dirty="0">
                <a:solidFill>
                  <a:srgbClr val="13262A"/>
                </a:solidFill>
                <a:latin typeface="Calibri" pitchFamily="34" charset="0"/>
                <a:ea typeface="Calibri" pitchFamily="34" charset="-122"/>
                <a:cs typeface="Calibri" pitchFamily="34" charset="-120"/>
              </a:rPr>
              <a:t>Ngữ nghĩa và đa dạng sản phẩm được gợi ý (đề xuất bổ sung, cần cô duyệt · OD-2)</a:t>
            </a:r>
            <a:endParaRPr lang="en-US" sz="1600" dirty="0"/>
          </a:p>
        </p:txBody>
      </p:sp>
      <p:sp>
        <p:nvSpPr>
          <p:cNvPr id="27" name="Text 25"/>
          <p:cNvSpPr txBox="1"/>
          <p:nvPr/>
        </p:nvSpPr>
        <p:spPr>
          <a:xfrm>
            <a:off x="731520" y="5550408"/>
            <a:ext cx="10698480" cy="594360"/>
          </a:xfrm>
          <a:prstGeom prst="rect">
            <a:avLst/>
          </a:prstGeom>
          <a:noFill/>
          <a:ln/>
        </p:spPr>
        <p:txBody>
          <a:bodyPr wrap="square" lIns="0" tIns="0" rIns="0" bIns="0" rtlCol="0" anchor="t"/>
          <a:lstStyle/>
          <a:p>
            <a:pPr indent="0" marL="0">
              <a:spcAft>
                <a:spcPts val="300"/>
              </a:spcAft>
              <a:buNone/>
            </a:pPr>
            <a:r>
              <a:rPr lang="en-US" sz="1300" dirty="0">
                <a:solidFill>
                  <a:srgbClr val="13262A"/>
                </a:solidFill>
                <a:latin typeface="Calibri" pitchFamily="34" charset="0"/>
                <a:ea typeface="Calibri" pitchFamily="34" charset="-122"/>
                <a:cs typeface="Calibri" pitchFamily="34" charset="-120"/>
              </a:rPr>
              <a:t>Nối metadata meta_Baby_Products có sẵn trong Amazon Reviews'23 (title, categories, features, store). Semantic match@20: cosine giữa embedding văn bản [15] của sản phẩm gợi ý và sản phẩm đúng. ILD@20: khoảng cách danh mục trung bình giữa các cặp trong top-20 [13]. Metadata không đưa vào huấn luyện, chỉ để đánh giá.</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6 · KẾT QUẢ</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Kết quả development (R3)</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38</a:t>
            </a:r>
            <a:endParaRPr lang="en-US" sz="1000" dirty="0"/>
          </a:p>
        </p:txBody>
      </p:sp>
      <p:sp>
        <p:nvSpPr>
          <p:cNvPr id="5" name="Shape 3"/>
          <p:cNvSpPr/>
          <p:nvPr/>
        </p:nvSpPr>
        <p:spPr>
          <a:xfrm>
            <a:off x="548640" y="1417320"/>
            <a:ext cx="11064240" cy="640080"/>
          </a:xfrm>
          <a:prstGeom prst="roundRect">
            <a:avLst>
              <a:gd name="adj" fmla="val 11429"/>
            </a:avLst>
          </a:prstGeom>
          <a:solidFill>
            <a:srgbClr val="FCF1DF"/>
          </a:solidFill>
          <a:ln w="19050">
            <a:solidFill>
              <a:srgbClr val="E89B2D"/>
            </a:solidFill>
            <a:prstDash val="dash"/>
          </a:ln>
        </p:spPr>
      </p:sp>
      <p:sp>
        <p:nvSpPr>
          <p:cNvPr id="6" name="Text 4"/>
          <p:cNvSpPr txBox="1"/>
          <p:nvPr/>
        </p:nvSpPr>
        <p:spPr>
          <a:xfrm>
            <a:off x="777240" y="1417320"/>
            <a:ext cx="10607040" cy="640080"/>
          </a:xfrm>
          <a:prstGeom prst="rect">
            <a:avLst/>
          </a:prstGeom>
          <a:noFill/>
          <a:ln/>
        </p:spPr>
        <p:txBody>
          <a:bodyPr wrap="square" lIns="0" tIns="0" rIns="0" bIns="0" rtlCol="0" anchor="ctr"/>
          <a:lstStyle/>
          <a:p>
            <a:pPr indent="0" marL="0">
              <a:buNone/>
            </a:pPr>
            <a:r>
              <a:rPr lang="en-US" sz="1700" b="1" dirty="0">
                <a:solidFill>
                  <a:srgbClr val="C8553D"/>
                </a:solidFill>
                <a:latin typeface="Calibri" pitchFamily="34" charset="0"/>
                <a:ea typeface="Calibri" pitchFamily="34" charset="-122"/>
                <a:cs typeface="Calibri" pitchFamily="34" charset="-120"/>
              </a:rPr>
              <a:t>ĐANG CHỜ · </a:t>
            </a:r>
            <a:pPr indent="0" marL="0">
              <a:buNone/>
            </a:pPr>
            <a:r>
              <a:rPr lang="en-US" sz="1700" b="1" dirty="0">
                <a:solidFill>
                  <a:srgbClr val="13262A"/>
                </a:solidFill>
                <a:latin typeface="Calibri" pitchFamily="34" charset="0"/>
                <a:ea typeface="Calibri" pitchFamily="34" charset="-122"/>
                <a:cs typeface="Calibri" pitchFamily="34" charset="-120"/>
              </a:rPr>
              <a:t>notebook 12 trên D_dev — dự kiến 23/09–10/10</a:t>
            </a:r>
            <a:endParaRPr lang="en-US" sz="17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64240" cy="914400"/>
        </p:xfrm>
        <a:graphic>
          <a:graphicData uri="http://schemas.openxmlformats.org/drawingml/2006/table">
            <a:tbl>
              <a:tblPr/>
              <a:tblGrid>
                <a:gridCol w="4572000"/>
                <a:gridCol w="3566160"/>
                <a:gridCol w="29260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Sẽ điền</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Trả lời câu hỏi</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Nguồn số liệu</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Full LightGCN vs MostPop theo số epoch (điều kiện backbone)</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R3a</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Budget chung: batch × k, số bước, thời gian/epoch, bộ nhớ T4</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R-1, R-5</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R3b</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Quét α, log_z_init, learning rate sampler</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R-2</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R3c</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Bằng chứng sampler học: ‖ΔΘ_S‖, phân phối chọn khác M0</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G7</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R3d</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Chi phí sampler so với propagation</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Trade-off</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R3e</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Cấu hình chỉ được chọn từ D_dev; validation hiện tại chưa được đọc.</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6 · KẾT QUẢ</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Kết quả so sánh ghép cặp trên holdout (R5)</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39</a:t>
            </a:r>
            <a:endParaRPr lang="en-US" sz="1000" dirty="0"/>
          </a:p>
        </p:txBody>
      </p:sp>
      <p:sp>
        <p:nvSpPr>
          <p:cNvPr id="5" name="Shape 3"/>
          <p:cNvSpPr/>
          <p:nvPr/>
        </p:nvSpPr>
        <p:spPr>
          <a:xfrm>
            <a:off x="548640" y="1417320"/>
            <a:ext cx="11064240" cy="640080"/>
          </a:xfrm>
          <a:prstGeom prst="roundRect">
            <a:avLst>
              <a:gd name="adj" fmla="val 11429"/>
            </a:avLst>
          </a:prstGeom>
          <a:solidFill>
            <a:srgbClr val="FCF1DF"/>
          </a:solidFill>
          <a:ln w="19050">
            <a:solidFill>
              <a:srgbClr val="E89B2D"/>
            </a:solidFill>
            <a:prstDash val="dash"/>
          </a:ln>
        </p:spPr>
      </p:sp>
      <p:sp>
        <p:nvSpPr>
          <p:cNvPr id="6" name="Text 4"/>
          <p:cNvSpPr txBox="1"/>
          <p:nvPr/>
        </p:nvSpPr>
        <p:spPr>
          <a:xfrm>
            <a:off x="777240" y="1417320"/>
            <a:ext cx="10607040" cy="640080"/>
          </a:xfrm>
          <a:prstGeom prst="rect">
            <a:avLst/>
          </a:prstGeom>
          <a:noFill/>
          <a:ln/>
        </p:spPr>
        <p:txBody>
          <a:bodyPr wrap="square" lIns="0" tIns="0" rIns="0" bIns="0" rtlCol="0" anchor="ctr"/>
          <a:lstStyle/>
          <a:p>
            <a:pPr indent="0" marL="0">
              <a:buNone/>
            </a:pPr>
            <a:r>
              <a:rPr lang="en-US" sz="1700" b="1" dirty="0">
                <a:solidFill>
                  <a:srgbClr val="C8553D"/>
                </a:solidFill>
                <a:latin typeface="Calibri" pitchFamily="34" charset="0"/>
                <a:ea typeface="Calibri" pitchFamily="34" charset="-122"/>
                <a:cs typeface="Calibri" pitchFamily="34" charset="-120"/>
              </a:rPr>
              <a:t>ĐANG CHỜ · </a:t>
            </a:r>
            <a:pPr indent="0" marL="0">
              <a:buNone/>
            </a:pPr>
            <a:r>
              <a:rPr lang="en-US" sz="1700" b="1" dirty="0">
                <a:solidFill>
                  <a:srgbClr val="13262A"/>
                </a:solidFill>
                <a:latin typeface="Calibri" pitchFamily="34" charset="0"/>
                <a:ea typeface="Calibri" pitchFamily="34" charset="-122"/>
                <a:cs typeface="Calibri" pitchFamily="34" charset="-120"/>
              </a:rPr>
              <a:t>notebook 13 — dự kiến 14/10–27/10</a:t>
            </a:r>
            <a:endParaRPr lang="en-US" sz="17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64240" cy="914400"/>
        </p:xfrm>
        <a:graphic>
          <a:graphicData uri="http://schemas.openxmlformats.org/drawingml/2006/table">
            <a:tbl>
              <a:tblPr/>
              <a:tblGrid>
                <a:gridCol w="4572000"/>
                <a:gridCol w="3566160"/>
                <a:gridCol w="29260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Sẽ điền</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Trả lời câu hỏi</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Nguồn số liệu</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NDCG@20, Recall@20 × 7 phương pháp × 3 seed; Δ ghép cặp</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RQ1</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R5</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Coverage@20, exposure/hit head–body–tail, Gini</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Phân bổ, đa dạng</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R5</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Thời gian sampler, TB, propagation, epoch; peak GPU</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Trade-off chi phí</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R5</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TB vs REINFORCE: độ ổn định, tỷ lệ run fail</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RQ2</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R5</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Semantic match@20, ILD@20</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Ngữ nghĩa (nếu OD-2 duyệt)</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R5 + metadata</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548640" y="6355080"/>
            <a:ext cx="10424160" cy="320040"/>
          </a:xfrm>
          <a:prstGeom prst="rect">
            <a:avLst/>
          </a:prstGeom>
          <a:noFill/>
          <a:ln/>
        </p:spPr>
        <p:txBody>
          <a:bodyPr wrap="square" lIns="0" tIns="0" rIns="0" bIns="0" rtlCol="0" anchor="ctr"/>
          <a:lstStyle/>
          <a:p>
            <a:pPr indent="0" marL="0">
              <a:buNone/>
            </a:pPr>
            <a:r>
              <a:rPr lang="en-US" sz="1000" i="1" dirty="0">
                <a:solidFill>
                  <a:srgbClr val="5E6B6E"/>
                </a:solidFill>
                <a:latin typeface="Calibri" pitchFamily="34" charset="0"/>
                <a:ea typeface="Calibri" pitchFamily="34" charset="-122"/>
                <a:cs typeface="Calibri" pitchFamily="34" charset="-120"/>
              </a:rPr>
              <a:t>Chỉ kết luận cải thiện khi Δ NDCG@20 &gt; 0 ở mọi seed và chi phí được báo đủ.</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6 · KẾT QUẢ</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Hành vi sampler và độ nhạy budget (R6)</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40</a:t>
            </a:r>
            <a:endParaRPr lang="en-US" sz="1000" dirty="0"/>
          </a:p>
        </p:txBody>
      </p:sp>
      <p:sp>
        <p:nvSpPr>
          <p:cNvPr id="5" name="Shape 3"/>
          <p:cNvSpPr/>
          <p:nvPr/>
        </p:nvSpPr>
        <p:spPr>
          <a:xfrm>
            <a:off x="548640" y="1417320"/>
            <a:ext cx="11064240" cy="640080"/>
          </a:xfrm>
          <a:prstGeom prst="roundRect">
            <a:avLst>
              <a:gd name="adj" fmla="val 11429"/>
            </a:avLst>
          </a:prstGeom>
          <a:solidFill>
            <a:srgbClr val="FCF1DF"/>
          </a:solidFill>
          <a:ln w="19050">
            <a:solidFill>
              <a:srgbClr val="E89B2D"/>
            </a:solidFill>
            <a:prstDash val="dash"/>
          </a:ln>
        </p:spPr>
      </p:sp>
      <p:sp>
        <p:nvSpPr>
          <p:cNvPr id="6" name="Text 4"/>
          <p:cNvSpPr txBox="1"/>
          <p:nvPr/>
        </p:nvSpPr>
        <p:spPr>
          <a:xfrm>
            <a:off x="777240" y="1417320"/>
            <a:ext cx="10607040" cy="640080"/>
          </a:xfrm>
          <a:prstGeom prst="rect">
            <a:avLst/>
          </a:prstGeom>
          <a:noFill/>
          <a:ln/>
        </p:spPr>
        <p:txBody>
          <a:bodyPr wrap="square" lIns="0" tIns="0" rIns="0" bIns="0" rtlCol="0" anchor="ctr"/>
          <a:lstStyle/>
          <a:p>
            <a:pPr indent="0" marL="0">
              <a:buNone/>
            </a:pPr>
            <a:r>
              <a:rPr lang="en-US" sz="1700" b="1" dirty="0">
                <a:solidFill>
                  <a:srgbClr val="C8553D"/>
                </a:solidFill>
                <a:latin typeface="Calibri" pitchFamily="34" charset="0"/>
                <a:ea typeface="Calibri" pitchFamily="34" charset="-122"/>
                <a:cs typeface="Calibri" pitchFamily="34" charset="-120"/>
              </a:rPr>
              <a:t>ĐANG CHỜ · </a:t>
            </a:r>
            <a:pPr indent="0" marL="0">
              <a:buNone/>
            </a:pPr>
            <a:r>
              <a:rPr lang="en-US" sz="1700" b="1" dirty="0">
                <a:solidFill>
                  <a:srgbClr val="13262A"/>
                </a:solidFill>
                <a:latin typeface="Calibri" pitchFamily="34" charset="0"/>
                <a:ea typeface="Calibri" pitchFamily="34" charset="-122"/>
                <a:cs typeface="Calibri" pitchFamily="34" charset="-120"/>
              </a:rPr>
              <a:t>phân tích sau R5 — dự kiến 28/10–03/11</a:t>
            </a:r>
            <a:endParaRPr lang="en-US" sz="17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2240280"/>
          <a:ext cx="11064240" cy="914400"/>
        </p:xfrm>
        <a:graphic>
          <a:graphicData uri="http://schemas.openxmlformats.org/drawingml/2006/table">
            <a:tbl>
              <a:tblPr/>
              <a:tblGrid>
                <a:gridCol w="4572000"/>
                <a:gridCol w="3566160"/>
                <a:gridCol w="29260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Sẽ điền</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Trả lời câu hỏi</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Nguồn số liệu</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Bậc, loại user/item, nhóm của node được chọn theo layer</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RQ3 · quan hệ node có giá trị</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Có dồn về hub không; so với M0/M1 cùng ứng viên</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RQ3 · thiên lệch phổ biến</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Mặt trận Pareto NDCG–thời gian, NDCG–coverage</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Trade-off theo tiêu chí</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Budget chặt: quan hệ nào vẫn được giữ</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RQ4</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Ablation che cạnh positive (D9), log Z kiểu cũ (D6)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Độ tin cậy</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300" dirty="0">
                          <a:solidFill>
                            <a:srgbClr val="13262A"/>
                          </a:solidFill>
                          <a:latin typeface="Calibri" pitchFamily="34" charset="0"/>
                          <a:ea typeface="Calibri" pitchFamily="34" charset="-122"/>
                          <a:cs typeface="Calibri" pitchFamily="34" charset="-120"/>
                        </a:rPr>
                        <a:t>R6</a:t>
                      </a:r>
                      <a:endParaRPr lang="en-US" sz="130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7 · KẾ HOẠCH</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Kế hoạch đến hạn nộp 30/11/2026</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41</a:t>
            </a:r>
            <a:endParaRPr lang="en-US" sz="1000" dirty="0"/>
          </a:p>
        </p:txBody>
      </p:sp>
      <p:sp>
        <p:nvSpPr>
          <p:cNvPr id="5" name="Shape 3"/>
          <p:cNvSpPr/>
          <p:nvPr/>
        </p:nvSpPr>
        <p:spPr>
          <a:xfrm>
            <a:off x="4480560" y="1645920"/>
            <a:ext cx="0" cy="4343400"/>
          </a:xfrm>
          <a:prstGeom prst="line">
            <a:avLst/>
          </a:prstGeom>
          <a:noFill/>
          <a:ln w="9525">
            <a:solidFill>
              <a:srgbClr val="E3E8E8"/>
            </a:solidFill>
            <a:prstDash val="solid"/>
          </a:ln>
        </p:spPr>
      </p:sp>
      <p:sp>
        <p:nvSpPr>
          <p:cNvPr id="6" name="Text 4"/>
          <p:cNvSpPr txBox="1"/>
          <p:nvPr/>
        </p:nvSpPr>
        <p:spPr>
          <a:xfrm>
            <a:off x="4434840" y="1325880"/>
            <a:ext cx="640080" cy="274320"/>
          </a:xfrm>
          <a:prstGeom prst="rect">
            <a:avLst/>
          </a:prstGeom>
          <a:noFill/>
          <a:ln/>
        </p:spPr>
        <p:txBody>
          <a:bodyPr wrap="square" lIns="0" tIns="0" rIns="0" bIns="0" rtlCol="0" anchor="ctr"/>
          <a:lstStyle/>
          <a:p>
            <a:pPr indent="0" marL="0">
              <a:buNone/>
            </a:pPr>
            <a:r>
              <a:rPr lang="en-US" sz="1000" dirty="0">
                <a:solidFill>
                  <a:srgbClr val="5E6B6E"/>
                </a:solidFill>
                <a:latin typeface="Calibri" pitchFamily="34" charset="0"/>
                <a:ea typeface="Calibri" pitchFamily="34" charset="-122"/>
                <a:cs typeface="Calibri" pitchFamily="34" charset="-120"/>
              </a:rPr>
              <a:t>16/9</a:t>
            </a:r>
            <a:endParaRPr lang="en-US" sz="1000" dirty="0"/>
          </a:p>
        </p:txBody>
      </p:sp>
      <p:sp>
        <p:nvSpPr>
          <p:cNvPr id="7" name="Shape 5"/>
          <p:cNvSpPr/>
          <p:nvPr/>
        </p:nvSpPr>
        <p:spPr>
          <a:xfrm>
            <a:off x="5120640" y="1645920"/>
            <a:ext cx="0" cy="4343400"/>
          </a:xfrm>
          <a:prstGeom prst="line">
            <a:avLst/>
          </a:prstGeom>
          <a:noFill/>
          <a:ln w="9525">
            <a:solidFill>
              <a:srgbClr val="E3E8E8"/>
            </a:solidFill>
            <a:prstDash val="solid"/>
          </a:ln>
        </p:spPr>
      </p:sp>
      <p:sp>
        <p:nvSpPr>
          <p:cNvPr id="8" name="Text 6"/>
          <p:cNvSpPr txBox="1"/>
          <p:nvPr/>
        </p:nvSpPr>
        <p:spPr>
          <a:xfrm>
            <a:off x="5074920" y="1325880"/>
            <a:ext cx="640080" cy="274320"/>
          </a:xfrm>
          <a:prstGeom prst="rect">
            <a:avLst/>
          </a:prstGeom>
          <a:noFill/>
          <a:ln/>
        </p:spPr>
        <p:txBody>
          <a:bodyPr wrap="square" lIns="0" tIns="0" rIns="0" bIns="0" rtlCol="0" anchor="ctr"/>
          <a:lstStyle/>
          <a:p>
            <a:pPr indent="0" marL="0">
              <a:buNone/>
            </a:pPr>
            <a:r>
              <a:rPr lang="en-US" sz="1000" dirty="0">
                <a:solidFill>
                  <a:srgbClr val="5E6B6E"/>
                </a:solidFill>
                <a:latin typeface="Calibri" pitchFamily="34" charset="0"/>
                <a:ea typeface="Calibri" pitchFamily="34" charset="-122"/>
                <a:cs typeface="Calibri" pitchFamily="34" charset="-120"/>
              </a:rPr>
              <a:t>23/9</a:t>
            </a:r>
            <a:endParaRPr lang="en-US" sz="1000" dirty="0"/>
          </a:p>
        </p:txBody>
      </p:sp>
      <p:sp>
        <p:nvSpPr>
          <p:cNvPr id="9" name="Shape 7"/>
          <p:cNvSpPr/>
          <p:nvPr/>
        </p:nvSpPr>
        <p:spPr>
          <a:xfrm>
            <a:off x="5760720" y="1645920"/>
            <a:ext cx="0" cy="4343400"/>
          </a:xfrm>
          <a:prstGeom prst="line">
            <a:avLst/>
          </a:prstGeom>
          <a:noFill/>
          <a:ln w="9525">
            <a:solidFill>
              <a:srgbClr val="E3E8E8"/>
            </a:solidFill>
            <a:prstDash val="solid"/>
          </a:ln>
        </p:spPr>
      </p:sp>
      <p:sp>
        <p:nvSpPr>
          <p:cNvPr id="10" name="Text 8"/>
          <p:cNvSpPr txBox="1"/>
          <p:nvPr/>
        </p:nvSpPr>
        <p:spPr>
          <a:xfrm>
            <a:off x="5715000" y="1325880"/>
            <a:ext cx="640080" cy="274320"/>
          </a:xfrm>
          <a:prstGeom prst="rect">
            <a:avLst/>
          </a:prstGeom>
          <a:noFill/>
          <a:ln/>
        </p:spPr>
        <p:txBody>
          <a:bodyPr wrap="square" lIns="0" tIns="0" rIns="0" bIns="0" rtlCol="0" anchor="ctr"/>
          <a:lstStyle/>
          <a:p>
            <a:pPr indent="0" marL="0">
              <a:buNone/>
            </a:pPr>
            <a:r>
              <a:rPr lang="en-US" sz="1000" dirty="0">
                <a:solidFill>
                  <a:srgbClr val="5E6B6E"/>
                </a:solidFill>
                <a:latin typeface="Calibri" pitchFamily="34" charset="0"/>
                <a:ea typeface="Calibri" pitchFamily="34" charset="-122"/>
                <a:cs typeface="Calibri" pitchFamily="34" charset="-120"/>
              </a:rPr>
              <a:t>30/9</a:t>
            </a:r>
            <a:endParaRPr lang="en-US" sz="1000" dirty="0"/>
          </a:p>
        </p:txBody>
      </p:sp>
      <p:sp>
        <p:nvSpPr>
          <p:cNvPr id="11" name="Shape 9"/>
          <p:cNvSpPr/>
          <p:nvPr/>
        </p:nvSpPr>
        <p:spPr>
          <a:xfrm>
            <a:off x="6400800" y="1645920"/>
            <a:ext cx="0" cy="4343400"/>
          </a:xfrm>
          <a:prstGeom prst="line">
            <a:avLst/>
          </a:prstGeom>
          <a:noFill/>
          <a:ln w="9525">
            <a:solidFill>
              <a:srgbClr val="E3E8E8"/>
            </a:solidFill>
            <a:prstDash val="solid"/>
          </a:ln>
        </p:spPr>
      </p:sp>
      <p:sp>
        <p:nvSpPr>
          <p:cNvPr id="12" name="Text 10"/>
          <p:cNvSpPr txBox="1"/>
          <p:nvPr/>
        </p:nvSpPr>
        <p:spPr>
          <a:xfrm>
            <a:off x="6355080" y="1325880"/>
            <a:ext cx="640080" cy="274320"/>
          </a:xfrm>
          <a:prstGeom prst="rect">
            <a:avLst/>
          </a:prstGeom>
          <a:noFill/>
          <a:ln/>
        </p:spPr>
        <p:txBody>
          <a:bodyPr wrap="square" lIns="0" tIns="0" rIns="0" bIns="0" rtlCol="0" anchor="ctr"/>
          <a:lstStyle/>
          <a:p>
            <a:pPr indent="0" marL="0">
              <a:buNone/>
            </a:pPr>
            <a:r>
              <a:rPr lang="en-US" sz="1000" dirty="0">
                <a:solidFill>
                  <a:srgbClr val="5E6B6E"/>
                </a:solidFill>
                <a:latin typeface="Calibri" pitchFamily="34" charset="0"/>
                <a:ea typeface="Calibri" pitchFamily="34" charset="-122"/>
                <a:cs typeface="Calibri" pitchFamily="34" charset="-120"/>
              </a:rPr>
              <a:t>7/10</a:t>
            </a:r>
            <a:endParaRPr lang="en-US" sz="1000" dirty="0"/>
          </a:p>
        </p:txBody>
      </p:sp>
      <p:sp>
        <p:nvSpPr>
          <p:cNvPr id="13" name="Shape 11"/>
          <p:cNvSpPr/>
          <p:nvPr/>
        </p:nvSpPr>
        <p:spPr>
          <a:xfrm>
            <a:off x="7040880" y="1645920"/>
            <a:ext cx="0" cy="4343400"/>
          </a:xfrm>
          <a:prstGeom prst="line">
            <a:avLst/>
          </a:prstGeom>
          <a:noFill/>
          <a:ln w="9525">
            <a:solidFill>
              <a:srgbClr val="E3E8E8"/>
            </a:solidFill>
            <a:prstDash val="solid"/>
          </a:ln>
        </p:spPr>
      </p:sp>
      <p:sp>
        <p:nvSpPr>
          <p:cNvPr id="14" name="Text 12"/>
          <p:cNvSpPr txBox="1"/>
          <p:nvPr/>
        </p:nvSpPr>
        <p:spPr>
          <a:xfrm>
            <a:off x="6995160" y="1325880"/>
            <a:ext cx="640080" cy="274320"/>
          </a:xfrm>
          <a:prstGeom prst="rect">
            <a:avLst/>
          </a:prstGeom>
          <a:noFill/>
          <a:ln/>
        </p:spPr>
        <p:txBody>
          <a:bodyPr wrap="square" lIns="0" tIns="0" rIns="0" bIns="0" rtlCol="0" anchor="ctr"/>
          <a:lstStyle/>
          <a:p>
            <a:pPr indent="0" marL="0">
              <a:buNone/>
            </a:pPr>
            <a:r>
              <a:rPr lang="en-US" sz="1000" dirty="0">
                <a:solidFill>
                  <a:srgbClr val="5E6B6E"/>
                </a:solidFill>
                <a:latin typeface="Calibri" pitchFamily="34" charset="0"/>
                <a:ea typeface="Calibri" pitchFamily="34" charset="-122"/>
                <a:cs typeface="Calibri" pitchFamily="34" charset="-120"/>
              </a:rPr>
              <a:t>14/10</a:t>
            </a:r>
            <a:endParaRPr lang="en-US" sz="1000" dirty="0"/>
          </a:p>
        </p:txBody>
      </p:sp>
      <p:sp>
        <p:nvSpPr>
          <p:cNvPr id="15" name="Shape 13"/>
          <p:cNvSpPr/>
          <p:nvPr/>
        </p:nvSpPr>
        <p:spPr>
          <a:xfrm>
            <a:off x="7680960" y="1645920"/>
            <a:ext cx="0" cy="4343400"/>
          </a:xfrm>
          <a:prstGeom prst="line">
            <a:avLst/>
          </a:prstGeom>
          <a:noFill/>
          <a:ln w="9525">
            <a:solidFill>
              <a:srgbClr val="E3E8E8"/>
            </a:solidFill>
            <a:prstDash val="solid"/>
          </a:ln>
        </p:spPr>
      </p:sp>
      <p:sp>
        <p:nvSpPr>
          <p:cNvPr id="16" name="Text 14"/>
          <p:cNvSpPr txBox="1"/>
          <p:nvPr/>
        </p:nvSpPr>
        <p:spPr>
          <a:xfrm>
            <a:off x="7635240" y="1325880"/>
            <a:ext cx="640080" cy="274320"/>
          </a:xfrm>
          <a:prstGeom prst="rect">
            <a:avLst/>
          </a:prstGeom>
          <a:noFill/>
          <a:ln/>
        </p:spPr>
        <p:txBody>
          <a:bodyPr wrap="square" lIns="0" tIns="0" rIns="0" bIns="0" rtlCol="0" anchor="ctr"/>
          <a:lstStyle/>
          <a:p>
            <a:pPr indent="0" marL="0">
              <a:buNone/>
            </a:pPr>
            <a:r>
              <a:rPr lang="en-US" sz="1000" dirty="0">
                <a:solidFill>
                  <a:srgbClr val="5E6B6E"/>
                </a:solidFill>
                <a:latin typeface="Calibri" pitchFamily="34" charset="0"/>
                <a:ea typeface="Calibri" pitchFamily="34" charset="-122"/>
                <a:cs typeface="Calibri" pitchFamily="34" charset="-120"/>
              </a:rPr>
              <a:t>21/10</a:t>
            </a:r>
            <a:endParaRPr lang="en-US" sz="1000" dirty="0"/>
          </a:p>
        </p:txBody>
      </p:sp>
      <p:sp>
        <p:nvSpPr>
          <p:cNvPr id="17" name="Shape 15"/>
          <p:cNvSpPr/>
          <p:nvPr/>
        </p:nvSpPr>
        <p:spPr>
          <a:xfrm>
            <a:off x="8321040" y="1645920"/>
            <a:ext cx="0" cy="4343400"/>
          </a:xfrm>
          <a:prstGeom prst="line">
            <a:avLst/>
          </a:prstGeom>
          <a:noFill/>
          <a:ln w="9525">
            <a:solidFill>
              <a:srgbClr val="E3E8E8"/>
            </a:solidFill>
            <a:prstDash val="solid"/>
          </a:ln>
        </p:spPr>
      </p:sp>
      <p:sp>
        <p:nvSpPr>
          <p:cNvPr id="18" name="Text 16"/>
          <p:cNvSpPr txBox="1"/>
          <p:nvPr/>
        </p:nvSpPr>
        <p:spPr>
          <a:xfrm>
            <a:off x="8275320" y="1325880"/>
            <a:ext cx="640080" cy="274320"/>
          </a:xfrm>
          <a:prstGeom prst="rect">
            <a:avLst/>
          </a:prstGeom>
          <a:noFill/>
          <a:ln/>
        </p:spPr>
        <p:txBody>
          <a:bodyPr wrap="square" lIns="0" tIns="0" rIns="0" bIns="0" rtlCol="0" anchor="ctr"/>
          <a:lstStyle/>
          <a:p>
            <a:pPr indent="0" marL="0">
              <a:buNone/>
            </a:pPr>
            <a:r>
              <a:rPr lang="en-US" sz="1000" dirty="0">
                <a:solidFill>
                  <a:srgbClr val="5E6B6E"/>
                </a:solidFill>
                <a:latin typeface="Calibri" pitchFamily="34" charset="0"/>
                <a:ea typeface="Calibri" pitchFamily="34" charset="-122"/>
                <a:cs typeface="Calibri" pitchFamily="34" charset="-120"/>
              </a:rPr>
              <a:t>28/10</a:t>
            </a:r>
            <a:endParaRPr lang="en-US" sz="1000" dirty="0"/>
          </a:p>
        </p:txBody>
      </p:sp>
      <p:sp>
        <p:nvSpPr>
          <p:cNvPr id="19" name="Shape 17"/>
          <p:cNvSpPr/>
          <p:nvPr/>
        </p:nvSpPr>
        <p:spPr>
          <a:xfrm>
            <a:off x="8961120" y="1645920"/>
            <a:ext cx="0" cy="4343400"/>
          </a:xfrm>
          <a:prstGeom prst="line">
            <a:avLst/>
          </a:prstGeom>
          <a:noFill/>
          <a:ln w="9525">
            <a:solidFill>
              <a:srgbClr val="E3E8E8"/>
            </a:solidFill>
            <a:prstDash val="solid"/>
          </a:ln>
        </p:spPr>
      </p:sp>
      <p:sp>
        <p:nvSpPr>
          <p:cNvPr id="20" name="Text 18"/>
          <p:cNvSpPr txBox="1"/>
          <p:nvPr/>
        </p:nvSpPr>
        <p:spPr>
          <a:xfrm>
            <a:off x="8915400" y="1325880"/>
            <a:ext cx="640080" cy="274320"/>
          </a:xfrm>
          <a:prstGeom prst="rect">
            <a:avLst/>
          </a:prstGeom>
          <a:noFill/>
          <a:ln/>
        </p:spPr>
        <p:txBody>
          <a:bodyPr wrap="square" lIns="0" tIns="0" rIns="0" bIns="0" rtlCol="0" anchor="ctr"/>
          <a:lstStyle/>
          <a:p>
            <a:pPr indent="0" marL="0">
              <a:buNone/>
            </a:pPr>
            <a:r>
              <a:rPr lang="en-US" sz="1000" dirty="0">
                <a:solidFill>
                  <a:srgbClr val="5E6B6E"/>
                </a:solidFill>
                <a:latin typeface="Calibri" pitchFamily="34" charset="0"/>
                <a:ea typeface="Calibri" pitchFamily="34" charset="-122"/>
                <a:cs typeface="Calibri" pitchFamily="34" charset="-120"/>
              </a:rPr>
              <a:t>4/11</a:t>
            </a:r>
            <a:endParaRPr lang="en-US" sz="1000" dirty="0"/>
          </a:p>
        </p:txBody>
      </p:sp>
      <p:sp>
        <p:nvSpPr>
          <p:cNvPr id="21" name="Shape 19"/>
          <p:cNvSpPr/>
          <p:nvPr/>
        </p:nvSpPr>
        <p:spPr>
          <a:xfrm>
            <a:off x="9601200" y="1645920"/>
            <a:ext cx="0" cy="4343400"/>
          </a:xfrm>
          <a:prstGeom prst="line">
            <a:avLst/>
          </a:prstGeom>
          <a:noFill/>
          <a:ln w="9525">
            <a:solidFill>
              <a:srgbClr val="E3E8E8"/>
            </a:solidFill>
            <a:prstDash val="solid"/>
          </a:ln>
        </p:spPr>
      </p:sp>
      <p:sp>
        <p:nvSpPr>
          <p:cNvPr id="22" name="Text 20"/>
          <p:cNvSpPr txBox="1"/>
          <p:nvPr/>
        </p:nvSpPr>
        <p:spPr>
          <a:xfrm>
            <a:off x="9555480" y="1325880"/>
            <a:ext cx="640080" cy="274320"/>
          </a:xfrm>
          <a:prstGeom prst="rect">
            <a:avLst/>
          </a:prstGeom>
          <a:noFill/>
          <a:ln/>
        </p:spPr>
        <p:txBody>
          <a:bodyPr wrap="square" lIns="0" tIns="0" rIns="0" bIns="0" rtlCol="0" anchor="ctr"/>
          <a:lstStyle/>
          <a:p>
            <a:pPr indent="0" marL="0">
              <a:buNone/>
            </a:pPr>
            <a:r>
              <a:rPr lang="en-US" sz="1000" dirty="0">
                <a:solidFill>
                  <a:srgbClr val="5E6B6E"/>
                </a:solidFill>
                <a:latin typeface="Calibri" pitchFamily="34" charset="0"/>
                <a:ea typeface="Calibri" pitchFamily="34" charset="-122"/>
                <a:cs typeface="Calibri" pitchFamily="34" charset="-120"/>
              </a:rPr>
              <a:t>11/11</a:t>
            </a:r>
            <a:endParaRPr lang="en-US" sz="1000" dirty="0"/>
          </a:p>
        </p:txBody>
      </p:sp>
      <p:sp>
        <p:nvSpPr>
          <p:cNvPr id="23" name="Shape 21"/>
          <p:cNvSpPr/>
          <p:nvPr/>
        </p:nvSpPr>
        <p:spPr>
          <a:xfrm>
            <a:off x="10241280" y="1645920"/>
            <a:ext cx="0" cy="4343400"/>
          </a:xfrm>
          <a:prstGeom prst="line">
            <a:avLst/>
          </a:prstGeom>
          <a:noFill/>
          <a:ln w="9525">
            <a:solidFill>
              <a:srgbClr val="E3E8E8"/>
            </a:solidFill>
            <a:prstDash val="solid"/>
          </a:ln>
        </p:spPr>
      </p:sp>
      <p:sp>
        <p:nvSpPr>
          <p:cNvPr id="24" name="Text 22"/>
          <p:cNvSpPr txBox="1"/>
          <p:nvPr/>
        </p:nvSpPr>
        <p:spPr>
          <a:xfrm>
            <a:off x="10195560" y="1325880"/>
            <a:ext cx="640080" cy="274320"/>
          </a:xfrm>
          <a:prstGeom prst="rect">
            <a:avLst/>
          </a:prstGeom>
          <a:noFill/>
          <a:ln/>
        </p:spPr>
        <p:txBody>
          <a:bodyPr wrap="square" lIns="0" tIns="0" rIns="0" bIns="0" rtlCol="0" anchor="ctr"/>
          <a:lstStyle/>
          <a:p>
            <a:pPr indent="0" marL="0">
              <a:buNone/>
            </a:pPr>
            <a:r>
              <a:rPr lang="en-US" sz="1000" dirty="0">
                <a:solidFill>
                  <a:srgbClr val="5E6B6E"/>
                </a:solidFill>
                <a:latin typeface="Calibri" pitchFamily="34" charset="0"/>
                <a:ea typeface="Calibri" pitchFamily="34" charset="-122"/>
                <a:cs typeface="Calibri" pitchFamily="34" charset="-120"/>
              </a:rPr>
              <a:t>18/11</a:t>
            </a:r>
            <a:endParaRPr lang="en-US" sz="1000" dirty="0"/>
          </a:p>
        </p:txBody>
      </p:sp>
      <p:sp>
        <p:nvSpPr>
          <p:cNvPr id="25" name="Shape 23"/>
          <p:cNvSpPr/>
          <p:nvPr/>
        </p:nvSpPr>
        <p:spPr>
          <a:xfrm>
            <a:off x="10881360" y="1645920"/>
            <a:ext cx="0" cy="4343400"/>
          </a:xfrm>
          <a:prstGeom prst="line">
            <a:avLst/>
          </a:prstGeom>
          <a:noFill/>
          <a:ln w="9525">
            <a:solidFill>
              <a:srgbClr val="E3E8E8"/>
            </a:solidFill>
            <a:prstDash val="solid"/>
          </a:ln>
        </p:spPr>
      </p:sp>
      <p:sp>
        <p:nvSpPr>
          <p:cNvPr id="26" name="Text 24"/>
          <p:cNvSpPr txBox="1"/>
          <p:nvPr/>
        </p:nvSpPr>
        <p:spPr>
          <a:xfrm>
            <a:off x="10835640" y="1325880"/>
            <a:ext cx="640080" cy="274320"/>
          </a:xfrm>
          <a:prstGeom prst="rect">
            <a:avLst/>
          </a:prstGeom>
          <a:noFill/>
          <a:ln/>
        </p:spPr>
        <p:txBody>
          <a:bodyPr wrap="square" lIns="0" tIns="0" rIns="0" bIns="0" rtlCol="0" anchor="ctr"/>
          <a:lstStyle/>
          <a:p>
            <a:pPr indent="0" marL="0">
              <a:buNone/>
            </a:pPr>
            <a:r>
              <a:rPr lang="en-US" sz="1000" dirty="0">
                <a:solidFill>
                  <a:srgbClr val="5E6B6E"/>
                </a:solidFill>
                <a:latin typeface="Calibri" pitchFamily="34" charset="0"/>
                <a:ea typeface="Calibri" pitchFamily="34" charset="-122"/>
                <a:cs typeface="Calibri" pitchFamily="34" charset="-120"/>
              </a:rPr>
              <a:t>25/11</a:t>
            </a:r>
            <a:endParaRPr lang="en-US" sz="1000" dirty="0"/>
          </a:p>
        </p:txBody>
      </p:sp>
      <p:sp>
        <p:nvSpPr>
          <p:cNvPr id="27" name="Text 25"/>
          <p:cNvSpPr txBox="1"/>
          <p:nvPr/>
        </p:nvSpPr>
        <p:spPr>
          <a:xfrm>
            <a:off x="548640" y="1691640"/>
            <a:ext cx="3886200" cy="420624"/>
          </a:xfrm>
          <a:prstGeom prst="rect">
            <a:avLst/>
          </a:prstGeom>
          <a:noFill/>
          <a:ln/>
        </p:spPr>
        <p:txBody>
          <a:bodyPr wrap="square" lIns="0" tIns="0" rIns="0" bIns="0" rtlCol="0" anchor="ctr"/>
          <a:lstStyle/>
          <a:p>
            <a:pPr indent="0" marL="0">
              <a:buNone/>
            </a:pPr>
            <a:r>
              <a:rPr lang="en-US" sz="1250" b="1" dirty="0">
                <a:solidFill>
                  <a:srgbClr val="13262A"/>
                </a:solidFill>
                <a:latin typeface="Calibri" pitchFamily="34" charset="0"/>
                <a:ea typeface="Calibri" pitchFamily="34" charset="-122"/>
                <a:cs typeface="Calibri" pitchFamily="34" charset="-120"/>
              </a:rPr>
              <a:t>R0 · R2 lõi  </a:t>
            </a:r>
            <a:pPr indent="0" marL="0">
              <a:buNone/>
            </a:pPr>
            <a:r>
              <a:rPr lang="en-US" sz="1100" dirty="0">
                <a:solidFill>
                  <a:srgbClr val="5E6B6E"/>
                </a:solidFill>
                <a:latin typeface="Calibri" pitchFamily="34" charset="0"/>
                <a:ea typeface="Calibri" pitchFamily="34" charset="-122"/>
                <a:cs typeface="Calibri" pitchFamily="34" charset="-120"/>
              </a:rPr>
              <a:t>Scope, spec, code, oracle test</a:t>
            </a:r>
            <a:endParaRPr lang="en-US" sz="1250" dirty="0"/>
          </a:p>
        </p:txBody>
      </p:sp>
      <p:sp>
        <p:nvSpPr>
          <p:cNvPr id="28" name="Shape 26"/>
          <p:cNvSpPr/>
          <p:nvPr/>
        </p:nvSpPr>
        <p:spPr>
          <a:xfrm>
            <a:off x="4480560" y="1764792"/>
            <a:ext cx="384048" cy="292608"/>
          </a:xfrm>
          <a:prstGeom prst="roundRect">
            <a:avLst>
              <a:gd name="adj" fmla="val 15625"/>
            </a:avLst>
          </a:prstGeom>
          <a:solidFill>
            <a:srgbClr val="2E7D7A"/>
          </a:solidFill>
          <a:ln w="12700">
            <a:solidFill>
              <a:srgbClr val="2E7D7A"/>
            </a:solidFill>
            <a:prstDash val="solid"/>
          </a:ln>
        </p:spPr>
      </p:sp>
      <p:sp>
        <p:nvSpPr>
          <p:cNvPr id="29" name="Text 27"/>
          <p:cNvSpPr txBox="1"/>
          <p:nvPr/>
        </p:nvSpPr>
        <p:spPr>
          <a:xfrm>
            <a:off x="4919472" y="1719072"/>
            <a:ext cx="1188720" cy="365760"/>
          </a:xfrm>
          <a:prstGeom prst="rect">
            <a:avLst/>
          </a:prstGeom>
          <a:noFill/>
          <a:ln/>
        </p:spPr>
        <p:txBody>
          <a:bodyPr wrap="square" lIns="0" tIns="0" rIns="0" bIns="0" rtlCol="0" anchor="ctr"/>
          <a:lstStyle/>
          <a:p>
            <a:pPr indent="0" marL="0">
              <a:buNone/>
            </a:pPr>
            <a:r>
              <a:rPr lang="en-US" sz="1050" b="1" dirty="0">
                <a:solidFill>
                  <a:srgbClr val="2E7D7A"/>
                </a:solidFill>
                <a:latin typeface="Calibri" pitchFamily="34" charset="0"/>
                <a:ea typeface="Calibri" pitchFamily="34" charset="-122"/>
                <a:cs typeface="Calibri" pitchFamily="34" charset="-120"/>
              </a:rPr>
              <a:t>Xong</a:t>
            </a:r>
            <a:endParaRPr lang="en-US" sz="1050" dirty="0"/>
          </a:p>
        </p:txBody>
      </p:sp>
      <p:sp>
        <p:nvSpPr>
          <p:cNvPr id="30" name="Text 28"/>
          <p:cNvSpPr txBox="1"/>
          <p:nvPr/>
        </p:nvSpPr>
        <p:spPr>
          <a:xfrm>
            <a:off x="548640" y="2167128"/>
            <a:ext cx="3886200" cy="420624"/>
          </a:xfrm>
          <a:prstGeom prst="rect">
            <a:avLst/>
          </a:prstGeom>
          <a:noFill/>
          <a:ln/>
        </p:spPr>
        <p:txBody>
          <a:bodyPr wrap="square" lIns="0" tIns="0" rIns="0" bIns="0" rtlCol="0" anchor="ctr"/>
          <a:lstStyle/>
          <a:p>
            <a:pPr indent="0" marL="0">
              <a:buNone/>
            </a:pPr>
            <a:r>
              <a:rPr lang="en-US" sz="1250" b="1" dirty="0">
                <a:solidFill>
                  <a:srgbClr val="13262A"/>
                </a:solidFill>
                <a:latin typeface="Calibri" pitchFamily="34" charset="0"/>
                <a:ea typeface="Calibri" pitchFamily="34" charset="-122"/>
                <a:cs typeface="Calibri" pitchFamily="34" charset="-120"/>
              </a:rPr>
              <a:t>Notebook 11  </a:t>
            </a:r>
            <a:pPr indent="0" marL="0">
              <a:buNone/>
            </a:pPr>
            <a:r>
              <a:rPr lang="en-US" sz="1100" dirty="0">
                <a:solidFill>
                  <a:srgbClr val="5E6B6E"/>
                </a:solidFill>
                <a:latin typeface="Calibri" pitchFamily="34" charset="0"/>
                <a:ea typeface="Calibri" pitchFamily="34" charset="-122"/>
                <a:cs typeface="Calibri" pitchFamily="34" charset="-120"/>
              </a:rPr>
              <a:t>Phân tích sâu + dev split (R1)</a:t>
            </a:r>
            <a:endParaRPr lang="en-US" sz="1250" dirty="0"/>
          </a:p>
        </p:txBody>
      </p:sp>
      <p:sp>
        <p:nvSpPr>
          <p:cNvPr id="31" name="Shape 29"/>
          <p:cNvSpPr/>
          <p:nvPr/>
        </p:nvSpPr>
        <p:spPr>
          <a:xfrm>
            <a:off x="4480560" y="2240280"/>
            <a:ext cx="384048" cy="292608"/>
          </a:xfrm>
          <a:prstGeom prst="roundRect">
            <a:avLst>
              <a:gd name="adj" fmla="val 15625"/>
            </a:avLst>
          </a:prstGeom>
          <a:solidFill>
            <a:srgbClr val="2E7D7A"/>
          </a:solidFill>
          <a:ln w="12700">
            <a:solidFill>
              <a:srgbClr val="2E7D7A"/>
            </a:solidFill>
            <a:prstDash val="solid"/>
          </a:ln>
        </p:spPr>
      </p:sp>
      <p:sp>
        <p:nvSpPr>
          <p:cNvPr id="32" name="Text 30"/>
          <p:cNvSpPr txBox="1"/>
          <p:nvPr/>
        </p:nvSpPr>
        <p:spPr>
          <a:xfrm>
            <a:off x="4919472" y="2194560"/>
            <a:ext cx="1188720" cy="365760"/>
          </a:xfrm>
          <a:prstGeom prst="rect">
            <a:avLst/>
          </a:prstGeom>
          <a:noFill/>
          <a:ln/>
        </p:spPr>
        <p:txBody>
          <a:bodyPr wrap="square" lIns="0" tIns="0" rIns="0" bIns="0" rtlCol="0" anchor="ctr"/>
          <a:lstStyle/>
          <a:p>
            <a:pPr indent="0" marL="0">
              <a:buNone/>
            </a:pPr>
            <a:r>
              <a:rPr lang="en-US" sz="1050" b="1" dirty="0">
                <a:solidFill>
                  <a:srgbClr val="2E7D7A"/>
                </a:solidFill>
                <a:latin typeface="Calibri" pitchFamily="34" charset="0"/>
                <a:ea typeface="Calibri" pitchFamily="34" charset="-122"/>
                <a:cs typeface="Calibri" pitchFamily="34" charset="-120"/>
              </a:rPr>
              <a:t>Xong</a:t>
            </a:r>
            <a:endParaRPr lang="en-US" sz="1050" dirty="0"/>
          </a:p>
        </p:txBody>
      </p:sp>
      <p:sp>
        <p:nvSpPr>
          <p:cNvPr id="33" name="Text 31"/>
          <p:cNvSpPr txBox="1"/>
          <p:nvPr/>
        </p:nvSpPr>
        <p:spPr>
          <a:xfrm>
            <a:off x="548640" y="2642616"/>
            <a:ext cx="3886200" cy="420624"/>
          </a:xfrm>
          <a:prstGeom prst="rect">
            <a:avLst/>
          </a:prstGeom>
          <a:noFill/>
          <a:ln/>
        </p:spPr>
        <p:txBody>
          <a:bodyPr wrap="square" lIns="0" tIns="0" rIns="0" bIns="0" rtlCol="0" anchor="ctr"/>
          <a:lstStyle/>
          <a:p>
            <a:pPr indent="0" marL="0">
              <a:buNone/>
            </a:pPr>
            <a:r>
              <a:rPr lang="en-US" sz="1250" b="1" dirty="0">
                <a:solidFill>
                  <a:srgbClr val="13262A"/>
                </a:solidFill>
                <a:latin typeface="Calibri" pitchFamily="34" charset="0"/>
                <a:ea typeface="Calibri" pitchFamily="34" charset="-122"/>
                <a:cs typeface="Calibri" pitchFamily="34" charset="-120"/>
              </a:rPr>
              <a:t>R2 hoàn tất  </a:t>
            </a:r>
            <a:pPr indent="0" marL="0">
              <a:buNone/>
            </a:pPr>
            <a:r>
              <a:rPr lang="en-US" sz="1100" dirty="0">
                <a:solidFill>
                  <a:srgbClr val="5E6B6E"/>
                </a:solidFill>
                <a:latin typeface="Calibri" pitchFamily="34" charset="0"/>
                <a:ea typeface="Calibri" pitchFamily="34" charset="-122"/>
                <a:cs typeface="Calibri" pitchFamily="34" charset="-120"/>
              </a:rPr>
              <a:t>Negative, ablation D9/D6, embedding thưa</a:t>
            </a:r>
            <a:endParaRPr lang="en-US" sz="1250" dirty="0"/>
          </a:p>
        </p:txBody>
      </p:sp>
      <p:sp>
        <p:nvSpPr>
          <p:cNvPr id="34" name="Shape 32"/>
          <p:cNvSpPr/>
          <p:nvPr/>
        </p:nvSpPr>
        <p:spPr>
          <a:xfrm>
            <a:off x="4736592" y="2715768"/>
            <a:ext cx="640080" cy="292608"/>
          </a:xfrm>
          <a:prstGeom prst="roundRect">
            <a:avLst>
              <a:gd name="adj" fmla="val 15625"/>
            </a:avLst>
          </a:prstGeom>
          <a:solidFill>
            <a:srgbClr val="0F4C4F"/>
          </a:solidFill>
          <a:ln w="12700">
            <a:solidFill>
              <a:srgbClr val="0F4C4F"/>
            </a:solidFill>
            <a:prstDash val="solid"/>
          </a:ln>
        </p:spPr>
      </p:sp>
      <p:sp>
        <p:nvSpPr>
          <p:cNvPr id="35" name="Text 33"/>
          <p:cNvSpPr txBox="1"/>
          <p:nvPr/>
        </p:nvSpPr>
        <p:spPr>
          <a:xfrm>
            <a:off x="548640" y="3118104"/>
            <a:ext cx="3886200" cy="420624"/>
          </a:xfrm>
          <a:prstGeom prst="rect">
            <a:avLst/>
          </a:prstGeom>
          <a:noFill/>
          <a:ln/>
        </p:spPr>
        <p:txBody>
          <a:bodyPr wrap="square" lIns="0" tIns="0" rIns="0" bIns="0" rtlCol="0" anchor="ctr"/>
          <a:lstStyle/>
          <a:p>
            <a:pPr indent="0" marL="0">
              <a:buNone/>
            </a:pPr>
            <a:r>
              <a:rPr lang="en-US" sz="1250" b="1" dirty="0">
                <a:solidFill>
                  <a:srgbClr val="13262A"/>
                </a:solidFill>
                <a:latin typeface="Calibri" pitchFamily="34" charset="0"/>
                <a:ea typeface="Calibri" pitchFamily="34" charset="-122"/>
                <a:cs typeface="Calibri" pitchFamily="34" charset="-120"/>
              </a:rPr>
              <a:t>R3 development  </a:t>
            </a:r>
            <a:pPr indent="0" marL="0">
              <a:buNone/>
            </a:pPr>
            <a:r>
              <a:rPr lang="en-US" sz="1100" dirty="0">
                <a:solidFill>
                  <a:srgbClr val="5E6B6E"/>
                </a:solidFill>
                <a:latin typeface="Calibri" pitchFamily="34" charset="0"/>
                <a:ea typeface="Calibri" pitchFamily="34" charset="-122"/>
                <a:cs typeface="Calibri" pitchFamily="34" charset="-120"/>
              </a:rPr>
              <a:t>Backbone, budget, quét α/lr, khả thi</a:t>
            </a:r>
            <a:endParaRPr lang="en-US" sz="1250" dirty="0"/>
          </a:p>
        </p:txBody>
      </p:sp>
      <p:sp>
        <p:nvSpPr>
          <p:cNvPr id="36" name="Shape 34"/>
          <p:cNvSpPr/>
          <p:nvPr/>
        </p:nvSpPr>
        <p:spPr>
          <a:xfrm>
            <a:off x="5120640" y="3191256"/>
            <a:ext cx="1600200" cy="292608"/>
          </a:xfrm>
          <a:prstGeom prst="roundRect">
            <a:avLst>
              <a:gd name="adj" fmla="val 15625"/>
            </a:avLst>
          </a:prstGeom>
          <a:solidFill>
            <a:srgbClr val="0F4C4F"/>
          </a:solidFill>
          <a:ln w="12700">
            <a:solidFill>
              <a:srgbClr val="0F4C4F"/>
            </a:solidFill>
            <a:prstDash val="solid"/>
          </a:ln>
        </p:spPr>
      </p:sp>
      <p:sp>
        <p:nvSpPr>
          <p:cNvPr id="37" name="Text 35"/>
          <p:cNvSpPr txBox="1"/>
          <p:nvPr/>
        </p:nvSpPr>
        <p:spPr>
          <a:xfrm>
            <a:off x="548640" y="3593592"/>
            <a:ext cx="3886200" cy="420624"/>
          </a:xfrm>
          <a:prstGeom prst="rect">
            <a:avLst/>
          </a:prstGeom>
          <a:noFill/>
          <a:ln/>
        </p:spPr>
        <p:txBody>
          <a:bodyPr wrap="square" lIns="0" tIns="0" rIns="0" bIns="0" rtlCol="0" anchor="ctr"/>
          <a:lstStyle/>
          <a:p>
            <a:pPr indent="0" marL="0">
              <a:buNone/>
            </a:pPr>
            <a:r>
              <a:rPr lang="en-US" sz="1250" b="1" dirty="0">
                <a:solidFill>
                  <a:srgbClr val="13262A"/>
                </a:solidFill>
                <a:latin typeface="Calibri" pitchFamily="34" charset="0"/>
                <a:ea typeface="Calibri" pitchFamily="34" charset="-122"/>
                <a:cs typeface="Calibri" pitchFamily="34" charset="-120"/>
              </a:rPr>
              <a:t>R4 freeze  </a:t>
            </a:r>
            <a:pPr indent="0" marL="0">
              <a:buNone/>
            </a:pPr>
            <a:r>
              <a:rPr lang="en-US" sz="1100" dirty="0">
                <a:solidFill>
                  <a:srgbClr val="5E6B6E"/>
                </a:solidFill>
                <a:latin typeface="Calibri" pitchFamily="34" charset="0"/>
                <a:ea typeface="Calibri" pitchFamily="34" charset="-122"/>
                <a:cs typeface="Calibri" pitchFamily="34" charset="-120"/>
              </a:rPr>
              <a:t>Chốt OD-1…4 với cô, hash cấu hình</a:t>
            </a:r>
            <a:endParaRPr lang="en-US" sz="1250" dirty="0"/>
          </a:p>
        </p:txBody>
      </p:sp>
      <p:sp>
        <p:nvSpPr>
          <p:cNvPr id="38" name="Shape 36"/>
          <p:cNvSpPr/>
          <p:nvPr/>
        </p:nvSpPr>
        <p:spPr>
          <a:xfrm>
            <a:off x="6592824" y="3666744"/>
            <a:ext cx="448056" cy="292608"/>
          </a:xfrm>
          <a:prstGeom prst="roundRect">
            <a:avLst>
              <a:gd name="adj" fmla="val 15625"/>
            </a:avLst>
          </a:prstGeom>
          <a:solidFill>
            <a:srgbClr val="C8553D"/>
          </a:solidFill>
          <a:ln w="12700">
            <a:solidFill>
              <a:srgbClr val="C8553D"/>
            </a:solidFill>
            <a:prstDash val="solid"/>
          </a:ln>
        </p:spPr>
      </p:sp>
      <p:sp>
        <p:nvSpPr>
          <p:cNvPr id="39" name="Text 37"/>
          <p:cNvSpPr txBox="1"/>
          <p:nvPr/>
        </p:nvSpPr>
        <p:spPr>
          <a:xfrm>
            <a:off x="7095744" y="3621024"/>
            <a:ext cx="1188720" cy="365760"/>
          </a:xfrm>
          <a:prstGeom prst="rect">
            <a:avLst/>
          </a:prstGeom>
          <a:noFill/>
          <a:ln/>
        </p:spPr>
        <p:txBody>
          <a:bodyPr wrap="square" lIns="0" tIns="0" rIns="0" bIns="0" rtlCol="0" anchor="ctr"/>
          <a:lstStyle/>
          <a:p>
            <a:pPr indent="0" marL="0">
              <a:buNone/>
            </a:pPr>
            <a:r>
              <a:rPr lang="en-US" sz="1050" b="1" dirty="0">
                <a:solidFill>
                  <a:srgbClr val="C8553D"/>
                </a:solidFill>
                <a:latin typeface="Calibri" pitchFamily="34" charset="0"/>
                <a:ea typeface="Calibri" pitchFamily="34" charset="-122"/>
                <a:cs typeface="Calibri" pitchFamily="34" charset="-120"/>
              </a:rPr>
              <a:t>Gặp cô</a:t>
            </a:r>
            <a:endParaRPr lang="en-US" sz="1050" dirty="0"/>
          </a:p>
        </p:txBody>
      </p:sp>
      <p:sp>
        <p:nvSpPr>
          <p:cNvPr id="40" name="Text 38"/>
          <p:cNvSpPr txBox="1"/>
          <p:nvPr/>
        </p:nvSpPr>
        <p:spPr>
          <a:xfrm>
            <a:off x="548640" y="4069080"/>
            <a:ext cx="3886200" cy="420624"/>
          </a:xfrm>
          <a:prstGeom prst="rect">
            <a:avLst/>
          </a:prstGeom>
          <a:noFill/>
          <a:ln/>
        </p:spPr>
        <p:txBody>
          <a:bodyPr wrap="square" lIns="0" tIns="0" rIns="0" bIns="0" rtlCol="0" anchor="ctr"/>
          <a:lstStyle/>
          <a:p>
            <a:pPr indent="0" marL="0">
              <a:buNone/>
            </a:pPr>
            <a:r>
              <a:rPr lang="en-US" sz="1250" b="1" dirty="0">
                <a:solidFill>
                  <a:srgbClr val="13262A"/>
                </a:solidFill>
                <a:latin typeface="Calibri" pitchFamily="34" charset="0"/>
                <a:ea typeface="Calibri" pitchFamily="34" charset="-122"/>
                <a:cs typeface="Calibri" pitchFamily="34" charset="-120"/>
              </a:rPr>
              <a:t>R5 holdout  </a:t>
            </a:r>
            <a:pPr indent="0" marL="0">
              <a:buNone/>
            </a:pPr>
            <a:r>
              <a:rPr lang="en-US" sz="1100" dirty="0">
                <a:solidFill>
                  <a:srgbClr val="5E6B6E"/>
                </a:solidFill>
                <a:latin typeface="Calibri" pitchFamily="34" charset="0"/>
                <a:ea typeface="Calibri" pitchFamily="34" charset="-122"/>
                <a:cs typeface="Calibri" pitchFamily="34" charset="-120"/>
              </a:rPr>
              <a:t>7 phương pháp × 3 seed (Colab song song)</a:t>
            </a:r>
            <a:endParaRPr lang="en-US" sz="1250" dirty="0"/>
          </a:p>
        </p:txBody>
      </p:sp>
      <p:sp>
        <p:nvSpPr>
          <p:cNvPr id="41" name="Shape 39"/>
          <p:cNvSpPr/>
          <p:nvPr/>
        </p:nvSpPr>
        <p:spPr>
          <a:xfrm>
            <a:off x="7040880" y="4142232"/>
            <a:ext cx="1280160" cy="292608"/>
          </a:xfrm>
          <a:prstGeom prst="roundRect">
            <a:avLst>
              <a:gd name="adj" fmla="val 15625"/>
            </a:avLst>
          </a:prstGeom>
          <a:solidFill>
            <a:srgbClr val="0F4C4F"/>
          </a:solidFill>
          <a:ln w="12700">
            <a:solidFill>
              <a:srgbClr val="0F4C4F"/>
            </a:solidFill>
            <a:prstDash val="solid"/>
          </a:ln>
        </p:spPr>
      </p:sp>
      <p:sp>
        <p:nvSpPr>
          <p:cNvPr id="42" name="Text 40"/>
          <p:cNvSpPr txBox="1"/>
          <p:nvPr/>
        </p:nvSpPr>
        <p:spPr>
          <a:xfrm>
            <a:off x="548640" y="4544568"/>
            <a:ext cx="3886200" cy="420624"/>
          </a:xfrm>
          <a:prstGeom prst="rect">
            <a:avLst/>
          </a:prstGeom>
          <a:noFill/>
          <a:ln/>
        </p:spPr>
        <p:txBody>
          <a:bodyPr wrap="square" lIns="0" tIns="0" rIns="0" bIns="0" rtlCol="0" anchor="ctr"/>
          <a:lstStyle/>
          <a:p>
            <a:pPr indent="0" marL="0">
              <a:buNone/>
            </a:pPr>
            <a:r>
              <a:rPr lang="en-US" sz="1250" b="1" dirty="0">
                <a:solidFill>
                  <a:srgbClr val="13262A"/>
                </a:solidFill>
                <a:latin typeface="Calibri" pitchFamily="34" charset="0"/>
                <a:ea typeface="Calibri" pitchFamily="34" charset="-122"/>
                <a:cs typeface="Calibri" pitchFamily="34" charset="-120"/>
              </a:rPr>
              <a:t>R6 phân tích  </a:t>
            </a:r>
            <a:pPr indent="0" marL="0">
              <a:buNone/>
            </a:pPr>
            <a:r>
              <a:rPr lang="en-US" sz="1100" dirty="0">
                <a:solidFill>
                  <a:srgbClr val="5E6B6E"/>
                </a:solidFill>
                <a:latin typeface="Calibri" pitchFamily="34" charset="0"/>
                <a:ea typeface="Calibri" pitchFamily="34" charset="-122"/>
                <a:cs typeface="Calibri" pitchFamily="34" charset="-120"/>
              </a:rPr>
              <a:t>RQ1–RQ4, ngữ nghĩa, Pareto</a:t>
            </a:r>
            <a:endParaRPr lang="en-US" sz="1250" dirty="0"/>
          </a:p>
        </p:txBody>
      </p:sp>
      <p:sp>
        <p:nvSpPr>
          <p:cNvPr id="43" name="Shape 41"/>
          <p:cNvSpPr/>
          <p:nvPr/>
        </p:nvSpPr>
        <p:spPr>
          <a:xfrm>
            <a:off x="8321040" y="4617720"/>
            <a:ext cx="640080" cy="292608"/>
          </a:xfrm>
          <a:prstGeom prst="roundRect">
            <a:avLst>
              <a:gd name="adj" fmla="val 15625"/>
            </a:avLst>
          </a:prstGeom>
          <a:solidFill>
            <a:srgbClr val="0F4C4F"/>
          </a:solidFill>
          <a:ln w="12700">
            <a:solidFill>
              <a:srgbClr val="0F4C4F"/>
            </a:solidFill>
            <a:prstDash val="solid"/>
          </a:ln>
        </p:spPr>
      </p:sp>
      <p:sp>
        <p:nvSpPr>
          <p:cNvPr id="44" name="Text 42"/>
          <p:cNvSpPr txBox="1"/>
          <p:nvPr/>
        </p:nvSpPr>
        <p:spPr>
          <a:xfrm>
            <a:off x="548640" y="5020056"/>
            <a:ext cx="3886200" cy="420624"/>
          </a:xfrm>
          <a:prstGeom prst="rect">
            <a:avLst/>
          </a:prstGeom>
          <a:noFill/>
          <a:ln/>
        </p:spPr>
        <p:txBody>
          <a:bodyPr wrap="square" lIns="0" tIns="0" rIns="0" bIns="0" rtlCol="0" anchor="ctr"/>
          <a:lstStyle/>
          <a:p>
            <a:pPr indent="0" marL="0">
              <a:buNone/>
            </a:pPr>
            <a:r>
              <a:rPr lang="en-US" sz="1250" b="1" dirty="0">
                <a:solidFill>
                  <a:srgbClr val="13262A"/>
                </a:solidFill>
                <a:latin typeface="Calibri" pitchFamily="34" charset="0"/>
                <a:ea typeface="Calibri" pitchFamily="34" charset="-122"/>
                <a:cs typeface="Calibri" pitchFamily="34" charset="-120"/>
              </a:rPr>
              <a:t>R7 viết  </a:t>
            </a:r>
            <a:pPr indent="0" marL="0">
              <a:buNone/>
            </a:pPr>
            <a:r>
              <a:rPr lang="en-US" sz="1100" dirty="0">
                <a:solidFill>
                  <a:srgbClr val="5E6B6E"/>
                </a:solidFill>
                <a:latin typeface="Calibri" pitchFamily="34" charset="0"/>
                <a:ea typeface="Calibri" pitchFamily="34" charset="-122"/>
                <a:cs typeface="Calibri" pitchFamily="34" charset="-120"/>
              </a:rPr>
              <a:t>Hoàn thiện luận văn + slide (viết song song từ tuần 1)</a:t>
            </a:r>
            <a:endParaRPr lang="en-US" sz="1250" dirty="0"/>
          </a:p>
        </p:txBody>
      </p:sp>
      <p:sp>
        <p:nvSpPr>
          <p:cNvPr id="45" name="Shape 43"/>
          <p:cNvSpPr/>
          <p:nvPr/>
        </p:nvSpPr>
        <p:spPr>
          <a:xfrm>
            <a:off x="8961120" y="5093208"/>
            <a:ext cx="1280160" cy="292608"/>
          </a:xfrm>
          <a:prstGeom prst="roundRect">
            <a:avLst>
              <a:gd name="adj" fmla="val 15625"/>
            </a:avLst>
          </a:prstGeom>
          <a:solidFill>
            <a:srgbClr val="0F4C4F"/>
          </a:solidFill>
          <a:ln w="12700">
            <a:solidFill>
              <a:srgbClr val="0F4C4F"/>
            </a:solidFill>
            <a:prstDash val="solid"/>
          </a:ln>
        </p:spPr>
      </p:sp>
      <p:sp>
        <p:nvSpPr>
          <p:cNvPr id="46" name="Text 44"/>
          <p:cNvSpPr txBox="1"/>
          <p:nvPr/>
        </p:nvSpPr>
        <p:spPr>
          <a:xfrm>
            <a:off x="548640" y="5495544"/>
            <a:ext cx="3886200" cy="420624"/>
          </a:xfrm>
          <a:prstGeom prst="rect">
            <a:avLst/>
          </a:prstGeom>
          <a:noFill/>
          <a:ln/>
        </p:spPr>
        <p:txBody>
          <a:bodyPr wrap="square" lIns="0" tIns="0" rIns="0" bIns="0" rtlCol="0" anchor="ctr"/>
          <a:lstStyle/>
          <a:p>
            <a:pPr indent="0" marL="0">
              <a:buNone/>
            </a:pPr>
            <a:r>
              <a:rPr lang="en-US" sz="1250" b="1" dirty="0">
                <a:solidFill>
                  <a:srgbClr val="13262A"/>
                </a:solidFill>
                <a:latin typeface="Calibri" pitchFamily="34" charset="0"/>
                <a:ea typeface="Calibri" pitchFamily="34" charset="-122"/>
                <a:cs typeface="Calibri" pitchFamily="34" charset="-120"/>
              </a:rPr>
              <a:t>Dự phòng  </a:t>
            </a:r>
            <a:pPr indent="0" marL="0">
              <a:buNone/>
            </a:pPr>
            <a:r>
              <a:rPr lang="en-US" sz="1100" dirty="0">
                <a:solidFill>
                  <a:srgbClr val="5E6B6E"/>
                </a:solidFill>
                <a:latin typeface="Calibri" pitchFamily="34" charset="0"/>
                <a:ea typeface="Calibri" pitchFamily="34" charset="-122"/>
                <a:cs typeface="Calibri" pitchFamily="34" charset="-120"/>
              </a:rPr>
              <a:t>Sửa theo góp ý, nộp</a:t>
            </a:r>
            <a:endParaRPr lang="en-US" sz="1250" dirty="0"/>
          </a:p>
        </p:txBody>
      </p:sp>
      <p:sp>
        <p:nvSpPr>
          <p:cNvPr id="47" name="Shape 45"/>
          <p:cNvSpPr/>
          <p:nvPr/>
        </p:nvSpPr>
        <p:spPr>
          <a:xfrm>
            <a:off x="10241280" y="5568696"/>
            <a:ext cx="1280160" cy="292608"/>
          </a:xfrm>
          <a:prstGeom prst="roundRect">
            <a:avLst>
              <a:gd name="adj" fmla="val 15625"/>
            </a:avLst>
          </a:prstGeom>
          <a:solidFill>
            <a:srgbClr val="C9D3D2"/>
          </a:solidFill>
          <a:ln w="12700">
            <a:solidFill>
              <a:srgbClr val="C9D3D2"/>
            </a:solidFill>
            <a:prstDash val="solid"/>
          </a:ln>
        </p:spPr>
      </p:sp>
      <p:sp>
        <p:nvSpPr>
          <p:cNvPr id="48" name="Text 46"/>
          <p:cNvSpPr txBox="1"/>
          <p:nvPr/>
        </p:nvSpPr>
        <p:spPr>
          <a:xfrm>
            <a:off x="11576304" y="5522976"/>
            <a:ext cx="1188720" cy="365760"/>
          </a:xfrm>
          <a:prstGeom prst="rect">
            <a:avLst/>
          </a:prstGeom>
          <a:noFill/>
          <a:ln/>
        </p:spPr>
        <p:txBody>
          <a:bodyPr wrap="square" lIns="0" tIns="0" rIns="0" bIns="0" rtlCol="0" anchor="ctr"/>
          <a:lstStyle/>
          <a:p>
            <a:pPr indent="0" marL="0">
              <a:buNone/>
            </a:pPr>
            <a:r>
              <a:rPr lang="en-US" sz="1050" b="1" dirty="0">
                <a:solidFill>
                  <a:srgbClr val="5E6B6E"/>
                </a:solidFill>
                <a:latin typeface="Calibri" pitchFamily="34" charset="0"/>
                <a:ea typeface="Calibri" pitchFamily="34" charset="-122"/>
                <a:cs typeface="Calibri" pitchFamily="34" charset="-120"/>
              </a:rPr>
              <a:t>Nộp 30/11</a:t>
            </a:r>
            <a:endParaRPr lang="en-US" sz="1050" dirty="0"/>
          </a:p>
        </p:txBody>
      </p:sp>
      <p:sp>
        <p:nvSpPr>
          <p:cNvPr id="49" name="Text 47"/>
          <p:cNvSpPr txBox="1"/>
          <p:nvPr/>
        </p:nvSpPr>
        <p:spPr>
          <a:xfrm>
            <a:off x="548640" y="5989320"/>
            <a:ext cx="11064240" cy="365760"/>
          </a:xfrm>
          <a:prstGeom prst="rect">
            <a:avLst/>
          </a:prstGeom>
          <a:noFill/>
          <a:ln/>
        </p:spPr>
        <p:txBody>
          <a:bodyPr wrap="square" lIns="0" tIns="0" rIns="0" bIns="0" rtlCol="0" anchor="ctr"/>
          <a:lstStyle/>
          <a:p>
            <a:pPr indent="0" marL="0">
              <a:buNone/>
            </a:pPr>
            <a:r>
              <a:rPr lang="en-US" sz="1200" i="1" dirty="0">
                <a:solidFill>
                  <a:srgbClr val="2E7D7A"/>
                </a:solidFill>
                <a:latin typeface="Calibri" pitchFamily="34" charset="0"/>
                <a:ea typeface="Calibri" pitchFamily="34" charset="-122"/>
                <a:cs typeface="Calibri" pitchFamily="34" charset="-120"/>
              </a:rPr>
              <a:t>Tăng tốc: slide và báo cáo được điền ngay khi mỗi gate có số; chạy Colab song song theo seed; giới hạn lưới quét; tầng C (GraphSAGE) chỉ làm nếu cô yêu cầu.</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CHƯƠNG 7 · KẾ HOẠCH</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Rủi ro và phương án dự phòng</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42</a:t>
            </a:r>
            <a:endParaRPr lang="en-US" sz="1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914400"/>
        </p:xfrm>
        <a:graphic>
          <a:graphicData uri="http://schemas.openxmlformats.org/drawingml/2006/table">
            <a:tbl>
              <a:tblPr/>
              <a:tblGrid>
                <a:gridCol w="2743200"/>
                <a:gridCol w="3657600"/>
                <a:gridCol w="4663440"/>
              </a:tblGrid>
              <a:tr h="676656">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Rủi ro</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Dấu hiệu</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c>
                  <a:txBody>
                    <a:bodyPr/>
                    <a:lstStyle/>
                    <a:p>
                      <a:pPr indent="0" marL="0">
                        <a:buNone/>
                      </a:pPr>
                      <a:r>
                        <a:rPr lang="en-US" sz="1550" b="1" dirty="0">
                          <a:solidFill>
                            <a:srgbClr val="FFFFFF"/>
                          </a:solidFill>
                          <a:latin typeface="Calibri" pitchFamily="34" charset="0"/>
                          <a:ea typeface="Calibri" pitchFamily="34" charset="-122"/>
                          <a:cs typeface="Calibri" pitchFamily="34" charset="-120"/>
                        </a:rPr>
                        <a:t>Phương án</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0F4C4F"/>
                    </a:solidFill>
                  </a:tcPr>
                </a:tc>
              </a:tr>
              <a:tr h="676656">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Sampler không học được</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‖ΔΘ_S‖ ≈ 0, phân phối chọn giống M0</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Tăng số bước/giảm batch, quét α; nếu vẫn không học → báo kết quả âm có phân tích</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76656">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Hết bộ nhớ T4</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OOM khi embedding 2,48 tr node + GCN_S</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Embedding thưa, giảm chiều sampler, chỉ chạy GCN_S trên ứng viên</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76656">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Sampler quá chậm</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Thời gian sampler &gt; ngưỡng đăng ký</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Giảm độ rộng GCN_S, lấy mẫu ứng viên trước khi chấm điểm</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76656">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Backbone vẫn yếu</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Full LightGCN ≤ MostPop trên D_dev</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Tăng epoch trong grid; nếu fail ghi decision log trước khi đi tiếp</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76656">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Dồn về item phổ biến</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Node chọn toàn head, tail hit = 0</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Báo cáo RQ3; không đổi method sau holdout</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r h="676656">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Kết quả không vượt đối chứng</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Δ NDCG@20 ≤ 0</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c>
                  <a:txBody>
                    <a:bodyPr/>
                    <a:lstStyle/>
                    <a:p>
                      <a:pPr indent="0" marL="0">
                        <a:buNone/>
                      </a:pPr>
                      <a:r>
                        <a:rPr lang="en-US" sz="1550" dirty="0">
                          <a:solidFill>
                            <a:srgbClr val="13262A"/>
                          </a:solidFill>
                          <a:latin typeface="Calibri" pitchFamily="34" charset="0"/>
                          <a:ea typeface="Calibri" pitchFamily="34" charset="-122"/>
                          <a:cs typeface="Calibri" pitchFamily="34" charset="-120"/>
                        </a:rPr>
                        <a:t>Kết quả âm hợp lệ; phân tích nguyên nhân R-1…R-6</a:t>
                      </a:r>
                      <a:endParaRPr lang="en-US" sz="1550" dirty="0">
                        <a:latin typeface="Calibri" charset="0"/>
                        <a:ea typeface="Calibri" charset="0"/>
                        <a:cs typeface="Calibri" charset="0"/>
                      </a:endParaRPr>
                    </a:p>
                  </a:txBody>
                  <a:tcPr marL="91440" marR="91440" marT="45720" marB="45720">
                    <a:lnL w="6350" cap="flat" cmpd="sng" algn="ctr">
                      <a:solidFill>
                        <a:srgbClr val="C9D3D2"/>
                      </a:solidFill>
                      <a:prstDash val="solid"/>
                      <a:round/>
                      <a:headEnd type="none" w="med" len="med"/>
                      <a:tailEnd type="none" w="med" len="med"/>
                    </a:lnL>
                    <a:lnR w="6350" cap="flat" cmpd="sng" algn="ctr">
                      <a:solidFill>
                        <a:srgbClr val="C9D3D2"/>
                      </a:solidFill>
                      <a:prstDash val="solid"/>
                      <a:round/>
                      <a:headEnd type="none" w="med" len="med"/>
                      <a:tailEnd type="none" w="med" len="med"/>
                    </a:lnR>
                    <a:lnT w="6350" cap="flat" cmpd="sng" algn="ctr">
                      <a:solidFill>
                        <a:srgbClr val="C9D3D2"/>
                      </a:solidFill>
                      <a:prstDash val="solid"/>
                      <a:round/>
                      <a:headEnd type="none" w="med" len="med"/>
                      <a:tailEnd type="none" w="med" len="med"/>
                    </a:lnT>
                    <a:lnB w="6350" cap="flat" cmpd="sng" algn="ctr">
                      <a:solidFill>
                        <a:srgbClr val="C9D3D2"/>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F4C4F"/>
        </a:solidFill>
      </p:bgPr>
    </p:bg>
    <p:spTree>
      <p:nvGrpSpPr>
        <p:cNvPr id="1" name=""/>
        <p:cNvGrpSpPr/>
        <p:nvPr/>
      </p:nvGrpSpPr>
      <p:grpSpPr>
        <a:xfrm>
          <a:off x="0" y="0"/>
          <a:ext cx="0" cy="0"/>
          <a:chOff x="0" y="0"/>
          <a:chExt cx="0" cy="0"/>
        </a:xfrm>
      </p:grpSpPr>
      <p:sp>
        <p:nvSpPr>
          <p:cNvPr id="2" name="Text 0"/>
          <p:cNvSpPr txBox="1"/>
          <p:nvPr/>
        </p:nvSpPr>
        <p:spPr>
          <a:xfrm>
            <a:off x="548640" y="457200"/>
            <a:ext cx="731520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Tổng kết</a:t>
            </a:r>
            <a:endParaRPr lang="en-US" sz="3600" dirty="0"/>
          </a:p>
        </p:txBody>
      </p:sp>
      <p:sp>
        <p:nvSpPr>
          <p:cNvPr id="3" name="Shape 1"/>
          <p:cNvSpPr/>
          <p:nvPr/>
        </p:nvSpPr>
        <p:spPr>
          <a:xfrm>
            <a:off x="548640" y="1463040"/>
            <a:ext cx="3566160" cy="4663440"/>
          </a:xfrm>
          <a:prstGeom prst="roundRect">
            <a:avLst>
              <a:gd name="adj" fmla="val 2051"/>
            </a:avLst>
          </a:prstGeom>
          <a:solidFill>
            <a:srgbClr val="1C5E61"/>
          </a:solidFill>
          <a:ln w="12700">
            <a:solidFill>
              <a:srgbClr val="1C5E61"/>
            </a:solidFill>
            <a:prstDash val="solid"/>
          </a:ln>
        </p:spPr>
      </p:sp>
      <p:sp>
        <p:nvSpPr>
          <p:cNvPr id="4" name="Text 2"/>
          <p:cNvSpPr txBox="1"/>
          <p:nvPr/>
        </p:nvSpPr>
        <p:spPr>
          <a:xfrm>
            <a:off x="777240" y="1645920"/>
            <a:ext cx="310896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Đã đạt được</a:t>
            </a:r>
            <a:endParaRPr lang="en-US" sz="2000" dirty="0"/>
          </a:p>
        </p:txBody>
      </p:sp>
      <p:sp>
        <p:nvSpPr>
          <p:cNvPr id="5" name="Text 3"/>
          <p:cNvSpPr txBox="1"/>
          <p:nvPr/>
        </p:nvSpPr>
        <p:spPr>
          <a:xfrm>
            <a:off x="777240" y="2286000"/>
            <a:ext cx="3108960"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Phân tích sâu dataset, trả lời các câu hỏi dữ liệu của cô</a:t>
            </a:r>
            <a:endParaRPr lang="en-US" sz="1700" dirty="0"/>
          </a:p>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Protocol thời gian, evaluator toàn catalog</a:t>
            </a:r>
            <a:endParaRPr lang="en-US" sz="1700" dirty="0"/>
          </a:p>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Rà soát và khóa lại scope (DL-001), checklist G1–G7</a:t>
            </a:r>
            <a:endParaRPr lang="en-US" sz="1700" dirty="0"/>
          </a:p>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Thiết kế GRAPES-GFN-Rec cho gợi ý + lõi code, 28 oracle test</a:t>
            </a:r>
            <a:endParaRPr lang="en-US" sz="1700" dirty="0"/>
          </a:p>
        </p:txBody>
      </p:sp>
      <p:sp>
        <p:nvSpPr>
          <p:cNvPr id="6" name="Shape 4"/>
          <p:cNvSpPr/>
          <p:nvPr/>
        </p:nvSpPr>
        <p:spPr>
          <a:xfrm>
            <a:off x="4297680" y="1463040"/>
            <a:ext cx="3566160" cy="4663440"/>
          </a:xfrm>
          <a:prstGeom prst="roundRect">
            <a:avLst>
              <a:gd name="adj" fmla="val 2051"/>
            </a:avLst>
          </a:prstGeom>
          <a:solidFill>
            <a:srgbClr val="1C5E61"/>
          </a:solidFill>
          <a:ln w="12700">
            <a:solidFill>
              <a:srgbClr val="1C5E61"/>
            </a:solidFill>
            <a:prstDash val="solid"/>
          </a:ln>
        </p:spPr>
      </p:sp>
      <p:sp>
        <p:nvSpPr>
          <p:cNvPr id="7" name="Text 5"/>
          <p:cNvSpPr txBox="1"/>
          <p:nvPr/>
        </p:nvSpPr>
        <p:spPr>
          <a:xfrm>
            <a:off x="4526280" y="1645920"/>
            <a:ext cx="3108960"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Sẽ làm</a:t>
            </a:r>
            <a:endParaRPr lang="en-US" sz="2000" dirty="0"/>
          </a:p>
        </p:txBody>
      </p:sp>
      <p:sp>
        <p:nvSpPr>
          <p:cNvPr id="8" name="Text 6"/>
          <p:cNvSpPr txBox="1"/>
          <p:nvPr/>
        </p:nvSpPr>
        <p:spPr>
          <a:xfrm>
            <a:off x="4526280" y="2286000"/>
            <a:ext cx="3108960"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Development split xong (R1); thí nghiệm development (R3)</a:t>
            </a:r>
            <a:endParaRPr lang="en-US" sz="1700" dirty="0"/>
          </a:p>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Freeze rồi so sánh ghép cặp 7 phương pháp (R4, R5)</a:t>
            </a:r>
            <a:endParaRPr lang="en-US" sz="1700" dirty="0"/>
          </a:p>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Phân tích chất lượng – chi phí – hành vi sampler (R6)</a:t>
            </a:r>
            <a:endParaRPr lang="en-US" sz="1700" dirty="0"/>
          </a:p>
          <a:p>
            <a:pPr marL="203200" indent="-203200">
              <a:spcAft>
                <a:spcPts val="1000"/>
              </a:spcAft>
              <a:buSzPct val="100000"/>
              <a:buChar char="•"/>
            </a:pPr>
            <a:r>
              <a:rPr lang="en-US" sz="1700" dirty="0">
                <a:solidFill>
                  <a:srgbClr val="FFFFFF"/>
                </a:solidFill>
                <a:latin typeface="Calibri" pitchFamily="34" charset="0"/>
                <a:ea typeface="Calibri" pitchFamily="34" charset="-122"/>
                <a:cs typeface="Calibri" pitchFamily="34" charset="-120"/>
              </a:rPr>
              <a:t>Báo cáo cuối từ bằng chứng holdout (R7)</a:t>
            </a:r>
            <a:endParaRPr lang="en-US" sz="1700" dirty="0"/>
          </a:p>
        </p:txBody>
      </p:sp>
      <p:sp>
        <p:nvSpPr>
          <p:cNvPr id="9" name="Shape 7"/>
          <p:cNvSpPr/>
          <p:nvPr/>
        </p:nvSpPr>
        <p:spPr>
          <a:xfrm>
            <a:off x="8046720" y="1463040"/>
            <a:ext cx="3566160" cy="4663440"/>
          </a:xfrm>
          <a:prstGeom prst="roundRect">
            <a:avLst>
              <a:gd name="adj" fmla="val 2051"/>
            </a:avLst>
          </a:prstGeom>
          <a:solidFill>
            <a:srgbClr val="E89B2D"/>
          </a:solidFill>
          <a:ln w="12700">
            <a:solidFill>
              <a:srgbClr val="E89B2D"/>
            </a:solidFill>
            <a:prstDash val="solid"/>
          </a:ln>
        </p:spPr>
      </p:sp>
      <p:sp>
        <p:nvSpPr>
          <p:cNvPr id="10" name="Text 8"/>
          <p:cNvSpPr txBox="1"/>
          <p:nvPr/>
        </p:nvSpPr>
        <p:spPr>
          <a:xfrm>
            <a:off x="8275320" y="1645920"/>
            <a:ext cx="3108960" cy="502920"/>
          </a:xfrm>
          <a:prstGeom prst="rect">
            <a:avLst/>
          </a:prstGeom>
          <a:noFill/>
          <a:ln/>
        </p:spPr>
        <p:txBody>
          <a:bodyPr wrap="square" lIns="0" tIns="0" rIns="0" bIns="0" rtlCol="0" anchor="ctr"/>
          <a:lstStyle/>
          <a:p>
            <a:pPr indent="0" marL="0">
              <a:buNone/>
            </a:pPr>
            <a:r>
              <a:rPr lang="en-US" sz="2000" b="1" dirty="0">
                <a:solidFill>
                  <a:srgbClr val="13262A"/>
                </a:solidFill>
                <a:latin typeface="Cambria" pitchFamily="34" charset="0"/>
                <a:ea typeface="Cambria" pitchFamily="34" charset="-122"/>
                <a:cs typeface="Cambria" pitchFamily="34" charset="-120"/>
              </a:rPr>
              <a:t>Xin ý kiến cô</a:t>
            </a:r>
            <a:endParaRPr lang="en-US" sz="2000" dirty="0"/>
          </a:p>
        </p:txBody>
      </p:sp>
      <p:sp>
        <p:nvSpPr>
          <p:cNvPr id="11" name="Text 9"/>
          <p:cNvSpPr txBox="1"/>
          <p:nvPr/>
        </p:nvSpPr>
        <p:spPr>
          <a:xfrm>
            <a:off x="8275320" y="2286000"/>
            <a:ext cx="3108960" cy="3657600"/>
          </a:xfrm>
          <a:prstGeom prst="rect">
            <a:avLst/>
          </a:prstGeom>
          <a:noFill/>
          <a:ln/>
        </p:spPr>
        <p:txBody>
          <a:bodyPr wrap="square" lIns="0" tIns="0" rIns="0" bIns="0" rtlCol="0" anchor="t"/>
          <a:lstStyle/>
          <a:p>
            <a:pPr marL="203200" indent="-203200">
              <a:spcAft>
                <a:spcPts val="1000"/>
              </a:spcAft>
              <a:buSzPct val="100000"/>
              <a:buChar char="•"/>
            </a:pPr>
            <a:r>
              <a:rPr lang="en-US" sz="1700" dirty="0">
                <a:solidFill>
                  <a:srgbClr val="13262A"/>
                </a:solidFill>
                <a:latin typeface="Calibri" pitchFamily="34" charset="0"/>
                <a:ea typeface="Calibri" pitchFamily="34" charset="-122"/>
                <a:cs typeface="Calibri" pitchFamily="34" charset="-120"/>
              </a:rPr>
              <a:t>OD-1: thêm GraphSAGE fan-out làm đối chứng?</a:t>
            </a:r>
            <a:endParaRPr lang="en-US" sz="1700" dirty="0"/>
          </a:p>
          <a:p>
            <a:pPr marL="203200" indent="-203200">
              <a:spcAft>
                <a:spcPts val="1000"/>
              </a:spcAft>
              <a:buSzPct val="100000"/>
              <a:buChar char="•"/>
            </a:pPr>
            <a:r>
              <a:rPr lang="en-US" sz="1700" dirty="0">
                <a:solidFill>
                  <a:srgbClr val="13262A"/>
                </a:solidFill>
                <a:latin typeface="Calibri" pitchFamily="34" charset="0"/>
                <a:ea typeface="Calibri" pitchFamily="34" charset="-122"/>
                <a:cs typeface="Calibri" pitchFamily="34" charset="-120"/>
              </a:rPr>
              <a:t>OD-2: nối metadata để đo ngữ nghĩa, đa dạng? (khuyến nghị: có)</a:t>
            </a:r>
            <a:endParaRPr lang="en-US" sz="1700" dirty="0"/>
          </a:p>
          <a:p>
            <a:pPr marL="203200" indent="-203200">
              <a:spcAft>
                <a:spcPts val="1000"/>
              </a:spcAft>
              <a:buSzPct val="100000"/>
              <a:buChar char="•"/>
            </a:pPr>
            <a:r>
              <a:rPr lang="en-US" sz="1700" dirty="0">
                <a:solidFill>
                  <a:srgbClr val="13262A"/>
                </a:solidFill>
                <a:latin typeface="Calibri" pitchFamily="34" charset="0"/>
                <a:ea typeface="Calibri" pitchFamily="34" charset="-122"/>
                <a:cs typeface="Calibri" pitchFamily="34" charset="-120"/>
              </a:rPr>
              <a:t>OD-3: lưới budget (1 chính + 1 chặt)?</a:t>
            </a:r>
            <a:endParaRPr lang="en-US" sz="1700" dirty="0"/>
          </a:p>
          <a:p>
            <a:pPr marL="203200" indent="-203200">
              <a:spcAft>
                <a:spcPts val="1000"/>
              </a:spcAft>
              <a:buSzPct val="100000"/>
              <a:buChar char="•"/>
            </a:pPr>
            <a:r>
              <a:rPr lang="en-US" sz="1700" dirty="0">
                <a:solidFill>
                  <a:srgbClr val="13262A"/>
                </a:solidFill>
                <a:latin typeface="Calibri" pitchFamily="34" charset="0"/>
                <a:ea typeface="Calibri" pitchFamily="34" charset="-122"/>
                <a:cs typeface="Calibri" pitchFamily="34" charset="-120"/>
              </a:rPr>
              <a:t>OD-4: số seed (đề xuất 3)?</a:t>
            </a:r>
            <a:endParaRPr lang="en-US" sz="1700" dirty="0"/>
          </a:p>
        </p:txBody>
      </p:sp>
      <p:sp>
        <p:nvSpPr>
          <p:cNvPr id="12" name="Text 10"/>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BFD8D5"/>
                </a:solidFill>
                <a:latin typeface="Calibri" pitchFamily="34" charset="0"/>
                <a:ea typeface="Calibri" pitchFamily="34" charset="-122"/>
                <a:cs typeface="Calibri" pitchFamily="34" charset="-120"/>
              </a:rPr>
              <a:t>43</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8229600" cy="274320"/>
          </a:xfrm>
          <a:prstGeom prst="rect">
            <a:avLst/>
          </a:prstGeom>
          <a:noFill/>
          <a:ln/>
        </p:spPr>
        <p:txBody>
          <a:bodyPr wrap="square" lIns="0" tIns="0" rIns="0" bIns="0" rtlCol="0" anchor="ctr"/>
          <a:lstStyle/>
          <a:p>
            <a:pPr indent="0" marL="0">
              <a:buNone/>
            </a:pPr>
            <a:r>
              <a:rPr lang="en-US" sz="1100" b="1" spc="200" kern="0" dirty="0">
                <a:solidFill>
                  <a:srgbClr val="2E7D7A"/>
                </a:solidFill>
                <a:latin typeface="Calibri" pitchFamily="34" charset="0"/>
                <a:ea typeface="Calibri" pitchFamily="34" charset="-122"/>
                <a:cs typeface="Calibri" pitchFamily="34" charset="-120"/>
              </a:rPr>
              <a:t>TÀI LIỆU</a:t>
            </a:r>
            <a:endParaRPr lang="en-US" sz="1100" dirty="0"/>
          </a:p>
        </p:txBody>
      </p:sp>
      <p:sp>
        <p:nvSpPr>
          <p:cNvPr id="3" name="Text 1"/>
          <p:cNvSpPr txBox="1"/>
          <p:nvPr/>
        </p:nvSpPr>
        <p:spPr>
          <a:xfrm>
            <a:off x="548640" y="566928"/>
            <a:ext cx="11064240" cy="731520"/>
          </a:xfrm>
          <a:prstGeom prst="rect">
            <a:avLst/>
          </a:prstGeom>
          <a:noFill/>
          <a:ln/>
        </p:spPr>
        <p:txBody>
          <a:bodyPr wrap="square" lIns="0" tIns="0" rIns="0" bIns="0" rtlCol="0" anchor="t"/>
          <a:lstStyle/>
          <a:p>
            <a:pPr indent="0" marL="0">
              <a:buNone/>
            </a:pPr>
            <a:r>
              <a:rPr lang="en-US" sz="3000" b="1" dirty="0">
                <a:solidFill>
                  <a:srgbClr val="13262A"/>
                </a:solidFill>
                <a:latin typeface="Cambria" pitchFamily="34" charset="0"/>
                <a:ea typeface="Cambria" pitchFamily="34" charset="-122"/>
                <a:cs typeface="Cambria" pitchFamily="34" charset="-120"/>
              </a:rPr>
              <a:t>Tài liệu tham khảo</a:t>
            </a:r>
            <a:endParaRPr lang="en-US" sz="3000" dirty="0"/>
          </a:p>
        </p:txBody>
      </p:sp>
      <p:sp>
        <p:nvSpPr>
          <p:cNvPr id="4" name="Text 2"/>
          <p:cNvSpPr txBox="1"/>
          <p:nvPr/>
        </p:nvSpPr>
        <p:spPr>
          <a:xfrm>
            <a:off x="11247120" y="6400800"/>
            <a:ext cx="457200" cy="274320"/>
          </a:xfrm>
          <a:prstGeom prst="rect">
            <a:avLst/>
          </a:prstGeom>
          <a:noFill/>
          <a:ln/>
        </p:spPr>
        <p:txBody>
          <a:bodyPr wrap="square" lIns="0" tIns="0" rIns="0" bIns="0" rtlCol="0" anchor="ctr"/>
          <a:lstStyle/>
          <a:p>
            <a:pPr algn="r" indent="0" marL="0">
              <a:buNone/>
            </a:pPr>
            <a:r>
              <a:rPr lang="en-US" sz="1000" dirty="0">
                <a:solidFill>
                  <a:srgbClr val="5E6B6E"/>
                </a:solidFill>
                <a:latin typeface="Calibri" pitchFamily="34" charset="0"/>
                <a:ea typeface="Calibri" pitchFamily="34" charset="-122"/>
                <a:cs typeface="Calibri" pitchFamily="34" charset="-120"/>
              </a:rPr>
              <a:t>44</a:t>
            </a:r>
            <a:endParaRPr lang="en-US" sz="1000" dirty="0"/>
          </a:p>
        </p:txBody>
      </p:sp>
      <p:sp>
        <p:nvSpPr>
          <p:cNvPr id="5" name="Text 3"/>
          <p:cNvSpPr txBox="1"/>
          <p:nvPr/>
        </p:nvSpPr>
        <p:spPr>
          <a:xfrm>
            <a:off x="548640" y="1463040"/>
            <a:ext cx="11064240" cy="4754880"/>
          </a:xfrm>
          <a:prstGeom prst="rect">
            <a:avLst/>
          </a:prstGeom>
          <a:noFill/>
          <a:ln/>
        </p:spPr>
        <p:txBody>
          <a:bodyPr wrap="square" lIns="0" tIns="0" rIns="0" bIns="0" rtlCol="0" anchor="t"/>
          <a:lstStyle/>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[1] T. Younesian et al. GRAPES: Learning to Sample Graphs for Scalable Graph Neural Networks. arXiv:2310.03399v3. Code: github.com/dfdazac/grapes (commit 71ecebe).</a:t>
            </a:r>
            <a:endParaRPr lang="en-US" sz="1300" dirty="0"/>
          </a:p>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[2] X. He et al. LightGCN: Simplifying and Powering Graph Convolution Network for Recommendation. SIGIR 2020. arXiv:2002.02126.</a:t>
            </a:r>
            <a:endParaRPr lang="en-US" sz="1300" dirty="0"/>
          </a:p>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[3] N. Malkin et al. Trajectory Balance: Improved Credit Assignment in GFlowNets. NeurIPS 2022. arXiv:2201.13259.</a:t>
            </a:r>
            <a:endParaRPr lang="en-US" sz="1300" dirty="0"/>
          </a:p>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[4] S. Rendle et al. BPR: Bayesian Personalized Ranking from Implicit Feedback. UAI 2009. arXiv:1205.2618.</a:t>
            </a:r>
            <a:endParaRPr lang="en-US" sz="1300" dirty="0"/>
          </a:p>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[5] W. Kool et al. Stochastic Beams and Where to Find Them: The Gumbel-Top-k Trick. ICML 2019. arXiv:1903.06059.</a:t>
            </a:r>
            <a:endParaRPr lang="en-US" sz="1300" dirty="0"/>
          </a:p>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[6] J. Chen et al. FastGCN: Fast Learning with Graph Convolutional Networks via Importance Sampling. ICLR 2018. arXiv:1801.10247.</a:t>
            </a:r>
            <a:endParaRPr lang="en-US" sz="1300" dirty="0"/>
          </a:p>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[7] D. Zou et al. Layer-Dependent Importance Sampling for Training Deep and Large Graph Convolutional Networks (LADIES). NeurIPS 2019. arXiv:1911.07323.</a:t>
            </a:r>
            <a:endParaRPr lang="en-US" sz="1300" dirty="0"/>
          </a:p>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[8] W. Hamilton et al. Inductive Representation Learning on Large Graphs (GraphSAGE). NeurIPS 2017. arXiv:1706.02216.</a:t>
            </a:r>
            <a:endParaRPr lang="en-US" sz="1300" dirty="0"/>
          </a:p>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[9] R. Ying et al. Graph Convolutional Neural Networks for Web-Scale Recommender Systems (PinSage). KDD 2018. arXiv:1806.01973.</a:t>
            </a:r>
            <a:endParaRPr lang="en-US" sz="1300" dirty="0"/>
          </a:p>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[10] Y. Hou et al. Bridging Language and Items for Retrieval and Recommendation (Amazon Reviews'23). arXiv:2403.03952.</a:t>
            </a:r>
            <a:endParaRPr lang="en-US" sz="1300" dirty="0"/>
          </a:p>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[11] W.-L. Chiang et al. Cluster-GCN. KDD 2019. arXiv:1905.07953.  [12] M. Fey et al. GNNAutoScale (GAS). ICML 2021. arXiv:2106.05609.</a:t>
            </a:r>
            <a:endParaRPr lang="en-US" sz="1300" dirty="0"/>
          </a:p>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[13] C.-N. Ziegler et al. Improving Recommendation Lists Through Topic Diversification. WWW 2005.  [14] K. Järvelin, J. Kekäläinen. Cumulated Gain-Based Evaluation of IR Techniques. ACM TOIS 2002.</a:t>
            </a:r>
            <a:endParaRPr lang="en-US" sz="1300" dirty="0"/>
          </a:p>
          <a:p>
            <a:pPr indent="0" marL="0">
              <a:spcAft>
                <a:spcPts val="600"/>
              </a:spcAft>
              <a:buNone/>
            </a:pPr>
            <a:r>
              <a:rPr lang="en-US" sz="1300" dirty="0">
                <a:solidFill>
                  <a:srgbClr val="13262A"/>
                </a:solidFill>
                <a:latin typeface="Calibri" pitchFamily="34" charset="0"/>
                <a:ea typeface="Calibri" pitchFamily="34" charset="-122"/>
                <a:cs typeface="Calibri" pitchFamily="34" charset="-120"/>
              </a:rPr>
              <a:t>[15] N. Reimers, I. Gurevych. Sentence-BERT. EMNLP 2019. arXiv:1908.10084.</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Luận văn — GRAPES-GFN-Rec (bản sống)</dc:title>
  <dc:subject>PptxGenJS Presentation</dc:subject>
  <dc:creator>PptxGenJS</dc:creator>
  <cp:lastModifiedBy>PptxGenJS</cp:lastModifiedBy>
  <cp:revision>1</cp:revision>
  <dcterms:created xsi:type="dcterms:W3CDTF">2026-09-16T18:57:44Z</dcterms:created>
  <dcterms:modified xsi:type="dcterms:W3CDTF">2026-09-16T18:57:44Z</dcterms:modified>
</cp:coreProperties>
</file>