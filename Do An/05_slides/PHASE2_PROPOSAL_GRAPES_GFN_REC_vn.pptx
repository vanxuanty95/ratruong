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62A"/>
                </a:solidFill>
                <a:latin typeface="Arial"/>
              </a:defRPr>
            </a:pPr>
            <a:r>
              <a:rPr sz="1400" b="0" i="0" u="none" strike="noStrike">
                <a:solidFill>
                  <a:srgbClr val="13262A"/>
                </a:solidFill>
                <a:latin typeface="Arial"/>
              </a:rPr>
              <a:t>Số dòng rating raw (triệu)</a:t>
            </a:r>
          </a:p>
        </c:rich>
      </c:tx>
      <c:layout/>
      <c:overlay val="0"/>
    </c:title>
    <c:autoTitleDeleted val="0"/>
    <c:plotArea>
      <c:layout/>
      <c:barChart>
        <c:barDir val="bar"/>
        <c:grouping val="clustered"/>
        <c:varyColors val="0"/>
        <c:ser>
          <c:idx val="0"/>
          <c:order val="0"/>
          <c:tx>
            <c:strRef>
              <c:f>Sheet1!$B$1</c:f>
              <c:strCache>
                <c:ptCount val="1"/>
                <c:pt idx="0">
                  <c:v>Số dòng raw (triệu)</c:v>
                </c:pt>
              </c:strCache>
            </c:strRef>
          </c:tx>
          <c:spPr>
            <a:solidFill>
              <a:srgbClr val="2E7D7A"/>
            </a:solidFill>
            <a:effectLst/>
          </c:spPr>
          <c:invertIfNegative val="0"/>
          <c:dLbls>
            <c:numFmt formatCode="0.00" sourceLinked="0"/>
            <c:txPr>
              <a:bodyPr/>
              <a:lstStyle/>
              <a:p>
                <a:pPr>
                  <a:defRPr b="0" i="0" strike="noStrike" sz="1200" u="none">
                    <a:solidFill>
                      <a:srgbClr val="13262A"/>
                    </a:solidFill>
                    <a:latin typeface="Arial"/>
                  </a:defRPr>
                </a:pPr>
              </a:p>
            </c:txPr>
            <c:showLegendKey val="0"/>
            <c:showVal val="1"/>
            <c:showCatName val="0"/>
            <c:showSerName val="0"/>
            <c:showPercent val="0"/>
            <c:showBubbleSize val="0"/>
            <c:showLeaderLines val="0"/>
          </c:dLbls>
          <c:cat>
            <c:multiLvlStrRef>
              <c:f>Sheet1!$A$2:$A$4</c:f>
              <c:multiLvlStrCache>
                <c:ptCount val="3"/>
                <c:lvl>
                  <c:pt idx="0">
                    <c:v>All_Beauty</c:v>
                  </c:pt>
                  <c:pt idx="1">
                    <c:v>Baby_Products</c:v>
                  </c:pt>
                  <c:pt idx="2">
                    <c:v>Home_and_Kitchen</c:v>
                  </c:pt>
                </c:lvl>
              </c:multiLvlStrCache>
            </c:multiLvlStrRef>
          </c:cat>
          <c:val>
            <c:numRef>
              <c:f>Sheet1!$B$2:$B$4</c:f>
              <c:numCache>
                <c:formatCode>General</c:formatCode>
                <c:ptCount val="3"/>
                <c:pt idx="0">
                  <c:v>0.69</c:v>
                </c:pt>
                <c:pt idx="1">
                  <c:v>5.95</c:v>
                </c:pt>
                <c:pt idx="2">
                  <c:v>66.62</c:v>
                </c:pt>
              </c:numCache>
            </c:numRef>
          </c:val>
        </c:ser>
        <c:dLbls>
          <c:numFmt formatCode="0.00" sourceLinked="0"/>
          <c:txPr>
            <a:bodyPr/>
            <a:lstStyle/>
            <a:p>
              <a:pPr>
                <a:defRPr b="0" i="0" strike="noStrike" sz="1200" u="none">
                  <a:solidFill>
                    <a:srgbClr val="1326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A"/>
                </a:solidFill>
                <a:latin typeface="Arial"/>
              </a:defRPr>
            </a:pPr>
            <a:r>
              <a:rPr sz="1200" b="0" i="0" u="none" strike="noStrike">
                <a:solidFill>
                  <a:srgbClr val="13262A"/>
                </a:solidFill>
                <a:latin typeface="Arial"/>
              </a:rPr>
              <a:t>Phân bố rating (P4 = 4–5★ là positive)</a:t>
            </a:r>
          </a:p>
        </c:rich>
      </c:tx>
      <c:layout/>
      <c:overlay val="0"/>
    </c:title>
    <c:autoTitleDeleted val="0"/>
    <c:plotArea>
      <c:layout/>
      <c:barChart>
        <c:barDir val="col"/>
        <c:grouping val="clustered"/>
        <c:varyColors val="0"/>
        <c:ser>
          <c:idx val="0"/>
          <c:order val="0"/>
          <c:tx>
            <c:strRef>
              <c:f>Sheet1!$B$1</c:f>
              <c:strCache>
                <c:ptCount val="1"/>
                <c:pt idx="0">
                  <c:v>Số rating</c:v>
                </c:pt>
              </c:strCache>
            </c:strRef>
          </c:tx>
          <c:spPr>
            <a:solidFill>
              <a:srgbClr val="C9D3D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C9D3D2"/>
              </a:solidFill>
              <a:effectLst/>
            </c:spPr>
          </c:dPt>
          <c:dPt>
            <c:idx val="1"/>
            <c:invertIfNegative val="0"/>
            <c:bubble3D val="0"/>
            <c:spPr>
              <a:solidFill>
                <a:srgbClr val="C9D3D2"/>
              </a:solidFill>
              <a:effectLst/>
            </c:spPr>
          </c:dPt>
          <c:dPt>
            <c:idx val="2"/>
            <c:invertIfNegative val="0"/>
            <c:bubble3D val="0"/>
            <c:spPr>
              <a:solidFill>
                <a:srgbClr val="C9D3D2"/>
              </a:solidFill>
              <a:effectLst/>
            </c:spPr>
          </c:dPt>
          <c:dPt>
            <c:idx val="3"/>
            <c:invertIfNegative val="0"/>
            <c:bubble3D val="0"/>
            <c:spPr>
              <a:solidFill>
                <a:srgbClr val="E89B2D"/>
              </a:solidFill>
              <a:effectLst/>
            </c:spPr>
          </c:dPt>
          <c:dPt>
            <c:idx val="4"/>
            <c:invertIfNegative val="0"/>
            <c:bubble3D val="0"/>
            <c:spPr>
              <a:solidFill>
                <a:srgbClr val="E89B2D"/>
              </a:solidFill>
              <a:effectLst/>
            </c:spPr>
          </c:dPt>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555424</c:v>
                </c:pt>
                <c:pt idx="1">
                  <c:v>309591</c:v>
                </c:pt>
                <c:pt idx="2">
                  <c:v>433032</c:v>
                </c:pt>
                <c:pt idx="3">
                  <c:v>681977</c:v>
                </c:pt>
                <c:pt idx="4">
                  <c:v>3973866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8"/>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B6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A"/>
                </a:solidFill>
                <a:latin typeface="Arial"/>
              </a:defRPr>
            </a:pPr>
            <a:r>
              <a:rPr sz="1200" b="0" i="0" u="none" strike="noStrike">
                <a:solidFill>
                  <a:srgbClr val="13262A"/>
                </a:solidFill>
                <a:latin typeface="Arial"/>
              </a:rPr>
              <a:t>Item phổ biến nhất giữ bao nhiêu interaction</a:t>
            </a:r>
          </a:p>
        </c:rich>
      </c:tx>
      <c:layout/>
      <c:overlay val="0"/>
    </c:title>
    <c:autoTitleDeleted val="0"/>
    <c:plotArea>
      <c:layout/>
      <c:barChart>
        <c:barDir val="col"/>
        <c:grouping val="clustered"/>
        <c:varyColors val="0"/>
        <c:ser>
          <c:idx val="0"/>
          <c:order val="0"/>
          <c:tx>
            <c:strRef>
              <c:f>Sheet1!$B$1</c:f>
              <c:strCache>
                <c:ptCount val="1"/>
                <c:pt idx="0">
                  <c:v>Tỷ lệ interaction</c:v>
                </c:pt>
              </c:strCache>
            </c:strRef>
          </c:tx>
          <c:spPr>
            <a:solidFill>
              <a:srgbClr val="0F4C4F"/>
            </a:solidFill>
            <a:effectLst/>
          </c:spPr>
          <c:invertIfNegative val="0"/>
          <c:dLbls>
            <c:numFmt formatCode="0.0&quot;%&quot;" sourceLinked="0"/>
            <c:txPr>
              <a:bodyPr/>
              <a:lstStyle/>
              <a:p>
                <a:pPr>
                  <a:defRPr b="0" i="0" strike="noStrike" sz="1100" u="none">
                    <a:solidFill>
                      <a:srgbClr val="13262A"/>
                    </a:solidFill>
                    <a:latin typeface="Arial"/>
                  </a:defRPr>
                </a:pPr>
              </a:p>
            </c:txPr>
            <c:showLegendKey val="0"/>
            <c:showVal val="1"/>
            <c:showCatName val="0"/>
            <c:showSerName val="0"/>
            <c:showPercent val="0"/>
            <c:showBubbleSize val="0"/>
            <c:showLeaderLines val="0"/>
          </c:dLbls>
          <c:cat>
            <c:multiLvlStrRef>
              <c:f>Sheet1!$A$2:$A$5</c:f>
              <c:multiLvlStrCache>
                <c:ptCount val="4"/>
                <c:lvl>
                  <c:pt idx="0">
                    <c:v>Top 1%</c:v>
                  </c:pt>
                  <c:pt idx="1">
                    <c:v>Top 5%</c:v>
                  </c:pt>
                  <c:pt idx="2">
                    <c:v>Top 10%</c:v>
                  </c:pt>
                  <c:pt idx="3">
                    <c:v>Top 20%</c:v>
                  </c:pt>
                </c:lvl>
              </c:multiLvlStrCache>
            </c:multiLvlStrRef>
          </c:cat>
          <c:val>
            <c:numRef>
              <c:f>Sheet1!$B$2:$B$5</c:f>
              <c:numCache>
                <c:formatCode>General</c:formatCode>
                <c:ptCount val="4"/>
                <c:pt idx="0">
                  <c:v>44.1</c:v>
                </c:pt>
                <c:pt idx="1">
                  <c:v>71.1</c:v>
                </c:pt>
                <c:pt idx="2">
                  <c:v>81.3</c:v>
                </c:pt>
                <c:pt idx="3">
                  <c:v>89.6</c:v>
                </c:pt>
              </c:numCache>
            </c:numRef>
          </c:val>
        </c:ser>
        <c:dLbls>
          <c:numFmt formatCode="0.0&quot;%&quot;" sourceLinked="0"/>
          <c:txPr>
            <a:bodyPr/>
            <a:lstStyle/>
            <a:p>
              <a:pPr>
                <a:defRPr b="0" i="0" strike="noStrike" sz="1100" u="none">
                  <a:solidFill>
                    <a:srgbClr val="1326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buổi này: trình bày đúng bài toán giai đoạn 2, thiết kế phương pháp, cách đánh giá và khối lượng công việc. Không có kết quả phương pháp nào được trình bày vì chưa chạy.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ý chính. Nhấn mạnh: phương pháp là biến thể GRAPES có sampler học được, không phải heuristic cố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bùng nổ lân cận bằng số thật của dữ liệu. Σd²/Σd là bậc trung bình của item khi đi theo một cạnh ngẫu nhiên — đó là thứ lan truyền thực sự gặp phải, lớn hơn nhiều so với bậc trung bình 23,9.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lý do tái hiện ở giai đoạn 1: kiểm tra cơ chế học sampler trước khi chuyển sang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phần thay thế: target, feature, loss, evaluation, leakage đều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bạch với cô: đã phát hiện lệch scope và ghi vào decision log DL-001. Checklist G1–G7 là định nghĩa thế nào mới là biến thể GRAPES.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có nhiều danh mục, lượng giao dịch lớn, có metadata sản phẩm nếu sau này cần đo ngữ nghĩa.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Trả lời feedback của cô: bao nhiêu sản phẩm, histogram, mất cân bằng, nhiễu và có nên loại bỏ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 = 1628643414042 ms, t2 = 1658002729837 ms. Quy tắc t0 đã đăng ký trước, có quy tắc dự phòng nếu D_dev quá nhỏ.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khung kiến trúc chung: có thể thay backbone (LightGCN → NGCF/SGL) hoặc thay loss mà không đổi phần sampler. Trong triển khai thực tế, sampler chỉ dùng lúc train; serving dùng embedding đã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thức log q theo paper dùng cả node không chọn; code GRAPES chính thức chỉ cộng node được chọn — sai khác đã ghi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TB theo Malkin et al. 2022 [3]. α và log_z_init sẽ quét trên development split — GRAPES gốc dùng α từ 10³ đến 10⁵.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suy nghĩ sâu về vì sao không port nguyên xi. Mỗi rủi ro gắn với một gate đo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Tầng C cần cô góp ý (OD-1).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được phép: chỉ nói GRAPES-GFN-Rec cải thiện nếu Δ NDCG@20 &gt; 0 ở mọi seed holdout và chi phí được báo đủ.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Thể hiện khối lượng công việc giai đoạn 2 theo từng bước, có tiêu chí qua gate rõ ràng.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tắc: kết quả âm vẫn là kết quả; không dùng test để chọn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bằng những quyết định cần cô góp ý trước gate R4.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image" Target="../media/image-8-1.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4F"/>
        </a:solidFill>
      </p:bgPr>
    </p:bg>
    <p:spTree>
      <p:nvGrpSpPr>
        <p:cNvPr id="1" name=""/>
        <p:cNvGrpSpPr/>
        <p:nvPr/>
      </p:nvGrpSpPr>
      <p:grpSpPr>
        <a:xfrm>
          <a:off x="0" y="0"/>
          <a:ext cx="0" cy="0"/>
          <a:chOff x="0" y="0"/>
          <a:chExt cx="0" cy="0"/>
        </a:xfrm>
      </p:grpSpPr>
      <p:sp>
        <p:nvSpPr>
          <p:cNvPr id="2" name="Shape 0"/>
          <p:cNvSpPr/>
          <p:nvPr/>
        </p:nvSpPr>
        <p:spPr>
          <a:xfrm flipH="1">
            <a:off x="8961120" y="1005840"/>
            <a:ext cx="1463040" cy="365760"/>
          </a:xfrm>
          <a:prstGeom prst="line">
            <a:avLst/>
          </a:prstGeom>
          <a:noFill/>
          <a:ln w="19050">
            <a:solidFill>
              <a:srgbClr val="5E9C98"/>
            </a:solidFill>
            <a:prstDash val="solid"/>
          </a:ln>
        </p:spPr>
      </p:sp>
      <p:sp>
        <p:nvSpPr>
          <p:cNvPr id="3" name="Shape 1"/>
          <p:cNvSpPr/>
          <p:nvPr/>
        </p:nvSpPr>
        <p:spPr>
          <a:xfrm>
            <a:off x="10424160" y="1005840"/>
            <a:ext cx="1005840" cy="1097280"/>
          </a:xfrm>
          <a:prstGeom prst="line">
            <a:avLst/>
          </a:prstGeom>
          <a:noFill/>
          <a:ln w="19050">
            <a:solidFill>
              <a:srgbClr val="5E9C98"/>
            </a:solidFill>
            <a:prstDash val="solid"/>
          </a:ln>
        </p:spPr>
      </p:sp>
      <p:sp>
        <p:nvSpPr>
          <p:cNvPr id="4" name="Shape 2"/>
          <p:cNvSpPr/>
          <p:nvPr/>
        </p:nvSpPr>
        <p:spPr>
          <a:xfrm>
            <a:off x="8961120" y="1371600"/>
            <a:ext cx="914400" cy="1188720"/>
          </a:xfrm>
          <a:prstGeom prst="line">
            <a:avLst/>
          </a:prstGeom>
          <a:noFill/>
          <a:ln w="19050">
            <a:solidFill>
              <a:srgbClr val="5E9C98"/>
            </a:solidFill>
            <a:prstDash val="solid"/>
          </a:ln>
        </p:spPr>
      </p:sp>
      <p:sp>
        <p:nvSpPr>
          <p:cNvPr id="5" name="Shape 3"/>
          <p:cNvSpPr/>
          <p:nvPr/>
        </p:nvSpPr>
        <p:spPr>
          <a:xfrm flipH="1">
            <a:off x="9875520" y="2103120"/>
            <a:ext cx="1554480" cy="457200"/>
          </a:xfrm>
          <a:prstGeom prst="line">
            <a:avLst/>
          </a:prstGeom>
          <a:noFill/>
          <a:ln w="19050">
            <a:solidFill>
              <a:srgbClr val="5E9C98"/>
            </a:solidFill>
            <a:prstDash val="solid"/>
          </a:ln>
        </p:spPr>
      </p:sp>
      <p:sp>
        <p:nvSpPr>
          <p:cNvPr id="6" name="Shape 4"/>
          <p:cNvSpPr/>
          <p:nvPr/>
        </p:nvSpPr>
        <p:spPr>
          <a:xfrm>
            <a:off x="9875520" y="2560320"/>
            <a:ext cx="1097280" cy="914400"/>
          </a:xfrm>
          <a:prstGeom prst="line">
            <a:avLst/>
          </a:prstGeom>
          <a:noFill/>
          <a:ln w="19050">
            <a:solidFill>
              <a:srgbClr val="5E9C98"/>
            </a:solidFill>
            <a:prstDash val="solid"/>
          </a:ln>
        </p:spPr>
      </p:sp>
      <p:sp>
        <p:nvSpPr>
          <p:cNvPr id="7" name="Shape 5"/>
          <p:cNvSpPr/>
          <p:nvPr/>
        </p:nvSpPr>
        <p:spPr>
          <a:xfrm flipH="1">
            <a:off x="10972800" y="2103120"/>
            <a:ext cx="457200" cy="1371600"/>
          </a:xfrm>
          <a:prstGeom prst="line">
            <a:avLst/>
          </a:prstGeom>
          <a:noFill/>
          <a:ln w="19050">
            <a:solidFill>
              <a:srgbClr val="5E9C98"/>
            </a:solidFill>
            <a:prstDash val="solid"/>
          </a:ln>
        </p:spPr>
      </p:sp>
      <p:sp>
        <p:nvSpPr>
          <p:cNvPr id="8" name="Shape 6"/>
          <p:cNvSpPr/>
          <p:nvPr/>
        </p:nvSpPr>
        <p:spPr>
          <a:xfrm flipH="1">
            <a:off x="9235440" y="2560320"/>
            <a:ext cx="640080" cy="1188720"/>
          </a:xfrm>
          <a:prstGeom prst="line">
            <a:avLst/>
          </a:prstGeom>
          <a:noFill/>
          <a:ln w="19050">
            <a:solidFill>
              <a:srgbClr val="5E9C98"/>
            </a:solidFill>
            <a:prstDash val="solid"/>
          </a:ln>
        </p:spPr>
      </p:sp>
      <p:sp>
        <p:nvSpPr>
          <p:cNvPr id="9" name="Shape 7"/>
          <p:cNvSpPr/>
          <p:nvPr/>
        </p:nvSpPr>
        <p:spPr>
          <a:xfrm flipH="1">
            <a:off x="9235440" y="3474720"/>
            <a:ext cx="1737360" cy="274320"/>
          </a:xfrm>
          <a:prstGeom prst="line">
            <a:avLst/>
          </a:prstGeom>
          <a:noFill/>
          <a:ln w="19050">
            <a:solidFill>
              <a:srgbClr val="5E9C98"/>
            </a:solidFill>
            <a:prstDash val="solid"/>
          </a:ln>
        </p:spPr>
      </p:sp>
      <p:sp>
        <p:nvSpPr>
          <p:cNvPr id="10" name="Shape 8"/>
          <p:cNvSpPr/>
          <p:nvPr/>
        </p:nvSpPr>
        <p:spPr>
          <a:xfrm>
            <a:off x="8778240" y="1188720"/>
            <a:ext cx="365760" cy="365760"/>
          </a:xfrm>
          <a:prstGeom prst="ellipse">
            <a:avLst/>
          </a:prstGeom>
          <a:solidFill>
            <a:srgbClr val="A9CFCB"/>
          </a:solidFill>
          <a:ln w="25400">
            <a:solidFill>
              <a:srgbClr val="0F4C4F"/>
            </a:solidFill>
            <a:prstDash val="solid"/>
          </a:ln>
        </p:spPr>
      </p:sp>
      <p:sp>
        <p:nvSpPr>
          <p:cNvPr id="11" name="Shape 9"/>
          <p:cNvSpPr/>
          <p:nvPr/>
        </p:nvSpPr>
        <p:spPr>
          <a:xfrm>
            <a:off x="10241280" y="822960"/>
            <a:ext cx="365760" cy="365760"/>
          </a:xfrm>
          <a:prstGeom prst="ellipse">
            <a:avLst/>
          </a:prstGeom>
          <a:solidFill>
            <a:srgbClr val="E89B2D"/>
          </a:solidFill>
          <a:ln w="25400">
            <a:solidFill>
              <a:srgbClr val="0F4C4F"/>
            </a:solidFill>
            <a:prstDash val="solid"/>
          </a:ln>
        </p:spPr>
      </p:sp>
      <p:sp>
        <p:nvSpPr>
          <p:cNvPr id="12" name="Shape 10"/>
          <p:cNvSpPr/>
          <p:nvPr/>
        </p:nvSpPr>
        <p:spPr>
          <a:xfrm>
            <a:off x="11247120" y="1920240"/>
            <a:ext cx="365760" cy="365760"/>
          </a:xfrm>
          <a:prstGeom prst="ellipse">
            <a:avLst/>
          </a:prstGeom>
          <a:solidFill>
            <a:srgbClr val="A9CFCB"/>
          </a:solidFill>
          <a:ln w="25400">
            <a:solidFill>
              <a:srgbClr val="0F4C4F"/>
            </a:solidFill>
            <a:prstDash val="solid"/>
          </a:ln>
        </p:spPr>
      </p:sp>
      <p:sp>
        <p:nvSpPr>
          <p:cNvPr id="13" name="Shape 11"/>
          <p:cNvSpPr/>
          <p:nvPr/>
        </p:nvSpPr>
        <p:spPr>
          <a:xfrm>
            <a:off x="9692640" y="2377440"/>
            <a:ext cx="365760" cy="365760"/>
          </a:xfrm>
          <a:prstGeom prst="ellipse">
            <a:avLst/>
          </a:prstGeom>
          <a:solidFill>
            <a:srgbClr val="E89B2D"/>
          </a:solidFill>
          <a:ln w="25400">
            <a:solidFill>
              <a:srgbClr val="0F4C4F"/>
            </a:solidFill>
            <a:prstDash val="solid"/>
          </a:ln>
        </p:spPr>
      </p:sp>
      <p:sp>
        <p:nvSpPr>
          <p:cNvPr id="14" name="Shape 12"/>
          <p:cNvSpPr/>
          <p:nvPr/>
        </p:nvSpPr>
        <p:spPr>
          <a:xfrm>
            <a:off x="10789920" y="3291840"/>
            <a:ext cx="365760" cy="365760"/>
          </a:xfrm>
          <a:prstGeom prst="ellipse">
            <a:avLst/>
          </a:prstGeom>
          <a:solidFill>
            <a:srgbClr val="E89B2D"/>
          </a:solidFill>
          <a:ln w="25400">
            <a:solidFill>
              <a:srgbClr val="0F4C4F"/>
            </a:solidFill>
            <a:prstDash val="solid"/>
          </a:ln>
        </p:spPr>
      </p:sp>
      <p:sp>
        <p:nvSpPr>
          <p:cNvPr id="15" name="Shape 13"/>
          <p:cNvSpPr/>
          <p:nvPr/>
        </p:nvSpPr>
        <p:spPr>
          <a:xfrm>
            <a:off x="9052560" y="3566160"/>
            <a:ext cx="365760" cy="365760"/>
          </a:xfrm>
          <a:prstGeom prst="ellipse">
            <a:avLst/>
          </a:prstGeom>
          <a:solidFill>
            <a:srgbClr val="A9CFCB"/>
          </a:solidFill>
          <a:ln w="25400">
            <a:solidFill>
              <a:srgbClr val="0F4C4F"/>
            </a:solidFill>
            <a:prstDash val="solid"/>
          </a:ln>
        </p:spPr>
      </p:sp>
      <p:sp>
        <p:nvSpPr>
          <p:cNvPr id="16" name="Text 14"/>
          <p:cNvSpPr txBox="1"/>
          <p:nvPr/>
        </p:nvSpPr>
        <p:spPr>
          <a:xfrm>
            <a:off x="640080" y="1097280"/>
            <a:ext cx="7315200" cy="365760"/>
          </a:xfrm>
          <a:prstGeom prst="rect">
            <a:avLst/>
          </a:prstGeom>
          <a:noFill/>
          <a:ln/>
        </p:spPr>
        <p:txBody>
          <a:bodyPr wrap="square" lIns="0" tIns="0" rIns="0" bIns="0" rtlCol="0" anchor="ctr"/>
          <a:lstStyle/>
          <a:p>
            <a:pPr indent="0" marL="0">
              <a:buNone/>
            </a:pPr>
            <a:r>
              <a:rPr lang="en-US" sz="1400" b="1" spc="200" kern="0" dirty="0">
                <a:solidFill>
                  <a:srgbClr val="E89B2D"/>
                </a:solidFill>
                <a:latin typeface="Calibri" pitchFamily="34" charset="0"/>
                <a:ea typeface="Calibri" pitchFamily="34" charset="-122"/>
                <a:cs typeface="Calibri" pitchFamily="34" charset="-120"/>
              </a:rPr>
              <a:t>GIAI ĐOẠN 2 · ĐỀ XUẤT VÀ KẾ HOẠCH</a:t>
            </a:r>
            <a:endParaRPr lang="en-US" sz="1400" dirty="0"/>
          </a:p>
        </p:txBody>
      </p:sp>
      <p:sp>
        <p:nvSpPr>
          <p:cNvPr id="17" name="Text 15"/>
          <p:cNvSpPr txBox="1"/>
          <p:nvPr/>
        </p:nvSpPr>
        <p:spPr>
          <a:xfrm>
            <a:off x="640080" y="1645920"/>
            <a:ext cx="77724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GRAPES-GFN-Rec</a:t>
            </a:r>
            <a:endParaRPr lang="en-US" sz="4800" dirty="0"/>
          </a:p>
        </p:txBody>
      </p:sp>
      <p:sp>
        <p:nvSpPr>
          <p:cNvPr id="18" name="Text 16"/>
          <p:cNvSpPr txBox="1"/>
          <p:nvPr/>
        </p:nvSpPr>
        <p:spPr>
          <a:xfrm>
            <a:off x="640080" y="2606040"/>
            <a:ext cx="7772400" cy="914400"/>
          </a:xfrm>
          <a:prstGeom prst="rect">
            <a:avLst/>
          </a:prstGeom>
          <a:noFill/>
          <a:ln/>
        </p:spPr>
        <p:txBody>
          <a:bodyPr wrap="square" lIns="0" tIns="0" rIns="0" bIns="0" rtlCol="0" anchor="t"/>
          <a:lstStyle/>
          <a:p>
            <a:pPr indent="0" marL="0">
              <a:buNone/>
            </a:pPr>
            <a:r>
              <a:rPr lang="en-US" sz="2400" dirty="0">
                <a:solidFill>
                  <a:srgbClr val="DCEBEA"/>
                </a:solidFill>
                <a:latin typeface="Cambria" pitchFamily="34" charset="0"/>
                <a:ea typeface="Cambria" pitchFamily="34" charset="-122"/>
                <a:cs typeface="Cambria" pitchFamily="34" charset="-120"/>
              </a:rPr>
              <a:t>Học cách lấy mẫu đồ thị cho hệ gợi ý quy mô lớn dùng GNN</a:t>
            </a:r>
            <a:endParaRPr lang="en-US" sz="2400" dirty="0"/>
          </a:p>
        </p:txBody>
      </p:sp>
      <p:sp>
        <p:nvSpPr>
          <p:cNvPr id="19" name="Text 17"/>
          <p:cNvSpPr txBox="1"/>
          <p:nvPr/>
        </p:nvSpPr>
        <p:spPr>
          <a:xfrm>
            <a:off x="640080" y="4023360"/>
            <a:ext cx="8046720" cy="822960"/>
          </a:xfrm>
          <a:prstGeom prst="rect">
            <a:avLst/>
          </a:prstGeom>
          <a:noFill/>
          <a:ln/>
        </p:spPr>
        <p:txBody>
          <a:bodyPr wrap="square" lIns="0" tIns="0" rIns="0" bIns="0" rtlCol="0" anchor="ctr"/>
          <a:lstStyle/>
          <a:p>
            <a:pPr indent="0" marL="0">
              <a:buNone/>
            </a:pPr>
            <a:r>
              <a:rPr lang="en-US" sz="1400" i="1" dirty="0">
                <a:solidFill>
                  <a:srgbClr val="BFD8D5"/>
                </a:solidFill>
                <a:latin typeface="Calibri" pitchFamily="34" charset="0"/>
                <a:ea typeface="Calibri" pitchFamily="34" charset="-122"/>
                <a:cs typeface="Calibri" pitchFamily="34" charset="-120"/>
              </a:rPr>
              <a:t>Develop graph sampling for large-scale recommendation system using GNN</a:t>
            </a:r>
            <a:endParaRPr lang="en-US" sz="1400" dirty="0"/>
          </a:p>
          <a:p>
            <a:pPr indent="0" marL="0">
              <a:buNone/>
            </a:pPr>
            <a:r>
              <a:rPr lang="en-US" sz="1400" dirty="0">
                <a:solidFill>
                  <a:srgbClr val="BFD8D5"/>
                </a:solidFill>
                <a:latin typeface="Calibri" pitchFamily="34" charset="0"/>
                <a:ea typeface="Calibri" pitchFamily="34" charset="-122"/>
                <a:cs typeface="Calibri" pitchFamily="34" charset="-120"/>
              </a:rPr>
              <a:t>Dữ liệu: Amazon Reviews'23 Baby_Products · Backbone: LightGCN · Sampler: GRAPES + GFlowNet</a:t>
            </a:r>
            <a:endParaRPr lang="en-US" sz="1400" dirty="0"/>
          </a:p>
        </p:txBody>
      </p:sp>
      <p:sp>
        <p:nvSpPr>
          <p:cNvPr id="20" name="Text 18"/>
          <p:cNvSpPr txBox="1"/>
          <p:nvPr/>
        </p:nvSpPr>
        <p:spPr>
          <a:xfrm>
            <a:off x="640080" y="5760720"/>
            <a:ext cx="100584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Trạng thái 16/09/2026: đã khóa thiết kế, đã có lõi code và oracle test. Chưa có kết quả thực nghiệm của phương pháp.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TỔNG QUAN</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Tóm tắt trong một slide</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48640" y="1508760"/>
            <a:ext cx="5440680" cy="2194560"/>
          </a:xfrm>
          <a:prstGeom prst="roundRect">
            <a:avLst>
              <a:gd name="adj" fmla="val 3333"/>
            </a:avLst>
          </a:prstGeom>
          <a:solidFill>
            <a:srgbClr val="F4F7F7"/>
          </a:solidFill>
          <a:ln w="12700">
            <a:solidFill>
              <a:srgbClr val="F4F7F7"/>
            </a:solidFill>
            <a:prstDash val="solid"/>
          </a:ln>
        </p:spPr>
      </p:sp>
      <p:sp>
        <p:nvSpPr>
          <p:cNvPr id="6" name="Shape 4"/>
          <p:cNvSpPr/>
          <p:nvPr/>
        </p:nvSpPr>
        <p:spPr>
          <a:xfrm>
            <a:off x="731520" y="1645920"/>
            <a:ext cx="384048" cy="384048"/>
          </a:xfrm>
          <a:prstGeom prst="ellipse">
            <a:avLst/>
          </a:prstGeom>
          <a:solidFill>
            <a:srgbClr val="0F4C4F"/>
          </a:solidFill>
          <a:ln w="12700">
            <a:solidFill>
              <a:srgbClr val="0F4C4F"/>
            </a:solidFill>
            <a:prstDash val="solid"/>
          </a:ln>
        </p:spPr>
      </p:sp>
      <p:sp>
        <p:nvSpPr>
          <p:cNvPr id="7" name="Text 5"/>
          <p:cNvSpPr txBox="1"/>
          <p:nvPr/>
        </p:nvSpPr>
        <p:spPr>
          <a:xfrm>
            <a:off x="73152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34440" y="1627632"/>
            <a:ext cx="4572000" cy="420624"/>
          </a:xfrm>
          <a:prstGeom prst="rect">
            <a:avLst/>
          </a:prstGeom>
          <a:noFill/>
          <a:ln/>
        </p:spPr>
        <p:txBody>
          <a:bodyPr wrap="square" lIns="0" tIns="0" rIns="0" bIns="0" rtlCol="0" anchor="ctr"/>
          <a:lstStyle/>
          <a:p>
            <a:pPr indent="0" marL="0">
              <a:buNone/>
            </a:pPr>
            <a:r>
              <a:rPr lang="en-US" sz="2000" b="1" dirty="0">
                <a:solidFill>
                  <a:srgbClr val="13262A"/>
                </a:solidFill>
                <a:latin typeface="Calibri" pitchFamily="34" charset="0"/>
                <a:ea typeface="Calibri" pitchFamily="34" charset="-122"/>
                <a:cs typeface="Calibri" pitchFamily="34" charset="-120"/>
              </a:rPr>
              <a:t>Vấn đề</a:t>
            </a:r>
            <a:endParaRPr lang="en-US" sz="2000" dirty="0"/>
          </a:p>
        </p:txBody>
      </p:sp>
      <p:sp>
        <p:nvSpPr>
          <p:cNvPr id="9" name="Text 7"/>
          <p:cNvSpPr txBox="1"/>
          <p:nvPr/>
        </p:nvSpPr>
        <p:spPr>
          <a:xfrm>
            <a:off x="731520" y="2121408"/>
            <a:ext cx="5074920" cy="1508760"/>
          </a:xfrm>
          <a:prstGeom prst="rect">
            <a:avLst/>
          </a:prstGeom>
          <a:noFill/>
          <a:ln/>
        </p:spPr>
        <p:txBody>
          <a:bodyPr wrap="square" lIns="0" tIns="0" rIns="0" bIns="0" rtlCol="0" anchor="t"/>
          <a:lstStyle/>
          <a:p>
            <a:pPr indent="0" marL="0">
              <a:spcAft>
                <a:spcPts val="300"/>
              </a:spcAft>
              <a:buNone/>
            </a:pPr>
            <a:r>
              <a:rPr lang="en-US" sz="1700" dirty="0">
                <a:solidFill>
                  <a:srgbClr val="13262A"/>
                </a:solidFill>
                <a:latin typeface="Calibri" pitchFamily="34" charset="0"/>
                <a:ea typeface="Calibri" pitchFamily="34" charset="-122"/>
                <a:cs typeface="Calibri" pitchFamily="34" charset="-120"/>
              </a:rPr>
              <a:t>GNN gợi ý (LightGCN) phải lan truyền qua hàng xóm nhiều bước. Trên graph user–item lớn, số node cần tính bùng nổ theo số layer → cần lấy mẫu đồ thị khi huấn luyện.</a:t>
            </a:r>
            <a:endParaRPr lang="en-US" sz="1700" dirty="0"/>
          </a:p>
        </p:txBody>
      </p:sp>
      <p:sp>
        <p:nvSpPr>
          <p:cNvPr id="10" name="Shape 8"/>
          <p:cNvSpPr/>
          <p:nvPr/>
        </p:nvSpPr>
        <p:spPr>
          <a:xfrm>
            <a:off x="6172200" y="1508760"/>
            <a:ext cx="5440680" cy="2194560"/>
          </a:xfrm>
          <a:prstGeom prst="roundRect">
            <a:avLst>
              <a:gd name="adj" fmla="val 3333"/>
            </a:avLst>
          </a:prstGeom>
          <a:solidFill>
            <a:srgbClr val="F4F7F7"/>
          </a:solidFill>
          <a:ln w="12700">
            <a:solidFill>
              <a:srgbClr val="F4F7F7"/>
            </a:solidFill>
            <a:prstDash val="solid"/>
          </a:ln>
        </p:spPr>
      </p:sp>
      <p:sp>
        <p:nvSpPr>
          <p:cNvPr id="11" name="Shape 9"/>
          <p:cNvSpPr/>
          <p:nvPr/>
        </p:nvSpPr>
        <p:spPr>
          <a:xfrm>
            <a:off x="6355080" y="1645920"/>
            <a:ext cx="384048" cy="384048"/>
          </a:xfrm>
          <a:prstGeom prst="ellipse">
            <a:avLst/>
          </a:prstGeom>
          <a:solidFill>
            <a:srgbClr val="2E7D7A"/>
          </a:solidFill>
          <a:ln w="12700">
            <a:solidFill>
              <a:srgbClr val="2E7D7A"/>
            </a:solidFill>
            <a:prstDash val="solid"/>
          </a:ln>
        </p:spPr>
      </p:sp>
      <p:sp>
        <p:nvSpPr>
          <p:cNvPr id="12" name="Text 10"/>
          <p:cNvSpPr txBox="1"/>
          <p:nvPr/>
        </p:nvSpPr>
        <p:spPr>
          <a:xfrm>
            <a:off x="635508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858000" y="1627632"/>
            <a:ext cx="4572000" cy="420624"/>
          </a:xfrm>
          <a:prstGeom prst="rect">
            <a:avLst/>
          </a:prstGeom>
          <a:noFill/>
          <a:ln/>
        </p:spPr>
        <p:txBody>
          <a:bodyPr wrap="square" lIns="0" tIns="0" rIns="0" bIns="0" rtlCol="0" anchor="ctr"/>
          <a:lstStyle/>
          <a:p>
            <a:pPr indent="0" marL="0">
              <a:buNone/>
            </a:pPr>
            <a:r>
              <a:rPr lang="en-US" sz="2000" b="1" dirty="0">
                <a:solidFill>
                  <a:srgbClr val="13262A"/>
                </a:solidFill>
                <a:latin typeface="Calibri" pitchFamily="34" charset="0"/>
                <a:ea typeface="Calibri" pitchFamily="34" charset="-122"/>
                <a:cs typeface="Calibri" pitchFamily="34" charset="-120"/>
              </a:rPr>
              <a:t>Đề xuất</a:t>
            </a:r>
            <a:endParaRPr lang="en-US" sz="2000" dirty="0"/>
          </a:p>
        </p:txBody>
      </p:sp>
      <p:sp>
        <p:nvSpPr>
          <p:cNvPr id="14" name="Text 12"/>
          <p:cNvSpPr txBox="1"/>
          <p:nvPr/>
        </p:nvSpPr>
        <p:spPr>
          <a:xfrm>
            <a:off x="6355080" y="2121408"/>
            <a:ext cx="5074920" cy="1508760"/>
          </a:xfrm>
          <a:prstGeom prst="rect">
            <a:avLst/>
          </a:prstGeom>
          <a:noFill/>
          <a:ln/>
        </p:spPr>
        <p:txBody>
          <a:bodyPr wrap="square" lIns="0" tIns="0" rIns="0" bIns="0" rtlCol="0" anchor="t"/>
          <a:lstStyle/>
          <a:p>
            <a:pPr indent="0" marL="0">
              <a:spcAft>
                <a:spcPts val="300"/>
              </a:spcAft>
              <a:buNone/>
            </a:pPr>
            <a:r>
              <a:rPr lang="en-US" sz="1700" dirty="0">
                <a:solidFill>
                  <a:srgbClr val="13262A"/>
                </a:solidFill>
                <a:latin typeface="Calibri" pitchFamily="34" charset="0"/>
                <a:ea typeface="Calibri" pitchFamily="34" charset="-122"/>
                <a:cs typeface="Calibri" pitchFamily="34" charset="-120"/>
              </a:rPr>
              <a:t>GRAPES-GFN-Rec: một GNN phụ học chọn node ngữ cảnh cho từng layer, được huấn luyện bằng GFlowNet (Trajectory Balance) với phần thưởng từ BPR ranking loss.</a:t>
            </a:r>
            <a:endParaRPr lang="en-US" sz="1700" dirty="0"/>
          </a:p>
        </p:txBody>
      </p:sp>
      <p:sp>
        <p:nvSpPr>
          <p:cNvPr id="15" name="Shape 13"/>
          <p:cNvSpPr/>
          <p:nvPr/>
        </p:nvSpPr>
        <p:spPr>
          <a:xfrm>
            <a:off x="548640" y="3886200"/>
            <a:ext cx="5440680" cy="2194560"/>
          </a:xfrm>
          <a:prstGeom prst="roundRect">
            <a:avLst>
              <a:gd name="adj" fmla="val 3333"/>
            </a:avLst>
          </a:prstGeom>
          <a:solidFill>
            <a:srgbClr val="F4F7F7"/>
          </a:solidFill>
          <a:ln w="12700">
            <a:solidFill>
              <a:srgbClr val="F4F7F7"/>
            </a:solidFill>
            <a:prstDash val="solid"/>
          </a:ln>
        </p:spPr>
      </p:sp>
      <p:sp>
        <p:nvSpPr>
          <p:cNvPr id="16" name="Shape 14"/>
          <p:cNvSpPr/>
          <p:nvPr/>
        </p:nvSpPr>
        <p:spPr>
          <a:xfrm>
            <a:off x="731520" y="4023360"/>
            <a:ext cx="384048" cy="384048"/>
          </a:xfrm>
          <a:prstGeom prst="ellipse">
            <a:avLst/>
          </a:prstGeom>
          <a:solidFill>
            <a:srgbClr val="E89B2D"/>
          </a:solidFill>
          <a:ln w="12700">
            <a:solidFill>
              <a:srgbClr val="E89B2D"/>
            </a:solidFill>
            <a:prstDash val="solid"/>
          </a:ln>
        </p:spPr>
      </p:sp>
      <p:sp>
        <p:nvSpPr>
          <p:cNvPr id="17" name="Text 15"/>
          <p:cNvSpPr txBox="1"/>
          <p:nvPr/>
        </p:nvSpPr>
        <p:spPr>
          <a:xfrm>
            <a:off x="731520" y="4023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234440" y="4005072"/>
            <a:ext cx="4572000" cy="420624"/>
          </a:xfrm>
          <a:prstGeom prst="rect">
            <a:avLst/>
          </a:prstGeom>
          <a:noFill/>
          <a:ln/>
        </p:spPr>
        <p:txBody>
          <a:bodyPr wrap="square" lIns="0" tIns="0" rIns="0" bIns="0" rtlCol="0" anchor="ctr"/>
          <a:lstStyle/>
          <a:p>
            <a:pPr indent="0" marL="0">
              <a:buNone/>
            </a:pPr>
            <a:r>
              <a:rPr lang="en-US" sz="2000" b="1" dirty="0">
                <a:solidFill>
                  <a:srgbClr val="13262A"/>
                </a:solidFill>
                <a:latin typeface="Calibri" pitchFamily="34" charset="0"/>
                <a:ea typeface="Calibri" pitchFamily="34" charset="-122"/>
                <a:cs typeface="Calibri" pitchFamily="34" charset="-120"/>
              </a:rPr>
              <a:t>Đánh giá</a:t>
            </a:r>
            <a:endParaRPr lang="en-US" sz="2000" dirty="0"/>
          </a:p>
        </p:txBody>
      </p:sp>
      <p:sp>
        <p:nvSpPr>
          <p:cNvPr id="19" name="Text 17"/>
          <p:cNvSpPr txBox="1"/>
          <p:nvPr/>
        </p:nvSpPr>
        <p:spPr>
          <a:xfrm>
            <a:off x="731520" y="4498848"/>
            <a:ext cx="5074920" cy="1508760"/>
          </a:xfrm>
          <a:prstGeom prst="rect">
            <a:avLst/>
          </a:prstGeom>
          <a:noFill/>
          <a:ln/>
        </p:spPr>
        <p:txBody>
          <a:bodyPr wrap="square" lIns="0" tIns="0" rIns="0" bIns="0" rtlCol="0" anchor="t"/>
          <a:lstStyle/>
          <a:p>
            <a:pPr indent="0" marL="0">
              <a:spcAft>
                <a:spcPts val="300"/>
              </a:spcAft>
              <a:buNone/>
            </a:pPr>
            <a:r>
              <a:rPr lang="en-US" sz="1700" dirty="0">
                <a:solidFill>
                  <a:srgbClr val="13262A"/>
                </a:solidFill>
                <a:latin typeface="Calibri" pitchFamily="34" charset="0"/>
                <a:ea typeface="Calibri" pitchFamily="34" charset="-122"/>
                <a:cs typeface="Calibri" pitchFamily="34" charset="-120"/>
              </a:rPr>
              <a:t>So với uniform, degree-importance, bản REINFORCE, Full LightGCN, MostPop, BPR-MF. Cùng graph, budget, seed, evaluator. NDCG@20, Recall@20, coverage, head/tail, thời gian, GPU.</a:t>
            </a:r>
            <a:endParaRPr lang="en-US" sz="1700" dirty="0"/>
          </a:p>
        </p:txBody>
      </p:sp>
      <p:sp>
        <p:nvSpPr>
          <p:cNvPr id="20" name="Shape 18"/>
          <p:cNvSpPr/>
          <p:nvPr/>
        </p:nvSpPr>
        <p:spPr>
          <a:xfrm>
            <a:off x="6172200" y="3886200"/>
            <a:ext cx="5440680" cy="2194560"/>
          </a:xfrm>
          <a:prstGeom prst="roundRect">
            <a:avLst>
              <a:gd name="adj" fmla="val 3333"/>
            </a:avLst>
          </a:prstGeom>
          <a:solidFill>
            <a:srgbClr val="F4F7F7"/>
          </a:solidFill>
          <a:ln w="12700">
            <a:solidFill>
              <a:srgbClr val="F4F7F7"/>
            </a:solidFill>
            <a:prstDash val="solid"/>
          </a:ln>
        </p:spPr>
      </p:sp>
      <p:sp>
        <p:nvSpPr>
          <p:cNvPr id="21" name="Shape 19"/>
          <p:cNvSpPr/>
          <p:nvPr/>
        </p:nvSpPr>
        <p:spPr>
          <a:xfrm>
            <a:off x="6355080" y="4023360"/>
            <a:ext cx="384048" cy="384048"/>
          </a:xfrm>
          <a:prstGeom prst="ellipse">
            <a:avLst/>
          </a:prstGeom>
          <a:solidFill>
            <a:srgbClr val="C8553D"/>
          </a:solidFill>
          <a:ln w="12700">
            <a:solidFill>
              <a:srgbClr val="C8553D"/>
            </a:solidFill>
            <a:prstDash val="solid"/>
          </a:ln>
        </p:spPr>
      </p:sp>
      <p:sp>
        <p:nvSpPr>
          <p:cNvPr id="22" name="Text 20"/>
          <p:cNvSpPr txBox="1"/>
          <p:nvPr/>
        </p:nvSpPr>
        <p:spPr>
          <a:xfrm>
            <a:off x="6355080" y="4023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6858000" y="4005072"/>
            <a:ext cx="4572000" cy="420624"/>
          </a:xfrm>
          <a:prstGeom prst="rect">
            <a:avLst/>
          </a:prstGeom>
          <a:noFill/>
          <a:ln/>
        </p:spPr>
        <p:txBody>
          <a:bodyPr wrap="square" lIns="0" tIns="0" rIns="0" bIns="0" rtlCol="0" anchor="ctr"/>
          <a:lstStyle/>
          <a:p>
            <a:pPr indent="0" marL="0">
              <a:buNone/>
            </a:pPr>
            <a:r>
              <a:rPr lang="en-US" sz="2000" b="1" dirty="0">
                <a:solidFill>
                  <a:srgbClr val="13262A"/>
                </a:solidFill>
                <a:latin typeface="Calibri" pitchFamily="34" charset="0"/>
                <a:ea typeface="Calibri" pitchFamily="34" charset="-122"/>
                <a:cs typeface="Calibri" pitchFamily="34" charset="-120"/>
              </a:rPr>
              <a:t>Kế hoạch</a:t>
            </a:r>
            <a:endParaRPr lang="en-US" sz="2000" dirty="0"/>
          </a:p>
        </p:txBody>
      </p:sp>
      <p:sp>
        <p:nvSpPr>
          <p:cNvPr id="24" name="Text 22"/>
          <p:cNvSpPr txBox="1"/>
          <p:nvPr/>
        </p:nvSpPr>
        <p:spPr>
          <a:xfrm>
            <a:off x="6355080" y="4498848"/>
            <a:ext cx="5074920" cy="1508760"/>
          </a:xfrm>
          <a:prstGeom prst="rect">
            <a:avLst/>
          </a:prstGeom>
          <a:noFill/>
          <a:ln/>
        </p:spPr>
        <p:txBody>
          <a:bodyPr wrap="square" lIns="0" tIns="0" rIns="0" bIns="0" rtlCol="0" anchor="t"/>
          <a:lstStyle/>
          <a:p>
            <a:pPr indent="0" marL="0">
              <a:spcAft>
                <a:spcPts val="300"/>
              </a:spcAft>
              <a:buNone/>
            </a:pPr>
            <a:r>
              <a:rPr lang="en-US" sz="1700" dirty="0">
                <a:solidFill>
                  <a:srgbClr val="13262A"/>
                </a:solidFill>
                <a:latin typeface="Calibri" pitchFamily="34" charset="0"/>
                <a:ea typeface="Calibri" pitchFamily="34" charset="-122"/>
                <a:cs typeface="Calibri" pitchFamily="34" charset="-120"/>
              </a:rPr>
              <a:t>8 gate R0–R7. R0 (khóa scope) xong; R2 lõi code + 28 oracle test xong. Tiếp theo: development split, thí nghiệm development, freeze, holdout, báo cáo.</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BỐI CẢNH</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Vì sao phải lấy mẫu: bùng nổ lân cận</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1463040"/>
            <a:ext cx="5760720" cy="457200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13262A"/>
                </a:solidFill>
                <a:latin typeface="Calibri" pitchFamily="34" charset="0"/>
                <a:ea typeface="Calibri" pitchFamily="34" charset="-122"/>
                <a:cs typeface="Calibri" pitchFamily="34" charset="-120"/>
              </a:rPr>
              <a:t>LightGCN tính embedding của user bằng cách cộng embedding hàng xóm qua L bước (L = 2–3).</a:t>
            </a:r>
            <a:endParaRPr lang="en-US" sz="1700" dirty="0"/>
          </a:p>
          <a:p>
            <a:pPr marL="203200" indent="-203200">
              <a:spcAft>
                <a:spcPts val="800"/>
              </a:spcAft>
              <a:buSzPct val="100000"/>
              <a:buChar char="•"/>
            </a:pPr>
            <a:r>
              <a:rPr lang="en-US" sz="1700" dirty="0">
                <a:solidFill>
                  <a:srgbClr val="13262A"/>
                </a:solidFill>
                <a:latin typeface="Calibri" pitchFamily="34" charset="0"/>
                <a:ea typeface="Calibri" pitchFamily="34" charset="-122"/>
                <a:cs typeface="Calibri" pitchFamily="34" charset="-120"/>
              </a:rPr>
              <a:t>Mỗi bước nhân số node cần tính với bậc của node đi qua. Trên graph lệch long-tail, chỉ cần chạm một item phổ biến là kéo theo hàng nghìn user.</a:t>
            </a:r>
            <a:endParaRPr lang="en-US" sz="1700" dirty="0"/>
          </a:p>
          <a:p>
            <a:pPr marL="203200" indent="-203200">
              <a:spcAft>
                <a:spcPts val="800"/>
              </a:spcAft>
              <a:buSzPct val="100000"/>
              <a:buChar char="•"/>
            </a:pPr>
            <a:r>
              <a:rPr lang="en-US" sz="1700" dirty="0">
                <a:solidFill>
                  <a:srgbClr val="13262A"/>
                </a:solidFill>
                <a:latin typeface="Calibri" pitchFamily="34" charset="0"/>
                <a:ea typeface="Calibri" pitchFamily="34" charset="-122"/>
                <a:cs typeface="Calibri" pitchFamily="34" charset="-120"/>
              </a:rPr>
              <a:t>Full-graph training vẫn chạy được ở quy mô Baby, nhưng chi phí tăng theo số cạnh × số layer: Home_and_Kitchen có 66,6 triệu dòng, graph thương mại điện tử thật còn lớn hơn.</a:t>
            </a:r>
            <a:endParaRPr lang="en-US" sz="1700" dirty="0"/>
          </a:p>
          <a:p>
            <a:pPr marL="203200" indent="-203200">
              <a:spcAft>
                <a:spcPts val="800"/>
              </a:spcAft>
              <a:buSzPct val="100000"/>
              <a:buChar char="•"/>
            </a:pPr>
            <a:r>
              <a:rPr lang="en-US" sz="1700" dirty="0">
                <a:solidFill>
                  <a:srgbClr val="13262A"/>
                </a:solidFill>
                <a:latin typeface="Calibri" pitchFamily="34" charset="0"/>
                <a:ea typeface="Calibri" pitchFamily="34" charset="-122"/>
                <a:cs typeface="Calibri" pitchFamily="34" charset="-120"/>
              </a:rPr>
              <a:t>Lấy mẫu giới hạn số node mỗi layer (budget k), đổi lại model chỉ thấy một phần ngữ cảnh → chọn node nào là câu hỏi nghiên cứu.</a:t>
            </a:r>
            <a:endParaRPr lang="en-US" sz="1700" dirty="0"/>
          </a:p>
        </p:txBody>
      </p:sp>
      <p:sp>
        <p:nvSpPr>
          <p:cNvPr id="6" name="Shape 4"/>
          <p:cNvSpPr/>
          <p:nvPr/>
        </p:nvSpPr>
        <p:spPr>
          <a:xfrm>
            <a:off x="6766560" y="1600200"/>
            <a:ext cx="502920" cy="502920"/>
          </a:xfrm>
          <a:prstGeom prst="ellipse">
            <a:avLst/>
          </a:prstGeom>
          <a:solidFill>
            <a:srgbClr val="0F4C4F"/>
          </a:solidFill>
          <a:ln w="12700">
            <a:solidFill>
              <a:srgbClr val="0F4C4F"/>
            </a:solidFill>
            <a:prstDash val="solid"/>
          </a:ln>
        </p:spPr>
      </p:sp>
      <p:sp>
        <p:nvSpPr>
          <p:cNvPr id="7" name="Text 5"/>
          <p:cNvSpPr txBox="1"/>
          <p:nvPr/>
        </p:nvSpPr>
        <p:spPr>
          <a:xfrm>
            <a:off x="6766560" y="16002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7452360" y="1463040"/>
            <a:ext cx="4206240" cy="411480"/>
          </a:xfrm>
          <a:prstGeom prst="rect">
            <a:avLst/>
          </a:prstGeom>
          <a:noFill/>
          <a:ln/>
        </p:spPr>
        <p:txBody>
          <a:bodyPr wrap="square" lIns="0" tIns="0" rIns="0" bIns="0" rtlCol="0" anchor="ctr"/>
          <a:lstStyle/>
          <a:p>
            <a:pPr indent="0" marL="0">
              <a:buNone/>
            </a:pPr>
            <a:r>
              <a:rPr lang="en-US" sz="1800" dirty="0">
                <a:solidFill>
                  <a:srgbClr val="5E6B6E"/>
                </a:solidFill>
                <a:latin typeface="Calibri" pitchFamily="34" charset="0"/>
                <a:ea typeface="Calibri" pitchFamily="34" charset="-122"/>
                <a:cs typeface="Calibri" pitchFamily="34" charset="-120"/>
              </a:rPr>
              <a:t>1 user có trung bình: </a:t>
            </a:r>
            <a:pPr indent="0" marL="0">
              <a:buNone/>
            </a:pPr>
            <a:r>
              <a:rPr lang="en-US" sz="1800" b="1" dirty="0">
                <a:solidFill>
                  <a:srgbClr val="13262A"/>
                </a:solidFill>
                <a:latin typeface="Calibri" pitchFamily="34" charset="0"/>
                <a:ea typeface="Calibri" pitchFamily="34" charset="-122"/>
                <a:cs typeface="Calibri" pitchFamily="34" charset="-120"/>
              </a:rPr>
              <a:t>1,67 item</a:t>
            </a:r>
            <a:endParaRPr lang="en-US" sz="1800" dirty="0"/>
          </a:p>
        </p:txBody>
      </p:sp>
      <p:sp>
        <p:nvSpPr>
          <p:cNvPr id="9" name="Text 7"/>
          <p:cNvSpPr txBox="1"/>
          <p:nvPr/>
        </p:nvSpPr>
        <p:spPr>
          <a:xfrm>
            <a:off x="7452360" y="1874520"/>
            <a:ext cx="4206240" cy="320040"/>
          </a:xfrm>
          <a:prstGeom prst="rect">
            <a:avLst/>
          </a:prstGeom>
          <a:noFill/>
          <a:ln/>
        </p:spPr>
        <p:txBody>
          <a:bodyPr wrap="square" lIns="0" tIns="0" rIns="0" bIns="0" rtlCol="0" anchor="ctr"/>
          <a:lstStyle/>
          <a:p>
            <a:pPr indent="0" marL="0">
              <a:buNone/>
            </a:pPr>
            <a:r>
              <a:rPr lang="en-US" sz="1200" dirty="0">
                <a:solidFill>
                  <a:srgbClr val="5E6B6E"/>
                </a:solidFill>
                <a:latin typeface="Calibri" pitchFamily="34" charset="0"/>
                <a:ea typeface="Calibri" pitchFamily="34" charset="-122"/>
                <a:cs typeface="Calibri" pitchFamily="34" charset="-120"/>
              </a:rPr>
              <a:t>bậc user trung bình trong graph train</a:t>
            </a:r>
            <a:endParaRPr lang="en-US" sz="1200" dirty="0"/>
          </a:p>
        </p:txBody>
      </p:sp>
      <p:sp>
        <p:nvSpPr>
          <p:cNvPr id="10" name="Shape 8"/>
          <p:cNvSpPr/>
          <p:nvPr/>
        </p:nvSpPr>
        <p:spPr>
          <a:xfrm>
            <a:off x="7018020" y="2121408"/>
            <a:ext cx="914" cy="576072"/>
          </a:xfrm>
          <a:prstGeom prst="line">
            <a:avLst/>
          </a:prstGeom>
          <a:noFill/>
          <a:ln w="22225">
            <a:solidFill>
              <a:srgbClr val="C9D3D2"/>
            </a:solidFill>
            <a:prstDash val="solid"/>
            <a:tailEnd type="triangle"/>
          </a:ln>
        </p:spPr>
      </p:sp>
      <p:sp>
        <p:nvSpPr>
          <p:cNvPr id="11" name="Shape 9"/>
          <p:cNvSpPr/>
          <p:nvPr/>
        </p:nvSpPr>
        <p:spPr>
          <a:xfrm>
            <a:off x="6766560" y="2715768"/>
            <a:ext cx="502920" cy="502920"/>
          </a:xfrm>
          <a:prstGeom prst="ellipse">
            <a:avLst/>
          </a:prstGeom>
          <a:solidFill>
            <a:srgbClr val="2E7D7A"/>
          </a:solidFill>
          <a:ln w="12700">
            <a:solidFill>
              <a:srgbClr val="2E7D7A"/>
            </a:solidFill>
            <a:prstDash val="solid"/>
          </a:ln>
        </p:spPr>
      </p:sp>
      <p:sp>
        <p:nvSpPr>
          <p:cNvPr id="12" name="Text 10"/>
          <p:cNvSpPr txBox="1"/>
          <p:nvPr/>
        </p:nvSpPr>
        <p:spPr>
          <a:xfrm>
            <a:off x="6766560" y="2715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7452360" y="2578608"/>
            <a:ext cx="4206240" cy="411480"/>
          </a:xfrm>
          <a:prstGeom prst="rect">
            <a:avLst/>
          </a:prstGeom>
          <a:noFill/>
          <a:ln/>
        </p:spPr>
        <p:txBody>
          <a:bodyPr wrap="square" lIns="0" tIns="0" rIns="0" bIns="0" rtlCol="0" anchor="ctr"/>
          <a:lstStyle/>
          <a:p>
            <a:pPr indent="0" marL="0">
              <a:buNone/>
            </a:pPr>
            <a:r>
              <a:rPr lang="en-US" sz="1800" dirty="0">
                <a:solidFill>
                  <a:srgbClr val="5E6B6E"/>
                </a:solidFill>
                <a:latin typeface="Calibri" pitchFamily="34" charset="0"/>
                <a:ea typeface="Calibri" pitchFamily="34" charset="-122"/>
                <a:cs typeface="Calibri" pitchFamily="34" charset="-120"/>
              </a:rPr>
              <a:t>Đi theo 1 cạnh tới item: </a:t>
            </a:r>
            <a:pPr indent="0" marL="0">
              <a:buNone/>
            </a:pPr>
            <a:r>
              <a:rPr lang="en-US" sz="1800" b="1" dirty="0">
                <a:solidFill>
                  <a:srgbClr val="13262A"/>
                </a:solidFill>
                <a:latin typeface="Calibri" pitchFamily="34" charset="0"/>
                <a:ea typeface="Calibri" pitchFamily="34" charset="-122"/>
                <a:cs typeface="Calibri" pitchFamily="34" charset="-120"/>
              </a:rPr>
              <a:t>≈ 1.009 user</a:t>
            </a:r>
            <a:endParaRPr lang="en-US" sz="1800" dirty="0"/>
          </a:p>
        </p:txBody>
      </p:sp>
      <p:sp>
        <p:nvSpPr>
          <p:cNvPr id="14" name="Text 12"/>
          <p:cNvSpPr txBox="1"/>
          <p:nvPr/>
        </p:nvSpPr>
        <p:spPr>
          <a:xfrm>
            <a:off x="7452360" y="2990088"/>
            <a:ext cx="4206240" cy="320040"/>
          </a:xfrm>
          <a:prstGeom prst="rect">
            <a:avLst/>
          </a:prstGeom>
          <a:noFill/>
          <a:ln/>
        </p:spPr>
        <p:txBody>
          <a:bodyPr wrap="square" lIns="0" tIns="0" rIns="0" bIns="0" rtlCol="0" anchor="ctr"/>
          <a:lstStyle/>
          <a:p>
            <a:pPr indent="0" marL="0">
              <a:buNone/>
            </a:pPr>
            <a:r>
              <a:rPr lang="en-US" sz="1200" dirty="0">
                <a:solidFill>
                  <a:srgbClr val="5E6B6E"/>
                </a:solidFill>
                <a:latin typeface="Calibri" pitchFamily="34" charset="0"/>
                <a:ea typeface="Calibri" pitchFamily="34" charset="-122"/>
                <a:cs typeface="Calibri" pitchFamily="34" charset="-120"/>
              </a:rPr>
              <a:t>bậc item kỳ vọng theo cạnh (Σd²/Σd), không phải 23,9</a:t>
            </a:r>
            <a:endParaRPr lang="en-US" sz="1200" dirty="0"/>
          </a:p>
        </p:txBody>
      </p:sp>
      <p:sp>
        <p:nvSpPr>
          <p:cNvPr id="15" name="Shape 13"/>
          <p:cNvSpPr/>
          <p:nvPr/>
        </p:nvSpPr>
        <p:spPr>
          <a:xfrm>
            <a:off x="7018020" y="3236976"/>
            <a:ext cx="914" cy="576072"/>
          </a:xfrm>
          <a:prstGeom prst="line">
            <a:avLst/>
          </a:prstGeom>
          <a:noFill/>
          <a:ln w="22225">
            <a:solidFill>
              <a:srgbClr val="C9D3D2"/>
            </a:solidFill>
            <a:prstDash val="solid"/>
            <a:tailEnd type="triangle"/>
          </a:ln>
        </p:spPr>
      </p:sp>
      <p:sp>
        <p:nvSpPr>
          <p:cNvPr id="16" name="Shape 14"/>
          <p:cNvSpPr/>
          <p:nvPr/>
        </p:nvSpPr>
        <p:spPr>
          <a:xfrm>
            <a:off x="6766560" y="3831336"/>
            <a:ext cx="502920" cy="502920"/>
          </a:xfrm>
          <a:prstGeom prst="ellipse">
            <a:avLst/>
          </a:prstGeom>
          <a:solidFill>
            <a:srgbClr val="E89B2D"/>
          </a:solidFill>
          <a:ln w="12700">
            <a:solidFill>
              <a:srgbClr val="E89B2D"/>
            </a:solidFill>
            <a:prstDash val="solid"/>
          </a:ln>
        </p:spPr>
      </p:sp>
      <p:sp>
        <p:nvSpPr>
          <p:cNvPr id="17" name="Text 15"/>
          <p:cNvSpPr txBox="1"/>
          <p:nvPr/>
        </p:nvSpPr>
        <p:spPr>
          <a:xfrm>
            <a:off x="6766560" y="383133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7452360" y="3694176"/>
            <a:ext cx="4206240" cy="411480"/>
          </a:xfrm>
          <a:prstGeom prst="rect">
            <a:avLst/>
          </a:prstGeom>
          <a:noFill/>
          <a:ln/>
        </p:spPr>
        <p:txBody>
          <a:bodyPr wrap="square" lIns="0" tIns="0" rIns="0" bIns="0" rtlCol="0" anchor="ctr"/>
          <a:lstStyle/>
          <a:p>
            <a:pPr indent="0" marL="0">
              <a:buNone/>
            </a:pPr>
            <a:r>
              <a:rPr lang="en-US" sz="1800" dirty="0">
                <a:solidFill>
                  <a:srgbClr val="5E6B6E"/>
                </a:solidFill>
                <a:latin typeface="Calibri" pitchFamily="34" charset="0"/>
                <a:ea typeface="Calibri" pitchFamily="34" charset="-122"/>
                <a:cs typeface="Calibri" pitchFamily="34" charset="-120"/>
              </a:rPr>
              <a:t>Item lớn nhất: </a:t>
            </a:r>
            <a:pPr indent="0" marL="0">
              <a:buNone/>
            </a:pPr>
            <a:r>
              <a:rPr lang="en-US" sz="1800" b="1" dirty="0">
                <a:solidFill>
                  <a:srgbClr val="13262A"/>
                </a:solidFill>
                <a:latin typeface="Calibri" pitchFamily="34" charset="0"/>
                <a:ea typeface="Calibri" pitchFamily="34" charset="-122"/>
                <a:cs typeface="Calibri" pitchFamily="34" charset="-120"/>
              </a:rPr>
              <a:t>21.348 user</a:t>
            </a:r>
            <a:endParaRPr lang="en-US" sz="1800" dirty="0"/>
          </a:p>
        </p:txBody>
      </p:sp>
      <p:sp>
        <p:nvSpPr>
          <p:cNvPr id="19" name="Text 17"/>
          <p:cNvSpPr txBox="1"/>
          <p:nvPr/>
        </p:nvSpPr>
        <p:spPr>
          <a:xfrm>
            <a:off x="7452360" y="4105656"/>
            <a:ext cx="4206240" cy="320040"/>
          </a:xfrm>
          <a:prstGeom prst="rect">
            <a:avLst/>
          </a:prstGeom>
          <a:noFill/>
          <a:ln/>
        </p:spPr>
        <p:txBody>
          <a:bodyPr wrap="square" lIns="0" tIns="0" rIns="0" bIns="0" rtlCol="0" anchor="ctr"/>
          <a:lstStyle/>
          <a:p>
            <a:pPr indent="0" marL="0">
              <a:buNone/>
            </a:pPr>
            <a:r>
              <a:rPr lang="en-US" sz="1200" dirty="0">
                <a:solidFill>
                  <a:srgbClr val="5E6B6E"/>
                </a:solidFill>
                <a:latin typeface="Calibri" pitchFamily="34" charset="0"/>
                <a:ea typeface="Calibri" pitchFamily="34" charset="-122"/>
                <a:cs typeface="Calibri" pitchFamily="34" charset="-120"/>
              </a:rPr>
              <a:t>một hàng xóm duy nhất ở bước 1</a:t>
            </a:r>
            <a:endParaRPr lang="en-US" sz="1200" dirty="0"/>
          </a:p>
        </p:txBody>
      </p:sp>
      <p:sp>
        <p:nvSpPr>
          <p:cNvPr id="20" name="Shape 18"/>
          <p:cNvSpPr/>
          <p:nvPr/>
        </p:nvSpPr>
        <p:spPr>
          <a:xfrm>
            <a:off x="7018020" y="4352544"/>
            <a:ext cx="914" cy="576072"/>
          </a:xfrm>
          <a:prstGeom prst="line">
            <a:avLst/>
          </a:prstGeom>
          <a:noFill/>
          <a:ln w="22225">
            <a:solidFill>
              <a:srgbClr val="C9D3D2"/>
            </a:solidFill>
            <a:prstDash val="solid"/>
            <a:tailEnd type="triangle"/>
          </a:ln>
        </p:spPr>
      </p:sp>
      <p:sp>
        <p:nvSpPr>
          <p:cNvPr id="21" name="Shape 19"/>
          <p:cNvSpPr/>
          <p:nvPr/>
        </p:nvSpPr>
        <p:spPr>
          <a:xfrm>
            <a:off x="6766560" y="4946904"/>
            <a:ext cx="502920" cy="502920"/>
          </a:xfrm>
          <a:prstGeom prst="ellipse">
            <a:avLst/>
          </a:prstGeom>
          <a:solidFill>
            <a:srgbClr val="C8553D"/>
          </a:solidFill>
          <a:ln w="12700">
            <a:solidFill>
              <a:srgbClr val="C8553D"/>
            </a:solidFill>
            <a:prstDash val="solid"/>
          </a:ln>
        </p:spPr>
      </p:sp>
      <p:sp>
        <p:nvSpPr>
          <p:cNvPr id="22" name="Text 20"/>
          <p:cNvSpPr txBox="1"/>
          <p:nvPr/>
        </p:nvSpPr>
        <p:spPr>
          <a:xfrm>
            <a:off x="6766560" y="494690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7452360" y="4809744"/>
            <a:ext cx="4206240" cy="411480"/>
          </a:xfrm>
          <a:prstGeom prst="rect">
            <a:avLst/>
          </a:prstGeom>
          <a:noFill/>
          <a:ln/>
        </p:spPr>
        <p:txBody>
          <a:bodyPr wrap="square" lIns="0" tIns="0" rIns="0" bIns="0" rtlCol="0" anchor="ctr"/>
          <a:lstStyle/>
          <a:p>
            <a:pPr indent="0" marL="0">
              <a:buNone/>
            </a:pPr>
            <a:r>
              <a:rPr lang="en-US" sz="1800" dirty="0">
                <a:solidFill>
                  <a:srgbClr val="5E6B6E"/>
                </a:solidFill>
                <a:latin typeface="Calibri" pitchFamily="34" charset="0"/>
                <a:ea typeface="Calibri" pitchFamily="34" charset="-122"/>
                <a:cs typeface="Calibri" pitchFamily="34" charset="-120"/>
              </a:rPr>
              <a:t>Nhiều triplet trong batch: </a:t>
            </a:r>
            <a:pPr indent="0" marL="0">
              <a:buNone/>
            </a:pPr>
            <a:r>
              <a:rPr lang="en-US" sz="1800" b="1" dirty="0">
                <a:solidFill>
                  <a:srgbClr val="13262A"/>
                </a:solidFill>
                <a:latin typeface="Calibri" pitchFamily="34" charset="0"/>
                <a:ea typeface="Calibri" pitchFamily="34" charset="-122"/>
                <a:cs typeface="Calibri" pitchFamily="34" charset="-120"/>
              </a:rPr>
              <a:t>vùng lân cận hợp lại tăng rất nhanh</a:t>
            </a:r>
            <a:endParaRPr lang="en-US" sz="1800" dirty="0"/>
          </a:p>
        </p:txBody>
      </p:sp>
      <p:sp>
        <p:nvSpPr>
          <p:cNvPr id="24" name="Text 22"/>
          <p:cNvSpPr txBox="1"/>
          <p:nvPr/>
        </p:nvSpPr>
        <p:spPr>
          <a:xfrm>
            <a:off x="7452360" y="5221224"/>
            <a:ext cx="4206240" cy="320040"/>
          </a:xfrm>
          <a:prstGeom prst="rect">
            <a:avLst/>
          </a:prstGeom>
          <a:noFill/>
          <a:ln/>
        </p:spPr>
        <p:txBody>
          <a:bodyPr wrap="square" lIns="0" tIns="0" rIns="0" bIns="0" rtlCol="0" anchor="ctr"/>
          <a:lstStyle/>
          <a:p>
            <a:pPr indent="0" marL="0">
              <a:buNone/>
            </a:pPr>
            <a:r>
              <a:rPr lang="en-US" sz="1200" dirty="0">
                <a:solidFill>
                  <a:srgbClr val="5E6B6E"/>
                </a:solidFill>
                <a:latin typeface="Calibri" pitchFamily="34" charset="0"/>
                <a:ea typeface="Calibri" pitchFamily="34" charset="-122"/>
                <a:cs typeface="Calibri" pitchFamily="34" charset="-120"/>
              </a:rPr>
              <a:t>kích thước thực tế sẽ đo ở R3</a:t>
            </a:r>
            <a:endParaRPr lang="en-US" sz="1200" dirty="0"/>
          </a:p>
        </p:txBody>
      </p:sp>
      <p:sp>
        <p:nvSpPr>
          <p:cNvPr id="25" name="Text 23"/>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Số liệu tính từ training graph Baby P4: 3.868.654 cạnh, 2.318.308 user, 162.125 item (06_code/results/data_story/data_story_summary.json). Dòng cuối là ước lượng định tính.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NỀN TẢNG</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Giai đoạn 1: GRAPES học cách lấy mẫu</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48640" y="1645920"/>
            <a:ext cx="2011680" cy="822960"/>
          </a:xfrm>
          <a:prstGeom prst="roundRect">
            <a:avLst>
              <a:gd name="adj" fmla="val 6667"/>
            </a:avLst>
          </a:prstGeom>
          <a:solidFill>
            <a:srgbClr val="E6F0EF"/>
          </a:solidFill>
          <a:ln w="12700">
            <a:solidFill>
              <a:srgbClr val="E6F0EF"/>
            </a:solidFill>
            <a:prstDash val="solid"/>
          </a:ln>
        </p:spPr>
      </p:sp>
      <p:sp>
        <p:nvSpPr>
          <p:cNvPr id="6" name="Text 4"/>
          <p:cNvSpPr txBox="1"/>
          <p:nvPr/>
        </p:nvSpPr>
        <p:spPr>
          <a:xfrm>
            <a:off x="621792" y="1645920"/>
            <a:ext cx="1865376" cy="822960"/>
          </a:xfrm>
          <a:prstGeom prst="rect">
            <a:avLst/>
          </a:prstGeom>
          <a:noFill/>
          <a:ln/>
        </p:spPr>
        <p:txBody>
          <a:bodyPr wrap="square" lIns="0" tIns="0" rIns="0" bIns="0" rtlCol="0" anchor="ctr"/>
          <a:lstStyle/>
          <a:p>
            <a:pPr algn="ctr" indent="0" marL="0">
              <a:buNone/>
            </a:pPr>
            <a:r>
              <a:rPr lang="en-US" sz="1400" b="1" dirty="0">
                <a:solidFill>
                  <a:srgbClr val="13262A"/>
                </a:solidFill>
                <a:latin typeface="Calibri" pitchFamily="34" charset="0"/>
                <a:ea typeface="Calibri" pitchFamily="34" charset="-122"/>
                <a:cs typeface="Calibri" pitchFamily="34" charset="-120"/>
              </a:rPr>
              <a:t>Batch node mục tiêu</a:t>
            </a:r>
            <a:endParaRPr lang="en-US" sz="1400" dirty="0"/>
          </a:p>
        </p:txBody>
      </p:sp>
      <p:sp>
        <p:nvSpPr>
          <p:cNvPr id="7" name="Shape 5"/>
          <p:cNvSpPr/>
          <p:nvPr/>
        </p:nvSpPr>
        <p:spPr>
          <a:xfrm>
            <a:off x="3017520" y="1645920"/>
            <a:ext cx="2377440" cy="822960"/>
          </a:xfrm>
          <a:prstGeom prst="roundRect">
            <a:avLst>
              <a:gd name="adj" fmla="val 6667"/>
            </a:avLst>
          </a:prstGeom>
          <a:solidFill>
            <a:srgbClr val="0F4C4F"/>
          </a:solidFill>
          <a:ln w="12700">
            <a:solidFill>
              <a:srgbClr val="0F4C4F"/>
            </a:solidFill>
            <a:prstDash val="solid"/>
          </a:ln>
        </p:spPr>
      </p:sp>
      <p:sp>
        <p:nvSpPr>
          <p:cNvPr id="8" name="Text 6"/>
          <p:cNvSpPr txBox="1"/>
          <p:nvPr/>
        </p:nvSpPr>
        <p:spPr>
          <a:xfrm>
            <a:off x="3090672" y="1645920"/>
            <a:ext cx="223113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GCN_S chấm điểm hàng xóm</a:t>
            </a:r>
            <a:endParaRPr lang="en-US" sz="1400" dirty="0"/>
          </a:p>
        </p:txBody>
      </p:sp>
      <p:sp>
        <p:nvSpPr>
          <p:cNvPr id="9" name="Shape 7"/>
          <p:cNvSpPr/>
          <p:nvPr/>
        </p:nvSpPr>
        <p:spPr>
          <a:xfrm>
            <a:off x="5852160" y="1645920"/>
            <a:ext cx="2194560" cy="822960"/>
          </a:xfrm>
          <a:prstGeom prst="roundRect">
            <a:avLst>
              <a:gd name="adj" fmla="val 6667"/>
            </a:avLst>
          </a:prstGeom>
          <a:solidFill>
            <a:srgbClr val="2E7D7A"/>
          </a:solidFill>
          <a:ln w="12700">
            <a:solidFill>
              <a:srgbClr val="2E7D7A"/>
            </a:solidFill>
            <a:prstDash val="solid"/>
          </a:ln>
        </p:spPr>
      </p:sp>
      <p:sp>
        <p:nvSpPr>
          <p:cNvPr id="10" name="Text 8"/>
          <p:cNvSpPr txBox="1"/>
          <p:nvPr/>
        </p:nvSpPr>
        <p:spPr>
          <a:xfrm>
            <a:off x="5925312" y="1645920"/>
            <a:ext cx="204825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Gumbel Top-k chọn k node</a:t>
            </a:r>
            <a:endParaRPr lang="en-US" sz="1400" dirty="0"/>
          </a:p>
        </p:txBody>
      </p:sp>
      <p:sp>
        <p:nvSpPr>
          <p:cNvPr id="11" name="Shape 9"/>
          <p:cNvSpPr/>
          <p:nvPr/>
        </p:nvSpPr>
        <p:spPr>
          <a:xfrm>
            <a:off x="8503920" y="1645920"/>
            <a:ext cx="3108960" cy="822960"/>
          </a:xfrm>
          <a:prstGeom prst="roundRect">
            <a:avLst>
              <a:gd name="adj" fmla="val 6667"/>
            </a:avLst>
          </a:prstGeom>
          <a:solidFill>
            <a:srgbClr val="0F4C4F"/>
          </a:solidFill>
          <a:ln w="12700">
            <a:solidFill>
              <a:srgbClr val="0F4C4F"/>
            </a:solidFill>
            <a:prstDash val="solid"/>
          </a:ln>
        </p:spPr>
      </p:sp>
      <p:sp>
        <p:nvSpPr>
          <p:cNvPr id="12" name="Text 10"/>
          <p:cNvSpPr txBox="1"/>
          <p:nvPr/>
        </p:nvSpPr>
        <p:spPr>
          <a:xfrm>
            <a:off x="8577072" y="1645920"/>
            <a:ext cx="296265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GCN_C học trên subgraph đã chọn</a:t>
            </a:r>
            <a:endParaRPr lang="en-US" sz="1400" dirty="0"/>
          </a:p>
        </p:txBody>
      </p:sp>
      <p:sp>
        <p:nvSpPr>
          <p:cNvPr id="13" name="Shape 11"/>
          <p:cNvSpPr/>
          <p:nvPr/>
        </p:nvSpPr>
        <p:spPr>
          <a:xfrm>
            <a:off x="2560320" y="2057400"/>
            <a:ext cx="457200" cy="914"/>
          </a:xfrm>
          <a:prstGeom prst="line">
            <a:avLst/>
          </a:prstGeom>
          <a:noFill/>
          <a:ln w="22225">
            <a:solidFill>
              <a:srgbClr val="5E6B6E"/>
            </a:solidFill>
            <a:prstDash val="solid"/>
            <a:tailEnd type="triangle"/>
          </a:ln>
        </p:spPr>
      </p:sp>
      <p:sp>
        <p:nvSpPr>
          <p:cNvPr id="14" name="Shape 12"/>
          <p:cNvSpPr/>
          <p:nvPr/>
        </p:nvSpPr>
        <p:spPr>
          <a:xfrm>
            <a:off x="5394960" y="2057400"/>
            <a:ext cx="457200" cy="914"/>
          </a:xfrm>
          <a:prstGeom prst="line">
            <a:avLst/>
          </a:prstGeom>
          <a:noFill/>
          <a:ln w="22225">
            <a:solidFill>
              <a:srgbClr val="5E6B6E"/>
            </a:solidFill>
            <a:prstDash val="solid"/>
            <a:tailEnd type="triangle"/>
          </a:ln>
        </p:spPr>
      </p:sp>
      <p:sp>
        <p:nvSpPr>
          <p:cNvPr id="15" name="Shape 13"/>
          <p:cNvSpPr/>
          <p:nvPr/>
        </p:nvSpPr>
        <p:spPr>
          <a:xfrm>
            <a:off x="8046720" y="2057400"/>
            <a:ext cx="457200" cy="914"/>
          </a:xfrm>
          <a:prstGeom prst="line">
            <a:avLst/>
          </a:prstGeom>
          <a:noFill/>
          <a:ln w="22225">
            <a:solidFill>
              <a:srgbClr val="5E6B6E"/>
            </a:solidFill>
            <a:prstDash val="solid"/>
            <a:tailEnd type="triangle"/>
          </a:ln>
        </p:spPr>
      </p:sp>
      <p:sp>
        <p:nvSpPr>
          <p:cNvPr id="16" name="Shape 14"/>
          <p:cNvSpPr/>
          <p:nvPr/>
        </p:nvSpPr>
        <p:spPr>
          <a:xfrm>
            <a:off x="8503920" y="3017520"/>
            <a:ext cx="3108960" cy="731520"/>
          </a:xfrm>
          <a:prstGeom prst="roundRect">
            <a:avLst>
              <a:gd name="adj" fmla="val 7500"/>
            </a:avLst>
          </a:prstGeom>
          <a:solidFill>
            <a:srgbClr val="FCF1DF"/>
          </a:solidFill>
          <a:ln w="12700">
            <a:solidFill>
              <a:srgbClr val="FCF1DF"/>
            </a:solidFill>
            <a:prstDash val="solid"/>
          </a:ln>
        </p:spPr>
      </p:sp>
      <p:sp>
        <p:nvSpPr>
          <p:cNvPr id="17" name="Text 15"/>
          <p:cNvSpPr txBox="1"/>
          <p:nvPr/>
        </p:nvSpPr>
        <p:spPr>
          <a:xfrm>
            <a:off x="8577072" y="3017520"/>
            <a:ext cx="2962656" cy="731520"/>
          </a:xfrm>
          <a:prstGeom prst="rect">
            <a:avLst/>
          </a:prstGeom>
          <a:noFill/>
          <a:ln/>
        </p:spPr>
        <p:txBody>
          <a:bodyPr wrap="square" lIns="0" tIns="0" rIns="0" bIns="0" rtlCol="0" anchor="ctr"/>
          <a:lstStyle/>
          <a:p>
            <a:pPr algn="ctr" indent="0" marL="0">
              <a:buNone/>
            </a:pPr>
            <a:r>
              <a:rPr lang="en-US" sz="1400" b="1" dirty="0">
                <a:solidFill>
                  <a:srgbClr val="13262A"/>
                </a:solidFill>
                <a:latin typeface="Calibri" pitchFamily="34" charset="0"/>
                <a:ea typeface="Calibri" pitchFamily="34" charset="-122"/>
                <a:cs typeface="Calibri" pitchFamily="34" charset="-120"/>
              </a:rPr>
              <a:t>Loss phân loại (detach)</a:t>
            </a:r>
            <a:endParaRPr lang="en-US" sz="1400" dirty="0"/>
          </a:p>
        </p:txBody>
      </p:sp>
      <p:sp>
        <p:nvSpPr>
          <p:cNvPr id="18" name="Shape 16"/>
          <p:cNvSpPr/>
          <p:nvPr/>
        </p:nvSpPr>
        <p:spPr>
          <a:xfrm>
            <a:off x="10058400" y="2468880"/>
            <a:ext cx="914" cy="548640"/>
          </a:xfrm>
          <a:prstGeom prst="line">
            <a:avLst/>
          </a:prstGeom>
          <a:noFill/>
          <a:ln w="22225">
            <a:solidFill>
              <a:srgbClr val="5E6B6E"/>
            </a:solidFill>
            <a:prstDash val="solid"/>
            <a:tailEnd type="triangle"/>
          </a:ln>
        </p:spPr>
      </p:sp>
      <p:sp>
        <p:nvSpPr>
          <p:cNvPr id="19" name="Shape 17"/>
          <p:cNvSpPr/>
          <p:nvPr/>
        </p:nvSpPr>
        <p:spPr>
          <a:xfrm>
            <a:off x="3017520" y="3017520"/>
            <a:ext cx="5029200" cy="731520"/>
          </a:xfrm>
          <a:prstGeom prst="roundRect">
            <a:avLst>
              <a:gd name="adj" fmla="val 7500"/>
            </a:avLst>
          </a:prstGeom>
          <a:solidFill>
            <a:srgbClr val="E89B2D"/>
          </a:solidFill>
          <a:ln w="12700">
            <a:solidFill>
              <a:srgbClr val="E89B2D"/>
            </a:solidFill>
            <a:prstDash val="solid"/>
          </a:ln>
        </p:spPr>
      </p:sp>
      <p:sp>
        <p:nvSpPr>
          <p:cNvPr id="20" name="Text 18"/>
          <p:cNvSpPr txBox="1"/>
          <p:nvPr/>
        </p:nvSpPr>
        <p:spPr>
          <a:xfrm>
            <a:off x="3090672" y="3017520"/>
            <a:ext cx="4882896" cy="731520"/>
          </a:xfrm>
          <a:prstGeom prst="rect">
            <a:avLst/>
          </a:prstGeom>
          <a:noFill/>
          <a:ln/>
        </p:spPr>
        <p:txBody>
          <a:bodyPr wrap="square" lIns="0" tIns="0" rIns="0" bIns="0" rtlCol="0" anchor="ctr"/>
          <a:lstStyle/>
          <a:p>
            <a:pPr algn="ctr" indent="0" marL="0">
              <a:buNone/>
            </a:pPr>
            <a:r>
              <a:rPr lang="en-US" sz="1400" b="1" dirty="0">
                <a:solidFill>
                  <a:srgbClr val="13262A"/>
                </a:solidFill>
                <a:latin typeface="Calibri" pitchFamily="34" charset="0"/>
                <a:ea typeface="Calibri" pitchFamily="34" charset="-122"/>
                <a:cs typeface="Calibri" pitchFamily="34" charset="-120"/>
              </a:rPr>
              <a:t>GFlowNet TB: (log Z + Σ log q + α·loss)² → cập nhật GCN_S, GCN_Z</a:t>
            </a:r>
            <a:endParaRPr lang="en-US" sz="1400" dirty="0"/>
          </a:p>
        </p:txBody>
      </p:sp>
      <p:sp>
        <p:nvSpPr>
          <p:cNvPr id="21" name="Shape 19"/>
          <p:cNvSpPr/>
          <p:nvPr/>
        </p:nvSpPr>
        <p:spPr>
          <a:xfrm flipH="1">
            <a:off x="8046720" y="3383280"/>
            <a:ext cx="457200" cy="914"/>
          </a:xfrm>
          <a:prstGeom prst="line">
            <a:avLst/>
          </a:prstGeom>
          <a:noFill/>
          <a:ln w="22225">
            <a:solidFill>
              <a:srgbClr val="5E6B6E"/>
            </a:solidFill>
            <a:prstDash val="solid"/>
            <a:tailEnd type="triangle"/>
          </a:ln>
        </p:spPr>
      </p:sp>
      <p:sp>
        <p:nvSpPr>
          <p:cNvPr id="22" name="Shape 20"/>
          <p:cNvSpPr/>
          <p:nvPr/>
        </p:nvSpPr>
        <p:spPr>
          <a:xfrm flipV="1">
            <a:off x="4206240" y="2468880"/>
            <a:ext cx="914" cy="548640"/>
          </a:xfrm>
          <a:prstGeom prst="line">
            <a:avLst/>
          </a:prstGeom>
          <a:noFill/>
          <a:ln w="22225">
            <a:solidFill>
              <a:srgbClr val="5E6B6E"/>
            </a:solidFill>
            <a:prstDash val="solid"/>
            <a:tailEnd type="triangle"/>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6766560" cy="914400"/>
        </p:xfrm>
        <a:graphic>
          <a:graphicData uri="http://schemas.openxmlformats.org/drawingml/2006/table">
            <a:tbl>
              <a:tblPr/>
              <a:tblGrid>
                <a:gridCol w="2011680"/>
                <a:gridCol w="1280160"/>
                <a:gridCol w="1280160"/>
                <a:gridCol w="21945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Tái hiện trên T4</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GRAPES</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Random</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Thời gian GRAPES / Random</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384048">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Cora (accuracy)</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0,8710</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0,8677</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56,3 s / 30,5 s</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r>
              <a:tr h="384048">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Citeseer</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0,7857</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0,7900</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94,6 s / 56,0 s</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r>
              <a:tr h="384048">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ogbn-arxiv</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0,6204</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0,6128</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11.114 s / 8.133 s</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r>
            </a:tbl>
          </a:graphicData>
        </a:graphic>
      </p:graphicFrame>
      <p:sp>
        <p:nvSpPr>
          <p:cNvPr id="24" name="Text 21"/>
          <p:cNvSpPr txBox="1"/>
          <p:nvPr/>
        </p:nvSpPr>
        <p:spPr>
          <a:xfrm>
            <a:off x="7589520" y="4114800"/>
            <a:ext cx="4023360" cy="21031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3262A"/>
                </a:solidFill>
                <a:latin typeface="Calibri" pitchFamily="34" charset="0"/>
                <a:ea typeface="Calibri" pitchFamily="34" charset="-122"/>
                <a:cs typeface="Calibri" pitchFamily="34" charset="-120"/>
              </a:rPr>
              <a:t>Bài học 1: sampler học được có thể hơn random, nhưng lợi thế nhỏ và không đều giữa dataset.</a:t>
            </a:r>
            <a:endParaRPr lang="en-US" sz="1400" dirty="0"/>
          </a:p>
          <a:p>
            <a:pPr marL="203200" indent="-203200">
              <a:spcAft>
                <a:spcPts val="600"/>
              </a:spcAft>
              <a:buSzPct val="100000"/>
              <a:buChar char="•"/>
            </a:pPr>
            <a:r>
              <a:rPr lang="en-US" sz="1400" dirty="0">
                <a:solidFill>
                  <a:srgbClr val="13262A"/>
                </a:solidFill>
                <a:latin typeface="Calibri" pitchFamily="34" charset="0"/>
                <a:ea typeface="Calibri" pitchFamily="34" charset="-122"/>
                <a:cs typeface="Calibri" pitchFamily="34" charset="-120"/>
              </a:rPr>
              <a:t>Bài học 2: sampler tốn thêm 37–85% thời gian → phải tính chi phí sampler vào trade-off.</a:t>
            </a:r>
            <a:endParaRPr lang="en-US" sz="1400" dirty="0"/>
          </a:p>
          <a:p>
            <a:pPr marL="203200" indent="-203200">
              <a:spcAft>
                <a:spcPts val="600"/>
              </a:spcAft>
              <a:buSzPct val="100000"/>
              <a:buChar char="•"/>
            </a:pPr>
            <a:r>
              <a:rPr lang="en-US" sz="1400" dirty="0">
                <a:solidFill>
                  <a:srgbClr val="13262A"/>
                </a:solidFill>
                <a:latin typeface="Calibri" pitchFamily="34" charset="0"/>
                <a:ea typeface="Calibri" pitchFamily="34" charset="-122"/>
                <a:cs typeface="Calibri" pitchFamily="34" charset="-120"/>
              </a:rPr>
              <a:t>GRAPES mới đánh giá node classification; recommendation chỉ được nêu là hướng mở rộng.</a:t>
            </a:r>
            <a:endParaRPr lang="en-US" sz="1400" dirty="0"/>
          </a:p>
        </p:txBody>
      </p:sp>
      <p:sp>
        <p:nvSpPr>
          <p:cNvPr id="25" name="Text 22"/>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Nguồn: [1] GRAPES arXiv:2310.03399v3; kết quả tái hiện ThucTap2/GRAPES report/grapes_results.json.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KHOẢNG TRỐNG</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Không thể chép nguyên GRAPES sang gợi ý</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103120"/>
                <a:gridCol w="3840480"/>
                <a:gridCol w="5120640"/>
              </a:tblGrid>
              <a:tr h="58521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Khía cạnh</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GRAPES gốc (node classification)</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GRAPES-GFN-Rec (recommendation)</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585216">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Đồ thị</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Node có feature, cạnh tổng quát</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Hai phía user–item, chỉ cạnh positive trước mốc thời gian</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85216">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Mục tiêu một batch</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Node có nhãn</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Triplet BPR (user, item mua, item âm); V⁰ = tập endpoint</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85216">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Feature cho sampler</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Feature node sẵn có</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Embedding ID riêng + loại node + degree train + lịch sử layer</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85216">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Model chính</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GCN phân loại</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Sampled LightGCN: không self-loop, không phi tuyến</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85216">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Tín hiệu thưởng</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Cross-entropy</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Mean BPR ranking loss (không gồm regularizer)</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85216">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Đánh giá</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Accuracy trên node</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Xếp hạng toàn catalog: NDCG@20, Recall@20, coverage, head/tail</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85216">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Rò rỉ dữ liệu</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Split node cố định</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Split theo thời gian; cạnh tương lai không được vào graph, degree, feature</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Chi tiết từng quyết định: 02_protocol/GRAPES_RECOMMENDATION_SPEC_vn.md (D1–D11). Đây là adaptation của đồ án, không phải kết quả paper GRAPES đã chứng minh.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ĐIỀU CHỈNH</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Rà soát hướng đi: vì sao phải xây lại</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6</a:t>
            </a:r>
            <a:endParaRPr lang="en-US" sz="1000" dirty="0"/>
          </a:p>
        </p:txBody>
      </p:sp>
      <p:sp>
        <p:nvSpPr>
          <p:cNvPr id="5" name="Text 3"/>
          <p:cNvSpPr txBox="1"/>
          <p:nvPr/>
        </p:nvSpPr>
        <p:spPr>
          <a:xfrm>
            <a:off x="548640" y="1417320"/>
            <a:ext cx="11064240" cy="731520"/>
          </a:xfrm>
          <a:prstGeom prst="rect">
            <a:avLst/>
          </a:prstGeom>
          <a:noFill/>
          <a:ln/>
        </p:spPr>
        <p:txBody>
          <a:bodyPr wrap="square" lIns="0" tIns="0" rIns="0" bIns="0" rtlCol="0" anchor="ctr"/>
          <a:lstStyle/>
          <a:p>
            <a:pPr indent="0" marL="0">
              <a:buNone/>
            </a:pPr>
            <a:r>
              <a:rPr lang="en-US" sz="1600" dirty="0">
                <a:solidFill>
                  <a:srgbClr val="13262A"/>
                </a:solidFill>
                <a:latin typeface="Calibri" pitchFamily="34" charset="0"/>
                <a:ea typeface="Calibri" pitchFamily="34" charset="-122"/>
                <a:cs typeface="Calibri" pitchFamily="34" charset="-120"/>
              </a:rPr>
              <a:t>Pilot M0–M2 trước đây chỉ so sánh ba luật chọn node cố định. M2 (frontier-normalized) mượn hình thức của GRAPES nhưng thiếu phần cốt lõi: học sampler.</a:t>
            </a:r>
            <a:endParaRPr lang="en-US" sz="1600" dirty="0"/>
          </a:p>
        </p:txBody>
      </p:sp>
      <p:sp>
        <p:nvSpPr>
          <p:cNvPr id="6" name="Shape 4"/>
          <p:cNvSpPr/>
          <p:nvPr/>
        </p:nvSpPr>
        <p:spPr>
          <a:xfrm>
            <a:off x="548640" y="2377440"/>
            <a:ext cx="2606040" cy="1051560"/>
          </a:xfrm>
          <a:prstGeom prst="roundRect">
            <a:avLst>
              <a:gd name="adj" fmla="val 6957"/>
            </a:avLst>
          </a:prstGeom>
          <a:solidFill>
            <a:srgbClr val="F4F7F7"/>
          </a:solidFill>
          <a:ln w="12700">
            <a:solidFill>
              <a:srgbClr val="F4F7F7"/>
            </a:solidFill>
            <a:prstDash val="solid"/>
          </a:ln>
        </p:spPr>
      </p:sp>
      <p:sp>
        <p:nvSpPr>
          <p:cNvPr id="7" name="Shape 5"/>
          <p:cNvSpPr/>
          <p:nvPr/>
        </p:nvSpPr>
        <p:spPr>
          <a:xfrm>
            <a:off x="685800" y="2514600"/>
            <a:ext cx="457200" cy="457200"/>
          </a:xfrm>
          <a:prstGeom prst="ellipse">
            <a:avLst/>
          </a:prstGeom>
          <a:solidFill>
            <a:srgbClr val="0F4C4F"/>
          </a:solidFill>
          <a:ln w="12700">
            <a:solidFill>
              <a:srgbClr val="0F4C4F"/>
            </a:solidFill>
            <a:prstDash val="solid"/>
          </a:ln>
        </p:spPr>
      </p:sp>
      <p:sp>
        <p:nvSpPr>
          <p:cNvPr id="8" name="Text 6"/>
          <p:cNvSpPr txBox="1"/>
          <p:nvPr/>
        </p:nvSpPr>
        <p:spPr>
          <a:xfrm>
            <a:off x="685800" y="25146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G1</a:t>
            </a:r>
            <a:endParaRPr lang="en-US" sz="1200" dirty="0"/>
          </a:p>
        </p:txBody>
      </p:sp>
      <p:sp>
        <p:nvSpPr>
          <p:cNvPr id="9" name="Text 7"/>
          <p:cNvSpPr txBox="1"/>
          <p:nvPr/>
        </p:nvSpPr>
        <p:spPr>
          <a:xfrm>
            <a:off x="1234440" y="2468880"/>
            <a:ext cx="1828800" cy="548640"/>
          </a:xfrm>
          <a:prstGeom prst="rect">
            <a:avLst/>
          </a:prstGeom>
          <a:noFill/>
          <a:ln/>
        </p:spPr>
        <p:txBody>
          <a:bodyPr wrap="square" lIns="0" tIns="0" rIns="0" bIns="0" rtlCol="0" anchor="ctr"/>
          <a:lstStyle/>
          <a:p>
            <a:pPr indent="0" marL="0">
              <a:buNone/>
            </a:pPr>
            <a:r>
              <a:rPr lang="en-US" sz="1300" b="1" dirty="0">
                <a:solidFill>
                  <a:srgbClr val="13262A"/>
                </a:solidFill>
                <a:latin typeface="Calibri" pitchFamily="34" charset="0"/>
                <a:ea typeface="Calibri" pitchFamily="34" charset="-122"/>
                <a:cs typeface="Calibri" pitchFamily="34" charset="-120"/>
              </a:rPr>
              <a:t>Policy có tham số (GCN_S)</a:t>
            </a:r>
            <a:endParaRPr lang="en-US" sz="1300" dirty="0"/>
          </a:p>
        </p:txBody>
      </p:sp>
      <p:sp>
        <p:nvSpPr>
          <p:cNvPr id="10" name="Text 8"/>
          <p:cNvSpPr txBox="1"/>
          <p:nvPr/>
        </p:nvSpPr>
        <p:spPr>
          <a:xfrm>
            <a:off x="1234440" y="3017520"/>
            <a:ext cx="1828800"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M2: không có</a:t>
            </a:r>
            <a:endParaRPr lang="en-US" sz="1200" dirty="0"/>
          </a:p>
        </p:txBody>
      </p:sp>
      <p:sp>
        <p:nvSpPr>
          <p:cNvPr id="11" name="Shape 9"/>
          <p:cNvSpPr/>
          <p:nvPr/>
        </p:nvSpPr>
        <p:spPr>
          <a:xfrm>
            <a:off x="3337560" y="2377440"/>
            <a:ext cx="2606040" cy="1051560"/>
          </a:xfrm>
          <a:prstGeom prst="roundRect">
            <a:avLst>
              <a:gd name="adj" fmla="val 6957"/>
            </a:avLst>
          </a:prstGeom>
          <a:solidFill>
            <a:srgbClr val="F4F7F7"/>
          </a:solidFill>
          <a:ln w="12700">
            <a:solidFill>
              <a:srgbClr val="F4F7F7"/>
            </a:solidFill>
            <a:prstDash val="solid"/>
          </a:ln>
        </p:spPr>
      </p:sp>
      <p:sp>
        <p:nvSpPr>
          <p:cNvPr id="12" name="Shape 10"/>
          <p:cNvSpPr/>
          <p:nvPr/>
        </p:nvSpPr>
        <p:spPr>
          <a:xfrm>
            <a:off x="3474720" y="2514600"/>
            <a:ext cx="457200" cy="457200"/>
          </a:xfrm>
          <a:prstGeom prst="ellipse">
            <a:avLst/>
          </a:prstGeom>
          <a:solidFill>
            <a:srgbClr val="0F4C4F"/>
          </a:solidFill>
          <a:ln w="12700">
            <a:solidFill>
              <a:srgbClr val="0F4C4F"/>
            </a:solidFill>
            <a:prstDash val="solid"/>
          </a:ln>
        </p:spPr>
      </p:sp>
      <p:sp>
        <p:nvSpPr>
          <p:cNvPr id="13" name="Text 11"/>
          <p:cNvSpPr txBox="1"/>
          <p:nvPr/>
        </p:nvSpPr>
        <p:spPr>
          <a:xfrm>
            <a:off x="3474720" y="25146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G2</a:t>
            </a:r>
            <a:endParaRPr lang="en-US" sz="1200" dirty="0"/>
          </a:p>
        </p:txBody>
      </p:sp>
      <p:sp>
        <p:nvSpPr>
          <p:cNvPr id="14" name="Text 12"/>
          <p:cNvSpPr txBox="1"/>
          <p:nvPr/>
        </p:nvSpPr>
        <p:spPr>
          <a:xfrm>
            <a:off x="4023360" y="2468880"/>
            <a:ext cx="1828800" cy="548640"/>
          </a:xfrm>
          <a:prstGeom prst="rect">
            <a:avLst/>
          </a:prstGeom>
          <a:noFill/>
          <a:ln/>
        </p:spPr>
        <p:txBody>
          <a:bodyPr wrap="square" lIns="0" tIns="0" rIns="0" bIns="0" rtlCol="0" anchor="ctr"/>
          <a:lstStyle/>
          <a:p>
            <a:pPr indent="0" marL="0">
              <a:buNone/>
            </a:pPr>
            <a:r>
              <a:rPr lang="en-US" sz="1300" b="1" dirty="0">
                <a:solidFill>
                  <a:srgbClr val="13262A"/>
                </a:solidFill>
                <a:latin typeface="Calibri" pitchFamily="34" charset="0"/>
                <a:ea typeface="Calibri" pitchFamily="34" charset="-122"/>
                <a:cs typeface="Calibri" pitchFamily="34" charset="-120"/>
              </a:rPr>
              <a:t>Gumbel Top-k exact-k</a:t>
            </a:r>
            <a:endParaRPr lang="en-US" sz="1300" dirty="0"/>
          </a:p>
        </p:txBody>
      </p:sp>
      <p:sp>
        <p:nvSpPr>
          <p:cNvPr id="15" name="Text 13"/>
          <p:cNvSpPr txBox="1"/>
          <p:nvPr/>
        </p:nvSpPr>
        <p:spPr>
          <a:xfrm>
            <a:off x="4023360" y="3017520"/>
            <a:ext cx="1828800" cy="320040"/>
          </a:xfrm>
          <a:prstGeom prst="rect">
            <a:avLst/>
          </a:prstGeom>
          <a:noFill/>
          <a:ln/>
        </p:spPr>
        <p:txBody>
          <a:bodyPr wrap="square" lIns="0" tIns="0" rIns="0" bIns="0" rtlCol="0" anchor="ctr"/>
          <a:lstStyle/>
          <a:p>
            <a:pPr indent="0" marL="0">
              <a:buNone/>
            </a:pPr>
            <a:r>
              <a:rPr lang="en-US" sz="1200" b="1" dirty="0">
                <a:solidFill>
                  <a:srgbClr val="2E7D7A"/>
                </a:solidFill>
                <a:latin typeface="Calibri" pitchFamily="34" charset="0"/>
                <a:ea typeface="Calibri" pitchFamily="34" charset="-122"/>
                <a:cs typeface="Calibri" pitchFamily="34" charset="-120"/>
              </a:rPr>
              <a:t>M2: có</a:t>
            </a:r>
            <a:endParaRPr lang="en-US" sz="1200" dirty="0"/>
          </a:p>
        </p:txBody>
      </p:sp>
      <p:sp>
        <p:nvSpPr>
          <p:cNvPr id="16" name="Shape 14"/>
          <p:cNvSpPr/>
          <p:nvPr/>
        </p:nvSpPr>
        <p:spPr>
          <a:xfrm>
            <a:off x="6126480" y="2377440"/>
            <a:ext cx="2606040" cy="1051560"/>
          </a:xfrm>
          <a:prstGeom prst="roundRect">
            <a:avLst>
              <a:gd name="adj" fmla="val 6957"/>
            </a:avLst>
          </a:prstGeom>
          <a:solidFill>
            <a:srgbClr val="F4F7F7"/>
          </a:solidFill>
          <a:ln w="12700">
            <a:solidFill>
              <a:srgbClr val="F4F7F7"/>
            </a:solidFill>
            <a:prstDash val="solid"/>
          </a:ln>
        </p:spPr>
      </p:sp>
      <p:sp>
        <p:nvSpPr>
          <p:cNvPr id="17" name="Shape 15"/>
          <p:cNvSpPr/>
          <p:nvPr/>
        </p:nvSpPr>
        <p:spPr>
          <a:xfrm>
            <a:off x="6263640" y="2514600"/>
            <a:ext cx="457200" cy="457200"/>
          </a:xfrm>
          <a:prstGeom prst="ellipse">
            <a:avLst/>
          </a:prstGeom>
          <a:solidFill>
            <a:srgbClr val="0F4C4F"/>
          </a:solidFill>
          <a:ln w="12700">
            <a:solidFill>
              <a:srgbClr val="0F4C4F"/>
            </a:solidFill>
            <a:prstDash val="solid"/>
          </a:ln>
        </p:spPr>
      </p:sp>
      <p:sp>
        <p:nvSpPr>
          <p:cNvPr id="18" name="Text 16"/>
          <p:cNvSpPr txBox="1"/>
          <p:nvPr/>
        </p:nvSpPr>
        <p:spPr>
          <a:xfrm>
            <a:off x="6263640" y="25146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G3</a:t>
            </a:r>
            <a:endParaRPr lang="en-US" sz="1200" dirty="0"/>
          </a:p>
        </p:txBody>
      </p:sp>
      <p:sp>
        <p:nvSpPr>
          <p:cNvPr id="19" name="Text 17"/>
          <p:cNvSpPr txBox="1"/>
          <p:nvPr/>
        </p:nvSpPr>
        <p:spPr>
          <a:xfrm>
            <a:off x="6812280" y="2468880"/>
            <a:ext cx="1828800" cy="548640"/>
          </a:xfrm>
          <a:prstGeom prst="rect">
            <a:avLst/>
          </a:prstGeom>
          <a:noFill/>
          <a:ln/>
        </p:spPr>
        <p:txBody>
          <a:bodyPr wrap="square" lIns="0" tIns="0" rIns="0" bIns="0" rtlCol="0" anchor="ctr"/>
          <a:lstStyle/>
          <a:p>
            <a:pPr indent="0" marL="0">
              <a:buNone/>
            </a:pPr>
            <a:r>
              <a:rPr lang="en-US" sz="1300" b="1" dirty="0">
                <a:solidFill>
                  <a:srgbClr val="13262A"/>
                </a:solidFill>
                <a:latin typeface="Calibri" pitchFamily="34" charset="0"/>
                <a:ea typeface="Calibri" pitchFamily="34" charset="-122"/>
                <a:cs typeface="Calibri" pitchFamily="34" charset="-120"/>
              </a:rPr>
              <a:t>Log-likelihood trajectory log q</a:t>
            </a:r>
            <a:endParaRPr lang="en-US" sz="1300" dirty="0"/>
          </a:p>
        </p:txBody>
      </p:sp>
      <p:sp>
        <p:nvSpPr>
          <p:cNvPr id="20" name="Text 18"/>
          <p:cNvSpPr txBox="1"/>
          <p:nvPr/>
        </p:nvSpPr>
        <p:spPr>
          <a:xfrm>
            <a:off x="6812280" y="3017520"/>
            <a:ext cx="1828800"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M2: không có</a:t>
            </a:r>
            <a:endParaRPr lang="en-US" sz="1200" dirty="0"/>
          </a:p>
        </p:txBody>
      </p:sp>
      <p:sp>
        <p:nvSpPr>
          <p:cNvPr id="21" name="Shape 19"/>
          <p:cNvSpPr/>
          <p:nvPr/>
        </p:nvSpPr>
        <p:spPr>
          <a:xfrm>
            <a:off x="8915400" y="2377440"/>
            <a:ext cx="2606040" cy="1051560"/>
          </a:xfrm>
          <a:prstGeom prst="roundRect">
            <a:avLst>
              <a:gd name="adj" fmla="val 6957"/>
            </a:avLst>
          </a:prstGeom>
          <a:solidFill>
            <a:srgbClr val="F4F7F7"/>
          </a:solidFill>
          <a:ln w="12700">
            <a:solidFill>
              <a:srgbClr val="F4F7F7"/>
            </a:solidFill>
            <a:prstDash val="solid"/>
          </a:ln>
        </p:spPr>
      </p:sp>
      <p:sp>
        <p:nvSpPr>
          <p:cNvPr id="22" name="Shape 20"/>
          <p:cNvSpPr/>
          <p:nvPr/>
        </p:nvSpPr>
        <p:spPr>
          <a:xfrm>
            <a:off x="9052560" y="2514600"/>
            <a:ext cx="457200" cy="457200"/>
          </a:xfrm>
          <a:prstGeom prst="ellipse">
            <a:avLst/>
          </a:prstGeom>
          <a:solidFill>
            <a:srgbClr val="0F4C4F"/>
          </a:solidFill>
          <a:ln w="12700">
            <a:solidFill>
              <a:srgbClr val="0F4C4F"/>
            </a:solidFill>
            <a:prstDash val="solid"/>
          </a:ln>
        </p:spPr>
      </p:sp>
      <p:sp>
        <p:nvSpPr>
          <p:cNvPr id="23" name="Text 21"/>
          <p:cNvSpPr txBox="1"/>
          <p:nvPr/>
        </p:nvSpPr>
        <p:spPr>
          <a:xfrm>
            <a:off x="9052560" y="25146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G4</a:t>
            </a:r>
            <a:endParaRPr lang="en-US" sz="1200" dirty="0"/>
          </a:p>
        </p:txBody>
      </p:sp>
      <p:sp>
        <p:nvSpPr>
          <p:cNvPr id="24" name="Text 22"/>
          <p:cNvSpPr txBox="1"/>
          <p:nvPr/>
        </p:nvSpPr>
        <p:spPr>
          <a:xfrm>
            <a:off x="9601200" y="2468880"/>
            <a:ext cx="1828800" cy="548640"/>
          </a:xfrm>
          <a:prstGeom prst="rect">
            <a:avLst/>
          </a:prstGeom>
          <a:noFill/>
          <a:ln/>
        </p:spPr>
        <p:txBody>
          <a:bodyPr wrap="square" lIns="0" tIns="0" rIns="0" bIns="0" rtlCol="0" anchor="ctr"/>
          <a:lstStyle/>
          <a:p>
            <a:pPr indent="0" marL="0">
              <a:buNone/>
            </a:pPr>
            <a:r>
              <a:rPr lang="en-US" sz="1300" b="1" dirty="0">
                <a:solidFill>
                  <a:srgbClr val="13262A"/>
                </a:solidFill>
                <a:latin typeface="Calibri" pitchFamily="34" charset="0"/>
                <a:ea typeface="Calibri" pitchFamily="34" charset="-122"/>
                <a:cs typeface="Calibri" pitchFamily="34" charset="-120"/>
              </a:rPr>
              <a:t>Tín hiệu từ loss gợi ý (detach)</a:t>
            </a:r>
            <a:endParaRPr lang="en-US" sz="1300" dirty="0"/>
          </a:p>
        </p:txBody>
      </p:sp>
      <p:sp>
        <p:nvSpPr>
          <p:cNvPr id="25" name="Text 23"/>
          <p:cNvSpPr txBox="1"/>
          <p:nvPr/>
        </p:nvSpPr>
        <p:spPr>
          <a:xfrm>
            <a:off x="9601200" y="3017520"/>
            <a:ext cx="1828800"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M2: không có</a:t>
            </a:r>
            <a:endParaRPr lang="en-US" sz="1200" dirty="0"/>
          </a:p>
        </p:txBody>
      </p:sp>
      <p:sp>
        <p:nvSpPr>
          <p:cNvPr id="26" name="Shape 24"/>
          <p:cNvSpPr/>
          <p:nvPr/>
        </p:nvSpPr>
        <p:spPr>
          <a:xfrm>
            <a:off x="548640" y="3611880"/>
            <a:ext cx="2606040" cy="1051560"/>
          </a:xfrm>
          <a:prstGeom prst="roundRect">
            <a:avLst>
              <a:gd name="adj" fmla="val 6957"/>
            </a:avLst>
          </a:prstGeom>
          <a:solidFill>
            <a:srgbClr val="F4F7F7"/>
          </a:solidFill>
          <a:ln w="12700">
            <a:solidFill>
              <a:srgbClr val="F4F7F7"/>
            </a:solidFill>
            <a:prstDash val="solid"/>
          </a:ln>
        </p:spPr>
      </p:sp>
      <p:sp>
        <p:nvSpPr>
          <p:cNvPr id="27" name="Shape 25"/>
          <p:cNvSpPr/>
          <p:nvPr/>
        </p:nvSpPr>
        <p:spPr>
          <a:xfrm>
            <a:off x="685800" y="3749040"/>
            <a:ext cx="457200" cy="457200"/>
          </a:xfrm>
          <a:prstGeom prst="ellipse">
            <a:avLst/>
          </a:prstGeom>
          <a:solidFill>
            <a:srgbClr val="0F4C4F"/>
          </a:solidFill>
          <a:ln w="12700">
            <a:solidFill>
              <a:srgbClr val="0F4C4F"/>
            </a:solidFill>
            <a:prstDash val="solid"/>
          </a:ln>
        </p:spPr>
      </p:sp>
      <p:sp>
        <p:nvSpPr>
          <p:cNvPr id="28" name="Text 26"/>
          <p:cNvSpPr txBox="1"/>
          <p:nvPr/>
        </p:nvSpPr>
        <p:spPr>
          <a:xfrm>
            <a:off x="685800" y="37490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G5</a:t>
            </a:r>
            <a:endParaRPr lang="en-US" sz="1200" dirty="0"/>
          </a:p>
        </p:txBody>
      </p:sp>
      <p:sp>
        <p:nvSpPr>
          <p:cNvPr id="29" name="Text 27"/>
          <p:cNvSpPr txBox="1"/>
          <p:nvPr/>
        </p:nvSpPr>
        <p:spPr>
          <a:xfrm>
            <a:off x="1234440" y="3703320"/>
            <a:ext cx="1828800" cy="548640"/>
          </a:xfrm>
          <a:prstGeom prst="rect">
            <a:avLst/>
          </a:prstGeom>
          <a:noFill/>
          <a:ln/>
        </p:spPr>
        <p:txBody>
          <a:bodyPr wrap="square" lIns="0" tIns="0" rIns="0" bIns="0" rtlCol="0" anchor="ctr"/>
          <a:lstStyle/>
          <a:p>
            <a:pPr indent="0" marL="0">
              <a:buNone/>
            </a:pPr>
            <a:r>
              <a:rPr lang="en-US" sz="1300" b="1" dirty="0">
                <a:solidFill>
                  <a:srgbClr val="13262A"/>
                </a:solidFill>
                <a:latin typeface="Calibri" pitchFamily="34" charset="0"/>
                <a:ea typeface="Calibri" pitchFamily="34" charset="-122"/>
                <a:cs typeface="Calibri" pitchFamily="34" charset="-120"/>
              </a:rPr>
              <a:t>log Z(V⁰) học được</a:t>
            </a:r>
            <a:endParaRPr lang="en-US" sz="1300" dirty="0"/>
          </a:p>
        </p:txBody>
      </p:sp>
      <p:sp>
        <p:nvSpPr>
          <p:cNvPr id="30" name="Text 28"/>
          <p:cNvSpPr txBox="1"/>
          <p:nvPr/>
        </p:nvSpPr>
        <p:spPr>
          <a:xfrm>
            <a:off x="1234440" y="4251960"/>
            <a:ext cx="1828800"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M2: không có</a:t>
            </a:r>
            <a:endParaRPr lang="en-US" sz="1200" dirty="0"/>
          </a:p>
        </p:txBody>
      </p:sp>
      <p:sp>
        <p:nvSpPr>
          <p:cNvPr id="31" name="Shape 29"/>
          <p:cNvSpPr/>
          <p:nvPr/>
        </p:nvSpPr>
        <p:spPr>
          <a:xfrm>
            <a:off x="3337560" y="3611880"/>
            <a:ext cx="2606040" cy="1051560"/>
          </a:xfrm>
          <a:prstGeom prst="roundRect">
            <a:avLst>
              <a:gd name="adj" fmla="val 6957"/>
            </a:avLst>
          </a:prstGeom>
          <a:solidFill>
            <a:srgbClr val="F4F7F7"/>
          </a:solidFill>
          <a:ln w="12700">
            <a:solidFill>
              <a:srgbClr val="F4F7F7"/>
            </a:solidFill>
            <a:prstDash val="solid"/>
          </a:ln>
        </p:spPr>
      </p:sp>
      <p:sp>
        <p:nvSpPr>
          <p:cNvPr id="32" name="Shape 30"/>
          <p:cNvSpPr/>
          <p:nvPr/>
        </p:nvSpPr>
        <p:spPr>
          <a:xfrm>
            <a:off x="3474720" y="3749040"/>
            <a:ext cx="457200" cy="457200"/>
          </a:xfrm>
          <a:prstGeom prst="ellipse">
            <a:avLst/>
          </a:prstGeom>
          <a:solidFill>
            <a:srgbClr val="0F4C4F"/>
          </a:solidFill>
          <a:ln w="12700">
            <a:solidFill>
              <a:srgbClr val="0F4C4F"/>
            </a:solidFill>
            <a:prstDash val="solid"/>
          </a:ln>
        </p:spPr>
      </p:sp>
      <p:sp>
        <p:nvSpPr>
          <p:cNvPr id="33" name="Text 31"/>
          <p:cNvSpPr txBox="1"/>
          <p:nvPr/>
        </p:nvSpPr>
        <p:spPr>
          <a:xfrm>
            <a:off x="3474720" y="37490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G6</a:t>
            </a:r>
            <a:endParaRPr lang="en-US" sz="1200" dirty="0"/>
          </a:p>
        </p:txBody>
      </p:sp>
      <p:sp>
        <p:nvSpPr>
          <p:cNvPr id="34" name="Text 32"/>
          <p:cNvSpPr txBox="1"/>
          <p:nvPr/>
        </p:nvSpPr>
        <p:spPr>
          <a:xfrm>
            <a:off x="4023360" y="3703320"/>
            <a:ext cx="1828800" cy="548640"/>
          </a:xfrm>
          <a:prstGeom prst="rect">
            <a:avLst/>
          </a:prstGeom>
          <a:noFill/>
          <a:ln/>
        </p:spPr>
        <p:txBody>
          <a:bodyPr wrap="square" lIns="0" tIns="0" rIns="0" bIns="0" rtlCol="0" anchor="ctr"/>
          <a:lstStyle/>
          <a:p>
            <a:pPr indent="0" marL="0">
              <a:buNone/>
            </a:pPr>
            <a:r>
              <a:rPr lang="en-US" sz="1300" b="1" dirty="0">
                <a:solidFill>
                  <a:srgbClr val="13262A"/>
                </a:solidFill>
                <a:latin typeface="Calibri" pitchFamily="34" charset="0"/>
                <a:ea typeface="Calibri" pitchFamily="34" charset="-122"/>
                <a:cs typeface="Calibri" pitchFamily="34" charset="-120"/>
              </a:rPr>
              <a:t>Mục tiêu TB / REINFORCE</a:t>
            </a:r>
            <a:endParaRPr lang="en-US" sz="1300" dirty="0"/>
          </a:p>
        </p:txBody>
      </p:sp>
      <p:sp>
        <p:nvSpPr>
          <p:cNvPr id="35" name="Text 33"/>
          <p:cNvSpPr txBox="1"/>
          <p:nvPr/>
        </p:nvSpPr>
        <p:spPr>
          <a:xfrm>
            <a:off x="4023360" y="4251960"/>
            <a:ext cx="1828800"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M2: không có</a:t>
            </a:r>
            <a:endParaRPr lang="en-US" sz="1200" dirty="0"/>
          </a:p>
        </p:txBody>
      </p:sp>
      <p:sp>
        <p:nvSpPr>
          <p:cNvPr id="36" name="Shape 34"/>
          <p:cNvSpPr/>
          <p:nvPr/>
        </p:nvSpPr>
        <p:spPr>
          <a:xfrm>
            <a:off x="6126480" y="3611880"/>
            <a:ext cx="2606040" cy="1051560"/>
          </a:xfrm>
          <a:prstGeom prst="roundRect">
            <a:avLst>
              <a:gd name="adj" fmla="val 6957"/>
            </a:avLst>
          </a:prstGeom>
          <a:solidFill>
            <a:srgbClr val="F4F7F7"/>
          </a:solidFill>
          <a:ln w="12700">
            <a:solidFill>
              <a:srgbClr val="F4F7F7"/>
            </a:solidFill>
            <a:prstDash val="solid"/>
          </a:ln>
        </p:spPr>
      </p:sp>
      <p:sp>
        <p:nvSpPr>
          <p:cNvPr id="37" name="Shape 35"/>
          <p:cNvSpPr/>
          <p:nvPr/>
        </p:nvSpPr>
        <p:spPr>
          <a:xfrm>
            <a:off x="6263640" y="3749040"/>
            <a:ext cx="457200" cy="457200"/>
          </a:xfrm>
          <a:prstGeom prst="ellipse">
            <a:avLst/>
          </a:prstGeom>
          <a:solidFill>
            <a:srgbClr val="0F4C4F"/>
          </a:solidFill>
          <a:ln w="12700">
            <a:solidFill>
              <a:srgbClr val="0F4C4F"/>
            </a:solidFill>
            <a:prstDash val="solid"/>
          </a:ln>
        </p:spPr>
      </p:sp>
      <p:sp>
        <p:nvSpPr>
          <p:cNvPr id="38" name="Text 36"/>
          <p:cNvSpPr txBox="1"/>
          <p:nvPr/>
        </p:nvSpPr>
        <p:spPr>
          <a:xfrm>
            <a:off x="6263640" y="37490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G7</a:t>
            </a:r>
            <a:endParaRPr lang="en-US" sz="1200" dirty="0"/>
          </a:p>
        </p:txBody>
      </p:sp>
      <p:sp>
        <p:nvSpPr>
          <p:cNvPr id="39" name="Text 37"/>
          <p:cNvSpPr txBox="1"/>
          <p:nvPr/>
        </p:nvSpPr>
        <p:spPr>
          <a:xfrm>
            <a:off x="6812280" y="3703320"/>
            <a:ext cx="1828800" cy="548640"/>
          </a:xfrm>
          <a:prstGeom prst="rect">
            <a:avLst/>
          </a:prstGeom>
          <a:noFill/>
          <a:ln/>
        </p:spPr>
        <p:txBody>
          <a:bodyPr wrap="square" lIns="0" tIns="0" rIns="0" bIns="0" rtlCol="0" anchor="ctr"/>
          <a:lstStyle/>
          <a:p>
            <a:pPr indent="0" marL="0">
              <a:buNone/>
            </a:pPr>
            <a:r>
              <a:rPr lang="en-US" sz="1300" b="1" dirty="0">
                <a:solidFill>
                  <a:srgbClr val="13262A"/>
                </a:solidFill>
                <a:latin typeface="Calibri" pitchFamily="34" charset="0"/>
                <a:ea typeface="Calibri" pitchFamily="34" charset="-122"/>
                <a:cs typeface="Calibri" pitchFamily="34" charset="-120"/>
              </a:rPr>
              <a:t>Sampler thực sự được cập nhật</a:t>
            </a:r>
            <a:endParaRPr lang="en-US" sz="1300" dirty="0"/>
          </a:p>
        </p:txBody>
      </p:sp>
      <p:sp>
        <p:nvSpPr>
          <p:cNvPr id="40" name="Text 38"/>
          <p:cNvSpPr txBox="1"/>
          <p:nvPr/>
        </p:nvSpPr>
        <p:spPr>
          <a:xfrm>
            <a:off x="6812280" y="4251960"/>
            <a:ext cx="1828800"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M2: không có</a:t>
            </a:r>
            <a:endParaRPr lang="en-US" sz="1200" dirty="0"/>
          </a:p>
        </p:txBody>
      </p:sp>
      <p:sp>
        <p:nvSpPr>
          <p:cNvPr id="41" name="Shape 39"/>
          <p:cNvSpPr/>
          <p:nvPr/>
        </p:nvSpPr>
        <p:spPr>
          <a:xfrm>
            <a:off x="8915400" y="3611880"/>
            <a:ext cx="2697480" cy="1051560"/>
          </a:xfrm>
          <a:prstGeom prst="roundRect">
            <a:avLst>
              <a:gd name="adj" fmla="val 6957"/>
            </a:avLst>
          </a:prstGeom>
          <a:solidFill>
            <a:srgbClr val="FCF1DF"/>
          </a:solidFill>
          <a:ln w="12700">
            <a:solidFill>
              <a:srgbClr val="FCF1DF"/>
            </a:solidFill>
            <a:prstDash val="solid"/>
          </a:ln>
        </p:spPr>
      </p:sp>
      <p:sp>
        <p:nvSpPr>
          <p:cNvPr id="42" name="Text 40"/>
          <p:cNvSpPr txBox="1"/>
          <p:nvPr/>
        </p:nvSpPr>
        <p:spPr>
          <a:xfrm>
            <a:off x="9098280" y="3730752"/>
            <a:ext cx="2331720" cy="420624"/>
          </a:xfrm>
          <a:prstGeom prst="rect">
            <a:avLst/>
          </a:prstGeom>
          <a:noFill/>
          <a:ln/>
        </p:spPr>
        <p:txBody>
          <a:bodyPr wrap="square" lIns="0" tIns="0" rIns="0" bIns="0" rtlCol="0" anchor="ctr"/>
          <a:lstStyle/>
          <a:p>
            <a:pPr indent="0" marL="0">
              <a:buNone/>
            </a:pPr>
            <a:r>
              <a:rPr lang="en-US" sz="1400" b="1" dirty="0">
                <a:solidFill>
                  <a:srgbClr val="13262A"/>
                </a:solidFill>
                <a:latin typeface="Calibri" pitchFamily="34" charset="0"/>
                <a:ea typeface="Calibri" pitchFamily="34" charset="-122"/>
                <a:cs typeface="Calibri" pitchFamily="34" charset="-120"/>
              </a:rPr>
              <a:t>GRAPES-GFN-Rec</a:t>
            </a:r>
            <a:endParaRPr lang="en-US" sz="1400" dirty="0"/>
          </a:p>
        </p:txBody>
      </p:sp>
      <p:sp>
        <p:nvSpPr>
          <p:cNvPr id="43" name="Text 41"/>
          <p:cNvSpPr txBox="1"/>
          <p:nvPr/>
        </p:nvSpPr>
        <p:spPr>
          <a:xfrm>
            <a:off x="9098280" y="4224528"/>
            <a:ext cx="2331720" cy="365760"/>
          </a:xfrm>
          <a:prstGeom prst="rect">
            <a:avLst/>
          </a:prstGeom>
          <a:noFill/>
          <a:ln/>
        </p:spPr>
        <p:txBody>
          <a:bodyPr wrap="square" lIns="0" tIns="0" rIns="0" bIns="0" rtlCol="0" anchor="t"/>
          <a:lstStyle/>
          <a:p>
            <a:pPr indent="0" marL="0">
              <a:spcAft>
                <a:spcPts val="300"/>
              </a:spcAft>
              <a:buNone/>
            </a:pPr>
            <a:r>
              <a:rPr lang="en-US" sz="1200" dirty="0">
                <a:solidFill>
                  <a:srgbClr val="13262A"/>
                </a:solidFill>
                <a:latin typeface="Calibri" pitchFamily="34" charset="0"/>
                <a:ea typeface="Calibri" pitchFamily="34" charset="-122"/>
                <a:cs typeface="Calibri" pitchFamily="34" charset="-120"/>
              </a:rPr>
              <a:t>Đủ G1–G7, có oracle test cho từng mục</a:t>
            </a:r>
            <a:endParaRPr lang="en-US" sz="1200" dirty="0"/>
          </a:p>
        </p:txBody>
      </p:sp>
      <p:sp>
        <p:nvSpPr>
          <p:cNvPr id="44" name="Text 42"/>
          <p:cNvSpPr txBox="1"/>
          <p:nvPr/>
        </p:nvSpPr>
        <p:spPr>
          <a:xfrm>
            <a:off x="548640" y="4983480"/>
            <a:ext cx="11064240" cy="11887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3262A"/>
                </a:solidFill>
                <a:latin typeface="Calibri" pitchFamily="34" charset="0"/>
                <a:ea typeface="Calibri" pitchFamily="34" charset="-122"/>
                <a:cs typeface="Calibri" pitchFamily="34" charset="-120"/>
              </a:rPr>
              <a:t>Pilot vẫn có ích: kiểm chứng dữ liệu, evaluator, và cho hai bài học về budget (chỉ ~300 bước tối ưu) và backbone yếu (Full LightGCN NDCG@20 0,0049 &lt; MostPop 0,0059).</a:t>
            </a:r>
            <a:endParaRPr lang="en-US" sz="1400" dirty="0"/>
          </a:p>
          <a:p>
            <a:pPr marL="203200" indent="-203200">
              <a:spcAft>
                <a:spcPts val="600"/>
              </a:spcAft>
              <a:buSzPct val="100000"/>
              <a:buChar char="•"/>
            </a:pPr>
            <a:r>
              <a:rPr lang="en-US" sz="1400" dirty="0">
                <a:solidFill>
                  <a:srgbClr val="13262A"/>
                </a:solidFill>
                <a:latin typeface="Calibri" pitchFamily="34" charset="0"/>
                <a:ea typeface="Calibri" pitchFamily="34" charset="-122"/>
                <a:cs typeface="Calibri" pitchFamily="34" charset="-120"/>
              </a:rPr>
              <a:t>Pilot được lưu trữ ở phụ lục, không dùng làm kết luận hay để chọn cấu hình cho phương pháp mới.</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Chọn dữ liệu: Amazon Reviews'23, Baby_Products</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7</a:t>
            </a:r>
            <a:endParaRPr lang="en-US" sz="1000" dirty="0"/>
          </a:p>
        </p:txBody>
      </p:sp>
      <p:graphicFrame>
        <p:nvGraphicFramePr>
          <p:cNvPr id="5" name="Chart 0" descr=""/>
          <p:cNvGraphicFramePr/>
          <p:nvPr/>
        </p:nvGraphicFramePr>
        <p:xfrm>
          <a:off x="548640" y="1463040"/>
          <a:ext cx="5486400" cy="44805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309360" y="1463040"/>
            <a:ext cx="5303520" cy="1325880"/>
          </a:xfrm>
          <a:prstGeom prst="roundRect">
            <a:avLst>
              <a:gd name="adj" fmla="val 5517"/>
            </a:avLst>
          </a:prstGeom>
          <a:solidFill>
            <a:srgbClr val="F4F7F7"/>
          </a:solidFill>
          <a:ln w="12700">
            <a:solidFill>
              <a:srgbClr val="F4F7F7"/>
            </a:solidFill>
            <a:prstDash val="solid"/>
          </a:ln>
        </p:spPr>
      </p:sp>
      <p:sp>
        <p:nvSpPr>
          <p:cNvPr id="7" name="Text 4"/>
          <p:cNvSpPr txBox="1"/>
          <p:nvPr/>
        </p:nvSpPr>
        <p:spPr>
          <a:xfrm>
            <a:off x="6492240" y="1581912"/>
            <a:ext cx="493776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All_Beauty — kiểm tra pipeline</a:t>
            </a:r>
            <a:endParaRPr lang="en-US" sz="1600" dirty="0"/>
          </a:p>
        </p:txBody>
      </p:sp>
      <p:sp>
        <p:nvSpPr>
          <p:cNvPr id="8" name="Text 5"/>
          <p:cNvSpPr txBox="1"/>
          <p:nvPr/>
        </p:nvSpPr>
        <p:spPr>
          <a:xfrm>
            <a:off x="6492240" y="2075688"/>
            <a:ext cx="4937760" cy="64008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0,69 triệu dòng. Quá nhỏ; chỉ 3,98% target validation còn warm-start.</a:t>
            </a:r>
            <a:endParaRPr lang="en-US" sz="1300" dirty="0"/>
          </a:p>
        </p:txBody>
      </p:sp>
      <p:sp>
        <p:nvSpPr>
          <p:cNvPr id="9" name="Shape 6"/>
          <p:cNvSpPr/>
          <p:nvPr/>
        </p:nvSpPr>
        <p:spPr>
          <a:xfrm>
            <a:off x="6309360" y="2926080"/>
            <a:ext cx="5303520" cy="1600200"/>
          </a:xfrm>
          <a:prstGeom prst="roundRect">
            <a:avLst>
              <a:gd name="adj" fmla="val 4571"/>
            </a:avLst>
          </a:prstGeom>
          <a:solidFill>
            <a:srgbClr val="FCF1DF"/>
          </a:solidFill>
          <a:ln w="12700">
            <a:solidFill>
              <a:srgbClr val="FCF1DF"/>
            </a:solidFill>
            <a:prstDash val="solid"/>
          </a:ln>
        </p:spPr>
      </p:sp>
      <p:sp>
        <p:nvSpPr>
          <p:cNvPr id="10" name="Text 7"/>
          <p:cNvSpPr txBox="1"/>
          <p:nvPr/>
        </p:nvSpPr>
        <p:spPr>
          <a:xfrm>
            <a:off x="6492240" y="3044952"/>
            <a:ext cx="493776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Baby_Products — dữ liệu chính</a:t>
            </a:r>
            <a:endParaRPr lang="en-US" sz="1600" dirty="0"/>
          </a:p>
        </p:txBody>
      </p:sp>
      <p:sp>
        <p:nvSpPr>
          <p:cNvPr id="11" name="Text 8"/>
          <p:cNvSpPr txBox="1"/>
          <p:nvPr/>
        </p:nvSpPr>
        <p:spPr>
          <a:xfrm>
            <a:off x="6492240" y="3538728"/>
            <a:ext cx="4937760" cy="91440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5,95 triệu dòng, 3,39 triệu user, 217.654 item. Đủ lớn để thấy chi phí sampling, long-tail rõ, vẫn chạy được ma trận thí nghiệm trên Colab T4.</a:t>
            </a:r>
            <a:endParaRPr lang="en-US" sz="1300" dirty="0"/>
          </a:p>
        </p:txBody>
      </p:sp>
      <p:sp>
        <p:nvSpPr>
          <p:cNvPr id="12" name="Shape 9"/>
          <p:cNvSpPr/>
          <p:nvPr/>
        </p:nvSpPr>
        <p:spPr>
          <a:xfrm>
            <a:off x="6309360" y="4663440"/>
            <a:ext cx="5303520" cy="1325880"/>
          </a:xfrm>
          <a:prstGeom prst="roundRect">
            <a:avLst>
              <a:gd name="adj" fmla="val 5517"/>
            </a:avLst>
          </a:prstGeom>
          <a:solidFill>
            <a:srgbClr val="F4F7F7"/>
          </a:solidFill>
          <a:ln w="12700">
            <a:solidFill>
              <a:srgbClr val="F4F7F7"/>
            </a:solidFill>
            <a:prstDash val="solid"/>
          </a:ln>
        </p:spPr>
      </p:sp>
      <p:sp>
        <p:nvSpPr>
          <p:cNvPr id="13" name="Text 10"/>
          <p:cNvSpPr txBox="1"/>
          <p:nvPr/>
        </p:nvSpPr>
        <p:spPr>
          <a:xfrm>
            <a:off x="6492240" y="4782312"/>
            <a:ext cx="493776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Home_and_Kitchen — tham chiếu quy mô</a:t>
            </a:r>
            <a:endParaRPr lang="en-US" sz="1600" dirty="0"/>
          </a:p>
        </p:txBody>
      </p:sp>
      <p:sp>
        <p:nvSpPr>
          <p:cNvPr id="14" name="Text 11"/>
          <p:cNvSpPr txBox="1"/>
          <p:nvPr/>
        </p:nvSpPr>
        <p:spPr>
          <a:xfrm>
            <a:off x="6492240" y="5276088"/>
            <a:ext cx="4937760" cy="64008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66,6 triệu dòng (11,2 lần Baby). Dành cho stress test sau khi có kết quả Baby.</a:t>
            </a:r>
            <a:endParaRPr lang="en-US" sz="1300" dirty="0"/>
          </a:p>
        </p:txBody>
      </p:sp>
      <p:sp>
        <p:nvSpPr>
          <p:cNvPr id="15" name="Text 12"/>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Đã cân nhắc MovieLens 25M, Gowalla, Yelp2018, MIND, KuaiRec: phù hợp câu hỏi khác (nội dung, exposure, split ngẫu nhiên) — dùng làm bối cảnh, chưa chạy.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Phân tích dữ liệu: nhiễu, mất cân bằng, long-tail</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8</a:t>
            </a:r>
            <a:endParaRPr lang="en-US" sz="1000" dirty="0"/>
          </a:p>
        </p:txBody>
      </p:sp>
      <p:graphicFrame>
        <p:nvGraphicFramePr>
          <p:cNvPr id="5" name="Chart 0" descr=""/>
          <p:cNvGraphicFramePr/>
          <p:nvPr/>
        </p:nvGraphicFramePr>
        <p:xfrm>
          <a:off x="457200" y="1417320"/>
          <a:ext cx="374904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57200" y="3977640"/>
          <a:ext cx="3749040" cy="2286000"/>
        </p:xfrm>
        <a:graphic xmlns:a="http://schemas.openxmlformats.org/drawingml/2006/main">
          <a:graphicData uri="http://schemas.openxmlformats.org/drawingml/2006/chart">
            <c:chart xmlns:c="http://schemas.openxmlformats.org/drawingml/2006/chart" r:id="rId2"/>
          </a:graphicData>
        </a:graphic>
      </p:graphicFrame>
      <p:pic>
        <p:nvPicPr>
          <p:cNvPr id="7" name="Image 0" descr="img/02_degree_long_tail.png">    </p:cNvPr>
          <p:cNvPicPr>
            <a:picLocks noChangeAspect="1"/>
          </p:cNvPicPr>
          <p:nvPr/>
        </p:nvPicPr>
        <p:blipFill>
          <a:blip r:embed="rId3"/>
          <a:stretch>
            <a:fillRect/>
          </a:stretch>
        </p:blipFill>
        <p:spPr>
          <a:xfrm>
            <a:off x="4389120" y="1417320"/>
            <a:ext cx="4114800" cy="2624328"/>
          </a:xfrm>
          <a:prstGeom prst="rect">
            <a:avLst/>
          </a:prstGeom>
        </p:spPr>
      </p:pic>
      <p:sp>
        <p:nvSpPr>
          <p:cNvPr id="8" name="Text 3"/>
          <p:cNvSpPr txBox="1"/>
          <p:nvPr/>
        </p:nvSpPr>
        <p:spPr>
          <a:xfrm>
            <a:off x="4389120" y="4206240"/>
            <a:ext cx="2011680" cy="502920"/>
          </a:xfrm>
          <a:prstGeom prst="rect">
            <a:avLst/>
          </a:prstGeom>
          <a:noFill/>
          <a:ln/>
        </p:spPr>
        <p:txBody>
          <a:bodyPr wrap="square" lIns="0" tIns="0" rIns="0" bIns="0" rtlCol="0" anchor="ctr"/>
          <a:lstStyle/>
          <a:p>
            <a:pPr indent="0" marL="0">
              <a:buNone/>
            </a:pPr>
            <a:r>
              <a:rPr lang="en-US" sz="2600" b="1" dirty="0">
                <a:solidFill>
                  <a:srgbClr val="C8553D"/>
                </a:solidFill>
                <a:latin typeface="Cambria" pitchFamily="34" charset="0"/>
                <a:ea typeface="Cambria" pitchFamily="34" charset="-122"/>
                <a:cs typeface="Cambria" pitchFamily="34" charset="-120"/>
              </a:rPr>
              <a:t>71,76%</a:t>
            </a:r>
            <a:endParaRPr lang="en-US" sz="2600" dirty="0"/>
          </a:p>
        </p:txBody>
      </p:sp>
      <p:sp>
        <p:nvSpPr>
          <p:cNvPr id="9" name="Text 4"/>
          <p:cNvSpPr txBox="1"/>
          <p:nvPr/>
        </p:nvSpPr>
        <p:spPr>
          <a:xfrm>
            <a:off x="4389120" y="4709160"/>
            <a:ext cx="2011680" cy="411480"/>
          </a:xfrm>
          <a:prstGeom prst="rect">
            <a:avLst/>
          </a:prstGeom>
          <a:noFill/>
          <a:ln/>
        </p:spPr>
        <p:txBody>
          <a:bodyPr wrap="square" lIns="0" tIns="0" rIns="0" bIns="0" rtlCol="0" anchor="t"/>
          <a:lstStyle/>
          <a:p>
            <a:pPr indent="0" marL="0">
              <a:buNone/>
            </a:pPr>
            <a:r>
              <a:rPr lang="en-US" sz="1100" dirty="0">
                <a:solidFill>
                  <a:srgbClr val="5E6B6E"/>
                </a:solidFill>
                <a:latin typeface="Calibri" pitchFamily="34" charset="0"/>
                <a:ea typeface="Calibri" pitchFamily="34" charset="-122"/>
                <a:cs typeface="Calibri" pitchFamily="34" charset="-120"/>
              </a:rPr>
              <a:t>user train chỉ có 1 interaction</a:t>
            </a:r>
            <a:endParaRPr lang="en-US" sz="1100" dirty="0"/>
          </a:p>
        </p:txBody>
      </p:sp>
      <p:sp>
        <p:nvSpPr>
          <p:cNvPr id="10" name="Text 5"/>
          <p:cNvSpPr txBox="1"/>
          <p:nvPr/>
        </p:nvSpPr>
        <p:spPr>
          <a:xfrm>
            <a:off x="6492240" y="4206240"/>
            <a:ext cx="2011680" cy="502920"/>
          </a:xfrm>
          <a:prstGeom prst="rect">
            <a:avLst/>
          </a:prstGeom>
          <a:noFill/>
          <a:ln/>
        </p:spPr>
        <p:txBody>
          <a:bodyPr wrap="square" lIns="0" tIns="0" rIns="0" bIns="0" rtlCol="0" anchor="ctr"/>
          <a:lstStyle/>
          <a:p>
            <a:pPr indent="0" marL="0">
              <a:buNone/>
            </a:pPr>
            <a:r>
              <a:rPr lang="en-US" sz="2600" b="1" dirty="0">
                <a:solidFill>
                  <a:srgbClr val="C8553D"/>
                </a:solidFill>
                <a:latin typeface="Cambria" pitchFamily="34" charset="0"/>
                <a:ea typeface="Cambria" pitchFamily="34" charset="-122"/>
                <a:cs typeface="Cambria" pitchFamily="34" charset="-120"/>
              </a:rPr>
              <a:t>0,8584</a:t>
            </a:r>
            <a:endParaRPr lang="en-US" sz="2600" dirty="0"/>
          </a:p>
        </p:txBody>
      </p:sp>
      <p:sp>
        <p:nvSpPr>
          <p:cNvPr id="11" name="Text 6"/>
          <p:cNvSpPr txBox="1"/>
          <p:nvPr/>
        </p:nvSpPr>
        <p:spPr>
          <a:xfrm>
            <a:off x="6492240" y="4709160"/>
            <a:ext cx="2011680" cy="411480"/>
          </a:xfrm>
          <a:prstGeom prst="rect">
            <a:avLst/>
          </a:prstGeom>
          <a:noFill/>
          <a:ln/>
        </p:spPr>
        <p:txBody>
          <a:bodyPr wrap="square" lIns="0" tIns="0" rIns="0" bIns="0" rtlCol="0" anchor="t"/>
          <a:lstStyle/>
          <a:p>
            <a:pPr indent="0" marL="0">
              <a:buNone/>
            </a:pPr>
            <a:r>
              <a:rPr lang="en-US" sz="1100" dirty="0">
                <a:solidFill>
                  <a:srgbClr val="5E6B6E"/>
                </a:solidFill>
                <a:latin typeface="Calibri" pitchFamily="34" charset="0"/>
                <a:ea typeface="Calibri" pitchFamily="34" charset="-122"/>
                <a:cs typeface="Calibri" pitchFamily="34" charset="-120"/>
              </a:rPr>
              <a:t>Gini bậc item</a:t>
            </a:r>
            <a:endParaRPr lang="en-US" sz="1100" dirty="0"/>
          </a:p>
        </p:txBody>
      </p:sp>
      <p:sp>
        <p:nvSpPr>
          <p:cNvPr id="12" name="Text 7"/>
          <p:cNvSpPr txBox="1"/>
          <p:nvPr/>
        </p:nvSpPr>
        <p:spPr>
          <a:xfrm>
            <a:off x="4389120" y="5257800"/>
            <a:ext cx="2011680" cy="502920"/>
          </a:xfrm>
          <a:prstGeom prst="rect">
            <a:avLst/>
          </a:prstGeom>
          <a:noFill/>
          <a:ln/>
        </p:spPr>
        <p:txBody>
          <a:bodyPr wrap="square" lIns="0" tIns="0" rIns="0" bIns="0" rtlCol="0" anchor="ctr"/>
          <a:lstStyle/>
          <a:p>
            <a:pPr indent="0" marL="0">
              <a:buNone/>
            </a:pPr>
            <a:r>
              <a:rPr lang="en-US" sz="2600" b="1" dirty="0">
                <a:solidFill>
                  <a:srgbClr val="2E7D7A"/>
                </a:solidFill>
                <a:latin typeface="Cambria" pitchFamily="34" charset="0"/>
                <a:ea typeface="Cambria" pitchFamily="34" charset="-122"/>
                <a:cs typeface="Cambria" pitchFamily="34" charset="-120"/>
              </a:rPr>
              <a:t>1 dòng</a:t>
            </a:r>
            <a:endParaRPr lang="en-US" sz="2600" dirty="0"/>
          </a:p>
        </p:txBody>
      </p:sp>
      <p:sp>
        <p:nvSpPr>
          <p:cNvPr id="13" name="Text 8"/>
          <p:cNvSpPr txBox="1"/>
          <p:nvPr/>
        </p:nvSpPr>
        <p:spPr>
          <a:xfrm>
            <a:off x="4389120" y="5760720"/>
            <a:ext cx="2011680" cy="411480"/>
          </a:xfrm>
          <a:prstGeom prst="rect">
            <a:avLst/>
          </a:prstGeom>
          <a:noFill/>
          <a:ln/>
        </p:spPr>
        <p:txBody>
          <a:bodyPr wrap="square" lIns="0" tIns="0" rIns="0" bIns="0" rtlCol="0" anchor="t"/>
          <a:lstStyle/>
          <a:p>
            <a:pPr indent="0" marL="0">
              <a:buNone/>
            </a:pPr>
            <a:r>
              <a:rPr lang="en-US" sz="1100" dirty="0">
                <a:solidFill>
                  <a:srgbClr val="5E6B6E"/>
                </a:solidFill>
                <a:latin typeface="Calibri" pitchFamily="34" charset="0"/>
                <a:ea typeface="Calibri" pitchFamily="34" charset="-122"/>
                <a:cs typeface="Calibri" pitchFamily="34" charset="-120"/>
              </a:rPr>
              <a:t>rating 0.0 ngoài miền → loại</a:t>
            </a:r>
            <a:endParaRPr lang="en-US" sz="1100" dirty="0"/>
          </a:p>
        </p:txBody>
      </p:sp>
      <p:sp>
        <p:nvSpPr>
          <p:cNvPr id="14" name="Text 9"/>
          <p:cNvSpPr txBox="1"/>
          <p:nvPr/>
        </p:nvSpPr>
        <p:spPr>
          <a:xfrm>
            <a:off x="6492240" y="5257800"/>
            <a:ext cx="2011680" cy="502920"/>
          </a:xfrm>
          <a:prstGeom prst="rect">
            <a:avLst/>
          </a:prstGeom>
          <a:noFill/>
          <a:ln/>
        </p:spPr>
        <p:txBody>
          <a:bodyPr wrap="square" lIns="0" tIns="0" rIns="0" bIns="0" rtlCol="0" anchor="ctr"/>
          <a:lstStyle/>
          <a:p>
            <a:pPr indent="0" marL="0">
              <a:buNone/>
            </a:pPr>
            <a:r>
              <a:rPr lang="en-US" sz="2600" b="1" dirty="0">
                <a:solidFill>
                  <a:srgbClr val="2E7D7A"/>
                </a:solidFill>
                <a:latin typeface="Cambria" pitchFamily="34" charset="0"/>
                <a:ea typeface="Cambria" pitchFamily="34" charset="-122"/>
                <a:cs typeface="Cambria" pitchFamily="34" charset="-120"/>
              </a:rPr>
              <a:t>0</a:t>
            </a:r>
            <a:endParaRPr lang="en-US" sz="2600" dirty="0"/>
          </a:p>
        </p:txBody>
      </p:sp>
      <p:sp>
        <p:nvSpPr>
          <p:cNvPr id="15" name="Text 10"/>
          <p:cNvSpPr txBox="1"/>
          <p:nvPr/>
        </p:nvSpPr>
        <p:spPr>
          <a:xfrm>
            <a:off x="6492240" y="5760720"/>
            <a:ext cx="2011680" cy="411480"/>
          </a:xfrm>
          <a:prstGeom prst="rect">
            <a:avLst/>
          </a:prstGeom>
          <a:noFill/>
          <a:ln/>
        </p:spPr>
        <p:txBody>
          <a:bodyPr wrap="square" lIns="0" tIns="0" rIns="0" bIns="0" rtlCol="0" anchor="t"/>
          <a:lstStyle/>
          <a:p>
            <a:pPr indent="0" marL="0">
              <a:buNone/>
            </a:pPr>
            <a:r>
              <a:rPr lang="en-US" sz="1100" dirty="0">
                <a:solidFill>
                  <a:srgbClr val="5E6B6E"/>
                </a:solidFill>
                <a:latin typeface="Calibri" pitchFamily="34" charset="0"/>
                <a:ea typeface="Calibri" pitchFamily="34" charset="-122"/>
                <a:cs typeface="Calibri" pitchFamily="34" charset="-120"/>
              </a:rPr>
              <a:t>dòng trùng, thiếu ID, sai timestamp</a:t>
            </a:r>
            <a:endParaRPr lang="en-US" sz="1100" dirty="0"/>
          </a:p>
        </p:txBody>
      </p:sp>
      <p:sp>
        <p:nvSpPr>
          <p:cNvPr id="16" name="Shape 11"/>
          <p:cNvSpPr/>
          <p:nvPr/>
        </p:nvSpPr>
        <p:spPr>
          <a:xfrm>
            <a:off x="8732520" y="1417320"/>
            <a:ext cx="2926080" cy="4846320"/>
          </a:xfrm>
          <a:prstGeom prst="roundRect">
            <a:avLst>
              <a:gd name="adj" fmla="val 2500"/>
            </a:avLst>
          </a:prstGeom>
          <a:solidFill>
            <a:srgbClr val="FCF1DF"/>
          </a:solidFill>
          <a:ln w="12700">
            <a:solidFill>
              <a:srgbClr val="FCF1DF"/>
            </a:solidFill>
            <a:prstDash val="solid"/>
          </a:ln>
        </p:spPr>
      </p:sp>
      <p:sp>
        <p:nvSpPr>
          <p:cNvPr id="17" name="Text 12"/>
          <p:cNvSpPr txBox="1"/>
          <p:nvPr/>
        </p:nvSpPr>
        <p:spPr>
          <a:xfrm>
            <a:off x="8915400" y="1536192"/>
            <a:ext cx="256032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Hệ quả cho thiết kế</a:t>
            </a:r>
            <a:endParaRPr lang="en-US" sz="1600" dirty="0"/>
          </a:p>
        </p:txBody>
      </p:sp>
      <p:sp>
        <p:nvSpPr>
          <p:cNvPr id="18" name="Text 13"/>
          <p:cNvSpPr txBox="1"/>
          <p:nvPr/>
        </p:nvSpPr>
        <p:spPr>
          <a:xfrm>
            <a:off x="8915400" y="1965960"/>
            <a:ext cx="2606040" cy="420624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3262A"/>
                </a:solidFill>
                <a:latin typeface="Calibri" pitchFamily="34" charset="0"/>
                <a:ea typeface="Calibri" pitchFamily="34" charset="-122"/>
                <a:cs typeface="Calibri" pitchFamily="34" charset="-120"/>
              </a:rPr>
              <a:t>Nhiễu thấp: chỉ loại 1 dòng; không lọc k-core để không làm mất long-tail thật.</a:t>
            </a:r>
            <a:endParaRPr lang="en-US" sz="1300" dirty="0"/>
          </a:p>
          <a:p>
            <a:pPr marL="203200" indent="-203200">
              <a:spcAft>
                <a:spcPts val="600"/>
              </a:spcAft>
              <a:buSzPct val="100000"/>
              <a:buChar char="•"/>
            </a:pPr>
            <a:r>
              <a:rPr lang="en-US" sz="1300" dirty="0">
                <a:solidFill>
                  <a:srgbClr val="13262A"/>
                </a:solidFill>
                <a:latin typeface="Calibri" pitchFamily="34" charset="0"/>
                <a:ea typeface="Calibri" pitchFamily="34" charset="-122"/>
                <a:cs typeface="Calibri" pitchFamily="34" charset="-120"/>
              </a:rPr>
              <a:t>Mất cân bằng mạnh → score tổng có thể tăng chỉ nhờ item phổ biến. Phải báo exposure/hit theo head–body–tail.</a:t>
            </a:r>
            <a:endParaRPr lang="en-US" sz="1300" dirty="0"/>
          </a:p>
          <a:p>
            <a:pPr marL="203200" indent="-203200">
              <a:spcAft>
                <a:spcPts val="600"/>
              </a:spcAft>
              <a:buSzPct val="100000"/>
              <a:buChar char="•"/>
            </a:pPr>
            <a:r>
              <a:rPr lang="en-US" sz="1300" dirty="0">
                <a:solidFill>
                  <a:srgbClr val="13262A"/>
                </a:solidFill>
                <a:latin typeface="Calibri" pitchFamily="34" charset="0"/>
                <a:ea typeface="Calibri" pitchFamily="34" charset="-122"/>
                <a:cs typeface="Calibri" pitchFamily="34" charset="-120"/>
              </a:rPr>
              <a:t>User gần như không có ngữ cảnh riêng → lựa chọn sampler có ý nghĩa chủ yếu ở layer đi qua item.</a:t>
            </a:r>
            <a:endParaRPr lang="en-US" sz="1300" dirty="0"/>
          </a:p>
          <a:p>
            <a:pPr marL="203200" indent="-203200">
              <a:spcAft>
                <a:spcPts val="600"/>
              </a:spcAft>
              <a:buSzPct val="100000"/>
              <a:buChar char="•"/>
            </a:pPr>
            <a:r>
              <a:rPr lang="en-US" sz="1300" dirty="0">
                <a:solidFill>
                  <a:srgbClr val="13262A"/>
                </a:solidFill>
                <a:latin typeface="Calibri" pitchFamily="34" charset="0"/>
                <a:ea typeface="Calibri" pitchFamily="34" charset="-122"/>
                <a:cs typeface="Calibri" pitchFamily="34" charset="-120"/>
              </a:rPr>
              <a:t>Sampler học được có thể dồn về hub → theo dõi bậc/nhóm của node được chọn.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PROTOCOL</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Đường đi dữ liệu và chia theo thời gian</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48640" y="1508760"/>
            <a:ext cx="1645920" cy="502920"/>
          </a:xfrm>
          <a:prstGeom prst="roundRect">
            <a:avLst>
              <a:gd name="adj" fmla="val 10909"/>
            </a:avLst>
          </a:prstGeom>
          <a:solidFill>
            <a:srgbClr val="0F4C4F"/>
          </a:solidFill>
          <a:ln w="12700">
            <a:solidFill>
              <a:srgbClr val="0F4C4F"/>
            </a:solidFill>
            <a:prstDash val="solid"/>
          </a:ln>
        </p:spPr>
      </p:sp>
      <p:sp>
        <p:nvSpPr>
          <p:cNvPr id="6" name="Text 4"/>
          <p:cNvSpPr txBox="1"/>
          <p:nvPr/>
        </p:nvSpPr>
        <p:spPr>
          <a:xfrm>
            <a:off x="621792" y="1508760"/>
            <a:ext cx="1499616"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Raw CSV</a:t>
            </a:r>
            <a:endParaRPr lang="en-US" sz="1400" dirty="0"/>
          </a:p>
        </p:txBody>
      </p:sp>
      <p:sp>
        <p:nvSpPr>
          <p:cNvPr id="7" name="Text 5"/>
          <p:cNvSpPr txBox="1"/>
          <p:nvPr/>
        </p:nvSpPr>
        <p:spPr>
          <a:xfrm>
            <a:off x="548640" y="2057400"/>
            <a:ext cx="1645920" cy="640080"/>
          </a:xfrm>
          <a:prstGeom prst="rect">
            <a:avLst/>
          </a:prstGeom>
          <a:noFill/>
          <a:ln/>
        </p:spPr>
        <p:txBody>
          <a:bodyPr wrap="square" lIns="0" tIns="0" rIns="0" bIns="0" rtlCol="0" anchor="t"/>
          <a:lstStyle/>
          <a:p>
            <a:pPr algn="ctr" indent="0" marL="0">
              <a:buNone/>
            </a:pPr>
            <a:r>
              <a:rPr lang="en-US" sz="1200" dirty="0">
                <a:solidFill>
                  <a:srgbClr val="5E6B6E"/>
                </a:solidFill>
                <a:latin typeface="Calibri" pitchFamily="34" charset="0"/>
                <a:ea typeface="Calibri" pitchFamily="34" charset="-122"/>
                <a:cs typeface="Calibri" pitchFamily="34" charset="-120"/>
              </a:rPr>
              <a:t>5,95 tr dòng</a:t>
            </a:r>
            <a:endParaRPr lang="en-US" sz="1200" dirty="0"/>
          </a:p>
          <a:p>
            <a:pPr algn="ctr" indent="0" marL="0">
              <a:buNone/>
            </a:pPr>
            <a:r>
              <a:rPr lang="en-US" sz="1200" dirty="0">
                <a:solidFill>
                  <a:srgbClr val="5E6B6E"/>
                </a:solidFill>
                <a:latin typeface="Calibri" pitchFamily="34" charset="0"/>
                <a:ea typeface="Calibri" pitchFamily="34" charset="-122"/>
                <a:cs typeface="Calibri" pitchFamily="34" charset="-120"/>
              </a:rPr>
              <a:t>kiểm SHA-256</a:t>
            </a:r>
            <a:endParaRPr lang="en-US" sz="1200" dirty="0"/>
          </a:p>
        </p:txBody>
      </p:sp>
      <p:sp>
        <p:nvSpPr>
          <p:cNvPr id="8" name="Shape 6"/>
          <p:cNvSpPr/>
          <p:nvPr/>
        </p:nvSpPr>
        <p:spPr>
          <a:xfrm>
            <a:off x="2194560" y="1760220"/>
            <a:ext cx="246888" cy="914"/>
          </a:xfrm>
          <a:prstGeom prst="line">
            <a:avLst/>
          </a:prstGeom>
          <a:noFill/>
          <a:ln w="22225">
            <a:solidFill>
              <a:srgbClr val="5E6B6E"/>
            </a:solidFill>
            <a:prstDash val="solid"/>
            <a:tailEnd type="triangle"/>
          </a:ln>
        </p:spPr>
      </p:sp>
      <p:sp>
        <p:nvSpPr>
          <p:cNvPr id="9" name="Shape 7"/>
          <p:cNvSpPr/>
          <p:nvPr/>
        </p:nvSpPr>
        <p:spPr>
          <a:xfrm>
            <a:off x="2441448" y="1508760"/>
            <a:ext cx="1645920" cy="502920"/>
          </a:xfrm>
          <a:prstGeom prst="roundRect">
            <a:avLst>
              <a:gd name="adj" fmla="val 10909"/>
            </a:avLst>
          </a:prstGeom>
          <a:solidFill>
            <a:srgbClr val="0F4C4F"/>
          </a:solidFill>
          <a:ln w="12700">
            <a:solidFill>
              <a:srgbClr val="0F4C4F"/>
            </a:solidFill>
            <a:prstDash val="solid"/>
          </a:ln>
        </p:spPr>
      </p:sp>
      <p:sp>
        <p:nvSpPr>
          <p:cNvPr id="10" name="Text 8"/>
          <p:cNvSpPr txBox="1"/>
          <p:nvPr/>
        </p:nvSpPr>
        <p:spPr>
          <a:xfrm>
            <a:off x="2514600" y="1508760"/>
            <a:ext cx="1499616"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Audit</a:t>
            </a:r>
            <a:endParaRPr lang="en-US" sz="1400" dirty="0"/>
          </a:p>
        </p:txBody>
      </p:sp>
      <p:sp>
        <p:nvSpPr>
          <p:cNvPr id="11" name="Text 9"/>
          <p:cNvSpPr txBox="1"/>
          <p:nvPr/>
        </p:nvSpPr>
        <p:spPr>
          <a:xfrm>
            <a:off x="2441448" y="2057400"/>
            <a:ext cx="1645920" cy="640080"/>
          </a:xfrm>
          <a:prstGeom prst="rect">
            <a:avLst/>
          </a:prstGeom>
          <a:noFill/>
          <a:ln/>
        </p:spPr>
        <p:txBody>
          <a:bodyPr wrap="square" lIns="0" tIns="0" rIns="0" bIns="0" rtlCol="0" anchor="t"/>
          <a:lstStyle/>
          <a:p>
            <a:pPr algn="ctr" indent="0" marL="0">
              <a:buNone/>
            </a:pPr>
            <a:r>
              <a:rPr lang="en-US" sz="1200" dirty="0">
                <a:solidFill>
                  <a:srgbClr val="5E6B6E"/>
                </a:solidFill>
                <a:latin typeface="Calibri" pitchFamily="34" charset="0"/>
                <a:ea typeface="Calibri" pitchFamily="34" charset="-122"/>
                <a:cs typeface="Calibri" pitchFamily="34" charset="-120"/>
              </a:rPr>
              <a:t>schema, trùng,</a:t>
            </a:r>
            <a:endParaRPr lang="en-US" sz="1200" dirty="0"/>
          </a:p>
          <a:p>
            <a:pPr algn="ctr" indent="0" marL="0">
              <a:buNone/>
            </a:pPr>
            <a:r>
              <a:rPr lang="en-US" sz="1200" dirty="0">
                <a:solidFill>
                  <a:srgbClr val="5E6B6E"/>
                </a:solidFill>
                <a:latin typeface="Calibri" pitchFamily="34" charset="0"/>
                <a:ea typeface="Calibri" pitchFamily="34" charset="-122"/>
                <a:cs typeface="Calibri" pitchFamily="34" charset="-120"/>
              </a:rPr>
              <a:t>nhiễu, rating</a:t>
            </a:r>
            <a:endParaRPr lang="en-US" sz="1200" dirty="0"/>
          </a:p>
        </p:txBody>
      </p:sp>
      <p:sp>
        <p:nvSpPr>
          <p:cNvPr id="12" name="Shape 10"/>
          <p:cNvSpPr/>
          <p:nvPr/>
        </p:nvSpPr>
        <p:spPr>
          <a:xfrm>
            <a:off x="4087368" y="1760220"/>
            <a:ext cx="246888" cy="914"/>
          </a:xfrm>
          <a:prstGeom prst="line">
            <a:avLst/>
          </a:prstGeom>
          <a:noFill/>
          <a:ln w="22225">
            <a:solidFill>
              <a:srgbClr val="5E6B6E"/>
            </a:solidFill>
            <a:prstDash val="solid"/>
            <a:tailEnd type="triangle"/>
          </a:ln>
        </p:spPr>
      </p:sp>
      <p:sp>
        <p:nvSpPr>
          <p:cNvPr id="13" name="Shape 11"/>
          <p:cNvSpPr/>
          <p:nvPr/>
        </p:nvSpPr>
        <p:spPr>
          <a:xfrm>
            <a:off x="4334256" y="1508760"/>
            <a:ext cx="1645920" cy="502920"/>
          </a:xfrm>
          <a:prstGeom prst="roundRect">
            <a:avLst>
              <a:gd name="adj" fmla="val 10909"/>
            </a:avLst>
          </a:prstGeom>
          <a:solidFill>
            <a:srgbClr val="0F4C4F"/>
          </a:solidFill>
          <a:ln w="12700">
            <a:solidFill>
              <a:srgbClr val="0F4C4F"/>
            </a:solidFill>
            <a:prstDash val="solid"/>
          </a:ln>
        </p:spPr>
      </p:sp>
      <p:sp>
        <p:nvSpPr>
          <p:cNvPr id="14" name="Text 12"/>
          <p:cNvSpPr txBox="1"/>
          <p:nvPr/>
        </p:nvSpPr>
        <p:spPr>
          <a:xfrm>
            <a:off x="4407408" y="1508760"/>
            <a:ext cx="1499616"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P4</a:t>
            </a:r>
            <a:endParaRPr lang="en-US" sz="1400" dirty="0"/>
          </a:p>
        </p:txBody>
      </p:sp>
      <p:sp>
        <p:nvSpPr>
          <p:cNvPr id="15" name="Text 13"/>
          <p:cNvSpPr txBox="1"/>
          <p:nvPr/>
        </p:nvSpPr>
        <p:spPr>
          <a:xfrm>
            <a:off x="4334256" y="2057400"/>
            <a:ext cx="1645920" cy="640080"/>
          </a:xfrm>
          <a:prstGeom prst="rect">
            <a:avLst/>
          </a:prstGeom>
          <a:noFill/>
          <a:ln/>
        </p:spPr>
        <p:txBody>
          <a:bodyPr wrap="square" lIns="0" tIns="0" rIns="0" bIns="0" rtlCol="0" anchor="t"/>
          <a:lstStyle/>
          <a:p>
            <a:pPr algn="ctr" indent="0" marL="0">
              <a:buNone/>
            </a:pPr>
            <a:r>
              <a:rPr lang="en-US" sz="1200" dirty="0">
                <a:solidFill>
                  <a:srgbClr val="5E6B6E"/>
                </a:solidFill>
                <a:latin typeface="Calibri" pitchFamily="34" charset="0"/>
                <a:ea typeface="Calibri" pitchFamily="34" charset="-122"/>
                <a:cs typeface="Calibri" pitchFamily="34" charset="-120"/>
              </a:rPr>
              <a:t>4–5★ → positive</a:t>
            </a:r>
            <a:endParaRPr lang="en-US" sz="1200" dirty="0"/>
          </a:p>
          <a:p>
            <a:pPr algn="ctr" indent="0" marL="0">
              <a:buNone/>
            </a:pPr>
            <a:r>
              <a:rPr lang="en-US" sz="1200" dirty="0">
                <a:solidFill>
                  <a:srgbClr val="5E6B6E"/>
                </a:solidFill>
                <a:latin typeface="Calibri" pitchFamily="34" charset="0"/>
                <a:ea typeface="Calibri" pitchFamily="34" charset="-122"/>
                <a:cs typeface="Calibri" pitchFamily="34" charset="-120"/>
              </a:rPr>
              <a:t>4,66 tr dòng</a:t>
            </a:r>
            <a:endParaRPr lang="en-US" sz="1200" dirty="0"/>
          </a:p>
        </p:txBody>
      </p:sp>
      <p:sp>
        <p:nvSpPr>
          <p:cNvPr id="16" name="Shape 14"/>
          <p:cNvSpPr/>
          <p:nvPr/>
        </p:nvSpPr>
        <p:spPr>
          <a:xfrm>
            <a:off x="5980176" y="1760220"/>
            <a:ext cx="246888" cy="914"/>
          </a:xfrm>
          <a:prstGeom prst="line">
            <a:avLst/>
          </a:prstGeom>
          <a:noFill/>
          <a:ln w="22225">
            <a:solidFill>
              <a:srgbClr val="5E6B6E"/>
            </a:solidFill>
            <a:prstDash val="solid"/>
            <a:tailEnd type="triangle"/>
          </a:ln>
        </p:spPr>
      </p:sp>
      <p:sp>
        <p:nvSpPr>
          <p:cNvPr id="17" name="Shape 15"/>
          <p:cNvSpPr/>
          <p:nvPr/>
        </p:nvSpPr>
        <p:spPr>
          <a:xfrm>
            <a:off x="6227064" y="1508760"/>
            <a:ext cx="1645920" cy="502920"/>
          </a:xfrm>
          <a:prstGeom prst="roundRect">
            <a:avLst>
              <a:gd name="adj" fmla="val 10909"/>
            </a:avLst>
          </a:prstGeom>
          <a:solidFill>
            <a:srgbClr val="E89B2D"/>
          </a:solidFill>
          <a:ln w="12700">
            <a:solidFill>
              <a:srgbClr val="E89B2D"/>
            </a:solidFill>
            <a:prstDash val="solid"/>
          </a:ln>
        </p:spPr>
      </p:sp>
      <p:sp>
        <p:nvSpPr>
          <p:cNvPr id="18" name="Text 16"/>
          <p:cNvSpPr txBox="1"/>
          <p:nvPr/>
        </p:nvSpPr>
        <p:spPr>
          <a:xfrm>
            <a:off x="6300216" y="1508760"/>
            <a:ext cx="1499616" cy="502920"/>
          </a:xfrm>
          <a:prstGeom prst="rect">
            <a:avLst/>
          </a:prstGeom>
          <a:noFill/>
          <a:ln/>
        </p:spPr>
        <p:txBody>
          <a:bodyPr wrap="square" lIns="0" tIns="0" rIns="0" bIns="0" rtlCol="0" anchor="ctr"/>
          <a:lstStyle/>
          <a:p>
            <a:pPr algn="ctr" indent="0" marL="0">
              <a:buNone/>
            </a:pPr>
            <a:r>
              <a:rPr lang="en-US" sz="1400" b="1" dirty="0">
                <a:solidFill>
                  <a:srgbClr val="13262A"/>
                </a:solidFill>
                <a:latin typeface="Calibri" pitchFamily="34" charset="0"/>
                <a:ea typeface="Calibri" pitchFamily="34" charset="-122"/>
                <a:cs typeface="Calibri" pitchFamily="34" charset="-120"/>
              </a:rPr>
              <a:t>Chia thời gian</a:t>
            </a:r>
            <a:endParaRPr lang="en-US" sz="1400" dirty="0"/>
          </a:p>
        </p:txBody>
      </p:sp>
      <p:sp>
        <p:nvSpPr>
          <p:cNvPr id="19" name="Text 17"/>
          <p:cNvSpPr txBox="1"/>
          <p:nvPr/>
        </p:nvSpPr>
        <p:spPr>
          <a:xfrm>
            <a:off x="6227064" y="2057400"/>
            <a:ext cx="1645920" cy="640080"/>
          </a:xfrm>
          <a:prstGeom prst="rect">
            <a:avLst/>
          </a:prstGeom>
          <a:noFill/>
          <a:ln/>
        </p:spPr>
        <p:txBody>
          <a:bodyPr wrap="square" lIns="0" tIns="0" rIns="0" bIns="0" rtlCol="0" anchor="t"/>
          <a:lstStyle/>
          <a:p>
            <a:pPr algn="ctr" indent="0" marL="0">
              <a:buNone/>
            </a:pPr>
            <a:r>
              <a:rPr lang="en-US" sz="1200" dirty="0">
                <a:solidFill>
                  <a:srgbClr val="5E6B6E"/>
                </a:solidFill>
                <a:latin typeface="Calibri" pitchFamily="34" charset="0"/>
                <a:ea typeface="Calibri" pitchFamily="34" charset="-122"/>
                <a:cs typeface="Calibri" pitchFamily="34" charset="-120"/>
              </a:rPr>
              <a:t>t0 &lt; t1 &lt; t2</a:t>
            </a:r>
            <a:endParaRPr lang="en-US" sz="1200" dirty="0"/>
          </a:p>
        </p:txBody>
      </p:sp>
      <p:sp>
        <p:nvSpPr>
          <p:cNvPr id="20" name="Shape 18"/>
          <p:cNvSpPr/>
          <p:nvPr/>
        </p:nvSpPr>
        <p:spPr>
          <a:xfrm>
            <a:off x="7872984" y="1760220"/>
            <a:ext cx="246888" cy="914"/>
          </a:xfrm>
          <a:prstGeom prst="line">
            <a:avLst/>
          </a:prstGeom>
          <a:noFill/>
          <a:ln w="22225">
            <a:solidFill>
              <a:srgbClr val="5E6B6E"/>
            </a:solidFill>
            <a:prstDash val="solid"/>
            <a:tailEnd type="triangle"/>
          </a:ln>
        </p:spPr>
      </p:sp>
      <p:sp>
        <p:nvSpPr>
          <p:cNvPr id="21" name="Shape 19"/>
          <p:cNvSpPr/>
          <p:nvPr/>
        </p:nvSpPr>
        <p:spPr>
          <a:xfrm>
            <a:off x="8119872" y="1508760"/>
            <a:ext cx="1645920" cy="502920"/>
          </a:xfrm>
          <a:prstGeom prst="roundRect">
            <a:avLst>
              <a:gd name="adj" fmla="val 10909"/>
            </a:avLst>
          </a:prstGeom>
          <a:solidFill>
            <a:srgbClr val="0F4C4F"/>
          </a:solidFill>
          <a:ln w="12700">
            <a:solidFill>
              <a:srgbClr val="0F4C4F"/>
            </a:solidFill>
            <a:prstDash val="solid"/>
          </a:ln>
        </p:spPr>
      </p:sp>
      <p:sp>
        <p:nvSpPr>
          <p:cNvPr id="22" name="Text 20"/>
          <p:cNvSpPr txBox="1"/>
          <p:nvPr/>
        </p:nvSpPr>
        <p:spPr>
          <a:xfrm>
            <a:off x="8193024" y="1508760"/>
            <a:ext cx="1499616"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Graph train</a:t>
            </a:r>
            <a:endParaRPr lang="en-US" sz="1400" dirty="0"/>
          </a:p>
        </p:txBody>
      </p:sp>
      <p:sp>
        <p:nvSpPr>
          <p:cNvPr id="23" name="Text 21"/>
          <p:cNvSpPr txBox="1"/>
          <p:nvPr/>
        </p:nvSpPr>
        <p:spPr>
          <a:xfrm>
            <a:off x="8119872" y="2057400"/>
            <a:ext cx="1645920" cy="640080"/>
          </a:xfrm>
          <a:prstGeom prst="rect">
            <a:avLst/>
          </a:prstGeom>
          <a:noFill/>
          <a:ln/>
        </p:spPr>
        <p:txBody>
          <a:bodyPr wrap="square" lIns="0" tIns="0" rIns="0" bIns="0" rtlCol="0" anchor="t"/>
          <a:lstStyle/>
          <a:p>
            <a:pPr algn="ctr" indent="0" marL="0">
              <a:buNone/>
            </a:pPr>
            <a:r>
              <a:rPr lang="en-US" sz="1200" dirty="0">
                <a:solidFill>
                  <a:srgbClr val="5E6B6E"/>
                </a:solidFill>
                <a:latin typeface="Calibri" pitchFamily="34" charset="0"/>
                <a:ea typeface="Calibri" pitchFamily="34" charset="-122"/>
                <a:cs typeface="Calibri" pitchFamily="34" charset="-120"/>
              </a:rPr>
              <a:t>chỉ cạnh quá khứ</a:t>
            </a:r>
            <a:endParaRPr lang="en-US" sz="1200" dirty="0"/>
          </a:p>
          <a:p>
            <a:pPr algn="ctr" indent="0" marL="0">
              <a:buNone/>
            </a:pPr>
            <a:r>
              <a:rPr lang="en-US" sz="1200" dirty="0">
                <a:solidFill>
                  <a:srgbClr val="5E6B6E"/>
                </a:solidFill>
                <a:latin typeface="Calibri" pitchFamily="34" charset="0"/>
                <a:ea typeface="Calibri" pitchFamily="34" charset="-122"/>
                <a:cs typeface="Calibri" pitchFamily="34" charset="-120"/>
              </a:rPr>
              <a:t>mapping ID</a:t>
            </a:r>
            <a:endParaRPr lang="en-US" sz="1200" dirty="0"/>
          </a:p>
        </p:txBody>
      </p:sp>
      <p:sp>
        <p:nvSpPr>
          <p:cNvPr id="24" name="Shape 22"/>
          <p:cNvSpPr/>
          <p:nvPr/>
        </p:nvSpPr>
        <p:spPr>
          <a:xfrm>
            <a:off x="9765792" y="1760220"/>
            <a:ext cx="246888" cy="914"/>
          </a:xfrm>
          <a:prstGeom prst="line">
            <a:avLst/>
          </a:prstGeom>
          <a:noFill/>
          <a:ln w="22225">
            <a:solidFill>
              <a:srgbClr val="5E6B6E"/>
            </a:solidFill>
            <a:prstDash val="solid"/>
            <a:tailEnd type="triangle"/>
          </a:ln>
        </p:spPr>
      </p:sp>
      <p:sp>
        <p:nvSpPr>
          <p:cNvPr id="25" name="Shape 23"/>
          <p:cNvSpPr/>
          <p:nvPr/>
        </p:nvSpPr>
        <p:spPr>
          <a:xfrm>
            <a:off x="10012680" y="1508760"/>
            <a:ext cx="1645920" cy="502920"/>
          </a:xfrm>
          <a:prstGeom prst="roundRect">
            <a:avLst>
              <a:gd name="adj" fmla="val 10909"/>
            </a:avLst>
          </a:prstGeom>
          <a:solidFill>
            <a:srgbClr val="0F4C4F"/>
          </a:solidFill>
          <a:ln w="12700">
            <a:solidFill>
              <a:srgbClr val="0F4C4F"/>
            </a:solidFill>
            <a:prstDash val="solid"/>
          </a:ln>
        </p:spPr>
      </p:sp>
      <p:sp>
        <p:nvSpPr>
          <p:cNvPr id="26" name="Text 24"/>
          <p:cNvSpPr txBox="1"/>
          <p:nvPr/>
        </p:nvSpPr>
        <p:spPr>
          <a:xfrm>
            <a:off x="10085832" y="1508760"/>
            <a:ext cx="1499616"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Train + đánh giá</a:t>
            </a:r>
            <a:endParaRPr lang="en-US" sz="1400" dirty="0"/>
          </a:p>
        </p:txBody>
      </p:sp>
      <p:sp>
        <p:nvSpPr>
          <p:cNvPr id="27" name="Text 25"/>
          <p:cNvSpPr txBox="1"/>
          <p:nvPr/>
        </p:nvSpPr>
        <p:spPr>
          <a:xfrm>
            <a:off x="10012680" y="2057400"/>
            <a:ext cx="1645920" cy="640080"/>
          </a:xfrm>
          <a:prstGeom prst="rect">
            <a:avLst/>
          </a:prstGeom>
          <a:noFill/>
          <a:ln/>
        </p:spPr>
        <p:txBody>
          <a:bodyPr wrap="square" lIns="0" tIns="0" rIns="0" bIns="0" rtlCol="0" anchor="t"/>
          <a:lstStyle/>
          <a:p>
            <a:pPr algn="ctr" indent="0" marL="0">
              <a:buNone/>
            </a:pPr>
            <a:r>
              <a:rPr lang="en-US" sz="1200" dirty="0">
                <a:solidFill>
                  <a:srgbClr val="5E6B6E"/>
                </a:solidFill>
                <a:latin typeface="Calibri" pitchFamily="34" charset="0"/>
                <a:ea typeface="Calibri" pitchFamily="34" charset="-122"/>
                <a:cs typeface="Calibri" pitchFamily="34" charset="-120"/>
              </a:rPr>
              <a:t>sampled train,</a:t>
            </a:r>
            <a:endParaRPr lang="en-US" sz="1200" dirty="0"/>
          </a:p>
          <a:p>
            <a:pPr algn="ctr" indent="0" marL="0">
              <a:buNone/>
            </a:pPr>
            <a:r>
              <a:rPr lang="en-US" sz="1200" dirty="0">
                <a:solidFill>
                  <a:srgbClr val="5E6B6E"/>
                </a:solidFill>
                <a:latin typeface="Calibri" pitchFamily="34" charset="0"/>
                <a:ea typeface="Calibri" pitchFamily="34" charset="-122"/>
                <a:cs typeface="Calibri" pitchFamily="34" charset="-120"/>
              </a:rPr>
              <a:t>full-graph rank</a:t>
            </a:r>
            <a:endParaRPr lang="en-US" sz="1200" dirty="0"/>
          </a:p>
        </p:txBody>
      </p:sp>
      <p:sp>
        <p:nvSpPr>
          <p:cNvPr id="28" name="Shape 26"/>
          <p:cNvSpPr/>
          <p:nvPr/>
        </p:nvSpPr>
        <p:spPr>
          <a:xfrm>
            <a:off x="731520" y="3429000"/>
            <a:ext cx="10698480" cy="0"/>
          </a:xfrm>
          <a:prstGeom prst="line">
            <a:avLst/>
          </a:prstGeom>
          <a:noFill/>
          <a:ln w="25400">
            <a:solidFill>
              <a:srgbClr val="13262A"/>
            </a:solidFill>
            <a:prstDash val="solid"/>
          </a:ln>
        </p:spPr>
      </p:sp>
      <p:sp>
        <p:nvSpPr>
          <p:cNvPr id="29" name="Shape 27"/>
          <p:cNvSpPr/>
          <p:nvPr/>
        </p:nvSpPr>
        <p:spPr>
          <a:xfrm>
            <a:off x="731520" y="3566160"/>
            <a:ext cx="4389120" cy="502920"/>
          </a:xfrm>
          <a:prstGeom prst="rect">
            <a:avLst/>
          </a:prstGeom>
          <a:solidFill>
            <a:srgbClr val="E6F0EF"/>
          </a:solidFill>
          <a:ln w="12700">
            <a:solidFill>
              <a:srgbClr val="FFFFFF"/>
            </a:solidFill>
            <a:prstDash val="solid"/>
          </a:ln>
        </p:spPr>
      </p:sp>
      <p:sp>
        <p:nvSpPr>
          <p:cNvPr id="30" name="Text 28"/>
          <p:cNvSpPr txBox="1"/>
          <p:nvPr/>
        </p:nvSpPr>
        <p:spPr>
          <a:xfrm>
            <a:off x="777240" y="3566160"/>
            <a:ext cx="4297680" cy="502920"/>
          </a:xfrm>
          <a:prstGeom prst="rect">
            <a:avLst/>
          </a:prstGeom>
          <a:noFill/>
          <a:ln/>
        </p:spPr>
        <p:txBody>
          <a:bodyPr wrap="square" lIns="0" tIns="0" rIns="0" bIns="0" rtlCol="0" anchor="ctr"/>
          <a:lstStyle/>
          <a:p>
            <a:pPr algn="ctr" indent="0" marL="0">
              <a:buNone/>
            </a:pPr>
            <a:r>
              <a:rPr lang="en-US" sz="1200" b="1" dirty="0">
                <a:solidFill>
                  <a:srgbClr val="13262A"/>
                </a:solidFill>
                <a:latin typeface="Calibri" pitchFamily="34" charset="0"/>
                <a:ea typeface="Calibri" pitchFamily="34" charset="-122"/>
                <a:cs typeface="Calibri" pitchFamily="34" charset="-120"/>
              </a:rPr>
              <a:t>G_dev_train: phát triển phương pháp</a:t>
            </a:r>
            <a:endParaRPr lang="en-US" sz="1200" dirty="0"/>
          </a:p>
        </p:txBody>
      </p:sp>
      <p:sp>
        <p:nvSpPr>
          <p:cNvPr id="31" name="Shape 29"/>
          <p:cNvSpPr/>
          <p:nvPr/>
        </p:nvSpPr>
        <p:spPr>
          <a:xfrm>
            <a:off x="5120640" y="3566160"/>
            <a:ext cx="2103120" cy="502920"/>
          </a:xfrm>
          <a:prstGeom prst="rect">
            <a:avLst/>
          </a:prstGeom>
          <a:solidFill>
            <a:srgbClr val="2E7D7A"/>
          </a:solidFill>
          <a:ln w="12700">
            <a:solidFill>
              <a:srgbClr val="FFFFFF"/>
            </a:solidFill>
            <a:prstDash val="solid"/>
          </a:ln>
        </p:spPr>
      </p:sp>
      <p:sp>
        <p:nvSpPr>
          <p:cNvPr id="32" name="Text 30"/>
          <p:cNvSpPr txBox="1"/>
          <p:nvPr/>
        </p:nvSpPr>
        <p:spPr>
          <a:xfrm>
            <a:off x="5166360" y="3566160"/>
            <a:ext cx="201168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D_dev: chọn cấu hình</a:t>
            </a:r>
            <a:endParaRPr lang="en-US" sz="1200" dirty="0"/>
          </a:p>
        </p:txBody>
      </p:sp>
      <p:sp>
        <p:nvSpPr>
          <p:cNvPr id="33" name="Shape 31"/>
          <p:cNvSpPr/>
          <p:nvPr/>
        </p:nvSpPr>
        <p:spPr>
          <a:xfrm>
            <a:off x="7223760" y="3566160"/>
            <a:ext cx="2103120" cy="502920"/>
          </a:xfrm>
          <a:prstGeom prst="rect">
            <a:avLst/>
          </a:prstGeom>
          <a:solidFill>
            <a:srgbClr val="E89B2D"/>
          </a:solidFill>
          <a:ln w="12700">
            <a:solidFill>
              <a:srgbClr val="FFFFFF"/>
            </a:solidFill>
            <a:prstDash val="solid"/>
          </a:ln>
        </p:spPr>
      </p:sp>
      <p:sp>
        <p:nvSpPr>
          <p:cNvPr id="34" name="Text 32"/>
          <p:cNvSpPr txBox="1"/>
          <p:nvPr/>
        </p:nvSpPr>
        <p:spPr>
          <a:xfrm>
            <a:off x="7269480" y="3566160"/>
            <a:ext cx="2011680" cy="502920"/>
          </a:xfrm>
          <a:prstGeom prst="rect">
            <a:avLst/>
          </a:prstGeom>
          <a:noFill/>
          <a:ln/>
        </p:spPr>
        <p:txBody>
          <a:bodyPr wrap="square" lIns="0" tIns="0" rIns="0" bIns="0" rtlCol="0" anchor="ctr"/>
          <a:lstStyle/>
          <a:p>
            <a:pPr algn="ctr" indent="0" marL="0">
              <a:buNone/>
            </a:pPr>
            <a:r>
              <a:rPr lang="en-US" sz="1200" b="1" dirty="0">
                <a:solidFill>
                  <a:srgbClr val="13262A"/>
                </a:solidFill>
                <a:latin typeface="Calibri" pitchFamily="34" charset="0"/>
                <a:ea typeface="Calibri" pitchFamily="34" charset="-122"/>
                <a:cs typeface="Calibri" pitchFamily="34" charset="-120"/>
              </a:rPr>
              <a:t>Validation: holdout sau freeze</a:t>
            </a:r>
            <a:endParaRPr lang="en-US" sz="1200" dirty="0"/>
          </a:p>
        </p:txBody>
      </p:sp>
      <p:sp>
        <p:nvSpPr>
          <p:cNvPr id="35" name="Shape 33"/>
          <p:cNvSpPr/>
          <p:nvPr/>
        </p:nvSpPr>
        <p:spPr>
          <a:xfrm>
            <a:off x="9326880" y="3566160"/>
            <a:ext cx="2103120" cy="502920"/>
          </a:xfrm>
          <a:prstGeom prst="rect">
            <a:avLst/>
          </a:prstGeom>
          <a:solidFill>
            <a:srgbClr val="C8553D"/>
          </a:solidFill>
          <a:ln w="12700">
            <a:solidFill>
              <a:srgbClr val="FFFFFF"/>
            </a:solidFill>
            <a:prstDash val="solid"/>
          </a:ln>
        </p:spPr>
      </p:sp>
      <p:sp>
        <p:nvSpPr>
          <p:cNvPr id="36" name="Text 34"/>
          <p:cNvSpPr txBox="1"/>
          <p:nvPr/>
        </p:nvSpPr>
        <p:spPr>
          <a:xfrm>
            <a:off x="9372600" y="3566160"/>
            <a:ext cx="201168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Test: chưa đọc</a:t>
            </a:r>
            <a:endParaRPr lang="en-US" sz="1200" dirty="0"/>
          </a:p>
        </p:txBody>
      </p:sp>
      <p:sp>
        <p:nvSpPr>
          <p:cNvPr id="37" name="Shape 35"/>
          <p:cNvSpPr/>
          <p:nvPr/>
        </p:nvSpPr>
        <p:spPr>
          <a:xfrm>
            <a:off x="5120640" y="3154680"/>
            <a:ext cx="0" cy="411480"/>
          </a:xfrm>
          <a:prstGeom prst="line">
            <a:avLst/>
          </a:prstGeom>
          <a:noFill/>
          <a:ln w="19050">
            <a:solidFill>
              <a:srgbClr val="13262A"/>
            </a:solidFill>
            <a:prstDash val="solid"/>
          </a:ln>
        </p:spPr>
      </p:sp>
      <p:sp>
        <p:nvSpPr>
          <p:cNvPr id="38" name="Text 36"/>
          <p:cNvSpPr txBox="1"/>
          <p:nvPr/>
        </p:nvSpPr>
        <p:spPr>
          <a:xfrm>
            <a:off x="4023360" y="2788920"/>
            <a:ext cx="2194560" cy="320040"/>
          </a:xfrm>
          <a:prstGeom prst="rect">
            <a:avLst/>
          </a:prstGeom>
          <a:noFill/>
          <a:ln/>
        </p:spPr>
        <p:txBody>
          <a:bodyPr wrap="square" lIns="0" tIns="0" rIns="0" bIns="0" rtlCol="0" anchor="ctr"/>
          <a:lstStyle/>
          <a:p>
            <a:pPr algn="ctr" indent="0" marL="0">
              <a:buNone/>
            </a:pPr>
            <a:r>
              <a:rPr lang="en-US" sz="1200" dirty="0">
                <a:solidFill>
                  <a:srgbClr val="13262A"/>
                </a:solidFill>
                <a:latin typeface="Calibri" pitchFamily="34" charset="0"/>
                <a:ea typeface="Calibri" pitchFamily="34" charset="-122"/>
                <a:cs typeface="Calibri" pitchFamily="34" charset="-120"/>
              </a:rPr>
              <a:t>t0 = t1 − (t2 − t1)</a:t>
            </a:r>
            <a:endParaRPr lang="en-US" sz="1200" dirty="0"/>
          </a:p>
        </p:txBody>
      </p:sp>
      <p:sp>
        <p:nvSpPr>
          <p:cNvPr id="39" name="Shape 37"/>
          <p:cNvSpPr/>
          <p:nvPr/>
        </p:nvSpPr>
        <p:spPr>
          <a:xfrm>
            <a:off x="7223760" y="3154680"/>
            <a:ext cx="0" cy="411480"/>
          </a:xfrm>
          <a:prstGeom prst="line">
            <a:avLst/>
          </a:prstGeom>
          <a:noFill/>
          <a:ln w="19050">
            <a:solidFill>
              <a:srgbClr val="13262A"/>
            </a:solidFill>
            <a:prstDash val="solid"/>
          </a:ln>
        </p:spPr>
      </p:sp>
      <p:sp>
        <p:nvSpPr>
          <p:cNvPr id="40" name="Text 38"/>
          <p:cNvSpPr txBox="1"/>
          <p:nvPr/>
        </p:nvSpPr>
        <p:spPr>
          <a:xfrm>
            <a:off x="6126480" y="2788920"/>
            <a:ext cx="2194560" cy="320040"/>
          </a:xfrm>
          <a:prstGeom prst="rect">
            <a:avLst/>
          </a:prstGeom>
          <a:noFill/>
          <a:ln/>
        </p:spPr>
        <p:txBody>
          <a:bodyPr wrap="square" lIns="0" tIns="0" rIns="0" bIns="0" rtlCol="0" anchor="ctr"/>
          <a:lstStyle/>
          <a:p>
            <a:pPr algn="ctr" indent="0" marL="0">
              <a:buNone/>
            </a:pPr>
            <a:r>
              <a:rPr lang="en-US" sz="1200" dirty="0">
                <a:solidFill>
                  <a:srgbClr val="13262A"/>
                </a:solidFill>
                <a:latin typeface="Calibri" pitchFamily="34" charset="0"/>
                <a:ea typeface="Calibri" pitchFamily="34" charset="-122"/>
                <a:cs typeface="Calibri" pitchFamily="34" charset="-120"/>
              </a:rPr>
              <a:t>t1 (2021-08-11)</a:t>
            </a:r>
            <a:endParaRPr lang="en-US" sz="1200" dirty="0"/>
          </a:p>
        </p:txBody>
      </p:sp>
      <p:sp>
        <p:nvSpPr>
          <p:cNvPr id="41" name="Shape 39"/>
          <p:cNvSpPr/>
          <p:nvPr/>
        </p:nvSpPr>
        <p:spPr>
          <a:xfrm>
            <a:off x="9326880" y="3154680"/>
            <a:ext cx="0" cy="411480"/>
          </a:xfrm>
          <a:prstGeom prst="line">
            <a:avLst/>
          </a:prstGeom>
          <a:noFill/>
          <a:ln w="19050">
            <a:solidFill>
              <a:srgbClr val="13262A"/>
            </a:solidFill>
            <a:prstDash val="solid"/>
          </a:ln>
        </p:spPr>
      </p:sp>
      <p:sp>
        <p:nvSpPr>
          <p:cNvPr id="42" name="Text 40"/>
          <p:cNvSpPr txBox="1"/>
          <p:nvPr/>
        </p:nvSpPr>
        <p:spPr>
          <a:xfrm>
            <a:off x="8229600" y="2788920"/>
            <a:ext cx="2194560" cy="320040"/>
          </a:xfrm>
          <a:prstGeom prst="rect">
            <a:avLst/>
          </a:prstGeom>
          <a:noFill/>
          <a:ln/>
        </p:spPr>
        <p:txBody>
          <a:bodyPr wrap="square" lIns="0" tIns="0" rIns="0" bIns="0" rtlCol="0" anchor="ctr"/>
          <a:lstStyle/>
          <a:p>
            <a:pPr algn="ctr" indent="0" marL="0">
              <a:buNone/>
            </a:pPr>
            <a:r>
              <a:rPr lang="en-US" sz="1200" dirty="0">
                <a:solidFill>
                  <a:srgbClr val="13262A"/>
                </a:solidFill>
                <a:latin typeface="Calibri" pitchFamily="34" charset="0"/>
                <a:ea typeface="Calibri" pitchFamily="34" charset="-122"/>
                <a:cs typeface="Calibri" pitchFamily="34" charset="-120"/>
              </a:rPr>
              <a:t>t2 (2022-07-16)</a:t>
            </a:r>
            <a:endParaRPr lang="en-US" sz="1200" dirty="0"/>
          </a:p>
        </p:txBody>
      </p:sp>
      <p:sp>
        <p:nvSpPr>
          <p:cNvPr id="43" name="Text 41"/>
          <p:cNvSpPr txBox="1"/>
          <p:nvPr/>
        </p:nvSpPr>
        <p:spPr>
          <a:xfrm>
            <a:off x="548640" y="4434840"/>
            <a:ext cx="11064240" cy="173736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3262A"/>
                </a:solidFill>
                <a:latin typeface="Calibri" pitchFamily="34" charset="0"/>
                <a:ea typeface="Calibri" pitchFamily="34" charset="-122"/>
                <a:cs typeface="Calibri" pitchFamily="34" charset="-120"/>
              </a:rPr>
              <a:t>Graph train hiện tại: 3.868.654 cạnh, 2.318.308 user, 162.125 item. Validation 81.871 target warm-start; test 40.587 (chưa đọc).</a:t>
            </a:r>
            <a:endParaRPr lang="en-US" sz="1600" dirty="0"/>
          </a:p>
          <a:p>
            <a:pPr marL="203200" indent="-203200">
              <a:spcAft>
                <a:spcPts val="600"/>
              </a:spcAft>
              <a:buSzPct val="100000"/>
              <a:buChar char="•"/>
            </a:pPr>
            <a:r>
              <a:rPr lang="en-US" sz="1600" dirty="0">
                <a:solidFill>
                  <a:srgbClr val="13262A"/>
                </a:solidFill>
                <a:latin typeface="Calibri" pitchFamily="34" charset="0"/>
                <a:ea typeface="Calibri" pitchFamily="34" charset="-122"/>
                <a:cs typeface="Calibri" pitchFamily="34" charset="-120"/>
              </a:rPr>
              <a:t>Validation đã bị pilot nhìn thấy → mọi điều chỉnh phương pháp chỉ dùng development split mới, cùng độ dài với cửa sổ validation.</a:t>
            </a:r>
            <a:endParaRPr lang="en-US" sz="1600" dirty="0"/>
          </a:p>
          <a:p>
            <a:pPr marL="203200" indent="-203200">
              <a:spcAft>
                <a:spcPts val="600"/>
              </a:spcAft>
              <a:buSzPct val="100000"/>
              <a:buChar char="•"/>
            </a:pPr>
            <a:r>
              <a:rPr lang="en-US" sz="1600" dirty="0">
                <a:solidFill>
                  <a:srgbClr val="13262A"/>
                </a:solidFill>
                <a:latin typeface="Calibri" pitchFamily="34" charset="0"/>
                <a:ea typeface="Calibri" pitchFamily="34" charset="-122"/>
                <a:cs typeface="Calibri" pitchFamily="34" charset="-120"/>
              </a:rPr>
              <a:t>Cạnh tương lai không được vào graph, degree, candidate, feature sampler, normalization hay hàm mục tiêu.</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PHƯƠNG PHÁP</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Kiến trúc tổng thể GRAPES-GFN-Rec</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1371600"/>
            <a:ext cx="3657600" cy="320040"/>
          </a:xfrm>
          <a:prstGeom prst="rect">
            <a:avLst/>
          </a:prstGeom>
          <a:noFill/>
          <a:ln/>
        </p:spPr>
        <p:txBody>
          <a:bodyPr wrap="square" lIns="0" tIns="0" rIns="0" bIns="0" rtlCol="0" anchor="ctr"/>
          <a:lstStyle/>
          <a:p>
            <a:pPr indent="0" marL="0">
              <a:buNone/>
            </a:pPr>
            <a:r>
              <a:rPr lang="en-US" sz="1300" b="1" dirty="0">
                <a:solidFill>
                  <a:srgbClr val="2E7D7A"/>
                </a:solidFill>
                <a:latin typeface="Calibri" pitchFamily="34" charset="0"/>
                <a:ea typeface="Calibri" pitchFamily="34" charset="-122"/>
                <a:cs typeface="Calibri" pitchFamily="34" charset="-120"/>
              </a:rPr>
              <a:t>Huấn luyện một bước</a:t>
            </a:r>
            <a:endParaRPr lang="en-US" sz="1300" dirty="0"/>
          </a:p>
        </p:txBody>
      </p:sp>
      <p:sp>
        <p:nvSpPr>
          <p:cNvPr id="6" name="Shape 4"/>
          <p:cNvSpPr/>
          <p:nvPr/>
        </p:nvSpPr>
        <p:spPr>
          <a:xfrm>
            <a:off x="548640" y="1828800"/>
            <a:ext cx="1828800" cy="868680"/>
          </a:xfrm>
          <a:prstGeom prst="roundRect">
            <a:avLst>
              <a:gd name="adj" fmla="val 6316"/>
            </a:avLst>
          </a:prstGeom>
          <a:solidFill>
            <a:srgbClr val="E6F0EF"/>
          </a:solidFill>
          <a:ln w="12700">
            <a:solidFill>
              <a:srgbClr val="E6F0EF"/>
            </a:solidFill>
            <a:prstDash val="solid"/>
          </a:ln>
        </p:spPr>
      </p:sp>
      <p:sp>
        <p:nvSpPr>
          <p:cNvPr id="7" name="Text 5"/>
          <p:cNvSpPr txBox="1"/>
          <p:nvPr/>
        </p:nvSpPr>
        <p:spPr>
          <a:xfrm>
            <a:off x="621792" y="1828800"/>
            <a:ext cx="1682496" cy="868680"/>
          </a:xfrm>
          <a:prstGeom prst="rect">
            <a:avLst/>
          </a:prstGeom>
          <a:noFill/>
          <a:ln/>
        </p:spPr>
        <p:txBody>
          <a:bodyPr wrap="square" lIns="0" tIns="0" rIns="0" bIns="0" rtlCol="0" anchor="ctr"/>
          <a:lstStyle/>
          <a:p>
            <a:pPr algn="ctr" indent="0" marL="0">
              <a:buNone/>
            </a:pPr>
            <a:r>
              <a:rPr lang="en-US" sz="1300" b="1" dirty="0">
                <a:solidFill>
                  <a:srgbClr val="13262A"/>
                </a:solidFill>
                <a:latin typeface="Calibri" pitchFamily="34" charset="0"/>
                <a:ea typeface="Calibri" pitchFamily="34" charset="-122"/>
                <a:cs typeface="Calibri" pitchFamily="34" charset="-120"/>
              </a:rPr>
              <a:t>Batch BPR</a:t>
            </a:r>
            <a:endParaRPr lang="en-US" sz="1300" dirty="0"/>
          </a:p>
          <a:p>
            <a:pPr algn="ctr" indent="0" marL="0">
              <a:buNone/>
            </a:pPr>
            <a:r>
              <a:rPr lang="en-US" sz="1300" b="1" dirty="0">
                <a:solidFill>
                  <a:srgbClr val="13262A"/>
                </a:solidFill>
                <a:latin typeface="Calibri" pitchFamily="34" charset="0"/>
                <a:ea typeface="Calibri" pitchFamily="34" charset="-122"/>
                <a:cs typeface="Calibri" pitchFamily="34" charset="-120"/>
              </a:rPr>
              <a:t>(u, i⁺, i⁻)</a:t>
            </a:r>
            <a:endParaRPr lang="en-US" sz="1300" dirty="0"/>
          </a:p>
        </p:txBody>
      </p:sp>
      <p:sp>
        <p:nvSpPr>
          <p:cNvPr id="8" name="Shape 6"/>
          <p:cNvSpPr/>
          <p:nvPr/>
        </p:nvSpPr>
        <p:spPr>
          <a:xfrm>
            <a:off x="2743200" y="1828800"/>
            <a:ext cx="2103120" cy="868680"/>
          </a:xfrm>
          <a:prstGeom prst="roundRect">
            <a:avLst>
              <a:gd name="adj" fmla="val 6316"/>
            </a:avLst>
          </a:prstGeom>
          <a:solidFill>
            <a:srgbClr val="E6F0EF"/>
          </a:solidFill>
          <a:ln w="12700">
            <a:solidFill>
              <a:srgbClr val="E6F0EF"/>
            </a:solidFill>
            <a:prstDash val="solid"/>
          </a:ln>
        </p:spPr>
      </p:sp>
      <p:sp>
        <p:nvSpPr>
          <p:cNvPr id="9" name="Text 7"/>
          <p:cNvSpPr txBox="1"/>
          <p:nvPr/>
        </p:nvSpPr>
        <p:spPr>
          <a:xfrm>
            <a:off x="2816352" y="1828800"/>
            <a:ext cx="1956816" cy="868680"/>
          </a:xfrm>
          <a:prstGeom prst="rect">
            <a:avLst/>
          </a:prstGeom>
          <a:noFill/>
          <a:ln/>
        </p:spPr>
        <p:txBody>
          <a:bodyPr wrap="square" lIns="0" tIns="0" rIns="0" bIns="0" rtlCol="0" anchor="ctr"/>
          <a:lstStyle/>
          <a:p>
            <a:pPr algn="ctr" indent="0" marL="0">
              <a:buNone/>
            </a:pPr>
            <a:r>
              <a:rPr lang="en-US" sz="1300" b="1" dirty="0">
                <a:solidFill>
                  <a:srgbClr val="13262A"/>
                </a:solidFill>
                <a:latin typeface="Calibri" pitchFamily="34" charset="0"/>
                <a:ea typeface="Calibri" pitchFamily="34" charset="-122"/>
                <a:cs typeface="Calibri" pitchFamily="34" charset="-120"/>
              </a:rPr>
              <a:t>V⁰ = user, item mua,</a:t>
            </a:r>
            <a:endParaRPr lang="en-US" sz="1300" dirty="0"/>
          </a:p>
          <a:p>
            <a:pPr algn="ctr" indent="0" marL="0">
              <a:buNone/>
            </a:pPr>
            <a:r>
              <a:rPr lang="en-US" sz="1300" b="1" dirty="0">
                <a:solidFill>
                  <a:srgbClr val="13262A"/>
                </a:solidFill>
                <a:latin typeface="Calibri" pitchFamily="34" charset="0"/>
                <a:ea typeface="Calibri" pitchFamily="34" charset="-122"/>
                <a:cs typeface="Calibri" pitchFamily="34" charset="-120"/>
              </a:rPr>
              <a:t>item âm</a:t>
            </a:r>
            <a:endParaRPr lang="en-US" sz="1300" dirty="0"/>
          </a:p>
        </p:txBody>
      </p:sp>
      <p:sp>
        <p:nvSpPr>
          <p:cNvPr id="10" name="Shape 8"/>
          <p:cNvSpPr/>
          <p:nvPr/>
        </p:nvSpPr>
        <p:spPr>
          <a:xfrm>
            <a:off x="5212080" y="1828800"/>
            <a:ext cx="2743200" cy="868680"/>
          </a:xfrm>
          <a:prstGeom prst="roundRect">
            <a:avLst>
              <a:gd name="adj" fmla="val 6316"/>
            </a:avLst>
          </a:prstGeom>
          <a:solidFill>
            <a:srgbClr val="0F4C4F"/>
          </a:solidFill>
          <a:ln w="12700">
            <a:solidFill>
              <a:srgbClr val="0F4C4F"/>
            </a:solidFill>
            <a:prstDash val="solid"/>
          </a:ln>
        </p:spPr>
      </p:sp>
      <p:sp>
        <p:nvSpPr>
          <p:cNvPr id="11" name="Text 9"/>
          <p:cNvSpPr txBox="1"/>
          <p:nvPr/>
        </p:nvSpPr>
        <p:spPr>
          <a:xfrm>
            <a:off x="5285232" y="1828800"/>
            <a:ext cx="2596896"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Sampler GCN_S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chọn k node / layer (Gumbel Top-k)</a:t>
            </a:r>
            <a:endParaRPr lang="en-US" sz="1300" dirty="0"/>
          </a:p>
        </p:txBody>
      </p:sp>
      <p:sp>
        <p:nvSpPr>
          <p:cNvPr id="12" name="Shape 10"/>
          <p:cNvSpPr/>
          <p:nvPr/>
        </p:nvSpPr>
        <p:spPr>
          <a:xfrm>
            <a:off x="8321040" y="1828800"/>
            <a:ext cx="3291840" cy="868680"/>
          </a:xfrm>
          <a:prstGeom prst="roundRect">
            <a:avLst>
              <a:gd name="adj" fmla="val 6316"/>
            </a:avLst>
          </a:prstGeom>
          <a:solidFill>
            <a:srgbClr val="0F4C4F"/>
          </a:solidFill>
          <a:ln w="12700">
            <a:solidFill>
              <a:srgbClr val="0F4C4F"/>
            </a:solidFill>
            <a:prstDash val="solid"/>
          </a:ln>
        </p:spPr>
      </p:sp>
      <p:sp>
        <p:nvSpPr>
          <p:cNvPr id="13" name="Text 11"/>
          <p:cNvSpPr txBox="1"/>
          <p:nvPr/>
        </p:nvSpPr>
        <p:spPr>
          <a:xfrm>
            <a:off x="8394192" y="1828800"/>
            <a:ext cx="3145536"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Sampled LightGCN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trên K¹…K^L</a:t>
            </a:r>
            <a:endParaRPr lang="en-US" sz="1300" dirty="0"/>
          </a:p>
        </p:txBody>
      </p:sp>
      <p:sp>
        <p:nvSpPr>
          <p:cNvPr id="14" name="Shape 12"/>
          <p:cNvSpPr/>
          <p:nvPr/>
        </p:nvSpPr>
        <p:spPr>
          <a:xfrm>
            <a:off x="2377440" y="2263140"/>
            <a:ext cx="365760" cy="914"/>
          </a:xfrm>
          <a:prstGeom prst="line">
            <a:avLst/>
          </a:prstGeom>
          <a:noFill/>
          <a:ln w="22225">
            <a:solidFill>
              <a:srgbClr val="5E6B6E"/>
            </a:solidFill>
            <a:prstDash val="solid"/>
            <a:tailEnd type="triangle"/>
          </a:ln>
        </p:spPr>
      </p:sp>
      <p:sp>
        <p:nvSpPr>
          <p:cNvPr id="15" name="Shape 13"/>
          <p:cNvSpPr/>
          <p:nvPr/>
        </p:nvSpPr>
        <p:spPr>
          <a:xfrm>
            <a:off x="4846320" y="2263140"/>
            <a:ext cx="365760" cy="914"/>
          </a:xfrm>
          <a:prstGeom prst="line">
            <a:avLst/>
          </a:prstGeom>
          <a:noFill/>
          <a:ln w="22225">
            <a:solidFill>
              <a:srgbClr val="5E6B6E"/>
            </a:solidFill>
            <a:prstDash val="solid"/>
            <a:tailEnd type="triangle"/>
          </a:ln>
        </p:spPr>
      </p:sp>
      <p:sp>
        <p:nvSpPr>
          <p:cNvPr id="16" name="Shape 14"/>
          <p:cNvSpPr/>
          <p:nvPr/>
        </p:nvSpPr>
        <p:spPr>
          <a:xfrm>
            <a:off x="7955280" y="2263140"/>
            <a:ext cx="365760" cy="914"/>
          </a:xfrm>
          <a:prstGeom prst="line">
            <a:avLst/>
          </a:prstGeom>
          <a:noFill/>
          <a:ln w="22225">
            <a:solidFill>
              <a:srgbClr val="5E6B6E"/>
            </a:solidFill>
            <a:prstDash val="solid"/>
            <a:tailEnd type="triangle"/>
          </a:ln>
        </p:spPr>
      </p:sp>
      <p:sp>
        <p:nvSpPr>
          <p:cNvPr id="17" name="Shape 15"/>
          <p:cNvSpPr/>
          <p:nvPr/>
        </p:nvSpPr>
        <p:spPr>
          <a:xfrm>
            <a:off x="8321040" y="3154680"/>
            <a:ext cx="3291840" cy="731520"/>
          </a:xfrm>
          <a:prstGeom prst="roundRect">
            <a:avLst>
              <a:gd name="adj" fmla="val 7500"/>
            </a:avLst>
          </a:prstGeom>
          <a:solidFill>
            <a:srgbClr val="FCF1DF"/>
          </a:solidFill>
          <a:ln w="12700">
            <a:solidFill>
              <a:srgbClr val="FCF1DF"/>
            </a:solidFill>
            <a:prstDash val="solid"/>
          </a:ln>
        </p:spPr>
      </p:sp>
      <p:sp>
        <p:nvSpPr>
          <p:cNvPr id="18" name="Text 16"/>
          <p:cNvSpPr txBox="1"/>
          <p:nvPr/>
        </p:nvSpPr>
        <p:spPr>
          <a:xfrm>
            <a:off x="8394192" y="3154680"/>
            <a:ext cx="3145536" cy="731520"/>
          </a:xfrm>
          <a:prstGeom prst="rect">
            <a:avLst/>
          </a:prstGeom>
          <a:noFill/>
          <a:ln/>
        </p:spPr>
        <p:txBody>
          <a:bodyPr wrap="square" lIns="0" tIns="0" rIns="0" bIns="0" rtlCol="0" anchor="ctr"/>
          <a:lstStyle/>
          <a:p>
            <a:pPr algn="ctr" indent="0" marL="0">
              <a:buNone/>
            </a:pPr>
            <a:r>
              <a:rPr lang="en-US" sz="1300" b="1" dirty="0">
                <a:solidFill>
                  <a:srgbClr val="13262A"/>
                </a:solidFill>
                <a:latin typeface="Calibri" pitchFamily="34" charset="0"/>
                <a:ea typeface="Calibri" pitchFamily="34" charset="-122"/>
                <a:cs typeface="Calibri" pitchFamily="34" charset="-120"/>
              </a:rPr>
              <a:t>BPR loss → cập nhật Θ_R</a:t>
            </a:r>
            <a:endParaRPr lang="en-US" sz="1300" dirty="0"/>
          </a:p>
        </p:txBody>
      </p:sp>
      <p:sp>
        <p:nvSpPr>
          <p:cNvPr id="19" name="Shape 17"/>
          <p:cNvSpPr/>
          <p:nvPr/>
        </p:nvSpPr>
        <p:spPr>
          <a:xfrm>
            <a:off x="9966960" y="2697480"/>
            <a:ext cx="914" cy="457200"/>
          </a:xfrm>
          <a:prstGeom prst="line">
            <a:avLst/>
          </a:prstGeom>
          <a:noFill/>
          <a:ln w="22225">
            <a:solidFill>
              <a:srgbClr val="5E6B6E"/>
            </a:solidFill>
            <a:prstDash val="solid"/>
            <a:tailEnd type="triangle"/>
          </a:ln>
        </p:spPr>
      </p:sp>
      <p:sp>
        <p:nvSpPr>
          <p:cNvPr id="20" name="Shape 18"/>
          <p:cNvSpPr/>
          <p:nvPr/>
        </p:nvSpPr>
        <p:spPr>
          <a:xfrm>
            <a:off x="5212080" y="3154680"/>
            <a:ext cx="2743200" cy="731520"/>
          </a:xfrm>
          <a:prstGeom prst="roundRect">
            <a:avLst>
              <a:gd name="adj" fmla="val 7500"/>
            </a:avLst>
          </a:prstGeom>
          <a:solidFill>
            <a:srgbClr val="F4F7F7"/>
          </a:solidFill>
          <a:ln w="12700">
            <a:solidFill>
              <a:srgbClr val="F4F7F7"/>
            </a:solidFill>
            <a:prstDash val="solid"/>
          </a:ln>
        </p:spPr>
      </p:sp>
      <p:sp>
        <p:nvSpPr>
          <p:cNvPr id="21" name="Text 19"/>
          <p:cNvSpPr txBox="1"/>
          <p:nvPr/>
        </p:nvSpPr>
        <p:spPr>
          <a:xfrm>
            <a:off x="5285232" y="3154680"/>
            <a:ext cx="2596896" cy="731520"/>
          </a:xfrm>
          <a:prstGeom prst="rect">
            <a:avLst/>
          </a:prstGeom>
          <a:noFill/>
          <a:ln/>
        </p:spPr>
        <p:txBody>
          <a:bodyPr wrap="square" lIns="0" tIns="0" rIns="0" bIns="0" rtlCol="0" anchor="ctr"/>
          <a:lstStyle/>
          <a:p>
            <a:pPr algn="ctr" indent="0" marL="0">
              <a:buNone/>
            </a:pPr>
            <a:r>
              <a:rPr lang="en-US" sz="1300" b="1" dirty="0">
                <a:solidFill>
                  <a:srgbClr val="13262A"/>
                </a:solidFill>
                <a:latin typeface="Calibri" pitchFamily="34" charset="0"/>
                <a:ea typeface="Calibri" pitchFamily="34" charset="-122"/>
                <a:cs typeface="Calibri" pitchFamily="34" charset="-120"/>
              </a:rPr>
              <a:t>log q (tổng các layer)</a:t>
            </a:r>
            <a:endParaRPr lang="en-US" sz="1300" dirty="0"/>
          </a:p>
        </p:txBody>
      </p:sp>
      <p:sp>
        <p:nvSpPr>
          <p:cNvPr id="22" name="Shape 20"/>
          <p:cNvSpPr/>
          <p:nvPr/>
        </p:nvSpPr>
        <p:spPr>
          <a:xfrm>
            <a:off x="6583680" y="2697480"/>
            <a:ext cx="914" cy="457200"/>
          </a:xfrm>
          <a:prstGeom prst="line">
            <a:avLst/>
          </a:prstGeom>
          <a:noFill/>
          <a:ln w="22225">
            <a:solidFill>
              <a:srgbClr val="5E6B6E"/>
            </a:solidFill>
            <a:prstDash val="solid"/>
            <a:tailEnd type="triangle"/>
          </a:ln>
        </p:spPr>
      </p:sp>
      <p:sp>
        <p:nvSpPr>
          <p:cNvPr id="23" name="Shape 21"/>
          <p:cNvSpPr/>
          <p:nvPr/>
        </p:nvSpPr>
        <p:spPr>
          <a:xfrm>
            <a:off x="2743200" y="3154680"/>
            <a:ext cx="2103120" cy="731520"/>
          </a:xfrm>
          <a:prstGeom prst="roundRect">
            <a:avLst>
              <a:gd name="adj" fmla="val 7500"/>
            </a:avLst>
          </a:prstGeom>
          <a:solidFill>
            <a:srgbClr val="F4F7F7"/>
          </a:solidFill>
          <a:ln w="12700">
            <a:solidFill>
              <a:srgbClr val="F4F7F7"/>
            </a:solidFill>
            <a:prstDash val="solid"/>
          </a:ln>
        </p:spPr>
      </p:sp>
      <p:sp>
        <p:nvSpPr>
          <p:cNvPr id="24" name="Text 22"/>
          <p:cNvSpPr txBox="1"/>
          <p:nvPr/>
        </p:nvSpPr>
        <p:spPr>
          <a:xfrm>
            <a:off x="2816352" y="3154680"/>
            <a:ext cx="1956816" cy="731520"/>
          </a:xfrm>
          <a:prstGeom prst="rect">
            <a:avLst/>
          </a:prstGeom>
          <a:noFill/>
          <a:ln/>
        </p:spPr>
        <p:txBody>
          <a:bodyPr wrap="square" lIns="0" tIns="0" rIns="0" bIns="0" rtlCol="0" anchor="ctr"/>
          <a:lstStyle/>
          <a:p>
            <a:pPr algn="ctr" indent="0" marL="0">
              <a:buNone/>
            </a:pPr>
            <a:r>
              <a:rPr lang="en-US" sz="1300" b="1" dirty="0">
                <a:solidFill>
                  <a:srgbClr val="13262A"/>
                </a:solidFill>
                <a:latin typeface="Calibri" pitchFamily="34" charset="0"/>
                <a:ea typeface="Calibri" pitchFamily="34" charset="-122"/>
                <a:cs typeface="Calibri" pitchFamily="34" charset="-120"/>
              </a:rPr>
              <a:t>GCN_Z → log Z(V⁰)</a:t>
            </a:r>
            <a:endParaRPr lang="en-US" sz="1300" dirty="0"/>
          </a:p>
        </p:txBody>
      </p:sp>
      <p:sp>
        <p:nvSpPr>
          <p:cNvPr id="25" name="Shape 23"/>
          <p:cNvSpPr/>
          <p:nvPr/>
        </p:nvSpPr>
        <p:spPr>
          <a:xfrm>
            <a:off x="3794760" y="2697480"/>
            <a:ext cx="914" cy="457200"/>
          </a:xfrm>
          <a:prstGeom prst="line">
            <a:avLst/>
          </a:prstGeom>
          <a:noFill/>
          <a:ln w="22225">
            <a:solidFill>
              <a:srgbClr val="5E6B6E"/>
            </a:solidFill>
            <a:prstDash val="solid"/>
            <a:tailEnd type="triangle"/>
          </a:ln>
        </p:spPr>
      </p:sp>
      <p:sp>
        <p:nvSpPr>
          <p:cNvPr id="26" name="Shape 24"/>
          <p:cNvSpPr/>
          <p:nvPr/>
        </p:nvSpPr>
        <p:spPr>
          <a:xfrm>
            <a:off x="2743200" y="4297680"/>
            <a:ext cx="8869680" cy="777240"/>
          </a:xfrm>
          <a:prstGeom prst="roundRect">
            <a:avLst>
              <a:gd name="adj" fmla="val 7059"/>
            </a:avLst>
          </a:prstGeom>
          <a:solidFill>
            <a:srgbClr val="E89B2D"/>
          </a:solidFill>
          <a:ln w="12700">
            <a:solidFill>
              <a:srgbClr val="E89B2D"/>
            </a:solidFill>
            <a:prstDash val="solid"/>
          </a:ln>
        </p:spPr>
      </p:sp>
      <p:sp>
        <p:nvSpPr>
          <p:cNvPr id="27" name="Text 25"/>
          <p:cNvSpPr txBox="1"/>
          <p:nvPr/>
        </p:nvSpPr>
        <p:spPr>
          <a:xfrm>
            <a:off x="2816352" y="4297680"/>
            <a:ext cx="8723376" cy="777240"/>
          </a:xfrm>
          <a:prstGeom prst="rect">
            <a:avLst/>
          </a:prstGeom>
          <a:noFill/>
          <a:ln/>
        </p:spPr>
        <p:txBody>
          <a:bodyPr wrap="square" lIns="0" tIns="0" rIns="0" bIns="0" rtlCol="0" anchor="ctr"/>
          <a:lstStyle/>
          <a:p>
            <a:pPr algn="ctr" indent="0" marL="0">
              <a:buNone/>
            </a:pPr>
            <a:r>
              <a:rPr lang="en-US" sz="1400" b="1" dirty="0">
                <a:solidFill>
                  <a:srgbClr val="13262A"/>
                </a:solidFill>
                <a:latin typeface="Calibri" pitchFamily="34" charset="0"/>
                <a:ea typeface="Calibri" pitchFamily="34" charset="-122"/>
                <a:cs typeface="Calibri" pitchFamily="34" charset="-120"/>
              </a:rPr>
              <a:t>Trajectory Balance: (log Z + log q + α · BPR đã detach)²  →  cập nhật Θ_S ∪ Θ_Z</a:t>
            </a:r>
            <a:endParaRPr lang="en-US" sz="1400" dirty="0"/>
          </a:p>
        </p:txBody>
      </p:sp>
      <p:sp>
        <p:nvSpPr>
          <p:cNvPr id="28" name="Shape 26"/>
          <p:cNvSpPr/>
          <p:nvPr/>
        </p:nvSpPr>
        <p:spPr>
          <a:xfrm>
            <a:off x="3794760" y="3886200"/>
            <a:ext cx="914" cy="411480"/>
          </a:xfrm>
          <a:prstGeom prst="line">
            <a:avLst/>
          </a:prstGeom>
          <a:noFill/>
          <a:ln w="22225">
            <a:solidFill>
              <a:srgbClr val="5E6B6E"/>
            </a:solidFill>
            <a:prstDash val="solid"/>
            <a:tailEnd type="triangle"/>
          </a:ln>
        </p:spPr>
      </p:sp>
      <p:sp>
        <p:nvSpPr>
          <p:cNvPr id="29" name="Shape 27"/>
          <p:cNvSpPr/>
          <p:nvPr/>
        </p:nvSpPr>
        <p:spPr>
          <a:xfrm>
            <a:off x="6583680" y="3886200"/>
            <a:ext cx="914" cy="411480"/>
          </a:xfrm>
          <a:prstGeom prst="line">
            <a:avLst/>
          </a:prstGeom>
          <a:noFill/>
          <a:ln w="22225">
            <a:solidFill>
              <a:srgbClr val="5E6B6E"/>
            </a:solidFill>
            <a:prstDash val="solid"/>
            <a:tailEnd type="triangle"/>
          </a:ln>
        </p:spPr>
      </p:sp>
      <p:sp>
        <p:nvSpPr>
          <p:cNvPr id="30" name="Shape 28"/>
          <p:cNvSpPr/>
          <p:nvPr/>
        </p:nvSpPr>
        <p:spPr>
          <a:xfrm>
            <a:off x="9966960" y="3886200"/>
            <a:ext cx="914" cy="411480"/>
          </a:xfrm>
          <a:prstGeom prst="line">
            <a:avLst/>
          </a:prstGeom>
          <a:noFill/>
          <a:ln w="22225">
            <a:solidFill>
              <a:srgbClr val="5E6B6E"/>
            </a:solidFill>
            <a:prstDash val="solid"/>
            <a:tailEnd type="triangle"/>
          </a:ln>
        </p:spPr>
      </p:sp>
      <p:sp>
        <p:nvSpPr>
          <p:cNvPr id="31" name="Text 29"/>
          <p:cNvSpPr txBox="1"/>
          <p:nvPr/>
        </p:nvSpPr>
        <p:spPr>
          <a:xfrm>
            <a:off x="548640" y="5349240"/>
            <a:ext cx="3657600" cy="320040"/>
          </a:xfrm>
          <a:prstGeom prst="rect">
            <a:avLst/>
          </a:prstGeom>
          <a:noFill/>
          <a:ln/>
        </p:spPr>
        <p:txBody>
          <a:bodyPr wrap="square" lIns="0" tIns="0" rIns="0" bIns="0" rtlCol="0" anchor="ctr"/>
          <a:lstStyle/>
          <a:p>
            <a:pPr indent="0" marL="0">
              <a:buNone/>
            </a:pPr>
            <a:r>
              <a:rPr lang="en-US" sz="1300" b="1" dirty="0">
                <a:solidFill>
                  <a:srgbClr val="2E7D7A"/>
                </a:solidFill>
                <a:latin typeface="Calibri" pitchFamily="34" charset="0"/>
                <a:ea typeface="Calibri" pitchFamily="34" charset="-122"/>
                <a:cs typeface="Calibri" pitchFamily="34" charset="-120"/>
              </a:rPr>
              <a:t>Suy luận</a:t>
            </a:r>
            <a:endParaRPr lang="en-US" sz="1300" dirty="0"/>
          </a:p>
        </p:txBody>
      </p:sp>
      <p:sp>
        <p:nvSpPr>
          <p:cNvPr id="32" name="Shape 30"/>
          <p:cNvSpPr/>
          <p:nvPr/>
        </p:nvSpPr>
        <p:spPr>
          <a:xfrm>
            <a:off x="548640" y="5715000"/>
            <a:ext cx="11064240" cy="548640"/>
          </a:xfrm>
          <a:prstGeom prst="roundRect">
            <a:avLst>
              <a:gd name="adj" fmla="val 10000"/>
            </a:avLst>
          </a:prstGeom>
          <a:solidFill>
            <a:srgbClr val="E6F0EF"/>
          </a:solidFill>
          <a:ln w="12700">
            <a:solidFill>
              <a:srgbClr val="E6F0EF"/>
            </a:solidFill>
            <a:prstDash val="solid"/>
          </a:ln>
        </p:spPr>
      </p:sp>
      <p:sp>
        <p:nvSpPr>
          <p:cNvPr id="33" name="Text 31"/>
          <p:cNvSpPr txBox="1"/>
          <p:nvPr/>
        </p:nvSpPr>
        <p:spPr>
          <a:xfrm>
            <a:off x="621792" y="5715000"/>
            <a:ext cx="10917936" cy="548640"/>
          </a:xfrm>
          <a:prstGeom prst="rect">
            <a:avLst/>
          </a:prstGeom>
          <a:noFill/>
          <a:ln/>
        </p:spPr>
        <p:txBody>
          <a:bodyPr wrap="square" lIns="0" tIns="0" rIns="0" bIns="0" rtlCol="0" anchor="ctr"/>
          <a:lstStyle/>
          <a:p>
            <a:pPr algn="ctr" indent="0" marL="0">
              <a:buNone/>
            </a:pPr>
            <a:r>
              <a:rPr lang="en-US" sz="1300" b="1" dirty="0">
                <a:solidFill>
                  <a:srgbClr val="13262A"/>
                </a:solidFill>
                <a:latin typeface="Calibri" pitchFamily="34" charset="0"/>
                <a:ea typeface="Calibri" pitchFamily="34" charset="-122"/>
                <a:cs typeface="Calibri" pitchFamily="34" charset="-120"/>
              </a:rPr>
              <a:t>Không lấy mẫu: LightGCN trên toàn bộ graph train → xếp hạng toàn catalog → NDCG@20, Recall@20, coverage, head/tail</a:t>
            </a:r>
            <a:endParaRPr lang="en-US" sz="1300" dirty="0"/>
          </a:p>
        </p:txBody>
      </p:sp>
      <p:sp>
        <p:nvSpPr>
          <p:cNvPr id="34" name="Text 32"/>
          <p:cNvSpPr txBox="1"/>
          <p:nvPr/>
        </p:nvSpPr>
        <p:spPr>
          <a:xfrm>
            <a:off x="548640" y="3154680"/>
            <a:ext cx="2011680" cy="1005840"/>
          </a:xfrm>
          <a:prstGeom prst="rect">
            <a:avLst/>
          </a:prstGeom>
          <a:noFill/>
          <a:ln/>
        </p:spPr>
        <p:txBody>
          <a:bodyPr wrap="square" lIns="0" tIns="0" rIns="0" bIns="0" rtlCol="0" anchor="t"/>
          <a:lstStyle/>
          <a:p>
            <a:pPr indent="0" marL="0">
              <a:buNone/>
            </a:pPr>
            <a:r>
              <a:rPr lang="en-US" sz="1100" i="1" dirty="0">
                <a:solidFill>
                  <a:srgbClr val="5E6B6E"/>
                </a:solidFill>
                <a:latin typeface="Calibri" pitchFamily="34" charset="0"/>
                <a:ea typeface="Calibri" pitchFamily="34" charset="-122"/>
                <a:cs typeface="Calibri" pitchFamily="34" charset="-120"/>
              </a:rPr>
              <a:t>Sampler không nhận gradient BPR; recommender không nhận gradient TB (đã có test kiểm chứng).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PHƯƠNG PHÁP</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Một bước lấy mẫu trong layer l</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48640" y="1536192"/>
            <a:ext cx="475488" cy="475488"/>
          </a:xfrm>
          <a:prstGeom prst="ellipse">
            <a:avLst/>
          </a:prstGeom>
          <a:solidFill>
            <a:srgbClr val="0F4C4F"/>
          </a:solidFill>
          <a:ln w="12700">
            <a:solidFill>
              <a:srgbClr val="0F4C4F"/>
            </a:solidFill>
            <a:prstDash val="solid"/>
          </a:ln>
        </p:spPr>
      </p:sp>
      <p:sp>
        <p:nvSpPr>
          <p:cNvPr id="6" name="Text 4"/>
          <p:cNvSpPr txBox="1"/>
          <p:nvPr/>
        </p:nvSpPr>
        <p:spPr>
          <a:xfrm>
            <a:off x="548640" y="15361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188720" y="1463040"/>
            <a:ext cx="1554480" cy="621792"/>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Ứng viên</a:t>
            </a:r>
            <a:endParaRPr lang="en-US" sz="1600" dirty="0"/>
          </a:p>
        </p:txBody>
      </p:sp>
      <p:sp>
        <p:nvSpPr>
          <p:cNvPr id="8" name="Text 6"/>
          <p:cNvSpPr txBox="1"/>
          <p:nvPr/>
        </p:nvSpPr>
        <p:spPr>
          <a:xfrm>
            <a:off x="2743200" y="1463040"/>
            <a:ext cx="4663440" cy="621792"/>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C^l = hàng xóm của K^(l−1) trong graph train, trừ chính K^(l−1).</a:t>
            </a:r>
            <a:endParaRPr lang="en-US" sz="1300" dirty="0"/>
          </a:p>
        </p:txBody>
      </p:sp>
      <p:sp>
        <p:nvSpPr>
          <p:cNvPr id="9" name="Shape 7"/>
          <p:cNvSpPr/>
          <p:nvPr/>
        </p:nvSpPr>
        <p:spPr>
          <a:xfrm>
            <a:off x="548640" y="2322576"/>
            <a:ext cx="475488" cy="475488"/>
          </a:xfrm>
          <a:prstGeom prst="ellipse">
            <a:avLst/>
          </a:prstGeom>
          <a:solidFill>
            <a:srgbClr val="0F4C4F"/>
          </a:solidFill>
          <a:ln w="12700">
            <a:solidFill>
              <a:srgbClr val="0F4C4F"/>
            </a:solidFill>
            <a:prstDash val="solid"/>
          </a:ln>
        </p:spPr>
      </p:sp>
      <p:sp>
        <p:nvSpPr>
          <p:cNvPr id="10" name="Text 8"/>
          <p:cNvSpPr txBox="1"/>
          <p:nvPr/>
        </p:nvSpPr>
        <p:spPr>
          <a:xfrm>
            <a:off x="548640" y="232257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188720" y="2249424"/>
            <a:ext cx="1554480" cy="621792"/>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Feature</a:t>
            </a:r>
            <a:endParaRPr lang="en-US" sz="1600" dirty="0"/>
          </a:p>
        </p:txBody>
      </p:sp>
      <p:sp>
        <p:nvSpPr>
          <p:cNvPr id="12" name="Text 10"/>
          <p:cNvSpPr txBox="1"/>
          <p:nvPr/>
        </p:nvSpPr>
        <p:spPr>
          <a:xfrm>
            <a:off x="2743200" y="2249424"/>
            <a:ext cx="4663440" cy="621792"/>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Embedding ID riêng của sampler, loại user/item, log(1 + degree train) chuẩn hóa, cờ đã thuộc V⁰…V^(l−1).</a:t>
            </a:r>
            <a:endParaRPr lang="en-US" sz="1300" dirty="0"/>
          </a:p>
        </p:txBody>
      </p:sp>
      <p:sp>
        <p:nvSpPr>
          <p:cNvPr id="13" name="Shape 11"/>
          <p:cNvSpPr/>
          <p:nvPr/>
        </p:nvSpPr>
        <p:spPr>
          <a:xfrm>
            <a:off x="548640" y="3108960"/>
            <a:ext cx="475488" cy="475488"/>
          </a:xfrm>
          <a:prstGeom prst="ellipse">
            <a:avLst/>
          </a:prstGeom>
          <a:solidFill>
            <a:srgbClr val="0F4C4F"/>
          </a:solidFill>
          <a:ln w="12700">
            <a:solidFill>
              <a:srgbClr val="0F4C4F"/>
            </a:solidFill>
            <a:prstDash val="solid"/>
          </a:ln>
        </p:spPr>
      </p:sp>
      <p:sp>
        <p:nvSpPr>
          <p:cNvPr id="14" name="Text 12"/>
          <p:cNvSpPr txBox="1"/>
          <p:nvPr/>
        </p:nvSpPr>
        <p:spPr>
          <a:xfrm>
            <a:off x="548640" y="31089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188720" y="3035808"/>
            <a:ext cx="1554480" cy="621792"/>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Chấm điểm</a:t>
            </a:r>
            <a:endParaRPr lang="en-US" sz="1600" dirty="0"/>
          </a:p>
        </p:txBody>
      </p:sp>
      <p:sp>
        <p:nvSpPr>
          <p:cNvPr id="16" name="Text 14"/>
          <p:cNvSpPr txBox="1"/>
          <p:nvPr/>
        </p:nvSpPr>
        <p:spPr>
          <a:xfrm>
            <a:off x="2743200" y="3035808"/>
            <a:ext cx="4663440" cy="621792"/>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GCN_S hai lớp trên subgraph K^(l−1) ∪ C^l → logit, xác suất p = σ(logit).</a:t>
            </a:r>
            <a:endParaRPr lang="en-US" sz="1300" dirty="0"/>
          </a:p>
        </p:txBody>
      </p:sp>
      <p:sp>
        <p:nvSpPr>
          <p:cNvPr id="17" name="Shape 15"/>
          <p:cNvSpPr/>
          <p:nvPr/>
        </p:nvSpPr>
        <p:spPr>
          <a:xfrm>
            <a:off x="548640" y="3895344"/>
            <a:ext cx="475488" cy="475488"/>
          </a:xfrm>
          <a:prstGeom prst="ellipse">
            <a:avLst/>
          </a:prstGeom>
          <a:solidFill>
            <a:srgbClr val="E89B2D"/>
          </a:solidFill>
          <a:ln w="12700">
            <a:solidFill>
              <a:srgbClr val="E89B2D"/>
            </a:solidFill>
            <a:prstDash val="solid"/>
          </a:ln>
        </p:spPr>
      </p:sp>
      <p:sp>
        <p:nvSpPr>
          <p:cNvPr id="18" name="Text 16"/>
          <p:cNvSpPr txBox="1"/>
          <p:nvPr/>
        </p:nvSpPr>
        <p:spPr>
          <a:xfrm>
            <a:off x="548640" y="389534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txBox="1"/>
          <p:nvPr/>
        </p:nvSpPr>
        <p:spPr>
          <a:xfrm>
            <a:off x="1188720" y="3822192"/>
            <a:ext cx="1554480" cy="621792"/>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Chọn</a:t>
            </a:r>
            <a:endParaRPr lang="en-US" sz="1600" dirty="0"/>
          </a:p>
        </p:txBody>
      </p:sp>
      <p:sp>
        <p:nvSpPr>
          <p:cNvPr id="20" name="Text 18"/>
          <p:cNvSpPr txBox="1"/>
          <p:nvPr/>
        </p:nvSpPr>
        <p:spPr>
          <a:xfrm>
            <a:off x="2743200" y="3822192"/>
            <a:ext cx="4663440" cy="621792"/>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Gumbel Top-k trên log p: chọn đúng min(k, |C^l|) node, không trùng.</a:t>
            </a:r>
            <a:endParaRPr lang="en-US" sz="1300" dirty="0"/>
          </a:p>
        </p:txBody>
      </p:sp>
      <p:sp>
        <p:nvSpPr>
          <p:cNvPr id="21" name="Shape 19"/>
          <p:cNvSpPr/>
          <p:nvPr/>
        </p:nvSpPr>
        <p:spPr>
          <a:xfrm>
            <a:off x="548640" y="4681728"/>
            <a:ext cx="475488" cy="475488"/>
          </a:xfrm>
          <a:prstGeom prst="ellipse">
            <a:avLst/>
          </a:prstGeom>
          <a:solidFill>
            <a:srgbClr val="0F4C4F"/>
          </a:solidFill>
          <a:ln w="12700">
            <a:solidFill>
              <a:srgbClr val="0F4C4F"/>
            </a:solidFill>
            <a:prstDash val="solid"/>
          </a:ln>
        </p:spPr>
      </p:sp>
      <p:sp>
        <p:nvSpPr>
          <p:cNvPr id="22" name="Text 20"/>
          <p:cNvSpPr txBox="1"/>
          <p:nvPr/>
        </p:nvSpPr>
        <p:spPr>
          <a:xfrm>
            <a:off x="548640" y="468172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txBox="1"/>
          <p:nvPr/>
        </p:nvSpPr>
        <p:spPr>
          <a:xfrm>
            <a:off x="1188720" y="4608576"/>
            <a:ext cx="1554480" cy="621792"/>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Xác suất</a:t>
            </a:r>
            <a:endParaRPr lang="en-US" sz="1600" dirty="0"/>
          </a:p>
        </p:txBody>
      </p:sp>
      <p:sp>
        <p:nvSpPr>
          <p:cNvPr id="24" name="Text 22"/>
          <p:cNvSpPr txBox="1"/>
          <p:nvPr/>
        </p:nvSpPr>
        <p:spPr>
          <a:xfrm>
            <a:off x="2743200" y="4608576"/>
            <a:ext cx="4663440" cy="621792"/>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log q_l = Σ chọn log p + Σ không chọn log(1 − p).</a:t>
            </a:r>
            <a:endParaRPr lang="en-US" sz="1300" dirty="0"/>
          </a:p>
        </p:txBody>
      </p:sp>
      <p:sp>
        <p:nvSpPr>
          <p:cNvPr id="25" name="Shape 23"/>
          <p:cNvSpPr/>
          <p:nvPr/>
        </p:nvSpPr>
        <p:spPr>
          <a:xfrm>
            <a:off x="548640" y="5468112"/>
            <a:ext cx="475488" cy="475488"/>
          </a:xfrm>
          <a:prstGeom prst="ellipse">
            <a:avLst/>
          </a:prstGeom>
          <a:solidFill>
            <a:srgbClr val="0F4C4F"/>
          </a:solidFill>
          <a:ln w="12700">
            <a:solidFill>
              <a:srgbClr val="0F4C4F"/>
            </a:solidFill>
            <a:prstDash val="solid"/>
          </a:ln>
        </p:spPr>
      </p:sp>
      <p:sp>
        <p:nvSpPr>
          <p:cNvPr id="26" name="Text 24"/>
          <p:cNvSpPr txBox="1"/>
          <p:nvPr/>
        </p:nvSpPr>
        <p:spPr>
          <a:xfrm>
            <a:off x="548640" y="546811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txBox="1"/>
          <p:nvPr/>
        </p:nvSpPr>
        <p:spPr>
          <a:xfrm>
            <a:off x="1188720" y="5394960"/>
            <a:ext cx="1554480" cy="621792"/>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Trạng thái</a:t>
            </a:r>
            <a:endParaRPr lang="en-US" sz="1600" dirty="0"/>
          </a:p>
        </p:txBody>
      </p:sp>
      <p:sp>
        <p:nvSpPr>
          <p:cNvPr id="28" name="Text 26"/>
          <p:cNvSpPr txBox="1"/>
          <p:nvPr/>
        </p:nvSpPr>
        <p:spPr>
          <a:xfrm>
            <a:off x="2743200" y="5394960"/>
            <a:ext cx="4663440" cy="621792"/>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K^l = V⁰ ∪ V^l (không cộng dồn; node có thể quay lại ở layer sau).</a:t>
            </a:r>
            <a:endParaRPr lang="en-US" sz="1300" dirty="0"/>
          </a:p>
        </p:txBody>
      </p:sp>
      <p:sp>
        <p:nvSpPr>
          <p:cNvPr id="29" name="Shape 27"/>
          <p:cNvSpPr/>
          <p:nvPr/>
        </p:nvSpPr>
        <p:spPr>
          <a:xfrm>
            <a:off x="7772400" y="1463040"/>
            <a:ext cx="3840480" cy="2148840"/>
          </a:xfrm>
          <a:prstGeom prst="roundRect">
            <a:avLst>
              <a:gd name="adj" fmla="val 3404"/>
            </a:avLst>
          </a:prstGeom>
          <a:solidFill>
            <a:srgbClr val="E6F0EF"/>
          </a:solidFill>
          <a:ln w="12700">
            <a:solidFill>
              <a:srgbClr val="E6F0EF"/>
            </a:solidFill>
            <a:prstDash val="solid"/>
          </a:ln>
        </p:spPr>
      </p:sp>
      <p:sp>
        <p:nvSpPr>
          <p:cNvPr id="30" name="Text 28"/>
          <p:cNvSpPr txBox="1"/>
          <p:nvPr/>
        </p:nvSpPr>
        <p:spPr>
          <a:xfrm>
            <a:off x="7955280" y="1581912"/>
            <a:ext cx="347472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Ba sampler, một đường code</a:t>
            </a:r>
            <a:endParaRPr lang="en-US" sz="1600" dirty="0"/>
          </a:p>
        </p:txBody>
      </p:sp>
      <p:sp>
        <p:nvSpPr>
          <p:cNvPr id="31" name="Text 29"/>
          <p:cNvSpPr txBox="1"/>
          <p:nvPr/>
        </p:nvSpPr>
        <p:spPr>
          <a:xfrm>
            <a:off x="7955280" y="2075688"/>
            <a:ext cx="3474720" cy="146304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Learned: điểm từ GCN_S, có log q.</a:t>
            </a:r>
            <a:endParaRPr lang="en-US" sz="1300" dirty="0"/>
          </a:p>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Uniform (M0): điểm bằng nhau.</a:t>
            </a:r>
            <a:endParaRPr lang="en-US" sz="1300" dirty="0"/>
          </a:p>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Degree (M1): điểm = log(degree).</a:t>
            </a:r>
            <a:endParaRPr lang="en-US" sz="1300" dirty="0"/>
          </a:p>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Khác nhau duy nhất ở cách tính điểm → so sánh công bằng.</a:t>
            </a:r>
            <a:endParaRPr lang="en-US" sz="1300" dirty="0"/>
          </a:p>
        </p:txBody>
      </p:sp>
      <p:sp>
        <p:nvSpPr>
          <p:cNvPr id="32" name="Shape 30"/>
          <p:cNvSpPr/>
          <p:nvPr/>
        </p:nvSpPr>
        <p:spPr>
          <a:xfrm>
            <a:off x="7772400" y="3794760"/>
            <a:ext cx="3840480" cy="2377440"/>
          </a:xfrm>
          <a:prstGeom prst="roundRect">
            <a:avLst>
              <a:gd name="adj" fmla="val 3077"/>
            </a:avLst>
          </a:prstGeom>
          <a:solidFill>
            <a:srgbClr val="F8E6E1"/>
          </a:solidFill>
          <a:ln w="12700">
            <a:solidFill>
              <a:srgbClr val="F8E6E1"/>
            </a:solidFill>
            <a:prstDash val="solid"/>
          </a:ln>
        </p:spPr>
      </p:sp>
      <p:sp>
        <p:nvSpPr>
          <p:cNvPr id="33" name="Text 31"/>
          <p:cNvSpPr txBox="1"/>
          <p:nvPr/>
        </p:nvSpPr>
        <p:spPr>
          <a:xfrm>
            <a:off x="7955280" y="3913632"/>
            <a:ext cx="347472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Giới hạn đã chứng minh bằng test</a:t>
            </a:r>
            <a:endParaRPr lang="en-US" sz="1600" dirty="0"/>
          </a:p>
        </p:txBody>
      </p:sp>
      <p:sp>
        <p:nvSpPr>
          <p:cNvPr id="34" name="Text 32"/>
          <p:cNvSpPr txBox="1"/>
          <p:nvPr/>
        </p:nvSpPr>
        <p:spPr>
          <a:xfrm>
            <a:off x="7955280" y="4407408"/>
            <a:ext cx="3474720" cy="169164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Vì K^l không cộng dồn, khi V⁰ có cả user lẫn item, một số node ở bước 1 bị rơi khỏi bước 2 → không tương đương Full LightGCN kể cả khi lấy hết. Đây là tính chất kế thừa từ GRAPES, sẽ nêu trong báo cáo.</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PHƯƠNG PHÁP</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Hàm mục tiêu và phân quyền tham số</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548640" y="1463040"/>
            <a:ext cx="5440680" cy="2194560"/>
          </a:xfrm>
          <a:prstGeom prst="roundRect">
            <a:avLst>
              <a:gd name="adj" fmla="val 3333"/>
            </a:avLst>
          </a:prstGeom>
          <a:solidFill>
            <a:srgbClr val="E6F0EF"/>
          </a:solidFill>
          <a:ln w="12700">
            <a:solidFill>
              <a:srgbClr val="E6F0EF"/>
            </a:solidFill>
            <a:prstDash val="solid"/>
          </a:ln>
        </p:spPr>
      </p:sp>
      <p:sp>
        <p:nvSpPr>
          <p:cNvPr id="6" name="Text 4"/>
          <p:cNvSpPr txBox="1"/>
          <p:nvPr/>
        </p:nvSpPr>
        <p:spPr>
          <a:xfrm>
            <a:off x="731520" y="1581912"/>
            <a:ext cx="5074920" cy="420624"/>
          </a:xfrm>
          <a:prstGeom prst="rect">
            <a:avLst/>
          </a:prstGeom>
          <a:noFill/>
          <a:ln/>
        </p:spPr>
        <p:txBody>
          <a:bodyPr wrap="square" lIns="0" tIns="0" rIns="0" bIns="0" rtlCol="0" anchor="ctr"/>
          <a:lstStyle/>
          <a:p>
            <a:pPr indent="0" marL="0">
              <a:buNone/>
            </a:pPr>
            <a:r>
              <a:rPr lang="en-US" sz="1800" b="1" dirty="0">
                <a:solidFill>
                  <a:srgbClr val="13262A"/>
                </a:solidFill>
                <a:latin typeface="Calibri" pitchFamily="34" charset="0"/>
                <a:ea typeface="Calibri" pitchFamily="34" charset="-122"/>
                <a:cs typeface="Calibri" pitchFamily="34" charset="-120"/>
              </a:rPr>
              <a:t>Recommender (Θ_R)</a:t>
            </a:r>
            <a:endParaRPr lang="en-US" sz="1800" dirty="0"/>
          </a:p>
        </p:txBody>
      </p:sp>
      <p:sp>
        <p:nvSpPr>
          <p:cNvPr id="7" name="Text 5"/>
          <p:cNvSpPr txBox="1"/>
          <p:nvPr/>
        </p:nvSpPr>
        <p:spPr>
          <a:xfrm>
            <a:off x="731520" y="2075688"/>
            <a:ext cx="5074920" cy="150876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L_BPR = − mean log σ( z_u·z_i⁺ − z_u·z_i⁻ )</a:t>
            </a:r>
            <a:endParaRPr lang="en-US" sz="1500" dirty="0"/>
          </a:p>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L_model = L_BPR + λ · ‖e⁰‖²</a:t>
            </a:r>
            <a:endParaRPr lang="en-US" sz="1500" dirty="0"/>
          </a:p>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Optimizer riêng; chỉ nhận gradient từ L_model.</a:t>
            </a:r>
            <a:endParaRPr lang="en-US" sz="1500" dirty="0"/>
          </a:p>
        </p:txBody>
      </p:sp>
      <p:sp>
        <p:nvSpPr>
          <p:cNvPr id="8" name="Shape 6"/>
          <p:cNvSpPr/>
          <p:nvPr/>
        </p:nvSpPr>
        <p:spPr>
          <a:xfrm>
            <a:off x="6172200" y="1463040"/>
            <a:ext cx="5440680" cy="2194560"/>
          </a:xfrm>
          <a:prstGeom prst="roundRect">
            <a:avLst>
              <a:gd name="adj" fmla="val 3333"/>
            </a:avLst>
          </a:prstGeom>
          <a:solidFill>
            <a:srgbClr val="FCF1DF"/>
          </a:solidFill>
          <a:ln w="12700">
            <a:solidFill>
              <a:srgbClr val="FCF1DF"/>
            </a:solidFill>
            <a:prstDash val="solid"/>
          </a:ln>
        </p:spPr>
      </p:sp>
      <p:sp>
        <p:nvSpPr>
          <p:cNvPr id="9" name="Text 7"/>
          <p:cNvSpPr txBox="1"/>
          <p:nvPr/>
        </p:nvSpPr>
        <p:spPr>
          <a:xfrm>
            <a:off x="6355080" y="1581912"/>
            <a:ext cx="5074920" cy="420624"/>
          </a:xfrm>
          <a:prstGeom prst="rect">
            <a:avLst/>
          </a:prstGeom>
          <a:noFill/>
          <a:ln/>
        </p:spPr>
        <p:txBody>
          <a:bodyPr wrap="square" lIns="0" tIns="0" rIns="0" bIns="0" rtlCol="0" anchor="ctr"/>
          <a:lstStyle/>
          <a:p>
            <a:pPr indent="0" marL="0">
              <a:buNone/>
            </a:pPr>
            <a:r>
              <a:rPr lang="en-US" sz="1800" b="1" dirty="0">
                <a:solidFill>
                  <a:srgbClr val="13262A"/>
                </a:solidFill>
                <a:latin typeface="Calibri" pitchFamily="34" charset="0"/>
                <a:ea typeface="Calibri" pitchFamily="34" charset="-122"/>
                <a:cs typeface="Calibri" pitchFamily="34" charset="-120"/>
              </a:rPr>
              <a:t>Sampler (Θ_S ∪ Θ_Z)</a:t>
            </a:r>
            <a:endParaRPr lang="en-US" sz="1800" dirty="0"/>
          </a:p>
        </p:txBody>
      </p:sp>
      <p:sp>
        <p:nvSpPr>
          <p:cNvPr id="10" name="Text 8"/>
          <p:cNvSpPr txBox="1"/>
          <p:nvPr/>
        </p:nvSpPr>
        <p:spPr>
          <a:xfrm>
            <a:off x="6355080" y="2075688"/>
            <a:ext cx="5074920" cy="150876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L_TB = ( log Z(V⁰) + Σ_l log q_l + α · stopgrad(L_BPR) )²</a:t>
            </a:r>
            <a:endParaRPr lang="en-US" sz="1500" dirty="0"/>
          </a:p>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Phần thưởng R = exp(−α · L_BPR)</a:t>
            </a:r>
            <a:endParaRPr lang="en-US" sz="1500" dirty="0"/>
          </a:p>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Adam riêng; không gradient qua Top-k.</a:t>
            </a:r>
            <a:endParaRPr lang="en-US" sz="1500" dirty="0"/>
          </a:p>
        </p:txBody>
      </p:sp>
      <p:sp>
        <p:nvSpPr>
          <p:cNvPr id="11" name="Text 9"/>
          <p:cNvSpPr txBox="1"/>
          <p:nvPr/>
        </p:nvSpPr>
        <p:spPr>
          <a:xfrm>
            <a:off x="548640" y="3840480"/>
            <a:ext cx="11064240" cy="457200"/>
          </a:xfrm>
          <a:prstGeom prst="rect">
            <a:avLst/>
          </a:prstGeom>
          <a:noFill/>
          <a:ln/>
        </p:spPr>
        <p:txBody>
          <a:bodyPr wrap="square" lIns="0" tIns="0" rIns="0" bIns="0" rtlCol="0" anchor="ctr"/>
          <a:lstStyle/>
          <a:p>
            <a:pPr indent="0" marL="0">
              <a:buNone/>
            </a:pPr>
            <a:r>
              <a:rPr lang="en-US" sz="1500" i="1" dirty="0">
                <a:solidFill>
                  <a:srgbClr val="2E7D7A"/>
                </a:solidFill>
                <a:latin typeface="Calibri" pitchFamily="34" charset="0"/>
                <a:ea typeface="Calibri" pitchFamily="34" charset="-122"/>
                <a:cs typeface="Calibri" pitchFamily="34" charset="-120"/>
              </a:rPr>
              <a:t>Ý nghĩa: trajectory (tập node được chọn) làm BPR loss thấp hơn sẽ có xác suất cao hơn, tỷ lệ với phần thưởng.</a:t>
            </a:r>
            <a:endParaRPr lang="en-US" sz="1500" dirty="0"/>
          </a:p>
        </p:txBody>
      </p:sp>
      <p:sp>
        <p:nvSpPr>
          <p:cNvPr id="12" name="Text 10"/>
          <p:cNvSpPr txBox="1"/>
          <p:nvPr/>
        </p:nvSpPr>
        <p:spPr>
          <a:xfrm>
            <a:off x="548640" y="4526280"/>
            <a:ext cx="2560320" cy="731520"/>
          </a:xfrm>
          <a:prstGeom prst="rect">
            <a:avLst/>
          </a:prstGeom>
          <a:noFill/>
          <a:ln/>
        </p:spPr>
        <p:txBody>
          <a:bodyPr wrap="square" lIns="0" tIns="0" rIns="0" bIns="0" rtlCol="0" anchor="ctr"/>
          <a:lstStyle/>
          <a:p>
            <a:pPr indent="0" marL="0">
              <a:buNone/>
            </a:pPr>
            <a:r>
              <a:rPr lang="en-US" sz="3600" b="1" dirty="0">
                <a:solidFill>
                  <a:srgbClr val="0F4C4F"/>
                </a:solidFill>
                <a:latin typeface="Cambria" pitchFamily="34" charset="0"/>
                <a:ea typeface="Cambria" pitchFamily="34" charset="-122"/>
                <a:cs typeface="Cambria" pitchFamily="34" charset="-120"/>
              </a:rPr>
              <a:t>28</a:t>
            </a:r>
            <a:endParaRPr lang="en-US" sz="3600" dirty="0"/>
          </a:p>
        </p:txBody>
      </p:sp>
      <p:sp>
        <p:nvSpPr>
          <p:cNvPr id="13" name="Text 11"/>
          <p:cNvSpPr txBox="1"/>
          <p:nvPr/>
        </p:nvSpPr>
        <p:spPr>
          <a:xfrm>
            <a:off x="548640" y="5257800"/>
            <a:ext cx="2560320" cy="548640"/>
          </a:xfrm>
          <a:prstGeom prst="rect">
            <a:avLst/>
          </a:prstGeom>
          <a:noFill/>
          <a:ln/>
        </p:spPr>
        <p:txBody>
          <a:bodyPr wrap="square" lIns="0" tIns="0" rIns="0" bIns="0" rtlCol="0" anchor="t"/>
          <a:lstStyle/>
          <a:p>
            <a:pPr indent="0" marL="0">
              <a:buNone/>
            </a:pPr>
            <a:r>
              <a:rPr lang="en-US" sz="1300" dirty="0">
                <a:solidFill>
                  <a:srgbClr val="5E6B6E"/>
                </a:solidFill>
                <a:latin typeface="Calibri" pitchFamily="34" charset="0"/>
                <a:ea typeface="Calibri" pitchFamily="34" charset="-122"/>
                <a:cs typeface="Calibri" pitchFamily="34" charset="-120"/>
              </a:rPr>
              <a:t>oracle test pass (PyTorch CPU)</a:t>
            </a:r>
            <a:endParaRPr lang="en-US" sz="1300" dirty="0"/>
          </a:p>
        </p:txBody>
      </p:sp>
      <p:sp>
        <p:nvSpPr>
          <p:cNvPr id="14" name="Text 12"/>
          <p:cNvSpPr txBox="1"/>
          <p:nvPr/>
        </p:nvSpPr>
        <p:spPr>
          <a:xfrm>
            <a:off x="3337560" y="4526280"/>
            <a:ext cx="2560320" cy="731520"/>
          </a:xfrm>
          <a:prstGeom prst="rect">
            <a:avLst/>
          </a:prstGeom>
          <a:noFill/>
          <a:ln/>
        </p:spPr>
        <p:txBody>
          <a:bodyPr wrap="square" lIns="0" tIns="0" rIns="0" bIns="0" rtlCol="0" anchor="ctr"/>
          <a:lstStyle/>
          <a:p>
            <a:pPr indent="0" marL="0">
              <a:buNone/>
            </a:pPr>
            <a:r>
              <a:rPr lang="en-US" sz="3600" b="1" dirty="0">
                <a:solidFill>
                  <a:srgbClr val="0F4C4F"/>
                </a:solidFill>
                <a:latin typeface="Cambria" pitchFamily="34" charset="0"/>
                <a:ea typeface="Cambria" pitchFamily="34" charset="-122"/>
                <a:cs typeface="Cambria" pitchFamily="34" charset="-120"/>
              </a:rPr>
              <a:t>4/4</a:t>
            </a:r>
            <a:endParaRPr lang="en-US" sz="3600" dirty="0"/>
          </a:p>
        </p:txBody>
      </p:sp>
      <p:sp>
        <p:nvSpPr>
          <p:cNvPr id="15" name="Text 13"/>
          <p:cNvSpPr txBox="1"/>
          <p:nvPr/>
        </p:nvSpPr>
        <p:spPr>
          <a:xfrm>
            <a:off x="3337560" y="5257800"/>
            <a:ext cx="2560320" cy="548640"/>
          </a:xfrm>
          <a:prstGeom prst="rect">
            <a:avLst/>
          </a:prstGeom>
          <a:noFill/>
          <a:ln/>
        </p:spPr>
        <p:txBody>
          <a:bodyPr wrap="square" lIns="0" tIns="0" rIns="0" bIns="0" rtlCol="0" anchor="t"/>
          <a:lstStyle/>
          <a:p>
            <a:pPr indent="0" marL="0">
              <a:buNone/>
            </a:pPr>
            <a:r>
              <a:rPr lang="en-US" sz="1300" dirty="0">
                <a:solidFill>
                  <a:srgbClr val="5E6B6E"/>
                </a:solidFill>
                <a:latin typeface="Calibri" pitchFamily="34" charset="0"/>
                <a:ea typeface="Calibri" pitchFamily="34" charset="-122"/>
                <a:cs typeface="Calibri" pitchFamily="34" charset="-120"/>
              </a:rPr>
              <a:t>lỗi cài cố ý bị test bắt</a:t>
            </a:r>
            <a:endParaRPr lang="en-US" sz="1300" dirty="0"/>
          </a:p>
        </p:txBody>
      </p:sp>
      <p:sp>
        <p:nvSpPr>
          <p:cNvPr id="16" name="Text 14"/>
          <p:cNvSpPr txBox="1"/>
          <p:nvPr/>
        </p:nvSpPr>
        <p:spPr>
          <a:xfrm>
            <a:off x="6126480" y="4526280"/>
            <a:ext cx="2560320" cy="731520"/>
          </a:xfrm>
          <a:prstGeom prst="rect">
            <a:avLst/>
          </a:prstGeom>
          <a:noFill/>
          <a:ln/>
        </p:spPr>
        <p:txBody>
          <a:bodyPr wrap="square" lIns="0" tIns="0" rIns="0" bIns="0" rtlCol="0" anchor="ctr"/>
          <a:lstStyle/>
          <a:p>
            <a:pPr indent="0" marL="0">
              <a:buNone/>
            </a:pPr>
            <a:r>
              <a:rPr lang="en-US" sz="3600" b="1" dirty="0">
                <a:solidFill>
                  <a:srgbClr val="0F4C4F"/>
                </a:solidFill>
                <a:latin typeface="Cambria" pitchFamily="34" charset="0"/>
                <a:ea typeface="Cambria" pitchFamily="34" charset="-122"/>
                <a:cs typeface="Cambria" pitchFamily="34" charset="-120"/>
              </a:rPr>
              <a:t>T20</a:t>
            </a:r>
            <a:endParaRPr lang="en-US" sz="3600" dirty="0"/>
          </a:p>
        </p:txBody>
      </p:sp>
      <p:sp>
        <p:nvSpPr>
          <p:cNvPr id="17" name="Text 15"/>
          <p:cNvSpPr txBox="1"/>
          <p:nvPr/>
        </p:nvSpPr>
        <p:spPr>
          <a:xfrm>
            <a:off x="6126480" y="5257800"/>
            <a:ext cx="2560320" cy="548640"/>
          </a:xfrm>
          <a:prstGeom prst="rect">
            <a:avLst/>
          </a:prstGeom>
          <a:noFill/>
          <a:ln/>
        </p:spPr>
        <p:txBody>
          <a:bodyPr wrap="square" lIns="0" tIns="0" rIns="0" bIns="0" rtlCol="0" anchor="t"/>
          <a:lstStyle/>
          <a:p>
            <a:pPr indent="0" marL="0">
              <a:buNone/>
            </a:pPr>
            <a:r>
              <a:rPr lang="en-US" sz="1300" dirty="0">
                <a:solidFill>
                  <a:srgbClr val="5E6B6E"/>
                </a:solidFill>
                <a:latin typeface="Calibri" pitchFamily="34" charset="0"/>
                <a:ea typeface="Calibri" pitchFamily="34" charset="-122"/>
                <a:cs typeface="Calibri" pitchFamily="34" charset="-120"/>
              </a:rPr>
              <a:t>TB không chạm Θ_R; BPR không chạm Θ_S</a:t>
            </a:r>
            <a:endParaRPr lang="en-US" sz="1300" dirty="0"/>
          </a:p>
        </p:txBody>
      </p:sp>
      <p:sp>
        <p:nvSpPr>
          <p:cNvPr id="18" name="Text 16"/>
          <p:cNvSpPr txBox="1"/>
          <p:nvPr/>
        </p:nvSpPr>
        <p:spPr>
          <a:xfrm>
            <a:off x="8915400" y="4526280"/>
            <a:ext cx="2560320" cy="731520"/>
          </a:xfrm>
          <a:prstGeom prst="rect">
            <a:avLst/>
          </a:prstGeom>
          <a:noFill/>
          <a:ln/>
        </p:spPr>
        <p:txBody>
          <a:bodyPr wrap="square" lIns="0" tIns="0" rIns="0" bIns="0" rtlCol="0" anchor="ctr"/>
          <a:lstStyle/>
          <a:p>
            <a:pPr indent="0" marL="0">
              <a:buNone/>
            </a:pPr>
            <a:r>
              <a:rPr lang="en-US" sz="3600" b="1" dirty="0">
                <a:solidFill>
                  <a:srgbClr val="0F4C4F"/>
                </a:solidFill>
                <a:latin typeface="Cambria" pitchFamily="34" charset="0"/>
                <a:ea typeface="Cambria" pitchFamily="34" charset="-122"/>
                <a:cs typeface="Cambria" pitchFamily="34" charset="-120"/>
              </a:rPr>
              <a:t>G7</a:t>
            </a:r>
            <a:endParaRPr lang="en-US" sz="3600" dirty="0"/>
          </a:p>
        </p:txBody>
      </p:sp>
      <p:sp>
        <p:nvSpPr>
          <p:cNvPr id="19" name="Text 17"/>
          <p:cNvSpPr txBox="1"/>
          <p:nvPr/>
        </p:nvSpPr>
        <p:spPr>
          <a:xfrm>
            <a:off x="8915400" y="5257800"/>
            <a:ext cx="2560320" cy="548640"/>
          </a:xfrm>
          <a:prstGeom prst="rect">
            <a:avLst/>
          </a:prstGeom>
          <a:noFill/>
          <a:ln/>
        </p:spPr>
        <p:txBody>
          <a:bodyPr wrap="square" lIns="0" tIns="0" rIns="0" bIns="0" rtlCol="0" anchor="t"/>
          <a:lstStyle/>
          <a:p>
            <a:pPr indent="0" marL="0">
              <a:buNone/>
            </a:pPr>
            <a:r>
              <a:rPr lang="en-US" sz="1300" dirty="0">
                <a:solidFill>
                  <a:srgbClr val="5E6B6E"/>
                </a:solidFill>
                <a:latin typeface="Calibri" pitchFamily="34" charset="0"/>
                <a:ea typeface="Calibri" pitchFamily="34" charset="-122"/>
                <a:cs typeface="Calibri" pitchFamily="34" charset="-120"/>
              </a:rPr>
              <a:t>tham số sampler thay đổi sau 1 bước</a:t>
            </a:r>
            <a:endParaRPr lang="en-US" sz="1300" dirty="0"/>
          </a:p>
        </p:txBody>
      </p:sp>
      <p:sp>
        <p:nvSpPr>
          <p:cNvPr id="20" name="Text 18"/>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Lỗi cài cố ý: bỏ detach trong TB, bỏ số hạng node không chọn trong log q, cộng dồn K^l, sai dấu REINFORCE. Ablation: GRAPES-RL-Rec dùng L = stopgrad(L_BPR) · log q.</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RỦI RO KỸ THUẬT</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Những điểm riêng của bài toán gợi ý phải xử lý</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48640" y="1463040"/>
            <a:ext cx="3566160" cy="2240280"/>
          </a:xfrm>
          <a:prstGeom prst="roundRect">
            <a:avLst>
              <a:gd name="adj" fmla="val 3265"/>
            </a:avLst>
          </a:prstGeom>
          <a:solidFill>
            <a:srgbClr val="F4F7F7"/>
          </a:solidFill>
          <a:ln w="12700">
            <a:solidFill>
              <a:srgbClr val="F4F7F7"/>
            </a:solidFill>
            <a:prstDash val="solid"/>
          </a:ln>
        </p:spPr>
      </p:sp>
      <p:sp>
        <p:nvSpPr>
          <p:cNvPr id="6" name="Shape 4"/>
          <p:cNvSpPr/>
          <p:nvPr/>
        </p:nvSpPr>
        <p:spPr>
          <a:xfrm>
            <a:off x="731520" y="1600200"/>
            <a:ext cx="384048" cy="384048"/>
          </a:xfrm>
          <a:prstGeom prst="ellipse">
            <a:avLst/>
          </a:prstGeom>
          <a:solidFill>
            <a:srgbClr val="C8553D"/>
          </a:solidFill>
          <a:ln w="12700">
            <a:solidFill>
              <a:srgbClr val="C8553D"/>
            </a:solidFill>
            <a:prstDash val="solid"/>
          </a:ln>
        </p:spPr>
      </p:sp>
      <p:sp>
        <p:nvSpPr>
          <p:cNvPr id="7" name="Text 5"/>
          <p:cNvSpPr txBox="1"/>
          <p:nvPr/>
        </p:nvSpPr>
        <p:spPr>
          <a:xfrm>
            <a:off x="73152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R-1</a:t>
            </a:r>
            <a:endParaRPr lang="en-US" sz="1300" dirty="0"/>
          </a:p>
        </p:txBody>
      </p:sp>
      <p:sp>
        <p:nvSpPr>
          <p:cNvPr id="8" name="Text 6"/>
          <p:cNvSpPr txBox="1"/>
          <p:nvPr/>
        </p:nvSpPr>
        <p:spPr>
          <a:xfrm>
            <a:off x="1234440" y="1581912"/>
            <a:ext cx="2697480" cy="420624"/>
          </a:xfrm>
          <a:prstGeom prst="rect">
            <a:avLst/>
          </a:prstGeom>
          <a:noFill/>
          <a:ln/>
        </p:spPr>
        <p:txBody>
          <a:bodyPr wrap="square" lIns="0" tIns="0" rIns="0" bIns="0" rtlCol="0" anchor="ctr"/>
          <a:lstStyle/>
          <a:p>
            <a:pPr indent="0" marL="0">
              <a:buNone/>
            </a:pPr>
            <a:r>
              <a:rPr lang="en-US" sz="1700" b="1" dirty="0">
                <a:solidFill>
                  <a:srgbClr val="13262A"/>
                </a:solidFill>
                <a:latin typeface="Calibri" pitchFamily="34" charset="0"/>
                <a:ea typeface="Calibri" pitchFamily="34" charset="-122"/>
                <a:cs typeface="Calibri" pitchFamily="34" charset="-120"/>
              </a:rPr>
              <a:t>Quá ít phần thưởng</a:t>
            </a:r>
            <a:endParaRPr lang="en-US" sz="1700" dirty="0"/>
          </a:p>
        </p:txBody>
      </p:sp>
      <p:sp>
        <p:nvSpPr>
          <p:cNvPr id="9" name="Text 7"/>
          <p:cNvSpPr txBox="1"/>
          <p:nvPr/>
        </p:nvSpPr>
        <p:spPr>
          <a:xfrm>
            <a:off x="731520" y="2075688"/>
            <a:ext cx="3200400" cy="155448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Pilot: batch 65.536 × 5 epoch ≈ 300 bước → sampler chỉ học từ ~300 số. Chọn lại batch/budget chung cho mọi sampler.</a:t>
            </a:r>
            <a:endParaRPr lang="en-US" sz="1500" dirty="0"/>
          </a:p>
        </p:txBody>
      </p:sp>
      <p:sp>
        <p:nvSpPr>
          <p:cNvPr id="10" name="Shape 8"/>
          <p:cNvSpPr/>
          <p:nvPr/>
        </p:nvSpPr>
        <p:spPr>
          <a:xfrm>
            <a:off x="4297680" y="1463040"/>
            <a:ext cx="3566160" cy="2240280"/>
          </a:xfrm>
          <a:prstGeom prst="roundRect">
            <a:avLst>
              <a:gd name="adj" fmla="val 3265"/>
            </a:avLst>
          </a:prstGeom>
          <a:solidFill>
            <a:srgbClr val="F4F7F7"/>
          </a:solidFill>
          <a:ln w="12700">
            <a:solidFill>
              <a:srgbClr val="F4F7F7"/>
            </a:solidFill>
            <a:prstDash val="solid"/>
          </a:ln>
        </p:spPr>
      </p:sp>
      <p:sp>
        <p:nvSpPr>
          <p:cNvPr id="11" name="Shape 9"/>
          <p:cNvSpPr/>
          <p:nvPr/>
        </p:nvSpPr>
        <p:spPr>
          <a:xfrm>
            <a:off x="4480560" y="1600200"/>
            <a:ext cx="384048" cy="384048"/>
          </a:xfrm>
          <a:prstGeom prst="ellipse">
            <a:avLst/>
          </a:prstGeom>
          <a:solidFill>
            <a:srgbClr val="0F4C4F"/>
          </a:solidFill>
          <a:ln w="12700">
            <a:solidFill>
              <a:srgbClr val="0F4C4F"/>
            </a:solidFill>
            <a:prstDash val="solid"/>
          </a:ln>
        </p:spPr>
      </p:sp>
      <p:sp>
        <p:nvSpPr>
          <p:cNvPr id="12" name="Text 10"/>
          <p:cNvSpPr txBox="1"/>
          <p:nvPr/>
        </p:nvSpPr>
        <p:spPr>
          <a:xfrm>
            <a:off x="448056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R-2</a:t>
            </a:r>
            <a:endParaRPr lang="en-US" sz="1300" dirty="0"/>
          </a:p>
        </p:txBody>
      </p:sp>
      <p:sp>
        <p:nvSpPr>
          <p:cNvPr id="13" name="Text 11"/>
          <p:cNvSpPr txBox="1"/>
          <p:nvPr/>
        </p:nvSpPr>
        <p:spPr>
          <a:xfrm>
            <a:off x="4983480" y="1581912"/>
            <a:ext cx="2697480" cy="420624"/>
          </a:xfrm>
          <a:prstGeom prst="rect">
            <a:avLst/>
          </a:prstGeom>
          <a:noFill/>
          <a:ln/>
        </p:spPr>
        <p:txBody>
          <a:bodyPr wrap="square" lIns="0" tIns="0" rIns="0" bIns="0" rtlCol="0" anchor="ctr"/>
          <a:lstStyle/>
          <a:p>
            <a:pPr indent="0" marL="0">
              <a:buNone/>
            </a:pPr>
            <a:r>
              <a:rPr lang="en-US" sz="1700" b="1" dirty="0">
                <a:solidFill>
                  <a:srgbClr val="13262A"/>
                </a:solidFill>
                <a:latin typeface="Calibri" pitchFamily="34" charset="0"/>
                <a:ea typeface="Calibri" pitchFamily="34" charset="-122"/>
                <a:cs typeface="Calibri" pitchFamily="34" charset="-120"/>
              </a:rPr>
              <a:t>Thang phần thưởng</a:t>
            </a:r>
            <a:endParaRPr lang="en-US" sz="1700" dirty="0"/>
          </a:p>
        </p:txBody>
      </p:sp>
      <p:sp>
        <p:nvSpPr>
          <p:cNvPr id="14" name="Text 12"/>
          <p:cNvSpPr txBox="1"/>
          <p:nvPr/>
        </p:nvSpPr>
        <p:spPr>
          <a:xfrm>
            <a:off x="4480560" y="2075688"/>
            <a:ext cx="3200400" cy="155448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BPR ≈ 0,69 và chênh lệch nhỏ; α quá nhỏ thì log q lấn át. Quét α, log_z_init trên D_dev, log từng thành phần.</a:t>
            </a:r>
            <a:endParaRPr lang="en-US" sz="1500" dirty="0"/>
          </a:p>
        </p:txBody>
      </p:sp>
      <p:sp>
        <p:nvSpPr>
          <p:cNvPr id="15" name="Shape 13"/>
          <p:cNvSpPr/>
          <p:nvPr/>
        </p:nvSpPr>
        <p:spPr>
          <a:xfrm>
            <a:off x="8046720" y="1463040"/>
            <a:ext cx="3566160" cy="2240280"/>
          </a:xfrm>
          <a:prstGeom prst="roundRect">
            <a:avLst>
              <a:gd name="adj" fmla="val 3265"/>
            </a:avLst>
          </a:prstGeom>
          <a:solidFill>
            <a:srgbClr val="F4F7F7"/>
          </a:solidFill>
          <a:ln w="12700">
            <a:solidFill>
              <a:srgbClr val="F4F7F7"/>
            </a:solidFill>
            <a:prstDash val="solid"/>
          </a:ln>
        </p:spPr>
      </p:sp>
      <p:sp>
        <p:nvSpPr>
          <p:cNvPr id="16" name="Shape 14"/>
          <p:cNvSpPr/>
          <p:nvPr/>
        </p:nvSpPr>
        <p:spPr>
          <a:xfrm>
            <a:off x="8229600" y="1600200"/>
            <a:ext cx="384048" cy="384048"/>
          </a:xfrm>
          <a:prstGeom prst="ellipse">
            <a:avLst/>
          </a:prstGeom>
          <a:solidFill>
            <a:srgbClr val="0F4C4F"/>
          </a:solidFill>
          <a:ln w="12700">
            <a:solidFill>
              <a:srgbClr val="0F4C4F"/>
            </a:solidFill>
            <a:prstDash val="solid"/>
          </a:ln>
        </p:spPr>
      </p:sp>
      <p:sp>
        <p:nvSpPr>
          <p:cNvPr id="17" name="Text 15"/>
          <p:cNvSpPr txBox="1"/>
          <p:nvPr/>
        </p:nvSpPr>
        <p:spPr>
          <a:xfrm>
            <a:off x="822960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R-3</a:t>
            </a:r>
            <a:endParaRPr lang="en-US" sz="1300" dirty="0"/>
          </a:p>
        </p:txBody>
      </p:sp>
      <p:sp>
        <p:nvSpPr>
          <p:cNvPr id="18" name="Text 16"/>
          <p:cNvSpPr txBox="1"/>
          <p:nvPr/>
        </p:nvSpPr>
        <p:spPr>
          <a:xfrm>
            <a:off x="8732520" y="1581912"/>
            <a:ext cx="2697480" cy="420624"/>
          </a:xfrm>
          <a:prstGeom prst="rect">
            <a:avLst/>
          </a:prstGeom>
          <a:noFill/>
          <a:ln/>
        </p:spPr>
        <p:txBody>
          <a:bodyPr wrap="square" lIns="0" tIns="0" rIns="0" bIns="0" rtlCol="0" anchor="ctr"/>
          <a:lstStyle/>
          <a:p>
            <a:pPr indent="0" marL="0">
              <a:buNone/>
            </a:pPr>
            <a:r>
              <a:rPr lang="en-US" sz="1700" b="1" dirty="0">
                <a:solidFill>
                  <a:srgbClr val="13262A"/>
                </a:solidFill>
                <a:latin typeface="Calibri" pitchFamily="34" charset="0"/>
                <a:ea typeface="Calibri" pitchFamily="34" charset="-122"/>
                <a:cs typeface="Calibri" pitchFamily="34" charset="-120"/>
              </a:rPr>
              <a:t>Phần thưởng thay đổi</a:t>
            </a:r>
            <a:endParaRPr lang="en-US" sz="1700" dirty="0"/>
          </a:p>
        </p:txBody>
      </p:sp>
      <p:sp>
        <p:nvSpPr>
          <p:cNvPr id="19" name="Text 17"/>
          <p:cNvSpPr txBox="1"/>
          <p:nvPr/>
        </p:nvSpPr>
        <p:spPr>
          <a:xfrm>
            <a:off x="8229600" y="2075688"/>
            <a:ext cx="3200400" cy="155448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Recommender học thêm thì cùng trajectory cho loss khác. Giữ như GRAPES, ghi log drift.</a:t>
            </a:r>
            <a:endParaRPr lang="en-US" sz="1500" dirty="0"/>
          </a:p>
        </p:txBody>
      </p:sp>
      <p:sp>
        <p:nvSpPr>
          <p:cNvPr id="20" name="Shape 18"/>
          <p:cNvSpPr/>
          <p:nvPr/>
        </p:nvSpPr>
        <p:spPr>
          <a:xfrm>
            <a:off x="548640" y="3886200"/>
            <a:ext cx="3566160" cy="2240280"/>
          </a:xfrm>
          <a:prstGeom prst="roundRect">
            <a:avLst>
              <a:gd name="adj" fmla="val 3265"/>
            </a:avLst>
          </a:prstGeom>
          <a:solidFill>
            <a:srgbClr val="F4F7F7"/>
          </a:solidFill>
          <a:ln w="12700">
            <a:solidFill>
              <a:srgbClr val="F4F7F7"/>
            </a:solidFill>
            <a:prstDash val="solid"/>
          </a:ln>
        </p:spPr>
      </p:sp>
      <p:sp>
        <p:nvSpPr>
          <p:cNvPr id="21" name="Shape 19"/>
          <p:cNvSpPr/>
          <p:nvPr/>
        </p:nvSpPr>
        <p:spPr>
          <a:xfrm>
            <a:off x="731520" y="4023360"/>
            <a:ext cx="384048" cy="384048"/>
          </a:xfrm>
          <a:prstGeom prst="ellipse">
            <a:avLst/>
          </a:prstGeom>
          <a:solidFill>
            <a:srgbClr val="0F4C4F"/>
          </a:solidFill>
          <a:ln w="12700">
            <a:solidFill>
              <a:srgbClr val="0F4C4F"/>
            </a:solidFill>
            <a:prstDash val="solid"/>
          </a:ln>
        </p:spPr>
      </p:sp>
      <p:sp>
        <p:nvSpPr>
          <p:cNvPr id="22" name="Text 20"/>
          <p:cNvSpPr txBox="1"/>
          <p:nvPr/>
        </p:nvSpPr>
        <p:spPr>
          <a:xfrm>
            <a:off x="731520" y="4023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R-4</a:t>
            </a:r>
            <a:endParaRPr lang="en-US" sz="1300" dirty="0"/>
          </a:p>
        </p:txBody>
      </p:sp>
      <p:sp>
        <p:nvSpPr>
          <p:cNvPr id="23" name="Text 21"/>
          <p:cNvSpPr txBox="1"/>
          <p:nvPr/>
        </p:nvSpPr>
        <p:spPr>
          <a:xfrm>
            <a:off x="1234440" y="4005072"/>
            <a:ext cx="2697480" cy="420624"/>
          </a:xfrm>
          <a:prstGeom prst="rect">
            <a:avLst/>
          </a:prstGeom>
          <a:noFill/>
          <a:ln/>
        </p:spPr>
        <p:txBody>
          <a:bodyPr wrap="square" lIns="0" tIns="0" rIns="0" bIns="0" rtlCol="0" anchor="ctr"/>
          <a:lstStyle/>
          <a:p>
            <a:pPr indent="0" marL="0">
              <a:buNone/>
            </a:pPr>
            <a:r>
              <a:rPr lang="en-US" sz="1700" b="1" dirty="0">
                <a:solidFill>
                  <a:srgbClr val="13262A"/>
                </a:solidFill>
                <a:latin typeface="Calibri" pitchFamily="34" charset="0"/>
                <a:ea typeface="Calibri" pitchFamily="34" charset="-122"/>
                <a:cs typeface="Calibri" pitchFamily="34" charset="-120"/>
              </a:rPr>
              <a:t>Graph cực thưa</a:t>
            </a:r>
            <a:endParaRPr lang="en-US" sz="1700" dirty="0"/>
          </a:p>
        </p:txBody>
      </p:sp>
      <p:sp>
        <p:nvSpPr>
          <p:cNvPr id="24" name="Text 22"/>
          <p:cNvSpPr txBox="1"/>
          <p:nvPr/>
        </p:nvSpPr>
        <p:spPr>
          <a:xfrm>
            <a:off x="731520" y="4498848"/>
            <a:ext cx="3200400" cy="155448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71,76% user có 1 cạnh; theo dõi bậc/loại/nhóm node được chọn để phát hiện dồn về hub.</a:t>
            </a:r>
            <a:endParaRPr lang="en-US" sz="1500" dirty="0"/>
          </a:p>
        </p:txBody>
      </p:sp>
      <p:sp>
        <p:nvSpPr>
          <p:cNvPr id="25" name="Shape 23"/>
          <p:cNvSpPr/>
          <p:nvPr/>
        </p:nvSpPr>
        <p:spPr>
          <a:xfrm>
            <a:off x="4297680" y="3886200"/>
            <a:ext cx="3566160" cy="2240280"/>
          </a:xfrm>
          <a:prstGeom prst="roundRect">
            <a:avLst>
              <a:gd name="adj" fmla="val 3265"/>
            </a:avLst>
          </a:prstGeom>
          <a:solidFill>
            <a:srgbClr val="F4F7F7"/>
          </a:solidFill>
          <a:ln w="12700">
            <a:solidFill>
              <a:srgbClr val="F4F7F7"/>
            </a:solidFill>
            <a:prstDash val="solid"/>
          </a:ln>
        </p:spPr>
      </p:sp>
      <p:sp>
        <p:nvSpPr>
          <p:cNvPr id="26" name="Shape 24"/>
          <p:cNvSpPr/>
          <p:nvPr/>
        </p:nvSpPr>
        <p:spPr>
          <a:xfrm>
            <a:off x="4480560" y="4023360"/>
            <a:ext cx="384048" cy="384048"/>
          </a:xfrm>
          <a:prstGeom prst="ellipse">
            <a:avLst/>
          </a:prstGeom>
          <a:solidFill>
            <a:srgbClr val="0F4C4F"/>
          </a:solidFill>
          <a:ln w="12700">
            <a:solidFill>
              <a:srgbClr val="0F4C4F"/>
            </a:solidFill>
            <a:prstDash val="solid"/>
          </a:ln>
        </p:spPr>
      </p:sp>
      <p:sp>
        <p:nvSpPr>
          <p:cNvPr id="27" name="Text 25"/>
          <p:cNvSpPr txBox="1"/>
          <p:nvPr/>
        </p:nvSpPr>
        <p:spPr>
          <a:xfrm>
            <a:off x="4480560" y="4023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R-5</a:t>
            </a:r>
            <a:endParaRPr lang="en-US" sz="1300" dirty="0"/>
          </a:p>
        </p:txBody>
      </p:sp>
      <p:sp>
        <p:nvSpPr>
          <p:cNvPr id="28" name="Text 26"/>
          <p:cNvSpPr txBox="1"/>
          <p:nvPr/>
        </p:nvSpPr>
        <p:spPr>
          <a:xfrm>
            <a:off x="4983480" y="4005072"/>
            <a:ext cx="2697480" cy="420624"/>
          </a:xfrm>
          <a:prstGeom prst="rect">
            <a:avLst/>
          </a:prstGeom>
          <a:noFill/>
          <a:ln/>
        </p:spPr>
        <p:txBody>
          <a:bodyPr wrap="square" lIns="0" tIns="0" rIns="0" bIns="0" rtlCol="0" anchor="ctr"/>
          <a:lstStyle/>
          <a:p>
            <a:pPr indent="0" marL="0">
              <a:buNone/>
            </a:pPr>
            <a:r>
              <a:rPr lang="en-US" sz="1700" b="1" dirty="0">
                <a:solidFill>
                  <a:srgbClr val="13262A"/>
                </a:solidFill>
                <a:latin typeface="Calibri" pitchFamily="34" charset="0"/>
                <a:ea typeface="Calibri" pitchFamily="34" charset="-122"/>
                <a:cs typeface="Calibri" pitchFamily="34" charset="-120"/>
              </a:rPr>
              <a:t>Chi phí sampler</a:t>
            </a:r>
            <a:endParaRPr lang="en-US" sz="1700" dirty="0"/>
          </a:p>
        </p:txBody>
      </p:sp>
      <p:sp>
        <p:nvSpPr>
          <p:cNvPr id="29" name="Text 27"/>
          <p:cNvSpPr txBox="1"/>
          <p:nvPr/>
        </p:nvSpPr>
        <p:spPr>
          <a:xfrm>
            <a:off x="4480560" y="4498848"/>
            <a:ext cx="3200400" cy="155448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Embedding cho 2,48 triệu node + GCN_S có thể đắt hơn LightGCN. Tính cả sampler vào chi phí; có ngưỡng khả thi T4.</a:t>
            </a:r>
            <a:endParaRPr lang="en-US" sz="1500" dirty="0"/>
          </a:p>
        </p:txBody>
      </p:sp>
      <p:sp>
        <p:nvSpPr>
          <p:cNvPr id="30" name="Shape 28"/>
          <p:cNvSpPr/>
          <p:nvPr/>
        </p:nvSpPr>
        <p:spPr>
          <a:xfrm>
            <a:off x="8046720" y="3886200"/>
            <a:ext cx="3566160" cy="2240280"/>
          </a:xfrm>
          <a:prstGeom prst="roundRect">
            <a:avLst>
              <a:gd name="adj" fmla="val 3265"/>
            </a:avLst>
          </a:prstGeom>
          <a:solidFill>
            <a:srgbClr val="F4F7F7"/>
          </a:solidFill>
          <a:ln w="12700">
            <a:solidFill>
              <a:srgbClr val="F4F7F7"/>
            </a:solidFill>
            <a:prstDash val="solid"/>
          </a:ln>
        </p:spPr>
      </p:sp>
      <p:sp>
        <p:nvSpPr>
          <p:cNvPr id="31" name="Shape 29"/>
          <p:cNvSpPr/>
          <p:nvPr/>
        </p:nvSpPr>
        <p:spPr>
          <a:xfrm>
            <a:off x="8229600" y="4023360"/>
            <a:ext cx="384048" cy="384048"/>
          </a:xfrm>
          <a:prstGeom prst="ellipse">
            <a:avLst/>
          </a:prstGeom>
          <a:solidFill>
            <a:srgbClr val="C8553D"/>
          </a:solidFill>
          <a:ln w="12700">
            <a:solidFill>
              <a:srgbClr val="C8553D"/>
            </a:solidFill>
            <a:prstDash val="solid"/>
          </a:ln>
        </p:spPr>
      </p:sp>
      <p:sp>
        <p:nvSpPr>
          <p:cNvPr id="32" name="Text 30"/>
          <p:cNvSpPr txBox="1"/>
          <p:nvPr/>
        </p:nvSpPr>
        <p:spPr>
          <a:xfrm>
            <a:off x="8229600" y="4023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R-6</a:t>
            </a:r>
            <a:endParaRPr lang="en-US" sz="1300" dirty="0"/>
          </a:p>
        </p:txBody>
      </p:sp>
      <p:sp>
        <p:nvSpPr>
          <p:cNvPr id="33" name="Text 31"/>
          <p:cNvSpPr txBox="1"/>
          <p:nvPr/>
        </p:nvSpPr>
        <p:spPr>
          <a:xfrm>
            <a:off x="8732520" y="4005072"/>
            <a:ext cx="2697480" cy="420624"/>
          </a:xfrm>
          <a:prstGeom prst="rect">
            <a:avLst/>
          </a:prstGeom>
          <a:noFill/>
          <a:ln/>
        </p:spPr>
        <p:txBody>
          <a:bodyPr wrap="square" lIns="0" tIns="0" rIns="0" bIns="0" rtlCol="0" anchor="ctr"/>
          <a:lstStyle/>
          <a:p>
            <a:pPr indent="0" marL="0">
              <a:buNone/>
            </a:pPr>
            <a:r>
              <a:rPr lang="en-US" sz="1700" b="1" dirty="0">
                <a:solidFill>
                  <a:srgbClr val="13262A"/>
                </a:solidFill>
                <a:latin typeface="Calibri" pitchFamily="34" charset="0"/>
                <a:ea typeface="Calibri" pitchFamily="34" charset="-122"/>
                <a:cs typeface="Calibri" pitchFamily="34" charset="-120"/>
              </a:rPr>
              <a:t>Backbone yếu</a:t>
            </a:r>
            <a:endParaRPr lang="en-US" sz="1700" dirty="0"/>
          </a:p>
        </p:txBody>
      </p:sp>
      <p:sp>
        <p:nvSpPr>
          <p:cNvPr id="34" name="Text 32"/>
          <p:cNvSpPr txBox="1"/>
          <p:nvPr/>
        </p:nvSpPr>
        <p:spPr>
          <a:xfrm>
            <a:off x="8229600" y="4498848"/>
            <a:ext cx="3200400" cy="155448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Full LightGCN phải vượt MostPop trên D_dev trước khi so sánh sampler.</a:t>
            </a:r>
            <a:endParaRPr lang="en-US" sz="1500" dirty="0"/>
          </a:p>
        </p:txBody>
      </p:sp>
      <p:sp>
        <p:nvSpPr>
          <p:cNvPr id="35" name="Text 33"/>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Thêm: R-7 item âm cũng là mục tiêu của sampler; R-8 cạnh positive của batch có thể rò qua propagation → ablation che cạnh tạm thời (D9).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ĐÁNH GIÁ</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So sánh với các phương pháp khác</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737360"/>
                <a:gridCol w="2560320"/>
                <a:gridCol w="3383280"/>
                <a:gridCol w="3383280"/>
              </a:tblGrid>
              <a:tr h="51206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Tầng</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Phương pháp</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Vai trò</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Câu hỏi trả lời</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512064">
                <a:tc>
                  <a:txBody>
                    <a:bodyPr/>
                    <a:lstStyle/>
                    <a:p>
                      <a:pPr indent="0" marL="0">
                        <a:buNone/>
                      </a:pPr>
                      <a:r>
                        <a:rPr lang="en-US" sz="1500" b="1" dirty="0">
                          <a:solidFill>
                            <a:srgbClr val="13262A"/>
                          </a:solidFill>
                          <a:latin typeface="Calibri" pitchFamily="34" charset="0"/>
                          <a:ea typeface="Calibri" pitchFamily="34" charset="-122"/>
                          <a:cs typeface="Calibri" pitchFamily="34" charset="-120"/>
                        </a:rPr>
                        <a:t>A · cùng budget</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b="1" dirty="0">
                          <a:solidFill>
                            <a:srgbClr val="13262A"/>
                          </a:solidFill>
                          <a:latin typeface="Calibri" pitchFamily="34" charset="0"/>
                          <a:ea typeface="Calibri" pitchFamily="34" charset="-122"/>
                          <a:cs typeface="Calibri" pitchFamily="34" charset="-120"/>
                        </a:rPr>
                        <a:t>GRAPES-GFN-Rec</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b="1" dirty="0">
                          <a:solidFill>
                            <a:srgbClr val="13262A"/>
                          </a:solidFill>
                          <a:latin typeface="Calibri" pitchFamily="34" charset="0"/>
                          <a:ea typeface="Calibri" pitchFamily="34" charset="-122"/>
                          <a:cs typeface="Calibri" pitchFamily="34" charset="-120"/>
                        </a:rPr>
                        <a:t>Phương pháp đề xuất</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b="1" dirty="0">
                          <a:solidFill>
                            <a:srgbClr val="1326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r>
              <a:tr h="512064">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A · cùng budget</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M0 Uniform</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Đối chứng trung lập</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Học có hơn chọn ngẫu nhiên?</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r>
              <a:tr h="512064">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A · cùng budget</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M1 Degree-importance</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Đối chứng tĩnh mạnh (họ FastGCN/LADIES)</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Học có hơn ưu tiên node phổ biến?</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r>
              <a:tr h="512064">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A · cùng budget</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GRAPES-RL-Rec</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Ablation hàm mục tiêu</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GFlowNet TB có cần hơn REINFORCE?</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r>
              <a:tr h="512064">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B · tham chiếu</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Full LightGCN</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Không lấy mẫu</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Lấy mẫu mất bao nhiêu chất lượng?</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B · tham chiếu</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MostPop, BPR-MF</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Sanity</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Graph và propagation có giá trị?</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C · tùy chọn</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4F7F7"/>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GraphSAGE fan-out</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4F7F7"/>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Lấy mẫu theo từng node</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4F7F7"/>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Layer-wise học được vs node-wise?</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4F7F7"/>
                    </a:solidFill>
                  </a:tcPr>
                </a:tc>
              </a:tr>
              <a:tr h="512064">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Phụ lục</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4F7F7"/>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M2 frontier (pilot)</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4F7F7"/>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Lịch sử</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4F7F7"/>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Không nằm trong so sánh chính</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4F7F7"/>
                    </a:solidFill>
                  </a:tcPr>
                </a:tc>
              </a:tr>
            </a:tbl>
          </a:graphicData>
        </a:graphic>
      </p:graphicFrame>
      <p:sp>
        <p:nvSpPr>
          <p:cNvPr id="6" name="Text 3"/>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Tầng A chạy lại toàn bộ trên budget mới, cùng graph, thứ tự triplet, negative, khởi tạo, seed, evaluator, GPU. Số liệu M0/M1 pilot không được dùng lại.</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ĐÁNH GIÁ</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Đo gì và vì sao</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15</a:t>
            </a:r>
            <a:endParaRPr lang="en-US" sz="1000" dirty="0"/>
          </a:p>
        </p:txBody>
      </p:sp>
      <p:sp>
        <p:nvSpPr>
          <p:cNvPr id="5" name="Shape 3"/>
          <p:cNvSpPr/>
          <p:nvPr/>
        </p:nvSpPr>
        <p:spPr>
          <a:xfrm>
            <a:off x="548640" y="1463040"/>
            <a:ext cx="2606040" cy="3291840"/>
          </a:xfrm>
          <a:prstGeom prst="roundRect">
            <a:avLst>
              <a:gd name="adj" fmla="val 2807"/>
            </a:avLst>
          </a:prstGeom>
          <a:solidFill>
            <a:srgbClr val="F4F7F7"/>
          </a:solidFill>
          <a:ln w="12700">
            <a:solidFill>
              <a:srgbClr val="F4F7F7"/>
            </a:solidFill>
            <a:prstDash val="solid"/>
          </a:ln>
        </p:spPr>
      </p:sp>
      <p:sp>
        <p:nvSpPr>
          <p:cNvPr id="6" name="Shape 4"/>
          <p:cNvSpPr/>
          <p:nvPr/>
        </p:nvSpPr>
        <p:spPr>
          <a:xfrm>
            <a:off x="731520" y="1645920"/>
            <a:ext cx="438912" cy="438912"/>
          </a:xfrm>
          <a:prstGeom prst="ellipse">
            <a:avLst/>
          </a:prstGeom>
          <a:solidFill>
            <a:srgbClr val="0F4C4F"/>
          </a:solidFill>
          <a:ln w="12700">
            <a:solidFill>
              <a:srgbClr val="0F4C4F"/>
            </a:solidFill>
            <a:prstDash val="solid"/>
          </a:ln>
        </p:spPr>
      </p:sp>
      <p:sp>
        <p:nvSpPr>
          <p:cNvPr id="7" name="Text 5"/>
          <p:cNvSpPr txBox="1"/>
          <p:nvPr/>
        </p:nvSpPr>
        <p:spPr>
          <a:xfrm>
            <a:off x="731520" y="16459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280160" y="1600200"/>
            <a:ext cx="1783080" cy="548640"/>
          </a:xfrm>
          <a:prstGeom prst="rect">
            <a:avLst/>
          </a:prstGeom>
          <a:noFill/>
          <a:ln/>
        </p:spPr>
        <p:txBody>
          <a:bodyPr wrap="square" lIns="0" tIns="0" rIns="0" bIns="0" rtlCol="0" anchor="ctr"/>
          <a:lstStyle/>
          <a:p>
            <a:pPr indent="0" marL="0">
              <a:buNone/>
            </a:pPr>
            <a:r>
              <a:rPr lang="en-US" sz="1500" b="1" dirty="0">
                <a:solidFill>
                  <a:srgbClr val="13262A"/>
                </a:solidFill>
                <a:latin typeface="Calibri" pitchFamily="34" charset="0"/>
                <a:ea typeface="Calibri" pitchFamily="34" charset="-122"/>
                <a:cs typeface="Calibri" pitchFamily="34" charset="-120"/>
              </a:rPr>
              <a:t>Chất lượng xếp hạng</a:t>
            </a:r>
            <a:endParaRPr lang="en-US" sz="1500" dirty="0"/>
          </a:p>
        </p:txBody>
      </p:sp>
      <p:sp>
        <p:nvSpPr>
          <p:cNvPr id="9" name="Text 7"/>
          <p:cNvSpPr txBox="1"/>
          <p:nvPr/>
        </p:nvSpPr>
        <p:spPr>
          <a:xfrm>
            <a:off x="731520" y="2331720"/>
            <a:ext cx="2286000" cy="228600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NDCG@20 (chính): item đúng ở vị trí cao được tính nhiều hơn</a:t>
            </a:r>
            <a:endParaRPr lang="en-US" sz="1450" dirty="0"/>
          </a:p>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Recall@20: item đúng có vào top-20</a:t>
            </a:r>
            <a:endParaRPr lang="en-US" sz="1450" dirty="0"/>
          </a:p>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Δ NDCG@20 ghép cặp theo seed</a:t>
            </a:r>
            <a:endParaRPr lang="en-US" sz="1450" dirty="0"/>
          </a:p>
        </p:txBody>
      </p:sp>
      <p:sp>
        <p:nvSpPr>
          <p:cNvPr id="10" name="Shape 8"/>
          <p:cNvSpPr/>
          <p:nvPr/>
        </p:nvSpPr>
        <p:spPr>
          <a:xfrm>
            <a:off x="3337560" y="1463040"/>
            <a:ext cx="2606040" cy="3291840"/>
          </a:xfrm>
          <a:prstGeom prst="roundRect">
            <a:avLst>
              <a:gd name="adj" fmla="val 2807"/>
            </a:avLst>
          </a:prstGeom>
          <a:solidFill>
            <a:srgbClr val="F4F7F7"/>
          </a:solidFill>
          <a:ln w="12700">
            <a:solidFill>
              <a:srgbClr val="F4F7F7"/>
            </a:solidFill>
            <a:prstDash val="solid"/>
          </a:ln>
        </p:spPr>
      </p:sp>
      <p:sp>
        <p:nvSpPr>
          <p:cNvPr id="11" name="Shape 9"/>
          <p:cNvSpPr/>
          <p:nvPr/>
        </p:nvSpPr>
        <p:spPr>
          <a:xfrm>
            <a:off x="3520440" y="1645920"/>
            <a:ext cx="438912" cy="438912"/>
          </a:xfrm>
          <a:prstGeom prst="ellipse">
            <a:avLst/>
          </a:prstGeom>
          <a:solidFill>
            <a:srgbClr val="2E7D7A"/>
          </a:solidFill>
          <a:ln w="12700">
            <a:solidFill>
              <a:srgbClr val="2E7D7A"/>
            </a:solidFill>
            <a:prstDash val="solid"/>
          </a:ln>
        </p:spPr>
      </p:sp>
      <p:sp>
        <p:nvSpPr>
          <p:cNvPr id="12" name="Text 10"/>
          <p:cNvSpPr txBox="1"/>
          <p:nvPr/>
        </p:nvSpPr>
        <p:spPr>
          <a:xfrm>
            <a:off x="3520440" y="16459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4069080" y="1600200"/>
            <a:ext cx="1783080" cy="548640"/>
          </a:xfrm>
          <a:prstGeom prst="rect">
            <a:avLst/>
          </a:prstGeom>
          <a:noFill/>
          <a:ln/>
        </p:spPr>
        <p:txBody>
          <a:bodyPr wrap="square" lIns="0" tIns="0" rIns="0" bIns="0" rtlCol="0" anchor="ctr"/>
          <a:lstStyle/>
          <a:p>
            <a:pPr indent="0" marL="0">
              <a:buNone/>
            </a:pPr>
            <a:r>
              <a:rPr lang="en-US" sz="1500" b="1" dirty="0">
                <a:solidFill>
                  <a:srgbClr val="13262A"/>
                </a:solidFill>
                <a:latin typeface="Calibri" pitchFamily="34" charset="0"/>
                <a:ea typeface="Calibri" pitchFamily="34" charset="-122"/>
                <a:cs typeface="Calibri" pitchFamily="34" charset="-120"/>
              </a:rPr>
              <a:t>Phân bổ &amp; đa dạng</a:t>
            </a:r>
            <a:endParaRPr lang="en-US" sz="1500" dirty="0"/>
          </a:p>
        </p:txBody>
      </p:sp>
      <p:sp>
        <p:nvSpPr>
          <p:cNvPr id="14" name="Text 12"/>
          <p:cNvSpPr txBox="1"/>
          <p:nvPr/>
        </p:nvSpPr>
        <p:spPr>
          <a:xfrm>
            <a:off x="3520440" y="2331720"/>
            <a:ext cx="2286000" cy="228600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Catalog Coverage@20</a:t>
            </a:r>
            <a:endParaRPr lang="en-US" sz="1450" dirty="0"/>
          </a:p>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Exposure và hit theo head / body / tail</a:t>
            </a:r>
            <a:endParaRPr lang="en-US" sz="1450" dirty="0"/>
          </a:p>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Gini exposure</a:t>
            </a:r>
            <a:endParaRPr lang="en-US" sz="1450" dirty="0"/>
          </a:p>
        </p:txBody>
      </p:sp>
      <p:sp>
        <p:nvSpPr>
          <p:cNvPr id="15" name="Shape 13"/>
          <p:cNvSpPr/>
          <p:nvPr/>
        </p:nvSpPr>
        <p:spPr>
          <a:xfrm>
            <a:off x="6126480" y="1463040"/>
            <a:ext cx="2606040" cy="3291840"/>
          </a:xfrm>
          <a:prstGeom prst="roundRect">
            <a:avLst>
              <a:gd name="adj" fmla="val 2807"/>
            </a:avLst>
          </a:prstGeom>
          <a:solidFill>
            <a:srgbClr val="F4F7F7"/>
          </a:solidFill>
          <a:ln w="12700">
            <a:solidFill>
              <a:srgbClr val="F4F7F7"/>
            </a:solidFill>
            <a:prstDash val="solid"/>
          </a:ln>
        </p:spPr>
      </p:sp>
      <p:sp>
        <p:nvSpPr>
          <p:cNvPr id="16" name="Shape 14"/>
          <p:cNvSpPr/>
          <p:nvPr/>
        </p:nvSpPr>
        <p:spPr>
          <a:xfrm>
            <a:off x="6309360" y="1645920"/>
            <a:ext cx="438912" cy="438912"/>
          </a:xfrm>
          <a:prstGeom prst="ellipse">
            <a:avLst/>
          </a:prstGeom>
          <a:solidFill>
            <a:srgbClr val="E89B2D"/>
          </a:solidFill>
          <a:ln w="12700">
            <a:solidFill>
              <a:srgbClr val="E89B2D"/>
            </a:solidFill>
            <a:prstDash val="solid"/>
          </a:ln>
        </p:spPr>
      </p:sp>
      <p:sp>
        <p:nvSpPr>
          <p:cNvPr id="17" name="Text 15"/>
          <p:cNvSpPr txBox="1"/>
          <p:nvPr/>
        </p:nvSpPr>
        <p:spPr>
          <a:xfrm>
            <a:off x="6309360" y="16459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6858000" y="1600200"/>
            <a:ext cx="1783080" cy="548640"/>
          </a:xfrm>
          <a:prstGeom prst="rect">
            <a:avLst/>
          </a:prstGeom>
          <a:noFill/>
          <a:ln/>
        </p:spPr>
        <p:txBody>
          <a:bodyPr wrap="square" lIns="0" tIns="0" rIns="0" bIns="0" rtlCol="0" anchor="ctr"/>
          <a:lstStyle/>
          <a:p>
            <a:pPr indent="0" marL="0">
              <a:buNone/>
            </a:pPr>
            <a:r>
              <a:rPr lang="en-US" sz="1500" b="1" dirty="0">
                <a:solidFill>
                  <a:srgbClr val="13262A"/>
                </a:solidFill>
                <a:latin typeface="Calibri" pitchFamily="34" charset="0"/>
                <a:ea typeface="Calibri" pitchFamily="34" charset="-122"/>
                <a:cs typeface="Calibri" pitchFamily="34" charset="-120"/>
              </a:rPr>
              <a:t>Chi phí (trade-off)</a:t>
            </a:r>
            <a:endParaRPr lang="en-US" sz="1500" dirty="0"/>
          </a:p>
        </p:txBody>
      </p:sp>
      <p:sp>
        <p:nvSpPr>
          <p:cNvPr id="19" name="Text 17"/>
          <p:cNvSpPr txBox="1"/>
          <p:nvPr/>
        </p:nvSpPr>
        <p:spPr>
          <a:xfrm>
            <a:off x="6309360" y="2331720"/>
            <a:ext cx="2286000" cy="228600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Thời gian sampler, TB, propagation, epoch</a:t>
            </a:r>
            <a:endParaRPr lang="en-US" sz="1450" dirty="0"/>
          </a:p>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Peak GPU memory</a:t>
            </a:r>
            <a:endParaRPr lang="en-US" sz="1450" dirty="0"/>
          </a:p>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Số node / cạnh thực tế mỗi layer</a:t>
            </a:r>
            <a:endParaRPr lang="en-US" sz="1450" dirty="0"/>
          </a:p>
        </p:txBody>
      </p:sp>
      <p:sp>
        <p:nvSpPr>
          <p:cNvPr id="20" name="Shape 18"/>
          <p:cNvSpPr/>
          <p:nvPr/>
        </p:nvSpPr>
        <p:spPr>
          <a:xfrm>
            <a:off x="8915400" y="1463040"/>
            <a:ext cx="2606040" cy="3291840"/>
          </a:xfrm>
          <a:prstGeom prst="roundRect">
            <a:avLst>
              <a:gd name="adj" fmla="val 2807"/>
            </a:avLst>
          </a:prstGeom>
          <a:solidFill>
            <a:srgbClr val="F4F7F7"/>
          </a:solidFill>
          <a:ln w="12700">
            <a:solidFill>
              <a:srgbClr val="F4F7F7"/>
            </a:solidFill>
            <a:prstDash val="solid"/>
          </a:ln>
        </p:spPr>
      </p:sp>
      <p:sp>
        <p:nvSpPr>
          <p:cNvPr id="21" name="Shape 19"/>
          <p:cNvSpPr/>
          <p:nvPr/>
        </p:nvSpPr>
        <p:spPr>
          <a:xfrm>
            <a:off x="9098280" y="1645920"/>
            <a:ext cx="438912" cy="438912"/>
          </a:xfrm>
          <a:prstGeom prst="ellipse">
            <a:avLst/>
          </a:prstGeom>
          <a:solidFill>
            <a:srgbClr val="C8553D"/>
          </a:solidFill>
          <a:ln w="12700">
            <a:solidFill>
              <a:srgbClr val="C8553D"/>
            </a:solidFill>
            <a:prstDash val="solid"/>
          </a:ln>
        </p:spPr>
      </p:sp>
      <p:sp>
        <p:nvSpPr>
          <p:cNvPr id="22" name="Text 20"/>
          <p:cNvSpPr txBox="1"/>
          <p:nvPr/>
        </p:nvSpPr>
        <p:spPr>
          <a:xfrm>
            <a:off x="9098280" y="16459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9646920" y="1600200"/>
            <a:ext cx="1783080" cy="548640"/>
          </a:xfrm>
          <a:prstGeom prst="rect">
            <a:avLst/>
          </a:prstGeom>
          <a:noFill/>
          <a:ln/>
        </p:spPr>
        <p:txBody>
          <a:bodyPr wrap="square" lIns="0" tIns="0" rIns="0" bIns="0" rtlCol="0" anchor="ctr"/>
          <a:lstStyle/>
          <a:p>
            <a:pPr indent="0" marL="0">
              <a:buNone/>
            </a:pPr>
            <a:r>
              <a:rPr lang="en-US" sz="1500" b="1" dirty="0">
                <a:solidFill>
                  <a:srgbClr val="13262A"/>
                </a:solidFill>
                <a:latin typeface="Calibri" pitchFamily="34" charset="0"/>
                <a:ea typeface="Calibri" pitchFamily="34" charset="-122"/>
                <a:cs typeface="Calibri" pitchFamily="34" charset="-120"/>
              </a:rPr>
              <a:t>Hành vi sampler</a:t>
            </a:r>
            <a:endParaRPr lang="en-US" sz="1500" dirty="0"/>
          </a:p>
        </p:txBody>
      </p:sp>
      <p:sp>
        <p:nvSpPr>
          <p:cNvPr id="24" name="Text 22"/>
          <p:cNvSpPr txBox="1"/>
          <p:nvPr/>
        </p:nvSpPr>
        <p:spPr>
          <a:xfrm>
            <a:off x="9098280" y="2331720"/>
            <a:ext cx="2286000" cy="228600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Bậc, loại, nhóm của node được chọn</a:t>
            </a:r>
            <a:endParaRPr lang="en-US" sz="1450" dirty="0"/>
          </a:p>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Entropy, p_min / p_max</a:t>
            </a:r>
            <a:endParaRPr lang="en-US" sz="1450" dirty="0"/>
          </a:p>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Có dồn về hub không (RQ3)</a:t>
            </a:r>
            <a:endParaRPr lang="en-US" sz="1450" dirty="0"/>
          </a:p>
        </p:txBody>
      </p:sp>
      <p:sp>
        <p:nvSpPr>
          <p:cNvPr id="25" name="Shape 23"/>
          <p:cNvSpPr/>
          <p:nvPr/>
        </p:nvSpPr>
        <p:spPr>
          <a:xfrm>
            <a:off x="548640" y="4937760"/>
            <a:ext cx="11064240" cy="1234440"/>
          </a:xfrm>
          <a:prstGeom prst="roundRect">
            <a:avLst>
              <a:gd name="adj" fmla="val 5926"/>
            </a:avLst>
          </a:prstGeom>
          <a:solidFill>
            <a:srgbClr val="FCF1DF"/>
          </a:solidFill>
          <a:ln w="12700">
            <a:solidFill>
              <a:srgbClr val="FCF1DF"/>
            </a:solidFill>
            <a:prstDash val="solid"/>
          </a:ln>
        </p:spPr>
      </p:sp>
      <p:sp>
        <p:nvSpPr>
          <p:cNvPr id="26" name="Text 24"/>
          <p:cNvSpPr txBox="1"/>
          <p:nvPr/>
        </p:nvSpPr>
        <p:spPr>
          <a:xfrm>
            <a:off x="731520" y="5056632"/>
            <a:ext cx="1069848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Mức khớp ngữ nghĩa và đa dạng sản phẩm (theo góp ý của cô)</a:t>
            </a:r>
            <a:endParaRPr lang="en-US" sz="1600" dirty="0"/>
          </a:p>
        </p:txBody>
      </p:sp>
      <p:sp>
        <p:nvSpPr>
          <p:cNvPr id="27" name="Text 25"/>
          <p:cNvSpPr txBox="1"/>
          <p:nvPr/>
        </p:nvSpPr>
        <p:spPr>
          <a:xfrm>
            <a:off x="731520" y="5550408"/>
            <a:ext cx="10698480" cy="54864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Dữ liệu hiện tại chỉ có ID, rating, thời gian nên chưa đo được. Có thể nối metadata Amazon (title, category) để đo đa dạng theo danh mục như một phân tích phụ — cần cô quyết định (OD-2). Conversion không đo được vì dữ liệu offline không có log hiển thị.</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KẾ HOẠCH</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Kế hoạch triển khai giai đoạn 2</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120640" y="1325880"/>
            <a:ext cx="3657600" cy="274320"/>
          </a:xfrm>
          <a:prstGeom prst="rect">
            <a:avLst/>
          </a:prstGeom>
          <a:noFill/>
          <a:ln/>
        </p:spPr>
        <p:txBody>
          <a:bodyPr wrap="square" lIns="0" tIns="0" rIns="0" bIns="0" rtlCol="0" anchor="ctr"/>
          <a:lstStyle/>
          <a:p>
            <a:pPr indent="0" marL="0">
              <a:buNone/>
            </a:pPr>
            <a:r>
              <a:rPr lang="en-US" sz="1100" dirty="0">
                <a:solidFill>
                  <a:srgbClr val="5E6B6E"/>
                </a:solidFill>
                <a:latin typeface="Calibri" pitchFamily="34" charset="0"/>
                <a:ea typeface="Calibri" pitchFamily="34" charset="-122"/>
                <a:cs typeface="Calibri" pitchFamily="34" charset="-120"/>
              </a:rPr>
              <a:t>Tuần (ước lượng)</a:t>
            </a:r>
            <a:endParaRPr lang="en-US" sz="1100" dirty="0"/>
          </a:p>
        </p:txBody>
      </p:sp>
      <p:sp>
        <p:nvSpPr>
          <p:cNvPr id="6" name="Shape 4"/>
          <p:cNvSpPr/>
          <p:nvPr/>
        </p:nvSpPr>
        <p:spPr>
          <a:xfrm>
            <a:off x="5120640" y="1645920"/>
            <a:ext cx="0" cy="4526280"/>
          </a:xfrm>
          <a:prstGeom prst="line">
            <a:avLst/>
          </a:prstGeom>
          <a:noFill/>
          <a:ln w="9525">
            <a:solidFill>
              <a:srgbClr val="E3E8E8"/>
            </a:solidFill>
            <a:prstDash val="solid"/>
          </a:ln>
        </p:spPr>
      </p:sp>
      <p:sp>
        <p:nvSpPr>
          <p:cNvPr id="7" name="Text 5"/>
          <p:cNvSpPr txBox="1"/>
          <p:nvPr/>
        </p:nvSpPr>
        <p:spPr>
          <a:xfrm>
            <a:off x="4937760" y="6172200"/>
            <a:ext cx="365760" cy="228600"/>
          </a:xfrm>
          <a:prstGeom prst="rect">
            <a:avLst/>
          </a:prstGeom>
          <a:noFill/>
          <a:ln/>
        </p:spPr>
        <p:txBody>
          <a:bodyPr wrap="square" lIns="0" tIns="0" rIns="0" bIns="0" rtlCol="0" anchor="ctr"/>
          <a:lstStyle/>
          <a:p>
            <a:pPr algn="ctr" indent="0" marL="0">
              <a:buNone/>
            </a:pPr>
            <a:r>
              <a:rPr lang="en-US" sz="1000" dirty="0">
                <a:solidFill>
                  <a:srgbClr val="5E6B6E"/>
                </a:solidFill>
                <a:latin typeface="Calibri" pitchFamily="34" charset="0"/>
                <a:ea typeface="Calibri" pitchFamily="34" charset="-122"/>
                <a:cs typeface="Calibri" pitchFamily="34" charset="-120"/>
              </a:rPr>
              <a:t>0</a:t>
            </a:r>
            <a:endParaRPr lang="en-US" sz="1000" dirty="0"/>
          </a:p>
        </p:txBody>
      </p:sp>
      <p:sp>
        <p:nvSpPr>
          <p:cNvPr id="8" name="Shape 6"/>
          <p:cNvSpPr/>
          <p:nvPr/>
        </p:nvSpPr>
        <p:spPr>
          <a:xfrm>
            <a:off x="5779008" y="1645920"/>
            <a:ext cx="0" cy="4526280"/>
          </a:xfrm>
          <a:prstGeom prst="line">
            <a:avLst/>
          </a:prstGeom>
          <a:noFill/>
          <a:ln w="9525">
            <a:solidFill>
              <a:srgbClr val="E3E8E8"/>
            </a:solidFill>
            <a:prstDash val="solid"/>
          </a:ln>
        </p:spPr>
      </p:sp>
      <p:sp>
        <p:nvSpPr>
          <p:cNvPr id="9" name="Text 7"/>
          <p:cNvSpPr txBox="1"/>
          <p:nvPr/>
        </p:nvSpPr>
        <p:spPr>
          <a:xfrm>
            <a:off x="5596128" y="6172200"/>
            <a:ext cx="365760" cy="228600"/>
          </a:xfrm>
          <a:prstGeom prst="rect">
            <a:avLst/>
          </a:prstGeom>
          <a:noFill/>
          <a:ln/>
        </p:spPr>
        <p:txBody>
          <a:bodyPr wrap="square" lIns="0" tIns="0" rIns="0" bIns="0" rtlCol="0" anchor="ctr"/>
          <a:lstStyle/>
          <a:p>
            <a:pPr algn="ctr" indent="0" marL="0">
              <a:buNone/>
            </a:pPr>
            <a:r>
              <a:rPr lang="en-US" sz="1000" dirty="0">
                <a:solidFill>
                  <a:srgbClr val="5E6B6E"/>
                </a:solidFill>
                <a:latin typeface="Calibri" pitchFamily="34" charset="0"/>
                <a:ea typeface="Calibri" pitchFamily="34" charset="-122"/>
                <a:cs typeface="Calibri" pitchFamily="34" charset="-120"/>
              </a:rPr>
              <a:t>1</a:t>
            </a:r>
            <a:endParaRPr lang="en-US" sz="1000" dirty="0"/>
          </a:p>
        </p:txBody>
      </p:sp>
      <p:sp>
        <p:nvSpPr>
          <p:cNvPr id="10" name="Shape 8"/>
          <p:cNvSpPr/>
          <p:nvPr/>
        </p:nvSpPr>
        <p:spPr>
          <a:xfrm>
            <a:off x="6437376" y="1645920"/>
            <a:ext cx="0" cy="4526280"/>
          </a:xfrm>
          <a:prstGeom prst="line">
            <a:avLst/>
          </a:prstGeom>
          <a:noFill/>
          <a:ln w="9525">
            <a:solidFill>
              <a:srgbClr val="E3E8E8"/>
            </a:solidFill>
            <a:prstDash val="solid"/>
          </a:ln>
        </p:spPr>
      </p:sp>
      <p:sp>
        <p:nvSpPr>
          <p:cNvPr id="11" name="Text 9"/>
          <p:cNvSpPr txBox="1"/>
          <p:nvPr/>
        </p:nvSpPr>
        <p:spPr>
          <a:xfrm>
            <a:off x="6254496" y="6172200"/>
            <a:ext cx="365760" cy="228600"/>
          </a:xfrm>
          <a:prstGeom prst="rect">
            <a:avLst/>
          </a:prstGeom>
          <a:noFill/>
          <a:ln/>
        </p:spPr>
        <p:txBody>
          <a:bodyPr wrap="square" lIns="0" tIns="0" rIns="0" bIns="0" rtlCol="0" anchor="ctr"/>
          <a:lstStyle/>
          <a:p>
            <a:pPr algn="ctr" indent="0" marL="0">
              <a:buNone/>
            </a:pPr>
            <a:r>
              <a:rPr lang="en-US" sz="1000" dirty="0">
                <a:solidFill>
                  <a:srgbClr val="5E6B6E"/>
                </a:solidFill>
                <a:latin typeface="Calibri" pitchFamily="34" charset="0"/>
                <a:ea typeface="Calibri" pitchFamily="34" charset="-122"/>
                <a:cs typeface="Calibri" pitchFamily="34" charset="-120"/>
              </a:rPr>
              <a:t>2</a:t>
            </a:r>
            <a:endParaRPr lang="en-US" sz="1000" dirty="0"/>
          </a:p>
        </p:txBody>
      </p:sp>
      <p:sp>
        <p:nvSpPr>
          <p:cNvPr id="12" name="Shape 10"/>
          <p:cNvSpPr/>
          <p:nvPr/>
        </p:nvSpPr>
        <p:spPr>
          <a:xfrm>
            <a:off x="7095744" y="1645920"/>
            <a:ext cx="0" cy="4526280"/>
          </a:xfrm>
          <a:prstGeom prst="line">
            <a:avLst/>
          </a:prstGeom>
          <a:noFill/>
          <a:ln w="9525">
            <a:solidFill>
              <a:srgbClr val="E3E8E8"/>
            </a:solidFill>
            <a:prstDash val="solid"/>
          </a:ln>
        </p:spPr>
      </p:sp>
      <p:sp>
        <p:nvSpPr>
          <p:cNvPr id="13" name="Text 11"/>
          <p:cNvSpPr txBox="1"/>
          <p:nvPr/>
        </p:nvSpPr>
        <p:spPr>
          <a:xfrm>
            <a:off x="6912864" y="6172200"/>
            <a:ext cx="365760" cy="228600"/>
          </a:xfrm>
          <a:prstGeom prst="rect">
            <a:avLst/>
          </a:prstGeom>
          <a:noFill/>
          <a:ln/>
        </p:spPr>
        <p:txBody>
          <a:bodyPr wrap="square" lIns="0" tIns="0" rIns="0" bIns="0" rtlCol="0" anchor="ctr"/>
          <a:lstStyle/>
          <a:p>
            <a:pPr algn="ctr" indent="0" marL="0">
              <a:buNone/>
            </a:pPr>
            <a:r>
              <a:rPr lang="en-US" sz="1000" dirty="0">
                <a:solidFill>
                  <a:srgbClr val="5E6B6E"/>
                </a:solidFill>
                <a:latin typeface="Calibri" pitchFamily="34" charset="0"/>
                <a:ea typeface="Calibri" pitchFamily="34" charset="-122"/>
                <a:cs typeface="Calibri" pitchFamily="34" charset="-120"/>
              </a:rPr>
              <a:t>3</a:t>
            </a:r>
            <a:endParaRPr lang="en-US" sz="1000" dirty="0"/>
          </a:p>
        </p:txBody>
      </p:sp>
      <p:sp>
        <p:nvSpPr>
          <p:cNvPr id="14" name="Shape 12"/>
          <p:cNvSpPr/>
          <p:nvPr/>
        </p:nvSpPr>
        <p:spPr>
          <a:xfrm>
            <a:off x="7754112" y="1645920"/>
            <a:ext cx="0" cy="4526280"/>
          </a:xfrm>
          <a:prstGeom prst="line">
            <a:avLst/>
          </a:prstGeom>
          <a:noFill/>
          <a:ln w="9525">
            <a:solidFill>
              <a:srgbClr val="E3E8E8"/>
            </a:solidFill>
            <a:prstDash val="solid"/>
          </a:ln>
        </p:spPr>
      </p:sp>
      <p:sp>
        <p:nvSpPr>
          <p:cNvPr id="15" name="Text 13"/>
          <p:cNvSpPr txBox="1"/>
          <p:nvPr/>
        </p:nvSpPr>
        <p:spPr>
          <a:xfrm>
            <a:off x="7571232" y="6172200"/>
            <a:ext cx="365760" cy="228600"/>
          </a:xfrm>
          <a:prstGeom prst="rect">
            <a:avLst/>
          </a:prstGeom>
          <a:noFill/>
          <a:ln/>
        </p:spPr>
        <p:txBody>
          <a:bodyPr wrap="square" lIns="0" tIns="0" rIns="0" bIns="0" rtlCol="0" anchor="ctr"/>
          <a:lstStyle/>
          <a:p>
            <a:pPr algn="ctr" indent="0" marL="0">
              <a:buNone/>
            </a:pPr>
            <a:r>
              <a:rPr lang="en-US" sz="1000" dirty="0">
                <a:solidFill>
                  <a:srgbClr val="5E6B6E"/>
                </a:solidFill>
                <a:latin typeface="Calibri" pitchFamily="34" charset="0"/>
                <a:ea typeface="Calibri" pitchFamily="34" charset="-122"/>
                <a:cs typeface="Calibri" pitchFamily="34" charset="-120"/>
              </a:rPr>
              <a:t>4</a:t>
            </a:r>
            <a:endParaRPr lang="en-US" sz="1000" dirty="0"/>
          </a:p>
        </p:txBody>
      </p:sp>
      <p:sp>
        <p:nvSpPr>
          <p:cNvPr id="16" name="Shape 14"/>
          <p:cNvSpPr/>
          <p:nvPr/>
        </p:nvSpPr>
        <p:spPr>
          <a:xfrm>
            <a:off x="8412480" y="1645920"/>
            <a:ext cx="0" cy="4526280"/>
          </a:xfrm>
          <a:prstGeom prst="line">
            <a:avLst/>
          </a:prstGeom>
          <a:noFill/>
          <a:ln w="9525">
            <a:solidFill>
              <a:srgbClr val="E3E8E8"/>
            </a:solidFill>
            <a:prstDash val="solid"/>
          </a:ln>
        </p:spPr>
      </p:sp>
      <p:sp>
        <p:nvSpPr>
          <p:cNvPr id="17" name="Text 15"/>
          <p:cNvSpPr txBox="1"/>
          <p:nvPr/>
        </p:nvSpPr>
        <p:spPr>
          <a:xfrm>
            <a:off x="8229600" y="6172200"/>
            <a:ext cx="365760" cy="228600"/>
          </a:xfrm>
          <a:prstGeom prst="rect">
            <a:avLst/>
          </a:prstGeom>
          <a:noFill/>
          <a:ln/>
        </p:spPr>
        <p:txBody>
          <a:bodyPr wrap="square" lIns="0" tIns="0" rIns="0" bIns="0" rtlCol="0" anchor="ctr"/>
          <a:lstStyle/>
          <a:p>
            <a:pPr algn="ctr" indent="0" marL="0">
              <a:buNone/>
            </a:pPr>
            <a:r>
              <a:rPr lang="en-US" sz="1000" dirty="0">
                <a:solidFill>
                  <a:srgbClr val="5E6B6E"/>
                </a:solidFill>
                <a:latin typeface="Calibri" pitchFamily="34" charset="0"/>
                <a:ea typeface="Calibri" pitchFamily="34" charset="-122"/>
                <a:cs typeface="Calibri" pitchFamily="34" charset="-120"/>
              </a:rPr>
              <a:t>5</a:t>
            </a:r>
            <a:endParaRPr lang="en-US" sz="1000" dirty="0"/>
          </a:p>
        </p:txBody>
      </p:sp>
      <p:sp>
        <p:nvSpPr>
          <p:cNvPr id="18" name="Shape 16"/>
          <p:cNvSpPr/>
          <p:nvPr/>
        </p:nvSpPr>
        <p:spPr>
          <a:xfrm>
            <a:off x="9070848" y="1645920"/>
            <a:ext cx="0" cy="4526280"/>
          </a:xfrm>
          <a:prstGeom prst="line">
            <a:avLst/>
          </a:prstGeom>
          <a:noFill/>
          <a:ln w="9525">
            <a:solidFill>
              <a:srgbClr val="E3E8E8"/>
            </a:solidFill>
            <a:prstDash val="solid"/>
          </a:ln>
        </p:spPr>
      </p:sp>
      <p:sp>
        <p:nvSpPr>
          <p:cNvPr id="19" name="Text 17"/>
          <p:cNvSpPr txBox="1"/>
          <p:nvPr/>
        </p:nvSpPr>
        <p:spPr>
          <a:xfrm>
            <a:off x="8887968" y="6172200"/>
            <a:ext cx="365760" cy="228600"/>
          </a:xfrm>
          <a:prstGeom prst="rect">
            <a:avLst/>
          </a:prstGeom>
          <a:noFill/>
          <a:ln/>
        </p:spPr>
        <p:txBody>
          <a:bodyPr wrap="square" lIns="0" tIns="0" rIns="0" bIns="0" rtlCol="0" anchor="ctr"/>
          <a:lstStyle/>
          <a:p>
            <a:pPr algn="ctr" indent="0" marL="0">
              <a:buNone/>
            </a:pPr>
            <a:r>
              <a:rPr lang="en-US" sz="1000" dirty="0">
                <a:solidFill>
                  <a:srgbClr val="5E6B6E"/>
                </a:solidFill>
                <a:latin typeface="Calibri" pitchFamily="34" charset="0"/>
                <a:ea typeface="Calibri" pitchFamily="34" charset="-122"/>
                <a:cs typeface="Calibri" pitchFamily="34" charset="-120"/>
              </a:rPr>
              <a:t>6</a:t>
            </a:r>
            <a:endParaRPr lang="en-US" sz="1000" dirty="0"/>
          </a:p>
        </p:txBody>
      </p:sp>
      <p:sp>
        <p:nvSpPr>
          <p:cNvPr id="20" name="Shape 18"/>
          <p:cNvSpPr/>
          <p:nvPr/>
        </p:nvSpPr>
        <p:spPr>
          <a:xfrm>
            <a:off x="9729216" y="1645920"/>
            <a:ext cx="0" cy="4526280"/>
          </a:xfrm>
          <a:prstGeom prst="line">
            <a:avLst/>
          </a:prstGeom>
          <a:noFill/>
          <a:ln w="9525">
            <a:solidFill>
              <a:srgbClr val="E3E8E8"/>
            </a:solidFill>
            <a:prstDash val="solid"/>
          </a:ln>
        </p:spPr>
      </p:sp>
      <p:sp>
        <p:nvSpPr>
          <p:cNvPr id="21" name="Text 19"/>
          <p:cNvSpPr txBox="1"/>
          <p:nvPr/>
        </p:nvSpPr>
        <p:spPr>
          <a:xfrm>
            <a:off x="9546336" y="6172200"/>
            <a:ext cx="365760" cy="228600"/>
          </a:xfrm>
          <a:prstGeom prst="rect">
            <a:avLst/>
          </a:prstGeom>
          <a:noFill/>
          <a:ln/>
        </p:spPr>
        <p:txBody>
          <a:bodyPr wrap="square" lIns="0" tIns="0" rIns="0" bIns="0" rtlCol="0" anchor="ctr"/>
          <a:lstStyle/>
          <a:p>
            <a:pPr algn="ctr" indent="0" marL="0">
              <a:buNone/>
            </a:pPr>
            <a:r>
              <a:rPr lang="en-US" sz="1000" dirty="0">
                <a:solidFill>
                  <a:srgbClr val="5E6B6E"/>
                </a:solidFill>
                <a:latin typeface="Calibri" pitchFamily="34" charset="0"/>
                <a:ea typeface="Calibri" pitchFamily="34" charset="-122"/>
                <a:cs typeface="Calibri" pitchFamily="34" charset="-120"/>
              </a:rPr>
              <a:t>7</a:t>
            </a:r>
            <a:endParaRPr lang="en-US" sz="1000" dirty="0"/>
          </a:p>
        </p:txBody>
      </p:sp>
      <p:sp>
        <p:nvSpPr>
          <p:cNvPr id="22" name="Shape 20"/>
          <p:cNvSpPr/>
          <p:nvPr/>
        </p:nvSpPr>
        <p:spPr>
          <a:xfrm>
            <a:off x="10387584" y="1645920"/>
            <a:ext cx="0" cy="4526280"/>
          </a:xfrm>
          <a:prstGeom prst="line">
            <a:avLst/>
          </a:prstGeom>
          <a:noFill/>
          <a:ln w="9525">
            <a:solidFill>
              <a:srgbClr val="E3E8E8"/>
            </a:solidFill>
            <a:prstDash val="solid"/>
          </a:ln>
        </p:spPr>
      </p:sp>
      <p:sp>
        <p:nvSpPr>
          <p:cNvPr id="23" name="Text 21"/>
          <p:cNvSpPr txBox="1"/>
          <p:nvPr/>
        </p:nvSpPr>
        <p:spPr>
          <a:xfrm>
            <a:off x="10204704" y="6172200"/>
            <a:ext cx="365760" cy="228600"/>
          </a:xfrm>
          <a:prstGeom prst="rect">
            <a:avLst/>
          </a:prstGeom>
          <a:noFill/>
          <a:ln/>
        </p:spPr>
        <p:txBody>
          <a:bodyPr wrap="square" lIns="0" tIns="0" rIns="0" bIns="0" rtlCol="0" anchor="ctr"/>
          <a:lstStyle/>
          <a:p>
            <a:pPr algn="ctr" indent="0" marL="0">
              <a:buNone/>
            </a:pPr>
            <a:r>
              <a:rPr lang="en-US" sz="1000" dirty="0">
                <a:solidFill>
                  <a:srgbClr val="5E6B6E"/>
                </a:solidFill>
                <a:latin typeface="Calibri" pitchFamily="34" charset="0"/>
                <a:ea typeface="Calibri" pitchFamily="34" charset="-122"/>
                <a:cs typeface="Calibri" pitchFamily="34" charset="-120"/>
              </a:rPr>
              <a:t>8</a:t>
            </a:r>
            <a:endParaRPr lang="en-US" sz="1000" dirty="0"/>
          </a:p>
        </p:txBody>
      </p:sp>
      <p:sp>
        <p:nvSpPr>
          <p:cNvPr id="24" name="Shape 22"/>
          <p:cNvSpPr/>
          <p:nvPr/>
        </p:nvSpPr>
        <p:spPr>
          <a:xfrm>
            <a:off x="11045952" y="1645920"/>
            <a:ext cx="0" cy="4526280"/>
          </a:xfrm>
          <a:prstGeom prst="line">
            <a:avLst/>
          </a:prstGeom>
          <a:noFill/>
          <a:ln w="9525">
            <a:solidFill>
              <a:srgbClr val="E3E8E8"/>
            </a:solidFill>
            <a:prstDash val="solid"/>
          </a:ln>
        </p:spPr>
      </p:sp>
      <p:sp>
        <p:nvSpPr>
          <p:cNvPr id="25" name="Text 23"/>
          <p:cNvSpPr txBox="1"/>
          <p:nvPr/>
        </p:nvSpPr>
        <p:spPr>
          <a:xfrm>
            <a:off x="10863072" y="6172200"/>
            <a:ext cx="365760" cy="228600"/>
          </a:xfrm>
          <a:prstGeom prst="rect">
            <a:avLst/>
          </a:prstGeom>
          <a:noFill/>
          <a:ln/>
        </p:spPr>
        <p:txBody>
          <a:bodyPr wrap="square" lIns="0" tIns="0" rIns="0" bIns="0" rtlCol="0" anchor="ctr"/>
          <a:lstStyle/>
          <a:p>
            <a:pPr algn="ctr" indent="0" marL="0">
              <a:buNone/>
            </a:pPr>
            <a:r>
              <a:rPr lang="en-US" sz="1000" dirty="0">
                <a:solidFill>
                  <a:srgbClr val="5E6B6E"/>
                </a:solidFill>
                <a:latin typeface="Calibri" pitchFamily="34" charset="0"/>
                <a:ea typeface="Calibri" pitchFamily="34" charset="-122"/>
                <a:cs typeface="Calibri" pitchFamily="34" charset="-120"/>
              </a:rPr>
              <a:t>9</a:t>
            </a:r>
            <a:endParaRPr lang="en-US" sz="1000" dirty="0"/>
          </a:p>
        </p:txBody>
      </p:sp>
      <p:sp>
        <p:nvSpPr>
          <p:cNvPr id="26" name="Shape 24"/>
          <p:cNvSpPr/>
          <p:nvPr/>
        </p:nvSpPr>
        <p:spPr>
          <a:xfrm>
            <a:off x="11704320" y="1645920"/>
            <a:ext cx="0" cy="4526280"/>
          </a:xfrm>
          <a:prstGeom prst="line">
            <a:avLst/>
          </a:prstGeom>
          <a:noFill/>
          <a:ln w="9525">
            <a:solidFill>
              <a:srgbClr val="E3E8E8"/>
            </a:solidFill>
            <a:prstDash val="solid"/>
          </a:ln>
        </p:spPr>
      </p:sp>
      <p:sp>
        <p:nvSpPr>
          <p:cNvPr id="27" name="Text 25"/>
          <p:cNvSpPr txBox="1"/>
          <p:nvPr/>
        </p:nvSpPr>
        <p:spPr>
          <a:xfrm>
            <a:off x="11521440" y="6172200"/>
            <a:ext cx="365760" cy="228600"/>
          </a:xfrm>
          <a:prstGeom prst="rect">
            <a:avLst/>
          </a:prstGeom>
          <a:noFill/>
          <a:ln/>
        </p:spPr>
        <p:txBody>
          <a:bodyPr wrap="square" lIns="0" tIns="0" rIns="0" bIns="0" rtlCol="0" anchor="ctr"/>
          <a:lstStyle/>
          <a:p>
            <a:pPr algn="ctr" indent="0" marL="0">
              <a:buNone/>
            </a:pPr>
            <a:r>
              <a:rPr lang="en-US" sz="1000" dirty="0">
                <a:solidFill>
                  <a:srgbClr val="5E6B6E"/>
                </a:solidFill>
                <a:latin typeface="Calibri" pitchFamily="34" charset="0"/>
                <a:ea typeface="Calibri" pitchFamily="34" charset="-122"/>
                <a:cs typeface="Calibri" pitchFamily="34" charset="-120"/>
              </a:rPr>
              <a:t>10</a:t>
            </a:r>
            <a:endParaRPr lang="en-US" sz="1000" dirty="0"/>
          </a:p>
        </p:txBody>
      </p:sp>
      <p:sp>
        <p:nvSpPr>
          <p:cNvPr id="28" name="Shape 26"/>
          <p:cNvSpPr/>
          <p:nvPr/>
        </p:nvSpPr>
        <p:spPr>
          <a:xfrm>
            <a:off x="548640" y="1728216"/>
            <a:ext cx="411480" cy="411480"/>
          </a:xfrm>
          <a:prstGeom prst="ellipse">
            <a:avLst/>
          </a:prstGeom>
          <a:solidFill>
            <a:srgbClr val="2E7D7A"/>
          </a:solidFill>
          <a:ln w="12700">
            <a:solidFill>
              <a:srgbClr val="2E7D7A"/>
            </a:solidFill>
            <a:prstDash val="solid"/>
          </a:ln>
        </p:spPr>
      </p:sp>
      <p:sp>
        <p:nvSpPr>
          <p:cNvPr id="29" name="Text 27"/>
          <p:cNvSpPr txBox="1"/>
          <p:nvPr/>
        </p:nvSpPr>
        <p:spPr>
          <a:xfrm>
            <a:off x="548640" y="1728216"/>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R0</a:t>
            </a:r>
            <a:endParaRPr lang="en-US" sz="1100" dirty="0"/>
          </a:p>
        </p:txBody>
      </p:sp>
      <p:sp>
        <p:nvSpPr>
          <p:cNvPr id="30" name="Text 28"/>
          <p:cNvSpPr txBox="1"/>
          <p:nvPr/>
        </p:nvSpPr>
        <p:spPr>
          <a:xfrm>
            <a:off x="1051560" y="1691640"/>
            <a:ext cx="3931920" cy="484632"/>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Khóa scope, spec, decision log, checker</a:t>
            </a:r>
            <a:endParaRPr lang="en-US" sz="1250" dirty="0"/>
          </a:p>
        </p:txBody>
      </p:sp>
      <p:sp>
        <p:nvSpPr>
          <p:cNvPr id="31" name="Shape 29"/>
          <p:cNvSpPr/>
          <p:nvPr/>
        </p:nvSpPr>
        <p:spPr>
          <a:xfrm>
            <a:off x="5120640" y="1764792"/>
            <a:ext cx="329184" cy="338328"/>
          </a:xfrm>
          <a:prstGeom prst="roundRect">
            <a:avLst>
              <a:gd name="adj" fmla="val 13889"/>
            </a:avLst>
          </a:prstGeom>
          <a:solidFill>
            <a:srgbClr val="2E7D7A"/>
          </a:solidFill>
          <a:ln w="12700">
            <a:solidFill>
              <a:srgbClr val="2E7D7A"/>
            </a:solidFill>
            <a:prstDash val="solid"/>
          </a:ln>
        </p:spPr>
      </p:sp>
      <p:sp>
        <p:nvSpPr>
          <p:cNvPr id="32" name="Text 30"/>
          <p:cNvSpPr txBox="1"/>
          <p:nvPr/>
        </p:nvSpPr>
        <p:spPr>
          <a:xfrm>
            <a:off x="5522976" y="1737360"/>
            <a:ext cx="1280160" cy="393192"/>
          </a:xfrm>
          <a:prstGeom prst="rect">
            <a:avLst/>
          </a:prstGeom>
          <a:noFill/>
          <a:ln/>
        </p:spPr>
        <p:txBody>
          <a:bodyPr wrap="square" lIns="0" tIns="0" rIns="0" bIns="0" rtlCol="0" anchor="ctr"/>
          <a:lstStyle/>
          <a:p>
            <a:pPr indent="0" marL="0">
              <a:buNone/>
            </a:pPr>
            <a:r>
              <a:rPr lang="en-US" sz="1100" b="1" dirty="0">
                <a:solidFill>
                  <a:srgbClr val="2E7D7A"/>
                </a:solidFill>
                <a:latin typeface="Calibri" pitchFamily="34" charset="0"/>
                <a:ea typeface="Calibri" pitchFamily="34" charset="-122"/>
                <a:cs typeface="Calibri" pitchFamily="34" charset="-120"/>
              </a:rPr>
              <a:t>Xong</a:t>
            </a:r>
            <a:endParaRPr lang="en-US" sz="1100" dirty="0"/>
          </a:p>
        </p:txBody>
      </p:sp>
      <p:sp>
        <p:nvSpPr>
          <p:cNvPr id="33" name="Shape 31"/>
          <p:cNvSpPr/>
          <p:nvPr/>
        </p:nvSpPr>
        <p:spPr>
          <a:xfrm>
            <a:off x="548640" y="2286000"/>
            <a:ext cx="411480" cy="411480"/>
          </a:xfrm>
          <a:prstGeom prst="ellipse">
            <a:avLst/>
          </a:prstGeom>
          <a:solidFill>
            <a:srgbClr val="2E7D7A"/>
          </a:solidFill>
          <a:ln w="12700">
            <a:solidFill>
              <a:srgbClr val="2E7D7A"/>
            </a:solidFill>
            <a:prstDash val="solid"/>
          </a:ln>
        </p:spPr>
      </p:sp>
      <p:sp>
        <p:nvSpPr>
          <p:cNvPr id="34" name="Text 32"/>
          <p:cNvSpPr txBox="1"/>
          <p:nvPr/>
        </p:nvSpPr>
        <p:spPr>
          <a:xfrm>
            <a:off x="548640" y="2286000"/>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R2</a:t>
            </a:r>
            <a:endParaRPr lang="en-US" sz="1100" dirty="0"/>
          </a:p>
        </p:txBody>
      </p:sp>
      <p:sp>
        <p:nvSpPr>
          <p:cNvPr id="35" name="Text 33"/>
          <p:cNvSpPr txBox="1"/>
          <p:nvPr/>
        </p:nvSpPr>
        <p:spPr>
          <a:xfrm>
            <a:off x="1051560" y="2249424"/>
            <a:ext cx="3931920" cy="484632"/>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Code sampler, Sampled LightGCN, TB + oracle test</a:t>
            </a:r>
            <a:endParaRPr lang="en-US" sz="1250" dirty="0"/>
          </a:p>
        </p:txBody>
      </p:sp>
      <p:sp>
        <p:nvSpPr>
          <p:cNvPr id="36" name="Shape 34"/>
          <p:cNvSpPr/>
          <p:nvPr/>
        </p:nvSpPr>
        <p:spPr>
          <a:xfrm>
            <a:off x="5449824" y="2322576"/>
            <a:ext cx="658368" cy="338328"/>
          </a:xfrm>
          <a:prstGeom prst="roundRect">
            <a:avLst>
              <a:gd name="adj" fmla="val 13514"/>
            </a:avLst>
          </a:prstGeom>
          <a:solidFill>
            <a:srgbClr val="2E7D7A"/>
          </a:solidFill>
          <a:ln w="12700">
            <a:solidFill>
              <a:srgbClr val="2E7D7A"/>
            </a:solidFill>
            <a:prstDash val="solid"/>
          </a:ln>
        </p:spPr>
      </p:sp>
      <p:sp>
        <p:nvSpPr>
          <p:cNvPr id="37" name="Text 35"/>
          <p:cNvSpPr txBox="1"/>
          <p:nvPr/>
        </p:nvSpPr>
        <p:spPr>
          <a:xfrm>
            <a:off x="6181344" y="2295144"/>
            <a:ext cx="1280160" cy="393192"/>
          </a:xfrm>
          <a:prstGeom prst="rect">
            <a:avLst/>
          </a:prstGeom>
          <a:noFill/>
          <a:ln/>
        </p:spPr>
        <p:txBody>
          <a:bodyPr wrap="square" lIns="0" tIns="0" rIns="0" bIns="0" rtlCol="0" anchor="ctr"/>
          <a:lstStyle/>
          <a:p>
            <a:pPr indent="0" marL="0">
              <a:buNone/>
            </a:pPr>
            <a:r>
              <a:rPr lang="en-US" sz="1100" b="1" dirty="0">
                <a:solidFill>
                  <a:srgbClr val="2E7D7A"/>
                </a:solidFill>
                <a:latin typeface="Calibri" pitchFamily="34" charset="0"/>
                <a:ea typeface="Calibri" pitchFamily="34" charset="-122"/>
                <a:cs typeface="Calibri" pitchFamily="34" charset="-120"/>
              </a:rPr>
              <a:t>Lõi xong</a:t>
            </a:r>
            <a:endParaRPr lang="en-US" sz="1100" dirty="0"/>
          </a:p>
        </p:txBody>
      </p:sp>
      <p:sp>
        <p:nvSpPr>
          <p:cNvPr id="38" name="Shape 36"/>
          <p:cNvSpPr/>
          <p:nvPr/>
        </p:nvSpPr>
        <p:spPr>
          <a:xfrm>
            <a:off x="548640" y="2843784"/>
            <a:ext cx="411480" cy="411480"/>
          </a:xfrm>
          <a:prstGeom prst="ellipse">
            <a:avLst/>
          </a:prstGeom>
          <a:solidFill>
            <a:srgbClr val="E89B2D"/>
          </a:solidFill>
          <a:ln w="12700">
            <a:solidFill>
              <a:srgbClr val="E89B2D"/>
            </a:solidFill>
            <a:prstDash val="solid"/>
          </a:ln>
        </p:spPr>
      </p:sp>
      <p:sp>
        <p:nvSpPr>
          <p:cNvPr id="39" name="Text 37"/>
          <p:cNvSpPr txBox="1"/>
          <p:nvPr/>
        </p:nvSpPr>
        <p:spPr>
          <a:xfrm>
            <a:off x="548640" y="2843784"/>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R1</a:t>
            </a:r>
            <a:endParaRPr lang="en-US" sz="1100" dirty="0"/>
          </a:p>
        </p:txBody>
      </p:sp>
      <p:sp>
        <p:nvSpPr>
          <p:cNvPr id="40" name="Text 38"/>
          <p:cNvSpPr txBox="1"/>
          <p:nvPr/>
        </p:nvSpPr>
        <p:spPr>
          <a:xfrm>
            <a:off x="1051560" y="2807208"/>
            <a:ext cx="3931920" cy="484632"/>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Development split, manifest, hash (Colab)</a:t>
            </a:r>
            <a:endParaRPr lang="en-US" sz="1250" dirty="0"/>
          </a:p>
        </p:txBody>
      </p:sp>
      <p:sp>
        <p:nvSpPr>
          <p:cNvPr id="41" name="Shape 39"/>
          <p:cNvSpPr/>
          <p:nvPr/>
        </p:nvSpPr>
        <p:spPr>
          <a:xfrm>
            <a:off x="6108192" y="2880360"/>
            <a:ext cx="329184" cy="338328"/>
          </a:xfrm>
          <a:prstGeom prst="roundRect">
            <a:avLst>
              <a:gd name="adj" fmla="val 13889"/>
            </a:avLst>
          </a:prstGeom>
          <a:solidFill>
            <a:srgbClr val="E89B2D"/>
          </a:solidFill>
          <a:ln w="12700">
            <a:solidFill>
              <a:srgbClr val="E89B2D"/>
            </a:solidFill>
            <a:prstDash val="solid"/>
          </a:ln>
        </p:spPr>
      </p:sp>
      <p:sp>
        <p:nvSpPr>
          <p:cNvPr id="42" name="Text 40"/>
          <p:cNvSpPr txBox="1"/>
          <p:nvPr/>
        </p:nvSpPr>
        <p:spPr>
          <a:xfrm>
            <a:off x="6510528" y="2852928"/>
            <a:ext cx="1280160" cy="393192"/>
          </a:xfrm>
          <a:prstGeom prst="rect">
            <a:avLst/>
          </a:prstGeom>
          <a:noFill/>
          <a:ln/>
        </p:spPr>
        <p:txBody>
          <a:bodyPr wrap="square" lIns="0" tIns="0" rIns="0" bIns="0" rtlCol="0" anchor="ctr"/>
          <a:lstStyle/>
          <a:p>
            <a:pPr indent="0" marL="0">
              <a:buNone/>
            </a:pPr>
            <a:r>
              <a:rPr lang="en-US" sz="1100" b="1" dirty="0">
                <a:solidFill>
                  <a:srgbClr val="E89B2D"/>
                </a:solidFill>
                <a:latin typeface="Calibri" pitchFamily="34" charset="0"/>
                <a:ea typeface="Calibri" pitchFamily="34" charset="-122"/>
                <a:cs typeface="Calibri" pitchFamily="34" charset="-120"/>
              </a:rPr>
              <a:t>Tiếp theo</a:t>
            </a:r>
            <a:endParaRPr lang="en-US" sz="1100" dirty="0"/>
          </a:p>
        </p:txBody>
      </p:sp>
      <p:sp>
        <p:nvSpPr>
          <p:cNvPr id="43" name="Shape 41"/>
          <p:cNvSpPr/>
          <p:nvPr/>
        </p:nvSpPr>
        <p:spPr>
          <a:xfrm>
            <a:off x="548640" y="3401568"/>
            <a:ext cx="411480" cy="411480"/>
          </a:xfrm>
          <a:prstGeom prst="ellipse">
            <a:avLst/>
          </a:prstGeom>
          <a:solidFill>
            <a:srgbClr val="0F4C4F"/>
          </a:solidFill>
          <a:ln w="12700">
            <a:solidFill>
              <a:srgbClr val="0F4C4F"/>
            </a:solidFill>
            <a:prstDash val="solid"/>
          </a:ln>
        </p:spPr>
      </p:sp>
      <p:sp>
        <p:nvSpPr>
          <p:cNvPr id="44" name="Text 42"/>
          <p:cNvSpPr txBox="1"/>
          <p:nvPr/>
        </p:nvSpPr>
        <p:spPr>
          <a:xfrm>
            <a:off x="548640" y="3401568"/>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R3</a:t>
            </a:r>
            <a:endParaRPr lang="en-US" sz="1100" dirty="0"/>
          </a:p>
        </p:txBody>
      </p:sp>
      <p:sp>
        <p:nvSpPr>
          <p:cNvPr id="45" name="Text 43"/>
          <p:cNvSpPr txBox="1"/>
          <p:nvPr/>
        </p:nvSpPr>
        <p:spPr>
          <a:xfrm>
            <a:off x="1051560" y="3364992"/>
            <a:ext cx="3931920" cy="484632"/>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Backbone đủ tốt · chọn budget · quét α, lr · khả thi T4</a:t>
            </a:r>
            <a:endParaRPr lang="en-US" sz="1250" dirty="0"/>
          </a:p>
        </p:txBody>
      </p:sp>
      <p:sp>
        <p:nvSpPr>
          <p:cNvPr id="46" name="Shape 44"/>
          <p:cNvSpPr/>
          <p:nvPr/>
        </p:nvSpPr>
        <p:spPr>
          <a:xfrm>
            <a:off x="6437376" y="3438144"/>
            <a:ext cx="1975104" cy="338328"/>
          </a:xfrm>
          <a:prstGeom prst="roundRect">
            <a:avLst>
              <a:gd name="adj" fmla="val 13514"/>
            </a:avLst>
          </a:prstGeom>
          <a:solidFill>
            <a:srgbClr val="0F4C4F"/>
          </a:solidFill>
          <a:ln w="12700">
            <a:solidFill>
              <a:srgbClr val="0F4C4F"/>
            </a:solidFill>
            <a:prstDash val="solid"/>
          </a:ln>
        </p:spPr>
      </p:sp>
      <p:sp>
        <p:nvSpPr>
          <p:cNvPr id="47" name="Shape 45"/>
          <p:cNvSpPr/>
          <p:nvPr/>
        </p:nvSpPr>
        <p:spPr>
          <a:xfrm>
            <a:off x="548640" y="3959352"/>
            <a:ext cx="411480" cy="411480"/>
          </a:xfrm>
          <a:prstGeom prst="ellipse">
            <a:avLst/>
          </a:prstGeom>
          <a:solidFill>
            <a:srgbClr val="0F4C4F"/>
          </a:solidFill>
          <a:ln w="12700">
            <a:solidFill>
              <a:srgbClr val="0F4C4F"/>
            </a:solidFill>
            <a:prstDash val="solid"/>
          </a:ln>
        </p:spPr>
      </p:sp>
      <p:sp>
        <p:nvSpPr>
          <p:cNvPr id="48" name="Text 46"/>
          <p:cNvSpPr txBox="1"/>
          <p:nvPr/>
        </p:nvSpPr>
        <p:spPr>
          <a:xfrm>
            <a:off x="548640" y="3959352"/>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R4</a:t>
            </a:r>
            <a:endParaRPr lang="en-US" sz="1100" dirty="0"/>
          </a:p>
        </p:txBody>
      </p:sp>
      <p:sp>
        <p:nvSpPr>
          <p:cNvPr id="49" name="Text 47"/>
          <p:cNvSpPr txBox="1"/>
          <p:nvPr/>
        </p:nvSpPr>
        <p:spPr>
          <a:xfrm>
            <a:off x="1051560" y="3922776"/>
            <a:ext cx="3931920" cy="484632"/>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Freeze cấu hình, seed, evaluator; chốt OD-1…OD-4</a:t>
            </a:r>
            <a:endParaRPr lang="en-US" sz="1250" dirty="0"/>
          </a:p>
        </p:txBody>
      </p:sp>
      <p:sp>
        <p:nvSpPr>
          <p:cNvPr id="50" name="Shape 48"/>
          <p:cNvSpPr/>
          <p:nvPr/>
        </p:nvSpPr>
        <p:spPr>
          <a:xfrm>
            <a:off x="8412480" y="3995928"/>
            <a:ext cx="329184" cy="338328"/>
          </a:xfrm>
          <a:prstGeom prst="roundRect">
            <a:avLst>
              <a:gd name="adj" fmla="val 13889"/>
            </a:avLst>
          </a:prstGeom>
          <a:solidFill>
            <a:srgbClr val="0F4C4F"/>
          </a:solidFill>
          <a:ln w="12700">
            <a:solidFill>
              <a:srgbClr val="0F4C4F"/>
            </a:solidFill>
            <a:prstDash val="solid"/>
          </a:ln>
        </p:spPr>
      </p:sp>
      <p:sp>
        <p:nvSpPr>
          <p:cNvPr id="51" name="Shape 49"/>
          <p:cNvSpPr/>
          <p:nvPr/>
        </p:nvSpPr>
        <p:spPr>
          <a:xfrm>
            <a:off x="548640" y="4517136"/>
            <a:ext cx="411480" cy="411480"/>
          </a:xfrm>
          <a:prstGeom prst="ellipse">
            <a:avLst/>
          </a:prstGeom>
          <a:solidFill>
            <a:srgbClr val="0F4C4F"/>
          </a:solidFill>
          <a:ln w="12700">
            <a:solidFill>
              <a:srgbClr val="0F4C4F"/>
            </a:solidFill>
            <a:prstDash val="solid"/>
          </a:ln>
        </p:spPr>
      </p:sp>
      <p:sp>
        <p:nvSpPr>
          <p:cNvPr id="52" name="Text 50"/>
          <p:cNvSpPr txBox="1"/>
          <p:nvPr/>
        </p:nvSpPr>
        <p:spPr>
          <a:xfrm>
            <a:off x="548640" y="4517136"/>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R5</a:t>
            </a:r>
            <a:endParaRPr lang="en-US" sz="1100" dirty="0"/>
          </a:p>
        </p:txBody>
      </p:sp>
      <p:sp>
        <p:nvSpPr>
          <p:cNvPr id="53" name="Text 51"/>
          <p:cNvSpPr txBox="1"/>
          <p:nvPr/>
        </p:nvSpPr>
        <p:spPr>
          <a:xfrm>
            <a:off x="1051560" y="4480560"/>
            <a:ext cx="3931920" cy="484632"/>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Chạy so sánh ghép cặp trên holdout (7 phương pháp × seed)</a:t>
            </a:r>
            <a:endParaRPr lang="en-US" sz="1250" dirty="0"/>
          </a:p>
        </p:txBody>
      </p:sp>
      <p:sp>
        <p:nvSpPr>
          <p:cNvPr id="54" name="Shape 52"/>
          <p:cNvSpPr/>
          <p:nvPr/>
        </p:nvSpPr>
        <p:spPr>
          <a:xfrm>
            <a:off x="8741664" y="4553712"/>
            <a:ext cx="1316736" cy="338328"/>
          </a:xfrm>
          <a:prstGeom prst="roundRect">
            <a:avLst>
              <a:gd name="adj" fmla="val 13514"/>
            </a:avLst>
          </a:prstGeom>
          <a:solidFill>
            <a:srgbClr val="0F4C4F"/>
          </a:solidFill>
          <a:ln w="12700">
            <a:solidFill>
              <a:srgbClr val="0F4C4F"/>
            </a:solidFill>
            <a:prstDash val="solid"/>
          </a:ln>
        </p:spPr>
      </p:sp>
      <p:sp>
        <p:nvSpPr>
          <p:cNvPr id="55" name="Shape 53"/>
          <p:cNvSpPr/>
          <p:nvPr/>
        </p:nvSpPr>
        <p:spPr>
          <a:xfrm>
            <a:off x="548640" y="5074920"/>
            <a:ext cx="411480" cy="411480"/>
          </a:xfrm>
          <a:prstGeom prst="ellipse">
            <a:avLst/>
          </a:prstGeom>
          <a:solidFill>
            <a:srgbClr val="0F4C4F"/>
          </a:solidFill>
          <a:ln w="12700">
            <a:solidFill>
              <a:srgbClr val="0F4C4F"/>
            </a:solidFill>
            <a:prstDash val="solid"/>
          </a:ln>
        </p:spPr>
      </p:sp>
      <p:sp>
        <p:nvSpPr>
          <p:cNvPr id="56" name="Text 54"/>
          <p:cNvSpPr txBox="1"/>
          <p:nvPr/>
        </p:nvSpPr>
        <p:spPr>
          <a:xfrm>
            <a:off x="548640" y="5074920"/>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R6</a:t>
            </a:r>
            <a:endParaRPr lang="en-US" sz="1100" dirty="0"/>
          </a:p>
        </p:txBody>
      </p:sp>
      <p:sp>
        <p:nvSpPr>
          <p:cNvPr id="57" name="Text 55"/>
          <p:cNvSpPr txBox="1"/>
          <p:nvPr/>
        </p:nvSpPr>
        <p:spPr>
          <a:xfrm>
            <a:off x="1051560" y="5038344"/>
            <a:ext cx="3931920" cy="484632"/>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Phân tích RQ1–RQ4, ablation, lỗi</a:t>
            </a:r>
            <a:endParaRPr lang="en-US" sz="1250" dirty="0"/>
          </a:p>
        </p:txBody>
      </p:sp>
      <p:sp>
        <p:nvSpPr>
          <p:cNvPr id="58" name="Shape 56"/>
          <p:cNvSpPr/>
          <p:nvPr/>
        </p:nvSpPr>
        <p:spPr>
          <a:xfrm>
            <a:off x="10058400" y="5111496"/>
            <a:ext cx="658368" cy="338328"/>
          </a:xfrm>
          <a:prstGeom prst="roundRect">
            <a:avLst>
              <a:gd name="adj" fmla="val 13514"/>
            </a:avLst>
          </a:prstGeom>
          <a:solidFill>
            <a:srgbClr val="0F4C4F"/>
          </a:solidFill>
          <a:ln w="12700">
            <a:solidFill>
              <a:srgbClr val="0F4C4F"/>
            </a:solidFill>
            <a:prstDash val="solid"/>
          </a:ln>
        </p:spPr>
      </p:sp>
      <p:sp>
        <p:nvSpPr>
          <p:cNvPr id="59" name="Shape 57"/>
          <p:cNvSpPr/>
          <p:nvPr/>
        </p:nvSpPr>
        <p:spPr>
          <a:xfrm>
            <a:off x="548640" y="5632704"/>
            <a:ext cx="411480" cy="411480"/>
          </a:xfrm>
          <a:prstGeom prst="ellipse">
            <a:avLst/>
          </a:prstGeom>
          <a:solidFill>
            <a:srgbClr val="0F4C4F"/>
          </a:solidFill>
          <a:ln w="12700">
            <a:solidFill>
              <a:srgbClr val="0F4C4F"/>
            </a:solidFill>
            <a:prstDash val="solid"/>
          </a:ln>
        </p:spPr>
      </p:sp>
      <p:sp>
        <p:nvSpPr>
          <p:cNvPr id="60" name="Text 58"/>
          <p:cNvSpPr txBox="1"/>
          <p:nvPr/>
        </p:nvSpPr>
        <p:spPr>
          <a:xfrm>
            <a:off x="548640" y="5632704"/>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R7</a:t>
            </a:r>
            <a:endParaRPr lang="en-US" sz="1100" dirty="0"/>
          </a:p>
        </p:txBody>
      </p:sp>
      <p:sp>
        <p:nvSpPr>
          <p:cNvPr id="61" name="Text 59"/>
          <p:cNvSpPr txBox="1"/>
          <p:nvPr/>
        </p:nvSpPr>
        <p:spPr>
          <a:xfrm>
            <a:off x="1051560" y="5596128"/>
            <a:ext cx="3931920" cy="484632"/>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Viết báo cáo, slide, README; pilot vào phụ lục</a:t>
            </a:r>
            <a:endParaRPr lang="en-US" sz="1250" dirty="0"/>
          </a:p>
        </p:txBody>
      </p:sp>
      <p:sp>
        <p:nvSpPr>
          <p:cNvPr id="62" name="Shape 60"/>
          <p:cNvSpPr/>
          <p:nvPr/>
        </p:nvSpPr>
        <p:spPr>
          <a:xfrm>
            <a:off x="10716768" y="5669280"/>
            <a:ext cx="987552" cy="338328"/>
          </a:xfrm>
          <a:prstGeom prst="roundRect">
            <a:avLst>
              <a:gd name="adj" fmla="val 13514"/>
            </a:avLst>
          </a:prstGeom>
          <a:solidFill>
            <a:srgbClr val="0F4C4F"/>
          </a:solidFill>
          <a:ln w="12700">
            <a:solidFill>
              <a:srgbClr val="0F4C4F"/>
            </a:solidFill>
            <a:prstDash val="solid"/>
          </a:ln>
        </p:spPr>
      </p:sp>
      <p:sp>
        <p:nvSpPr>
          <p:cNvPr id="63" name="Text 61"/>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Tổng ước lượng ~10 tuần; sẽ chỉnh lại sau R3 khi đo được thời gian chạy thực tế. Không qua gate bằng cách viết claim — gate fail được ghi lý do vào decision log.</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KẾ HOẠCH</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Rủi ro và phương án dự phòng</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743200"/>
                <a:gridCol w="3657600"/>
                <a:gridCol w="4663440"/>
              </a:tblGrid>
              <a:tr h="676656">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Rủi ro</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Dấu hiệu</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Phương án</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676656">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Sampler không học được</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‖ΔΘ_S‖ ≈ 0, phân phối chọn giống M0</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Tăng số bước/giảm batch, quét α; nếu vẫn không học → báo kết quả âm có phân tích</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76656">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Hết bộ nhớ T4</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OOM khi embedding 2,48 tr node + GCN_S</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Embedding thưa, giảm chiều sampler, chỉ chạy GCN_S trên ứng viên</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76656">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Sampler quá chậm</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Thời gian sampler &gt; ngưỡng đăng ký</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Giảm độ rộng GCN_S, lấy mẫu ứng viên trước khi chấm điểm</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76656">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Backbone vẫn yếu</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Full LightGCN ≤ MostPop trên D_dev</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Tăng epoch trong grid; nếu fail ghi decision log trước khi đi tiếp</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76656">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Dồn về item phổ biến</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Node chọn toàn head, tail hit = 0</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Báo cáo RQ3; không đổi method sau holdout</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76656">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Kết quả không vượt đối chứng</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Δ NDCG@20 ≤ 0</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Kết quả âm hợp lệ; phân tích nguyên nhân R-1…R-6</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4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Tổng kết</a:t>
            </a:r>
            <a:endParaRPr lang="en-US" sz="3600" dirty="0"/>
          </a:p>
        </p:txBody>
      </p:sp>
      <p:sp>
        <p:nvSpPr>
          <p:cNvPr id="3" name="Shape 1"/>
          <p:cNvSpPr/>
          <p:nvPr/>
        </p:nvSpPr>
        <p:spPr>
          <a:xfrm>
            <a:off x="548640" y="1463040"/>
            <a:ext cx="3566160" cy="4663440"/>
          </a:xfrm>
          <a:prstGeom prst="roundRect">
            <a:avLst>
              <a:gd name="adj" fmla="val 2051"/>
            </a:avLst>
          </a:prstGeom>
          <a:solidFill>
            <a:srgbClr val="1C5E61"/>
          </a:solidFill>
          <a:ln w="12700">
            <a:solidFill>
              <a:srgbClr val="1C5E61"/>
            </a:solidFill>
            <a:prstDash val="solid"/>
          </a:ln>
        </p:spPr>
      </p:sp>
      <p:sp>
        <p:nvSpPr>
          <p:cNvPr id="4" name="Text 2"/>
          <p:cNvSpPr txBox="1"/>
          <p:nvPr/>
        </p:nvSpPr>
        <p:spPr>
          <a:xfrm>
            <a:off x="777240" y="1645920"/>
            <a:ext cx="310896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Đã đạt được</a:t>
            </a:r>
            <a:endParaRPr lang="en-US" sz="2000" dirty="0"/>
          </a:p>
        </p:txBody>
      </p:sp>
      <p:sp>
        <p:nvSpPr>
          <p:cNvPr id="5" name="Text 3"/>
          <p:cNvSpPr txBox="1"/>
          <p:nvPr/>
        </p:nvSpPr>
        <p:spPr>
          <a:xfrm>
            <a:off x="777240" y="2286000"/>
            <a:ext cx="3108960" cy="365760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Kiểm toán 3 dataset Amazon, chọn Baby_Products có lý do</a:t>
            </a:r>
            <a:endParaRPr lang="en-US" sz="1700" dirty="0"/>
          </a:p>
          <a:p>
            <a:pPr marL="203200" indent="-2032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Protocol thời gian, evaluator toàn catalog</a:t>
            </a:r>
            <a:endParaRPr lang="en-US" sz="1700" dirty="0"/>
          </a:p>
          <a:p>
            <a:pPr marL="203200" indent="-2032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Rà soát và khóa lại scope (DL-001), checklist G1–G7</a:t>
            </a:r>
            <a:endParaRPr lang="en-US" sz="1700" dirty="0"/>
          </a:p>
          <a:p>
            <a:pPr marL="203200" indent="-2032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Thiết kế GRAPES-GFN-Rec cho gợi ý + lõi code, 28 oracle test</a:t>
            </a:r>
            <a:endParaRPr lang="en-US" sz="1700" dirty="0"/>
          </a:p>
        </p:txBody>
      </p:sp>
      <p:sp>
        <p:nvSpPr>
          <p:cNvPr id="6" name="Shape 4"/>
          <p:cNvSpPr/>
          <p:nvPr/>
        </p:nvSpPr>
        <p:spPr>
          <a:xfrm>
            <a:off x="4297680" y="1463040"/>
            <a:ext cx="3566160" cy="4663440"/>
          </a:xfrm>
          <a:prstGeom prst="roundRect">
            <a:avLst>
              <a:gd name="adj" fmla="val 2051"/>
            </a:avLst>
          </a:prstGeom>
          <a:solidFill>
            <a:srgbClr val="1C5E61"/>
          </a:solidFill>
          <a:ln w="12700">
            <a:solidFill>
              <a:srgbClr val="1C5E61"/>
            </a:solidFill>
            <a:prstDash val="solid"/>
          </a:ln>
        </p:spPr>
      </p:sp>
      <p:sp>
        <p:nvSpPr>
          <p:cNvPr id="7" name="Text 5"/>
          <p:cNvSpPr txBox="1"/>
          <p:nvPr/>
        </p:nvSpPr>
        <p:spPr>
          <a:xfrm>
            <a:off x="4526280" y="1645920"/>
            <a:ext cx="310896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Sẽ làm</a:t>
            </a:r>
            <a:endParaRPr lang="en-US" sz="2000" dirty="0"/>
          </a:p>
        </p:txBody>
      </p:sp>
      <p:sp>
        <p:nvSpPr>
          <p:cNvPr id="8" name="Text 6"/>
          <p:cNvSpPr txBox="1"/>
          <p:nvPr/>
        </p:nvSpPr>
        <p:spPr>
          <a:xfrm>
            <a:off x="4526280" y="2286000"/>
            <a:ext cx="3108960" cy="365760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Development split và thí nghiệm development (R1, R3)</a:t>
            </a:r>
            <a:endParaRPr lang="en-US" sz="1700" dirty="0"/>
          </a:p>
          <a:p>
            <a:pPr marL="203200" indent="-2032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Freeze rồi so sánh ghép cặp 7 phương pháp (R4, R5)</a:t>
            </a:r>
            <a:endParaRPr lang="en-US" sz="1700" dirty="0"/>
          </a:p>
          <a:p>
            <a:pPr marL="203200" indent="-2032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Phân tích chất lượng – chi phí – hành vi sampler (R6)</a:t>
            </a:r>
            <a:endParaRPr lang="en-US" sz="1700" dirty="0"/>
          </a:p>
          <a:p>
            <a:pPr marL="203200" indent="-2032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Báo cáo cuối từ bằng chứng holdout (R7)</a:t>
            </a:r>
            <a:endParaRPr lang="en-US" sz="1700" dirty="0"/>
          </a:p>
        </p:txBody>
      </p:sp>
      <p:sp>
        <p:nvSpPr>
          <p:cNvPr id="9" name="Shape 7"/>
          <p:cNvSpPr/>
          <p:nvPr/>
        </p:nvSpPr>
        <p:spPr>
          <a:xfrm>
            <a:off x="8046720" y="1463040"/>
            <a:ext cx="3566160" cy="4663440"/>
          </a:xfrm>
          <a:prstGeom prst="roundRect">
            <a:avLst>
              <a:gd name="adj" fmla="val 2051"/>
            </a:avLst>
          </a:prstGeom>
          <a:solidFill>
            <a:srgbClr val="E89B2D"/>
          </a:solidFill>
          <a:ln w="12700">
            <a:solidFill>
              <a:srgbClr val="E89B2D"/>
            </a:solidFill>
            <a:prstDash val="solid"/>
          </a:ln>
        </p:spPr>
      </p:sp>
      <p:sp>
        <p:nvSpPr>
          <p:cNvPr id="10" name="Text 8"/>
          <p:cNvSpPr txBox="1"/>
          <p:nvPr/>
        </p:nvSpPr>
        <p:spPr>
          <a:xfrm>
            <a:off x="8275320" y="1645920"/>
            <a:ext cx="3108960" cy="502920"/>
          </a:xfrm>
          <a:prstGeom prst="rect">
            <a:avLst/>
          </a:prstGeom>
          <a:noFill/>
          <a:ln/>
        </p:spPr>
        <p:txBody>
          <a:bodyPr wrap="square" lIns="0" tIns="0" rIns="0" bIns="0" rtlCol="0" anchor="ctr"/>
          <a:lstStyle/>
          <a:p>
            <a:pPr indent="0" marL="0">
              <a:buNone/>
            </a:pPr>
            <a:r>
              <a:rPr lang="en-US" sz="2000" b="1" dirty="0">
                <a:solidFill>
                  <a:srgbClr val="13262A"/>
                </a:solidFill>
                <a:latin typeface="Cambria" pitchFamily="34" charset="0"/>
                <a:ea typeface="Cambria" pitchFamily="34" charset="-122"/>
                <a:cs typeface="Cambria" pitchFamily="34" charset="-120"/>
              </a:rPr>
              <a:t>Xin ý kiến cô</a:t>
            </a:r>
            <a:endParaRPr lang="en-US" sz="2000" dirty="0"/>
          </a:p>
        </p:txBody>
      </p:sp>
      <p:sp>
        <p:nvSpPr>
          <p:cNvPr id="11" name="Text 9"/>
          <p:cNvSpPr txBox="1"/>
          <p:nvPr/>
        </p:nvSpPr>
        <p:spPr>
          <a:xfrm>
            <a:off x="8275320" y="2286000"/>
            <a:ext cx="3108960" cy="365760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13262A"/>
                </a:solidFill>
                <a:latin typeface="Calibri" pitchFamily="34" charset="0"/>
                <a:ea typeface="Calibri" pitchFamily="34" charset="-122"/>
                <a:cs typeface="Calibri" pitchFamily="34" charset="-120"/>
              </a:rPr>
              <a:t>OD-1: thêm GraphSAGE fan-out làm đối chứng?</a:t>
            </a:r>
            <a:endParaRPr lang="en-US" sz="1700" dirty="0"/>
          </a:p>
          <a:p>
            <a:pPr marL="203200" indent="-203200">
              <a:spcAft>
                <a:spcPts val="1000"/>
              </a:spcAft>
              <a:buSzPct val="100000"/>
              <a:buChar char="•"/>
            </a:pPr>
            <a:r>
              <a:rPr lang="en-US" sz="1700" dirty="0">
                <a:solidFill>
                  <a:srgbClr val="13262A"/>
                </a:solidFill>
                <a:latin typeface="Calibri" pitchFamily="34" charset="0"/>
                <a:ea typeface="Calibri" pitchFamily="34" charset="-122"/>
                <a:cs typeface="Calibri" pitchFamily="34" charset="-120"/>
              </a:rPr>
              <a:t>OD-2: nối metadata để đo đa dạng / ngữ nghĩa?</a:t>
            </a:r>
            <a:endParaRPr lang="en-US" sz="1700" dirty="0"/>
          </a:p>
          <a:p>
            <a:pPr marL="203200" indent="-203200">
              <a:spcAft>
                <a:spcPts val="1000"/>
              </a:spcAft>
              <a:buSzPct val="100000"/>
              <a:buChar char="•"/>
            </a:pPr>
            <a:r>
              <a:rPr lang="en-US" sz="1700" dirty="0">
                <a:solidFill>
                  <a:srgbClr val="13262A"/>
                </a:solidFill>
                <a:latin typeface="Calibri" pitchFamily="34" charset="0"/>
                <a:ea typeface="Calibri" pitchFamily="34" charset="-122"/>
                <a:cs typeface="Calibri" pitchFamily="34" charset="-120"/>
              </a:rPr>
              <a:t>OD-3: lưới budget (1 chính + 1 chặt)?</a:t>
            </a:r>
            <a:endParaRPr lang="en-US" sz="1700" dirty="0"/>
          </a:p>
          <a:p>
            <a:pPr marL="203200" indent="-203200">
              <a:spcAft>
                <a:spcPts val="1000"/>
              </a:spcAft>
              <a:buSzPct val="100000"/>
              <a:buChar char="•"/>
            </a:pPr>
            <a:r>
              <a:rPr lang="en-US" sz="1700" dirty="0">
                <a:solidFill>
                  <a:srgbClr val="13262A"/>
                </a:solidFill>
                <a:latin typeface="Calibri" pitchFamily="34" charset="0"/>
                <a:ea typeface="Calibri" pitchFamily="34" charset="-122"/>
                <a:cs typeface="Calibri" pitchFamily="34" charset="-120"/>
              </a:rPr>
              <a:t>OD-4: số seed (đề xuất 3)?</a:t>
            </a:r>
            <a:endParaRPr lang="en-US" sz="1700" dirty="0"/>
          </a:p>
        </p:txBody>
      </p:sp>
      <p:sp>
        <p:nvSpPr>
          <p:cNvPr id="12" name="Text 10"/>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BFD8D5"/>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NGUỒN</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Tài liệu tham khảo</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48640" y="1463040"/>
            <a:ext cx="11064240" cy="4754880"/>
          </a:xfrm>
          <a:prstGeom prst="rect">
            <a:avLst/>
          </a:prstGeom>
          <a:noFill/>
          <a:ln/>
        </p:spPr>
        <p:txBody>
          <a:bodyPr wrap="square" lIns="0" tIns="0" rIns="0" bIns="0" rtlCol="0" anchor="t"/>
          <a:lstStyle/>
          <a:p>
            <a:pPr indent="0" marL="0">
              <a:spcAft>
                <a:spcPts val="800"/>
              </a:spcAft>
              <a:buNone/>
            </a:pPr>
            <a:r>
              <a:rPr lang="en-US" sz="1500" dirty="0">
                <a:solidFill>
                  <a:srgbClr val="13262A"/>
                </a:solidFill>
                <a:latin typeface="Calibri" pitchFamily="34" charset="0"/>
                <a:ea typeface="Calibri" pitchFamily="34" charset="-122"/>
                <a:cs typeface="Calibri" pitchFamily="34" charset="-120"/>
              </a:rPr>
              <a:t>[1] T. Younesian et al. GRAPES: Learning to Sample Graphs for Scalable Graph Neural Networks. arXiv:2310.03399v3. Code: github.com/dfdazac/grapes (commit 71ecebe).</a:t>
            </a:r>
            <a:endParaRPr lang="en-US" sz="1500" dirty="0"/>
          </a:p>
          <a:p>
            <a:pPr indent="0" marL="0">
              <a:spcAft>
                <a:spcPts val="800"/>
              </a:spcAft>
              <a:buNone/>
            </a:pPr>
            <a:r>
              <a:rPr lang="en-US" sz="1500" dirty="0">
                <a:solidFill>
                  <a:srgbClr val="13262A"/>
                </a:solidFill>
                <a:latin typeface="Calibri" pitchFamily="34" charset="0"/>
                <a:ea typeface="Calibri" pitchFamily="34" charset="-122"/>
                <a:cs typeface="Calibri" pitchFamily="34" charset="-120"/>
              </a:rPr>
              <a:t>[2] X. He et al. LightGCN: Simplifying and Powering Graph Convolution Network for Recommendation. SIGIR 2020. arXiv:2002.02126.</a:t>
            </a:r>
            <a:endParaRPr lang="en-US" sz="1500" dirty="0"/>
          </a:p>
          <a:p>
            <a:pPr indent="0" marL="0">
              <a:spcAft>
                <a:spcPts val="800"/>
              </a:spcAft>
              <a:buNone/>
            </a:pPr>
            <a:r>
              <a:rPr lang="en-US" sz="1500" dirty="0">
                <a:solidFill>
                  <a:srgbClr val="13262A"/>
                </a:solidFill>
                <a:latin typeface="Calibri" pitchFamily="34" charset="0"/>
                <a:ea typeface="Calibri" pitchFamily="34" charset="-122"/>
                <a:cs typeface="Calibri" pitchFamily="34" charset="-120"/>
              </a:rPr>
              <a:t>[3] N. Malkin et al. Trajectory Balance: Improved Credit Assignment in GFlowNets. NeurIPS 2022. arXiv:2201.13259.</a:t>
            </a:r>
            <a:endParaRPr lang="en-US" sz="1500" dirty="0"/>
          </a:p>
          <a:p>
            <a:pPr indent="0" marL="0">
              <a:spcAft>
                <a:spcPts val="800"/>
              </a:spcAft>
              <a:buNone/>
            </a:pPr>
            <a:r>
              <a:rPr lang="en-US" sz="1500" dirty="0">
                <a:solidFill>
                  <a:srgbClr val="13262A"/>
                </a:solidFill>
                <a:latin typeface="Calibri" pitchFamily="34" charset="0"/>
                <a:ea typeface="Calibri" pitchFamily="34" charset="-122"/>
                <a:cs typeface="Calibri" pitchFamily="34" charset="-120"/>
              </a:rPr>
              <a:t>[4] S. Rendle et al. BPR: Bayesian Personalized Ranking from Implicit Feedback. UAI 2009. arXiv:1205.2618.</a:t>
            </a:r>
            <a:endParaRPr lang="en-US" sz="1500" dirty="0"/>
          </a:p>
          <a:p>
            <a:pPr indent="0" marL="0">
              <a:spcAft>
                <a:spcPts val="800"/>
              </a:spcAft>
              <a:buNone/>
            </a:pPr>
            <a:r>
              <a:rPr lang="en-US" sz="1500" dirty="0">
                <a:solidFill>
                  <a:srgbClr val="13262A"/>
                </a:solidFill>
                <a:latin typeface="Calibri" pitchFamily="34" charset="0"/>
                <a:ea typeface="Calibri" pitchFamily="34" charset="-122"/>
                <a:cs typeface="Calibri" pitchFamily="34" charset="-120"/>
              </a:rPr>
              <a:t>[5] W. Kool et al. Stochastic Beams and Where to Find Them: The Gumbel-Top-k Trick. ICML 2019. arXiv:1903.06059.</a:t>
            </a:r>
            <a:endParaRPr lang="en-US" sz="1500" dirty="0"/>
          </a:p>
          <a:p>
            <a:pPr indent="0" marL="0">
              <a:spcAft>
                <a:spcPts val="800"/>
              </a:spcAft>
              <a:buNone/>
            </a:pPr>
            <a:r>
              <a:rPr lang="en-US" sz="1500" dirty="0">
                <a:solidFill>
                  <a:srgbClr val="13262A"/>
                </a:solidFill>
                <a:latin typeface="Calibri" pitchFamily="34" charset="0"/>
                <a:ea typeface="Calibri" pitchFamily="34" charset="-122"/>
                <a:cs typeface="Calibri" pitchFamily="34" charset="-120"/>
              </a:rPr>
              <a:t>[6] J. Chen et al. FastGCN: Fast Learning with Graph Convolutional Networks via Importance Sampling. ICLR 2018. arXiv:1801.10247.</a:t>
            </a:r>
            <a:endParaRPr lang="en-US" sz="1500" dirty="0"/>
          </a:p>
          <a:p>
            <a:pPr indent="0" marL="0">
              <a:spcAft>
                <a:spcPts val="800"/>
              </a:spcAft>
              <a:buNone/>
            </a:pPr>
            <a:r>
              <a:rPr lang="en-US" sz="1500" dirty="0">
                <a:solidFill>
                  <a:srgbClr val="13262A"/>
                </a:solidFill>
                <a:latin typeface="Calibri" pitchFamily="34" charset="0"/>
                <a:ea typeface="Calibri" pitchFamily="34" charset="-122"/>
                <a:cs typeface="Calibri" pitchFamily="34" charset="-120"/>
              </a:rPr>
              <a:t>[7] D. Zou et al. Layer-Dependent Importance Sampling for Training Deep and Large Graph Convolutional Networks (LADIES). NeurIPS 2019. arXiv:1911.07323.</a:t>
            </a:r>
            <a:endParaRPr lang="en-US" sz="1500" dirty="0"/>
          </a:p>
          <a:p>
            <a:pPr indent="0" marL="0">
              <a:spcAft>
                <a:spcPts val="800"/>
              </a:spcAft>
              <a:buNone/>
            </a:pPr>
            <a:r>
              <a:rPr lang="en-US" sz="1500" dirty="0">
                <a:solidFill>
                  <a:srgbClr val="13262A"/>
                </a:solidFill>
                <a:latin typeface="Calibri" pitchFamily="34" charset="0"/>
                <a:ea typeface="Calibri" pitchFamily="34" charset="-122"/>
                <a:cs typeface="Calibri" pitchFamily="34" charset="-120"/>
              </a:rPr>
              <a:t>[8] W. Hamilton et al. Inductive Representation Learning on Large Graphs (GraphSAGE). NeurIPS 2017. arXiv:1706.02216.</a:t>
            </a:r>
            <a:endParaRPr lang="en-US" sz="1500" dirty="0"/>
          </a:p>
          <a:p>
            <a:pPr indent="0" marL="0">
              <a:spcAft>
                <a:spcPts val="800"/>
              </a:spcAft>
              <a:buNone/>
            </a:pPr>
            <a:r>
              <a:rPr lang="en-US" sz="1500" dirty="0">
                <a:solidFill>
                  <a:srgbClr val="13262A"/>
                </a:solidFill>
                <a:latin typeface="Calibri" pitchFamily="34" charset="0"/>
                <a:ea typeface="Calibri" pitchFamily="34" charset="-122"/>
                <a:cs typeface="Calibri" pitchFamily="34" charset="-120"/>
              </a:rPr>
              <a:t>[9] R. Ying et al. Graph Convolutional Neural Networks for Web-Scale Recommender Systems (PinSage). KDD 2018. arXiv:1806.01973.</a:t>
            </a:r>
            <a:endParaRPr lang="en-US" sz="1500" dirty="0"/>
          </a:p>
          <a:p>
            <a:pPr indent="0" marL="0">
              <a:spcAft>
                <a:spcPts val="800"/>
              </a:spcAft>
              <a:buNone/>
            </a:pPr>
            <a:r>
              <a:rPr lang="en-US" sz="1500" dirty="0">
                <a:solidFill>
                  <a:srgbClr val="13262A"/>
                </a:solidFill>
                <a:latin typeface="Calibri" pitchFamily="34" charset="0"/>
                <a:ea typeface="Calibri" pitchFamily="34" charset="-122"/>
                <a:cs typeface="Calibri" pitchFamily="34" charset="-120"/>
              </a:rPr>
              <a:t>[10] Y. Hou et al. Bridging Language and Items for Retrieval and Recommendation (Amazon Reviews'23). arXiv:2403.03952.</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Giai đoạn 2 — GRAPES-GFN-Rec</dc:title>
  <dc:subject>PptxGenJS Presentation</dc:subject>
  <dc:creator>PptxGenJS</dc:creator>
  <cp:lastModifiedBy>PptxGenJS</cp:lastModifiedBy>
  <cp:revision>1</cp:revision>
  <dcterms:created xsi:type="dcterms:W3CDTF">2026-09-16T17:26:29Z</dcterms:created>
  <dcterms:modified xsi:type="dcterms:W3CDTF">2026-09-16T17:26:29Z</dcterms:modified>
</cp:coreProperties>
</file>