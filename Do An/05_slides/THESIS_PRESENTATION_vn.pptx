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2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3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slides/charts/chart4.xml" ContentType="application/vnd.openxmlformats-officedocument.drawingml.chart+xml"/>
  <Override PartName="/ppt/slides/charts/chart5.xml" ContentType="application/vnd.openxmlformats-officedocument.drawingml.chart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slides/charts/chart6.xml" ContentType="application/vnd.openxmlformats-officedocument.drawingml.chart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slides/charts/chart7.xml" ContentType="application/vnd.openxmlformats-officedocument.drawingml.chart+xml"/>
  <Override PartName="/ppt/slides/charts/chart8.xml" ContentType="application/vnd.openxmlformats-officedocument.drawingml.chart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slides/charts/chart9.xml" ContentType="application/vnd.openxmlformats-officedocument.drawingml.chart+xml"/>
  <Override PartName="/ppt/slides/charts/chart10.xml" ContentType="application/vnd.openxmlformats-officedocument.drawingml.chart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slides/charts/chart11.xml" ContentType="application/vnd.openxmlformats-officedocument.drawingml.chart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948d8b1f7e94ee0" /><Relationship Type="http://schemas.openxmlformats.org/officeDocument/2006/relationships/extended-properties" Target="/docProps/app.xml" Id="Rf585fa9345534668" /><Relationship Type="http://schemas.openxmlformats.org/officeDocument/2006/relationships/officeDocument" Target="/ppt/presentation.xml" Id="Rb6a657b2ff55441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249c3fe54cc4884"/>
  </p:sldMasterIdLst>
  <p:notesMasterIdLst>
    <p:notesMasterId xmlns:r="http://schemas.openxmlformats.org/officeDocument/2006/relationships" r:id="R33f93b9559ca4218"/>
  </p:notesMasterIdLst>
  <p:sldIdLst>
    <p:sldId xmlns:r="http://schemas.openxmlformats.org/officeDocument/2006/relationships" id="256" r:id="R74456697f72c49db"/>
    <p:sldId xmlns:r="http://schemas.openxmlformats.org/officeDocument/2006/relationships" id="257" r:id="Ra04abcf89b064a1d"/>
    <p:sldId xmlns:r="http://schemas.openxmlformats.org/officeDocument/2006/relationships" id="258" r:id="Rdd3d478b1cd1497e"/>
    <p:sldId xmlns:r="http://schemas.openxmlformats.org/officeDocument/2006/relationships" id="259" r:id="R682e1b1da62c4cf9"/>
    <p:sldId xmlns:r="http://schemas.openxmlformats.org/officeDocument/2006/relationships" id="260" r:id="Rdf92b13fe4f34c6c"/>
    <p:sldId xmlns:r="http://schemas.openxmlformats.org/officeDocument/2006/relationships" id="261" r:id="R920689c2749d4201"/>
    <p:sldId xmlns:r="http://schemas.openxmlformats.org/officeDocument/2006/relationships" id="262" r:id="Rd7399ed3aa5a4895"/>
    <p:sldId xmlns:r="http://schemas.openxmlformats.org/officeDocument/2006/relationships" id="263" r:id="Rb6d23310bc774ebf"/>
    <p:sldId xmlns:r="http://schemas.openxmlformats.org/officeDocument/2006/relationships" id="264" r:id="R26964e7a05be4441"/>
    <p:sldId xmlns:r="http://schemas.openxmlformats.org/officeDocument/2006/relationships" id="265" r:id="R1525c43ad2a44c8b"/>
    <p:sldId xmlns:r="http://schemas.openxmlformats.org/officeDocument/2006/relationships" id="266" r:id="Re7341f6973504136"/>
    <p:sldId xmlns:r="http://schemas.openxmlformats.org/officeDocument/2006/relationships" id="267" r:id="Rfe39808f3b254442"/>
    <p:sldId xmlns:r="http://schemas.openxmlformats.org/officeDocument/2006/relationships" id="268" r:id="R38054131466543f9"/>
    <p:sldId xmlns:r="http://schemas.openxmlformats.org/officeDocument/2006/relationships" id="269" r:id="R185318d55259463c"/>
    <p:sldId xmlns:r="http://schemas.openxmlformats.org/officeDocument/2006/relationships" id="270" r:id="R217333d0d1de4dab"/>
    <p:sldId xmlns:r="http://schemas.openxmlformats.org/officeDocument/2006/relationships" id="271" r:id="R0a53c3f3b2c749d1"/>
    <p:sldId xmlns:r="http://schemas.openxmlformats.org/officeDocument/2006/relationships" id="272" r:id="R024d1d0df212479a"/>
    <p:sldId xmlns:r="http://schemas.openxmlformats.org/officeDocument/2006/relationships" id="273" r:id="R1bffa28f136844d5"/>
    <p:sldId xmlns:r="http://schemas.openxmlformats.org/officeDocument/2006/relationships" id="274" r:id="R29a60884178e4cd1"/>
    <p:sldId xmlns:r="http://schemas.openxmlformats.org/officeDocument/2006/relationships" id="275" r:id="R0b24eca7b9c84383"/>
    <p:sldId xmlns:r="http://schemas.openxmlformats.org/officeDocument/2006/relationships" id="276" r:id="R437ecb61163249f9"/>
    <p:sldId xmlns:r="http://schemas.openxmlformats.org/officeDocument/2006/relationships" id="277" r:id="Rbbaa8b4e2015426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31ae60f6bb14805" /><Relationship Type="http://schemas.openxmlformats.org/officeDocument/2006/relationships/slideMaster" Target="/ppt/slideMasters/slideMaster1.xml" Id="R2249c3fe54cc4884" /><Relationship Type="http://schemas.openxmlformats.org/officeDocument/2006/relationships/notesMaster" Target="/ppt/notesMasters/notesMaster1.xml" Id="R33f93b9559ca4218" /><Relationship Type="http://schemas.openxmlformats.org/officeDocument/2006/relationships/presProps" Target="/ppt/presProps.xml" Id="Rc050f4bb19304ff2" /><Relationship Type="http://schemas.openxmlformats.org/officeDocument/2006/relationships/tableStyles" Target="/ppt/tableStyles.xml" Id="Rcc6e3e884b6d41da" /><Relationship Type="http://schemas.openxmlformats.org/officeDocument/2006/relationships/slide" Target="/ppt/slides/slide1.xml" Id="R74456697f72c49db" /><Relationship Type="http://schemas.openxmlformats.org/officeDocument/2006/relationships/slide" Target="/ppt/slides/slide2.xml" Id="Ra04abcf89b064a1d" /><Relationship Type="http://schemas.openxmlformats.org/officeDocument/2006/relationships/slide" Target="/ppt/slides/slide3.xml" Id="Rdd3d478b1cd1497e" /><Relationship Type="http://schemas.openxmlformats.org/officeDocument/2006/relationships/slide" Target="/ppt/slides/slide4.xml" Id="R682e1b1da62c4cf9" /><Relationship Type="http://schemas.openxmlformats.org/officeDocument/2006/relationships/slide" Target="/ppt/slides/slide5.xml" Id="Rdf92b13fe4f34c6c" /><Relationship Type="http://schemas.openxmlformats.org/officeDocument/2006/relationships/slide" Target="/ppt/slides/slide6.xml" Id="R920689c2749d4201" /><Relationship Type="http://schemas.openxmlformats.org/officeDocument/2006/relationships/slide" Target="/ppt/slides/slide7.xml" Id="Rd7399ed3aa5a4895" /><Relationship Type="http://schemas.openxmlformats.org/officeDocument/2006/relationships/slide" Target="/ppt/slides/slide8.xml" Id="Rb6d23310bc774ebf" /><Relationship Type="http://schemas.openxmlformats.org/officeDocument/2006/relationships/slide" Target="/ppt/slides/slide9.xml" Id="R26964e7a05be4441" /><Relationship Type="http://schemas.openxmlformats.org/officeDocument/2006/relationships/slide" Target="/ppt/slides/slide10.xml" Id="R1525c43ad2a44c8b" /><Relationship Type="http://schemas.openxmlformats.org/officeDocument/2006/relationships/slide" Target="/ppt/slides/slide11.xml" Id="Re7341f6973504136" /><Relationship Type="http://schemas.openxmlformats.org/officeDocument/2006/relationships/slide" Target="/ppt/slides/slide12.xml" Id="Rfe39808f3b254442" /><Relationship Type="http://schemas.openxmlformats.org/officeDocument/2006/relationships/slide" Target="/ppt/slides/slide13.xml" Id="R38054131466543f9" /><Relationship Type="http://schemas.openxmlformats.org/officeDocument/2006/relationships/slide" Target="/ppt/slides/slide14.xml" Id="R185318d55259463c" /><Relationship Type="http://schemas.openxmlformats.org/officeDocument/2006/relationships/slide" Target="/ppt/slides/slide15.xml" Id="R217333d0d1de4dab" /><Relationship Type="http://schemas.openxmlformats.org/officeDocument/2006/relationships/slide" Target="/ppt/slides/slide16.xml" Id="R0a53c3f3b2c749d1" /><Relationship Type="http://schemas.openxmlformats.org/officeDocument/2006/relationships/slide" Target="/ppt/slides/slide17.xml" Id="R024d1d0df212479a" /><Relationship Type="http://schemas.openxmlformats.org/officeDocument/2006/relationships/slide" Target="/ppt/slides/slide18.xml" Id="R1bffa28f136844d5" /><Relationship Type="http://schemas.openxmlformats.org/officeDocument/2006/relationships/slide" Target="/ppt/slides/slide19.xml" Id="R29a60884178e4cd1" /><Relationship Type="http://schemas.openxmlformats.org/officeDocument/2006/relationships/slide" Target="/ppt/slides/slide20.xml" Id="R0b24eca7b9c84383" /><Relationship Type="http://schemas.openxmlformats.org/officeDocument/2006/relationships/slide" Target="/ppt/slides/slide21.xml" Id="R437ecb61163249f9" /><Relationship Type="http://schemas.openxmlformats.org/officeDocument/2006/relationships/slide" Target="/ppt/slides/slide22.xml" Id="Rbbaa8b4e2015426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de2d463ef114ae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3e2b73e44af4c51" /><Relationship Type="http://schemas.openxmlformats.org/officeDocument/2006/relationships/notesMaster" Target="/ppt/notesMasters/notesMaster1.xml" Id="R6d056ebb7c404d6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49c2637ced54776" /><Relationship Type="http://schemas.openxmlformats.org/officeDocument/2006/relationships/notesMaster" Target="/ppt/notesMasters/notesMaster1.xml" Id="Rf78c6275dfb344d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b3bd6a9d7b3454e" /><Relationship Type="http://schemas.openxmlformats.org/officeDocument/2006/relationships/notesMaster" Target="/ppt/notesMasters/notesMaster1.xml" Id="R79ba73e66aea424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2b03edc54774426" /><Relationship Type="http://schemas.openxmlformats.org/officeDocument/2006/relationships/notesMaster" Target="/ppt/notesMasters/notesMaster1.xml" Id="Rd3462e2d280f423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a7d1cdfa3474677" /><Relationship Type="http://schemas.openxmlformats.org/officeDocument/2006/relationships/notesMaster" Target="/ppt/notesMasters/notesMaster1.xml" Id="Rfa15c8bad10549d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fea2cc964994520" /><Relationship Type="http://schemas.openxmlformats.org/officeDocument/2006/relationships/notesMaster" Target="/ppt/notesMasters/notesMaster1.xml" Id="Rcc64333357bf4b8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d40a5469b814f06" /><Relationship Type="http://schemas.openxmlformats.org/officeDocument/2006/relationships/notesMaster" Target="/ppt/notesMasters/notesMaster1.xml" Id="R092ba3bc29da42d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ef4b1566dd24dc4" /><Relationship Type="http://schemas.openxmlformats.org/officeDocument/2006/relationships/notesMaster" Target="/ppt/notesMasters/notesMaster1.xml" Id="Ref0f713fb063411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868d0c0719847d5" /><Relationship Type="http://schemas.openxmlformats.org/officeDocument/2006/relationships/notesMaster" Target="/ppt/notesMasters/notesMaster1.xml" Id="R74732605467a45f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3ea85d062bb4053" /><Relationship Type="http://schemas.openxmlformats.org/officeDocument/2006/relationships/notesMaster" Target="/ppt/notesMasters/notesMaster1.xml" Id="Re6674dc70e424e2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5f392c9ab7b40cf" /><Relationship Type="http://schemas.openxmlformats.org/officeDocument/2006/relationships/notesMaster" Target="/ppt/notesMasters/notesMaster1.xml" Id="Rdf743ff9f01d4e4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b0234ee539642be" /><Relationship Type="http://schemas.openxmlformats.org/officeDocument/2006/relationships/notesMaster" Target="/ppt/notesMasters/notesMaster1.xml" Id="R381a64e8ea464e1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76639c756788452c" /><Relationship Type="http://schemas.openxmlformats.org/officeDocument/2006/relationships/notesMaster" Target="/ppt/notesMasters/notesMaster1.xml" Id="Rf8b00ada110042d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7bd709f78f3460c" /><Relationship Type="http://schemas.openxmlformats.org/officeDocument/2006/relationships/notesMaster" Target="/ppt/notesMasters/notesMaster1.xml" Id="R13d9d0e469ca4ff0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5229c4ff52714ac7" /><Relationship Type="http://schemas.openxmlformats.org/officeDocument/2006/relationships/notesMaster" Target="/ppt/notesMasters/notesMaster1.xml" Id="R986c7a3d50a44504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c65c8bb88b7d40d3" /><Relationship Type="http://schemas.openxmlformats.org/officeDocument/2006/relationships/notesMaster" Target="/ppt/notesMasters/notesMaster1.xml" Id="R1b087b9703a94e71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e0126d5dca2d4b03" /><Relationship Type="http://schemas.openxmlformats.org/officeDocument/2006/relationships/notesMaster" Target="/ppt/notesMasters/notesMaster1.xml" Id="R34c2aa06cfbf4e2f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cf564c9649f34a75" /><Relationship Type="http://schemas.openxmlformats.org/officeDocument/2006/relationships/notesMaster" Target="/ppt/notesMasters/notesMaster1.xml" Id="R1b941e43db4a4137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db237710c9fb4822" /><Relationship Type="http://schemas.openxmlformats.org/officeDocument/2006/relationships/notesMaster" Target="/ppt/notesMasters/notesMaster1.xml" Id="R81d48ebc80884463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873c14044a61482b" /><Relationship Type="http://schemas.openxmlformats.org/officeDocument/2006/relationships/notesMaster" Target="/ppt/notesMasters/notesMaster1.xml" Id="R30d46f751f954fa8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975d005db7ae4c58" /><Relationship Type="http://schemas.openxmlformats.org/officeDocument/2006/relationships/notesMaster" Target="/ppt/notesMasters/notesMaster1.xml" Id="R76e147842d3c459b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866a7a458ac04726" /><Relationship Type="http://schemas.openxmlformats.org/officeDocument/2006/relationships/notesMaster" Target="/ppt/notesMasters/notesMaster1.xml" Id="Ra9def316365a48d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Mục tiêu trình bày: tổng hợp toàn bộ chuỗi bằng chứng từ dữ liệu đến quyết định nghiên cứu.</a:t>
            </a:r>
          </a:p>
          <a:p xmlns:a="http://schemas.openxmlformats.org/drawingml/2006/main">
            <a:r>
              <a:t>Nguồn chính: https://amazon-reviews-2023.github.io/</a:t>
            </a:r>
          </a:p>
          <a:p xmlns:a="http://schemas.openxmlformats.org/drawingml/2006/main">
            <a:r>
              <a:t>Slide mở đầu chỉ giới thiệu phạm vi và lộ trình trình bày, không nêu kết quả.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này chỉ dẫn đường, không công bố kết quả.</a:t>
            </a:r>
          </a:p>
          <a:p xmlns:a="http://schemas.openxmlformats.org/drawingml/2006/main">
            <a:r>
              <a:t>Các phần sau theo thứ tự: dữ liệu, metric, thiết kế, baseline, sampler, result, conclusion.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BPR: https://arxiv.org/abs/1205.2618</a:t>
            </a:r>
          </a:p>
          <a:p xmlns:a="http://schemas.openxmlformats.org/drawingml/2006/main">
            <a:r>
              <a:t>LightGCN: https://hexiangnan.github.io/papers/sigir20-LightGCN.pdf</a:t>
            </a:r>
          </a:p>
          <a:p xmlns:a="http://schemas.openxmlformats.org/drawingml/2006/main">
            <a:r>
              <a:t>Phạm vi và protocol: Do An/00_project/PHASE2_RESEARCH_PLAN_vn.md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Định nghĩa context: Do An/04_thesis/THESIS_REPORT_vn.md, Sections 1.1 and 4.</a:t>
            </a:r>
          </a:p>
          <a:p xmlns:a="http://schemas.openxmlformats.org/drawingml/2006/main">
            <a:r>
              <a:t>Không có claim rằng sampler thay đổi semantic meaning của sản phẩm.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MovieLens 25M: https://grouplens.org/datasets/movielens/25m/</a:t>
            </a:r>
          </a:p>
          <a:p xmlns:a="http://schemas.openxmlformats.org/drawingml/2006/main">
            <a:r>
              <a:t>LightGCN benchmark context: https://hexiangnan.github.io/papers/sigir20-LightGCN.pdf</a:t>
            </a:r>
          </a:p>
          <a:p xmlns:a="http://schemas.openxmlformats.org/drawingml/2006/main">
            <a:r>
              <a:t>MIND: https://aclanthology.org/2020.acl-main.331/</a:t>
            </a:r>
          </a:p>
          <a:p xmlns:a="http://schemas.openxmlformats.org/drawingml/2006/main">
            <a:r>
              <a:t>KuaiRec: https://arxiv.org/abs/2202.10842</a:t>
            </a:r>
          </a:p>
          <a:p xmlns:a="http://schemas.openxmlformats.org/drawingml/2006/main">
            <a:r>
              <a:t>Không có run/project result nào trên MovieLens, Gowalla, Yelp2018, MIND, hoặc KuaiRec.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All_Beauty raw rows: 693,929. Baby_Products raw rows: 5,953,891. Home_and_Kitchen raw rows: 66,623,880.</a:t>
            </a:r>
          </a:p>
          <a:p xmlns:a="http://schemas.openxmlformats.org/drawingml/2006/main">
            <a:r>
              <a:t>All_Beauty P4 validation warm retention: 3.982%. Baby validation warm retention: 21.9038%.</a:t>
            </a:r>
          </a:p>
          <a:p xmlns:a="http://schemas.openxmlformats.org/drawingml/2006/main">
            <a:r>
              <a:t>Amazon Reviews’23: https://amazon-reviews-2023.github.io/main.html</a:t>
            </a:r>
          </a:p>
          <a:p xmlns:a="http://schemas.openxmlformats.org/drawingml/2006/main">
            <a:r>
              <a:t>Project evidence: Do An/06_code/results/data_story/data_story_summary.json and audit artifacts.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 chính thức Amazon Reviews’23: https://amazon-reviews-2023.github.io/</a:t>
            </a:r>
          </a:p>
          <a:p xmlns:a="http://schemas.openxmlformats.org/drawingml/2006/main">
            <a:r>
              <a:t>Ví dụ tải rating-only JSON/CSV và bốn trường: https://amazon-reviews-2023.github.io/data_loading/jsonl.html</a:t>
            </a:r>
          </a:p>
          <a:p xmlns:a="http://schemas.openxmlformats.org/drawingml/2006/main">
            <a:r>
              <a:t>Artifact URL: https://datarepo.eng.ucsd.edu/mcauley_group/data/amazon_2023/benchmark/0core/rating_only/Baby_Products.csv.gz</a:t>
            </a:r>
          </a:p>
          <a:p xmlns:a="http://schemas.openxmlformats.org/drawingml/2006/main">
            <a:r>
              <a:t>Audit cục bộ: Do An/06_code/results/Baby_Products_protocol_audit.json</a:t>
            </a:r>
          </a:p>
          <a:p xmlns:a="http://schemas.openxmlformats.org/drawingml/2006/main">
            <a:r>
              <a:t>SHA đầy đủ: e2a8d0498afed767ee2615db7fac549559d82490b1a73c7241b84b5e9e8c279e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Cutoff t1 = 1628643414042 ms = 2021-08-11 00:56:54 UTC.</a:t>
            </a:r>
          </a:p>
          <a:p xmlns:a="http://schemas.openxmlformats.org/drawingml/2006/main">
            <a:r>
              <a:t>Cutoff t2 = 1658002729837 ms = 2022-07-16 20:18:49 UTC.</a:t>
            </a:r>
          </a:p>
          <a:p xmlns:a="http://schemas.openxmlformats.org/drawingml/2006/main">
            <a:r>
              <a:t>Nguồn: Do An/06_code/results/baby_p4_g2c_manifest.json và Baby_Products_protocol_audit.json.</a:t>
            </a:r>
          </a:p>
          <a:p xmlns:a="http://schemas.openxmlformats.org/drawingml/2006/main">
            <a:r>
              <a:t>Test target đã được tạo trong pipeline nhưng test_targets_read=false trong mọi validation summary.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Rating counts: 0★=1, 1★=555424, 2★=309591, 3★=433032, 4★=681977, 5★=3973866.</a:t>
            </a:r>
          </a:p>
          <a:p xmlns:a="http://schemas.openxmlformats.org/drawingml/2006/main">
            <a:r>
              <a:t>P4 rows = 4,655,843; retention = 0.7819832442.</a:t>
            </a:r>
          </a:p>
          <a:p xmlns:a="http://schemas.openxmlformats.org/drawingml/2006/main">
            <a:r>
              <a:t>Nguồn: Do An/06_code/results/data_story/data_story_summary.json.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Graph-construction manifest: Do An/06_code/results/baby_p4_g2c_manifest.json.</a:t>
            </a:r>
          </a:p>
          <a:p xmlns:a="http://schemas.openxmlformats.org/drawingml/2006/main">
            <a:r>
              <a:t>Train edges: 3,868,654; user mapping: 2,318,308; item mapping: 162,125; validation targets: 81,871.</a:t>
            </a:r>
          </a:p>
          <a:p xmlns:a="http://schemas.openxmlformats.org/drawingml/2006/main">
            <a:r>
              <a:t>Sampler experiments reuse this frozen temporal training graph. Validation targets are not added as training edges.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Training graph: 3,868,654 edges; 2,318,308 users; 162,125 items; density 1.0292924e-05.</a:t>
            </a:r>
          </a:p>
          <a:p xmlns:a="http://schemas.openxmlformats.org/drawingml/2006/main">
            <a:r>
              <a:t>User singleton 71.7634%; item singleton 33.3496%.</a:t>
            </a:r>
          </a:p>
          <a:p xmlns:a="http://schemas.openxmlformats.org/drawingml/2006/main">
            <a:r>
              <a:t>Largest connected component: 96.4988% nodes.</a:t>
            </a:r>
          </a:p>
          <a:p xmlns:a="http://schemas.openxmlformats.org/drawingml/2006/main">
            <a:r>
              <a:t>Nguồn: data_story_summary.json.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Top-item cumulative interaction shares: 1%=44.0941%, 5%=71.1174%, 10%=81.3265%, 20%=89.6456%.</a:t>
            </a:r>
          </a:p>
          <a:p xmlns:a="http://schemas.openxmlformats.org/drawingml/2006/main">
            <a:r>
              <a:t>Frozen cohort shares: head 1.00% items / 44.16% edges; body 18.92% / 45.45%; tail 80.07% / 10.39%.</a:t>
            </a:r>
          </a:p>
          <a:p xmlns:a="http://schemas.openxmlformats.org/drawingml/2006/main">
            <a:r>
              <a:t>Hai số 44.09% và 44.16% dùng cách cắt khác nhau; slide ghi rõ để tránh coi chúng là cùng một statistic.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Validation: 81,871 warm / 373,776 candidate = 21.9038%.</a:t>
            </a:r>
          </a:p>
          <a:p xmlns:a="http://schemas.openxmlformats.org/drawingml/2006/main">
            <a:r>
              <a:t>Test: 40,587 warm / 413,413 candidate = 9.8175%.</a:t>
            </a:r>
          </a:p>
          <a:p xmlns:a="http://schemas.openxmlformats.org/drawingml/2006/main">
            <a:r>
              <a:t>Ranh giới này bắt buộc: kết quả không đại diện cho unseen user/item.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BPR: https://www.cs.mcgill.ca/~uai2009/papers/UAI2009_0139_48141db02b9f0b02bc7158819ebfa2c7.pdf</a:t>
            </a:r>
          </a:p>
          <a:p xmlns:a="http://schemas.openxmlformats.org/drawingml/2006/main">
            <a:r>
              <a:t>LightGCN: https://hexiangnan.github.io/papers/sigir20-LightGCN.pdf</a:t>
            </a:r>
          </a:p>
          <a:p xmlns:a="http://schemas.openxmlformats.org/drawingml/2006/main">
            <a:r>
              <a:t>Graph sampling context: GraphSAGE https://papers.nips.cc/paper_files/paper/2017/hash/5dd9db5e033da9c6fb5ba83c7a7ebea9-Abstract.html</a:t>
            </a:r>
          </a:p>
          <a:p xmlns:a="http://schemas.openxmlformats.org/drawingml/2006/main">
            <a:r>
              <a:t>FastGCN: https://openreview.net/pdf?id=rytstxWAW</a:t>
            </a:r>
          </a:p>
          <a:p xmlns:a="http://schemas.openxmlformats.org/drawingml/2006/main">
            <a:r>
              <a:t>LADIES: https://proceedings.neurips.cc/paper/2019/hash/91ba4a4478a66bee9812b0804b6f9d1b-Abstract.html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Coverage and cohorts: Do An/04_thesis/THESIS_REPORT_vn.md, Sections 5.3--5.5.</a:t>
            </a:r>
          </a:p>
          <a:p xmlns:a="http://schemas.openxmlformats.org/drawingml/2006/main">
            <a:r>
              <a:t>Semantic diversity is deliberately not measured from this pure-ID artifact.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Thiết kế paired xác minh checksum khởi tạo, training-pair order và negative draw ở cả 5 epoch.</a:t>
            </a:r>
          </a:p>
          <a:p xmlns:a="http://schemas.openxmlformats.org/drawingml/2006/main">
            <a:r>
              <a:t>Full LightGCN và BPR-MF là sanity/feasibility references; optimizer-step budget của chúng không matched với sampled runs.</a:t>
            </a:r>
          </a:p>
          <a:p xmlns:a="http://schemas.openxmlformats.org/drawingml/2006/main">
            <a:r>
              <a:t>GRAPES là tài liệu tham khảo về adaptive sampling, không phải phương pháp được sao chép nguyên xi: https://arxiv.org/abs/2310.03399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MostPop: NDCG .00587255, Recall .01459613, coverage .00015420, 25 unique items, 1195 hits.</a:t>
            </a:r>
          </a:p>
          <a:p xmlns:a="http://schemas.openxmlformats.org/drawingml/2006/main">
            <a:r>
              <a:t>BPR-MF: NDCG .00405351, Recall .01041883, coverage .03351735, 5434 unique items, 853 hits.</a:t>
            </a:r>
          </a:p>
          <a:p xmlns:a="http://schemas.openxmlformats.org/drawingml/2006/main">
            <a:r>
              <a:t>Full LightGCN: NDCG .00493124, Recall .01237312, coverage .00636546, 1032 unique items, 1013 hits.</a:t>
            </a:r>
          </a:p>
          <a:p xmlns:a="http://schemas.openxmlformats.org/drawingml/2006/main">
            <a:r>
              <a:t>Nguồn file: Do An/06_code/results/{mostpop_validation,bpr_mf_validation,full_lightgcn_validation}/*.json.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M0: uniform without replacement. M1: log(training_degree)+Gumbel. M2: log(frontier_support)-0.5 log(training_degree)+Gumbel.</a:t>
            </a:r>
          </a:p>
          <a:p xmlns:a="http://schemas.openxmlformats.org/drawingml/2006/main">
            <a:r>
              <a:t>Không thay backbone, objective, data split, budget hay evaluator giữa ba method.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M0 item-context: body 39.31%, tail 60.52% (head còn lại).</a:t>
            </a:r>
          </a:p>
          <a:p xmlns:a="http://schemas.openxmlformats.org/drawingml/2006/main">
            <a:r>
              <a:t>M1 item-context: body 68.29%, tail 31.48%.</a:t>
            </a:r>
          </a:p>
          <a:p xmlns:a="http://schemas.openxmlformats.org/drawingml/2006/main">
            <a:r>
              <a:t>M2 chỉ có 290,606 item-context slot; tail 68.60%.</a:t>
            </a:r>
          </a:p>
          <a:p xmlns:a="http://schemas.openxmlformats.org/drawingml/2006/main">
            <a:r>
              <a:t>Tất cả sampled methods chọn tổng 58,982,400 context slots theo layer budget.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s0: M0 NDCG .00572728 / Recall .01465720 / 705.32s / 3482.90MB.</a:t>
            </a:r>
          </a:p>
          <a:p xmlns:a="http://schemas.openxmlformats.org/drawingml/2006/main">
            <a:r>
              <a:t>s0: M1 .00615330 / .01598857 / 795.10s / 2665.10MB.</a:t>
            </a:r>
          </a:p>
          <a:p xmlns:a="http://schemas.openxmlformats.org/drawingml/2006/main">
            <a:r>
              <a:t>s0: M2 .00592070 / .01531678 / 868.63s / 2669.06MB.</a:t>
            </a:r>
          </a:p>
          <a:p xmlns:a="http://schemas.openxmlformats.org/drawingml/2006/main">
            <a:r>
              <a:t>M1 và M2 có peak GPU gần như nhau; M2 chậm hơn và quality thấp hơn.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Mean±SD NDCG: M0 .00570640±.00007324; M1 .00586598±.00024947; M2 .00572092±.00017933.</a:t>
            </a:r>
          </a:p>
          <a:p xmlns:a="http://schemas.openxmlformats.org/drawingml/2006/main">
            <a:r>
              <a:t>M2−M1 per seed NDCG: s0 −.00023260; s1 −.00013042; s2 −.00007218.</a:t>
            </a:r>
          </a:p>
          <a:p xmlns:a="http://schemas.openxmlformats.org/drawingml/2006/main">
            <a:r>
              <a:t>M2−M1 Recall cũng âm ở 3/3 seed.</a:t>
            </a:r>
          </a:p>
          <a:p xmlns:a="http://schemas.openxmlformats.org/drawingml/2006/main">
            <a:r>
              <a:t>Resource average +14.36% chỉ dùng hai repeat mới s1/s2 vì s0 có instrumentation boundary khác.</a:t>
            </a:r>
          </a:p>
          <a:p xmlns:a="http://schemas.openxmlformats.org/drawingml/2006/main">
            <a:r>
              <a:t>Paired bundle audit: 85/85 checks pass; test_targets_read=false.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Paired aggregate: Do An/06_code/results/paired_sampling_validation/paired_sampling_validation_summary.json</a:t>
            </a:r>
          </a:p>
          <a:p xmlns:a="http://schemas.openxmlformats.org/drawingml/2006/main">
            <a:r>
              <a:t>Paired artifact audit: 85/85 checks passed; test_targets_read=false.</a:t>
            </a:r>
          </a:p>
          <a:p xmlns:a="http://schemas.openxmlformats.org/drawingml/2006/main">
            <a:r>
              <a:t>Any cross-dataset extension must be registered before execution and reported separately from the present Baby_Products result.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acecb85bc1d4f1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1d8129d6cdf449a" /><Relationship Type="http://schemas.openxmlformats.org/officeDocument/2006/relationships/slideLayout" Target="/ppt/slideLayouts/slideLayout1.xml" Id="R0f9225c9f3074a7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f9225c9f3074a7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93d1a469394b55" /><Relationship Type="http://schemas.openxmlformats.org/officeDocument/2006/relationships/notesSlide" Target="/ppt/notesSlides/notesSlide1.xml" Id="R418dd1fcde2947a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92f50fce734c15" /><Relationship Type="http://schemas.openxmlformats.org/officeDocument/2006/relationships/notesSlide" Target="/ppt/notesSlides/notesSlide2.xml" Id="Rfea6b94ef1a4481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f5e2e3f85348c7" /><Relationship Type="http://schemas.openxmlformats.org/officeDocument/2006/relationships/notesSlide" Target="/ppt/notesSlides/notesSlide3.xml" Id="R90e7c73b7555469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319a5763a047f3" /><Relationship Type="http://schemas.openxmlformats.org/officeDocument/2006/relationships/notesSlide" Target="/ppt/notesSlides/notesSlide4.xml" Id="R0f549eed13364d2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df85cdae2f496f" /><Relationship Type="http://schemas.openxmlformats.org/officeDocument/2006/relationships/notesSlide" Target="/ppt/notesSlides/notesSlide5.xml" Id="R16ef7a6f51a0491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4e0fac9f624d57" /><Relationship Type="http://schemas.openxmlformats.org/officeDocument/2006/relationships/chart" Target="/ppt/slides/charts/chart1.xml" Id="R28a55921cec84d15" /><Relationship Type="http://schemas.openxmlformats.org/officeDocument/2006/relationships/notesSlide" Target="/ppt/notesSlides/notesSlide6.xml" Id="Rb807eada5cfe409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e054b0f0274e9a" /><Relationship Type="http://schemas.openxmlformats.org/officeDocument/2006/relationships/notesSlide" Target="/ppt/notesSlides/notesSlide7.xml" Id="Rcac1639f8c0940a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04f8bfb3a941b0" /><Relationship Type="http://schemas.openxmlformats.org/officeDocument/2006/relationships/notesSlide" Target="/ppt/notesSlides/notesSlide8.xml" Id="Rc77e81f538ad4f0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4301fc8bd248c5" /><Relationship Type="http://schemas.openxmlformats.org/officeDocument/2006/relationships/chart" Target="/ppt/slides/charts/chart2.xml" Id="R6275c87f9acf4156" /><Relationship Type="http://schemas.openxmlformats.org/officeDocument/2006/relationships/notesSlide" Target="/ppt/notesSlides/notesSlide9.xml" Id="R28afdc0723334a3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f4f20c6d9e45ce" /><Relationship Type="http://schemas.openxmlformats.org/officeDocument/2006/relationships/notesSlide" Target="/ppt/notesSlides/notesSlide10.xml" Id="Rfed9a29a533d4f9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12ceceaed94ca0" /><Relationship Type="http://schemas.openxmlformats.org/officeDocument/2006/relationships/chart" Target="/ppt/slides/charts/chart3.xml" Id="R0f3e4037667a439b" /><Relationship Type="http://schemas.openxmlformats.org/officeDocument/2006/relationships/notesSlide" Target="/ppt/notesSlides/notesSlide11.xml" Id="Re69c88603f2d4ab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a9c834624d4dac" /><Relationship Type="http://schemas.openxmlformats.org/officeDocument/2006/relationships/chart" Target="/ppt/slides/charts/chart4.xml" Id="Raf5c71f8c652450e" /><Relationship Type="http://schemas.openxmlformats.org/officeDocument/2006/relationships/chart" Target="/ppt/slides/charts/chart5.xml" Id="Rf2a5426d286f4eb2" /><Relationship Type="http://schemas.openxmlformats.org/officeDocument/2006/relationships/notesSlide" Target="/ppt/notesSlides/notesSlide12.xml" Id="R0bc3bd4f69604f0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4a95ff005a4c13" /><Relationship Type="http://schemas.openxmlformats.org/officeDocument/2006/relationships/chart" Target="/ppt/slides/charts/chart6.xml" Id="R49292369e8a6462e" /><Relationship Type="http://schemas.openxmlformats.org/officeDocument/2006/relationships/notesSlide" Target="/ppt/notesSlides/notesSlide13.xml" Id="Ra1d19d6f86a0485f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6978ff08be4255" /><Relationship Type="http://schemas.openxmlformats.org/officeDocument/2006/relationships/notesSlide" Target="/ppt/notesSlides/notesSlide14.xml" Id="R0f09ccdf198f475b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93a2e3d4994f78" /><Relationship Type="http://schemas.openxmlformats.org/officeDocument/2006/relationships/notesSlide" Target="/ppt/notesSlides/notesSlide15.xml" Id="R20f6d8bf7b644387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6e0cfb1cd8448e" /><Relationship Type="http://schemas.openxmlformats.org/officeDocument/2006/relationships/notesSlide" Target="/ppt/notesSlides/notesSlide16.xml" Id="R2bcf58551dd142e7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3250a2a6f0410b" /><Relationship Type="http://schemas.openxmlformats.org/officeDocument/2006/relationships/chart" Target="/ppt/slides/charts/chart7.xml" Id="R8a33c72ba4304358" /><Relationship Type="http://schemas.openxmlformats.org/officeDocument/2006/relationships/chart" Target="/ppt/slides/charts/chart8.xml" Id="R20493995466749ec" /><Relationship Type="http://schemas.openxmlformats.org/officeDocument/2006/relationships/notesSlide" Target="/ppt/notesSlides/notesSlide17.xml" Id="Rb2fa868a6f1c42c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3ee50940c840b8" /><Relationship Type="http://schemas.openxmlformats.org/officeDocument/2006/relationships/notesSlide" Target="/ppt/notesSlides/notesSlide18.xml" Id="R47123362f20a4d15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2a0862ede64f12" /><Relationship Type="http://schemas.openxmlformats.org/officeDocument/2006/relationships/notesSlide" Target="/ppt/notesSlides/notesSlide19.xml" Id="R80cc0b5bb4534cdc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30774d67084b08" /><Relationship Type="http://schemas.openxmlformats.org/officeDocument/2006/relationships/chart" Target="/ppt/slides/charts/chart9.xml" Id="R41f23343c3584515" /><Relationship Type="http://schemas.openxmlformats.org/officeDocument/2006/relationships/chart" Target="/ppt/slides/charts/chart10.xml" Id="R6ad2c35e545c4e89" /><Relationship Type="http://schemas.openxmlformats.org/officeDocument/2006/relationships/notesSlide" Target="/ppt/notesSlides/notesSlide20.xml" Id="R041b15a0dc1b426b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e14f687f3446f6" /><Relationship Type="http://schemas.openxmlformats.org/officeDocument/2006/relationships/chart" Target="/ppt/slides/charts/chart11.xml" Id="R5a6b6d6ad81e4ad9" /><Relationship Type="http://schemas.openxmlformats.org/officeDocument/2006/relationships/notesSlide" Target="/ppt/notesSlides/notesSlide21.xml" Id="R8658588cbe264451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b4a679a25543e6" /><Relationship Type="http://schemas.openxmlformats.org/officeDocument/2006/relationships/notesSlide" Target="/ppt/notesSlides/notesSlide22.xml" Id="R2874287285d54e6e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_rels/chart4.xml.rels><Relationships xmlns="http://schemas.openxmlformats.org/package/2006/relationships"><Relationship Id="rIdChartSnapshot1" Type="http://schemas.openxmlformats.org/officeDocument/2006/relationships/package" Target="../../embeddings/chart-data-snapshot-004.xlsx"/></Relationships>
</file>

<file path=ppt/slides/charts/_rels/chart5.xml.rels><Relationships xmlns="http://schemas.openxmlformats.org/package/2006/relationships"><Relationship Id="rIdChartSnapshot1" Type="http://schemas.openxmlformats.org/officeDocument/2006/relationships/package" Target="../../embeddings/chart-data-snapshot-005.xlsx"/></Relationships>
</file>

<file path=ppt/slides/charts/_rels/chart6.xml.rels><Relationships xmlns="http://schemas.openxmlformats.org/package/2006/relationships"><Relationship Id="rIdChartSnapshot1" Type="http://schemas.openxmlformats.org/officeDocument/2006/relationships/package" Target="../../embeddings/chart-data-snapshot-006.xlsx"/></Relationships>
</file>

<file path=ppt/slides/charts/_rels/chart7.xml.rels><Relationships xmlns="http://schemas.openxmlformats.org/package/2006/relationships"><Relationship Id="rIdChartSnapshot1" Type="http://schemas.openxmlformats.org/officeDocument/2006/relationships/package" Target="../../embeddings/chart-data-snapshot-007.xlsx"/></Relationships>
</file>

<file path=ppt/slides/charts/_rels/chart8.xml.rels><Relationships xmlns="http://schemas.openxmlformats.org/package/2006/relationships"><Relationship Id="rIdChartSnapshot1" Type="http://schemas.openxmlformats.org/officeDocument/2006/relationships/package" Target="../../embeddings/chart-data-snapshot-008.xlsx"/></Relationships>
</file>

<file path=ppt/slides/charts/_rels/chart9.xml.rels><Relationships xmlns="http://schemas.openxmlformats.org/package/2006/relationships"><Relationship Id="rIdChartSnapshot1" Type="http://schemas.openxmlformats.org/officeDocument/2006/relationships/package" Target="../../embeddings/chart-data-snapshot-009.xlsx"/></Relationships>
</file>

<file path=ppt/slides/charts/_rels/chart10.xml.rels><Relationships xmlns="http://schemas.openxmlformats.org/package/2006/relationships"><Relationship Id="rIdChartSnapshot1" Type="http://schemas.openxmlformats.org/officeDocument/2006/relationships/package" Target="../../embeddings/chart-data-snapshot-010.xlsx"/></Relationships>
</file>

<file path=ppt/slides/charts/_rels/chart11.xml.rels><Relationships xmlns="http://schemas.openxmlformats.org/package/2006/relationships"><Relationship Id="rIdChartSnapshot1" Type="http://schemas.openxmlformats.org/officeDocument/2006/relationships/package" Target="../../embeddings/chart-data-snapshot-01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Raw review (triệu)</c:v>
          </c:tx>
          <c:spPr>
            <a:solidFill xmlns:a="http://schemas.openxmlformats.org/drawingml/2006/main">
              <a:srgbClr val="3E8BFF"/>
            </a:solidFill>
          </c:spPr>
          <c:cat>
            <c:strRef>
              <c:f>'Chart Data'!$A$2:$A$3</c:f>
              <c:strCache>
                <c:ptCount val="2"/>
                <c:pt idx="0">
                  <c:v>All_Beauty</c:v>
                </c:pt>
                <c:pt idx="1">
                  <c:v>Baby_Products</c:v>
                </c:pt>
              </c:strCache>
            </c:strRef>
          </c:cat>
          <c:val>
            <c:numRef>
              <c:f>'Chart Data'!$B$2:$B$3</c:f>
              <c:numCache>
                <c:formatCode>0.0</c:formatCode>
                <c:ptCount val="2"/>
                <c:pt idx="0">
                  <c:v>0.693929</c:v>
                </c:pt>
                <c:pt idx="1">
                  <c:v>5.953891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 b="1">
                  <a:solidFill>
                    <a:srgbClr val="111317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6.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CE2EA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1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Tỷ lệ raw row</c:v>
          </c:tx>
          <c:spPr>
            <a:solidFill xmlns:a="http://schemas.openxmlformats.org/drawingml/2006/main">
              <a:srgbClr val="626C7A"/>
            </a:solidFill>
          </c:spPr>
          <c:dPt>
            <c:idx val="3"/>
            <c:invertIfNegative val="0"/>
            <c:spPr>
              <a:solidFill xmlns:a="http://schemas.openxmlformats.org/drawingml/2006/main">
                <a:srgbClr val="2CA47B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2CA47B"/>
              </a:solidFill>
            </c:spPr>
          </c:dPt>
          <c:cat>
            <c:strRef>
              <c:f>'Chart Data'!$A$2:$A$6</c:f>
              <c:strCache>
                <c:ptCount val="5"/>
                <c:pt idx="0">
                  <c:v>1★</c:v>
                </c:pt>
                <c:pt idx="1">
                  <c:v>2★</c:v>
                </c:pt>
                <c:pt idx="2">
                  <c:v>3★</c:v>
                </c:pt>
                <c:pt idx="3">
                  <c:v>4★</c:v>
                </c:pt>
                <c:pt idx="4">
                  <c:v>5★</c:v>
                </c:pt>
              </c:strCache>
            </c:strRef>
          </c:cat>
          <c:val>
            <c:numRef>
              <c:f>'Chart Data'!$B$2:$B$6</c:f>
              <c:numCache>
                <c:formatCode>0%</c:formatCode>
                <c:ptCount val="5"/>
                <c:pt idx="0">
                  <c:v>0.0932875661</c:v>
                </c:pt>
                <c:pt idx="1">
                  <c:v>0.0519980967</c:v>
                </c:pt>
                <c:pt idx="2">
                  <c:v>0.072730925</c:v>
                </c:pt>
                <c:pt idx="3">
                  <c:v>0.1145430778</c:v>
                </c:pt>
                <c:pt idx="4">
                  <c:v>0.6674401664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 b="1">
                  <a:solidFill>
                    <a:srgbClr val="111317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0.7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CE2EA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0.15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Singleton</c:v>
          </c:tx>
          <c:spPr>
            <a:solidFill xmlns:a="http://schemas.openxmlformats.org/drawingml/2006/main">
              <a:srgbClr val="3E8BFF"/>
            </a:solidFill>
          </c:spPr>
          <c:cat>
            <c:strRef>
              <c:f>'Chart Data'!$A$2:$A$3</c:f>
              <c:strCache>
                <c:ptCount val="2"/>
                <c:pt idx="0">
                  <c:v>User</c:v>
                </c:pt>
                <c:pt idx="1">
                  <c:v>Item</c:v>
                </c:pt>
              </c:strCache>
            </c:strRef>
          </c:cat>
          <c:val>
            <c:numRef>
              <c:f>'Chart Data'!$B$2:$B$3</c:f>
              <c:numCache>
                <c:formatCode>0.0%</c:formatCode>
                <c:ptCount val="2"/>
                <c:pt idx="0">
                  <c:v>0.7176341539</c:v>
                </c:pt>
                <c:pt idx="1">
                  <c:v>0.3334957594</c:v>
                </c:pt>
              </c:numCache>
            </c:numRef>
          </c:val>
        </c:ser>
        <c:ser>
          <c:idx val="1"/>
          <c:order val="1"/>
          <c:tx>
            <c:v>Degree &gt; 1</c:v>
          </c:tx>
          <c:spPr>
            <a:solidFill xmlns:a="http://schemas.openxmlformats.org/drawingml/2006/main">
              <a:srgbClr val="2CA47B"/>
            </a:solidFill>
          </c:spPr>
          <c:cat>
            <c:strRef>
              <c:f>'Chart Data'!$C$2:$C$3</c:f>
              <c:strCache>
                <c:ptCount val="2"/>
                <c:pt idx="0">
                  <c:v>User</c:v>
                </c:pt>
                <c:pt idx="1">
                  <c:v>Item</c:v>
                </c:pt>
              </c:strCache>
            </c:strRef>
          </c:cat>
          <c:val>
            <c:numRef>
              <c:f>'Chart Data'!$D$2:$D$3</c:f>
              <c:numCache>
                <c:formatCode>0.0%</c:formatCode>
                <c:ptCount val="2"/>
                <c:pt idx="0">
                  <c:v>0.2823658461</c:v>
                </c:pt>
                <c:pt idx="1">
                  <c:v>0.6665042406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75" b="1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CE2EA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0.2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00">
              <a:solidFill>
                <a:srgbClr val="626C7A"/>
              </a:solidFill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4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Tỷ lệ interaction tích lũy</c:v>
          </c:tx>
          <c:spPr>
            <a:solidFill xmlns:a="http://schemas.openxmlformats.org/drawingml/2006/main">
              <a:srgbClr val="F4A24C"/>
            </a:solidFill>
          </c:spPr>
          <c:cat>
            <c:strRef>
              <c:f>'Chart Data'!$A$2:$A$5</c:f>
              <c:strCache>
                <c:ptCount val="4"/>
                <c:pt idx="0">
                  <c:v>Top 1%</c:v>
                </c:pt>
                <c:pt idx="1">
                  <c:v>Top 5%</c:v>
                </c:pt>
                <c:pt idx="2">
                  <c:v>Top 10%</c:v>
                </c:pt>
                <c:pt idx="3">
                  <c:v>Top 20%</c:v>
                </c:pt>
              </c:strCache>
            </c:strRef>
          </c:cat>
          <c:val>
            <c:numRef>
              <c:f>'Chart Data'!$B$2:$B$5</c:f>
              <c:numCache>
                <c:formatCode>0%</c:formatCode>
                <c:ptCount val="4"/>
                <c:pt idx="0">
                  <c:v>0.4409414747</c:v>
                </c:pt>
                <c:pt idx="1">
                  <c:v>0.7111744808</c:v>
                </c:pt>
                <c:pt idx="2">
                  <c:v>0.8132650271</c:v>
                </c:pt>
                <c:pt idx="3">
                  <c:v>0.8964559767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 b="1">
                  <a:solidFill>
                    <a:srgbClr val="111317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CE2EA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0.2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5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Head ≥397</c:v>
          </c:tx>
          <c:spPr>
            <a:solidFill xmlns:a="http://schemas.openxmlformats.org/drawingml/2006/main">
              <a:srgbClr val="3E8BFF"/>
            </a:solidFill>
          </c:spPr>
          <c:cat>
            <c:strRef>
              <c:f>'Chart Data'!$A$2:$A$3</c:f>
              <c:strCache>
                <c:ptCount val="2"/>
                <c:pt idx="0">
                  <c:v>Tỷ lệ item</c:v>
                </c:pt>
                <c:pt idx="1">
                  <c:v>Tỷ lệ interaction</c:v>
                </c:pt>
              </c:strCache>
            </c:strRef>
          </c:cat>
          <c:val>
            <c:numRef>
              <c:f>'Chart Data'!$B$2:$B$3</c:f>
              <c:numCache>
                <c:formatCode>0%</c:formatCode>
                <c:ptCount val="2"/>
                <c:pt idx="0">
                  <c:v>0.01</c:v>
                </c:pt>
                <c:pt idx="1">
                  <c:v>0.4416</c:v>
                </c:pt>
              </c:numCache>
            </c:numRef>
          </c:val>
        </c:ser>
        <c:ser>
          <c:idx val="1"/>
          <c:order val="1"/>
          <c:tx>
            <c:v>Body 13–396</c:v>
          </c:tx>
          <c:spPr>
            <a:solidFill xmlns:a="http://schemas.openxmlformats.org/drawingml/2006/main">
              <a:srgbClr val="2CA47B"/>
            </a:solidFill>
          </c:spPr>
          <c:cat>
            <c:strRef>
              <c:f>'Chart Data'!$C$2:$C$3</c:f>
              <c:strCache>
                <c:ptCount val="2"/>
                <c:pt idx="0">
                  <c:v>Tỷ lệ item</c:v>
                </c:pt>
                <c:pt idx="1">
                  <c:v>Tỷ lệ interaction</c:v>
                </c:pt>
              </c:strCache>
            </c:strRef>
          </c:cat>
          <c:val>
            <c:numRef>
              <c:f>'Chart Data'!$D$2:$D$3</c:f>
              <c:numCache>
                <c:formatCode>0%</c:formatCode>
                <c:ptCount val="2"/>
                <c:pt idx="0">
                  <c:v>0.1892</c:v>
                </c:pt>
                <c:pt idx="1">
                  <c:v>0.4545</c:v>
                </c:pt>
              </c:numCache>
            </c:numRef>
          </c:val>
        </c:ser>
        <c:ser>
          <c:idx val="2"/>
          <c:order val="2"/>
          <c:tx>
            <c:v>Tail ≤12</c:v>
          </c:tx>
          <c:spPr>
            <a:solidFill xmlns:a="http://schemas.openxmlformats.org/drawingml/2006/main">
              <a:srgbClr val="F4A24C"/>
            </a:solidFill>
          </c:spPr>
          <c:cat>
            <c:strRef>
              <c:f>'Chart Data'!$E$2:$E$3</c:f>
              <c:strCache>
                <c:ptCount val="2"/>
                <c:pt idx="0">
                  <c:v>Tỷ lệ item</c:v>
                </c:pt>
                <c:pt idx="1">
                  <c:v>Tỷ lệ interaction</c:v>
                </c:pt>
              </c:strCache>
            </c:strRef>
          </c:cat>
          <c:val>
            <c:numRef>
              <c:f>'Chart Data'!$F$2:$F$3</c:f>
              <c:numCache>
                <c:formatCode>0%</c:formatCode>
                <c:ptCount val="2"/>
                <c:pt idx="0">
                  <c:v>0.8007</c:v>
                </c:pt>
                <c:pt idx="1">
                  <c:v>0.1039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825" b="1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CE2EA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0.2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825">
              <a:solidFill>
                <a:srgbClr val="626C7A"/>
              </a:solidFill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6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percentStacked"/>
        <c:varyColors val="0"/>
        <c:ser>
          <c:idx val="0"/>
          <c:order val="0"/>
          <c:tx>
            <c:v>Warm retained</c:v>
          </c:tx>
          <c:spPr>
            <a:solidFill xmlns:a="http://schemas.openxmlformats.org/drawingml/2006/main">
              <a:srgbClr val="2CA47B"/>
            </a:solidFill>
          </c:spPr>
          <c:cat>
            <c:strRef>
              <c:f>'Chart Data'!$A$2:$A$3</c:f>
              <c:strCache>
                <c:ptCount val="2"/>
                <c:pt idx="0">
                  <c:v>Validation</c:v>
                </c:pt>
                <c:pt idx="1">
                  <c:v>Test</c:v>
                </c:pt>
              </c:strCache>
            </c:strRef>
          </c:cat>
          <c:val>
            <c:numRef>
              <c:f>'Chart Data'!$B$2:$B$3</c:f>
              <c:numCache>
                <c:formatCode>0.0%</c:formatCode>
                <c:ptCount val="2"/>
                <c:pt idx="0">
                  <c:v>0.2190376054</c:v>
                </c:pt>
                <c:pt idx="1">
                  <c:v>0.0981754323</c:v>
                </c:pt>
              </c:numCache>
            </c:numRef>
          </c:val>
        </c:ser>
        <c:ser>
          <c:idx val="1"/>
          <c:order val="1"/>
          <c:tx>
            <c:v>Loại do user/item OOV</c:v>
          </c:tx>
          <c:spPr>
            <a:solidFill xmlns:a="http://schemas.openxmlformats.org/drawingml/2006/main">
              <a:srgbClr val="D7DEE8"/>
            </a:solidFill>
          </c:spPr>
          <c:cat>
            <c:strRef>
              <c:f>'Chart Data'!$C$2:$C$3</c:f>
              <c:strCache>
                <c:ptCount val="2"/>
                <c:pt idx="0">
                  <c:v>Validation</c:v>
                </c:pt>
                <c:pt idx="1">
                  <c:v>Test</c:v>
                </c:pt>
              </c:strCache>
            </c:strRef>
          </c:cat>
          <c:val>
            <c:numRef>
              <c:f>'Chart Data'!$D$2:$D$3</c:f>
              <c:numCache>
                <c:formatCode>0.0%</c:formatCode>
                <c:ptCount val="2"/>
                <c:pt idx="0">
                  <c:v>0.7809623946</c:v>
                </c:pt>
                <c:pt idx="1">
                  <c:v>0.9018245677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 b="1">
                  <a:solidFill>
                    <a:srgbClr val="111317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CE2EA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00">
              <a:solidFill>
                <a:srgbClr val="626C7A"/>
              </a:solidFill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7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NDCG@20</c:v>
          </c:tx>
          <c:spPr>
            <a:solidFill xmlns:a="http://schemas.openxmlformats.org/drawingml/2006/main">
              <a:srgbClr val="3E8BFF"/>
            </a:solidFill>
          </c:spPr>
          <c:cat>
            <c:strRef>
              <c:f>'Chart Data'!$A$2:$A$4</c:f>
              <c:strCache>
                <c:ptCount val="3"/>
                <c:pt idx="0">
                  <c:v>MostPop</c:v>
                </c:pt>
                <c:pt idx="1">
                  <c:v>BPR-MF</c:v>
                </c:pt>
                <c:pt idx="2">
                  <c:v>Full LightGCN</c:v>
                </c:pt>
              </c:strCache>
            </c:strRef>
          </c:cat>
          <c:val>
            <c:numRef>
              <c:f>'Chart Data'!$B$2:$B$4</c:f>
              <c:numCache>
                <c:formatCode>0.00%</c:formatCode>
                <c:ptCount val="3"/>
                <c:pt idx="0">
                  <c:v>0.0058725502</c:v>
                </c:pt>
                <c:pt idx="1">
                  <c:v>0.0040535124</c:v>
                </c:pt>
                <c:pt idx="2">
                  <c:v>0.0049312379</c:v>
                </c:pt>
              </c:numCache>
            </c:numRef>
          </c:val>
        </c:ser>
        <c:ser>
          <c:idx val="1"/>
          <c:order val="1"/>
          <c:tx>
            <c:v>Recall@20</c:v>
          </c:tx>
          <c:spPr>
            <a:solidFill xmlns:a="http://schemas.openxmlformats.org/drawingml/2006/main">
              <a:srgbClr val="2CA47B"/>
            </a:solidFill>
          </c:spPr>
          <c:cat>
            <c:strRef>
              <c:f>'Chart Data'!$C$2:$C$4</c:f>
              <c:strCache>
                <c:ptCount val="3"/>
                <c:pt idx="0">
                  <c:v>MostPop</c:v>
                </c:pt>
                <c:pt idx="1">
                  <c:v>BPR-MF</c:v>
                </c:pt>
                <c:pt idx="2">
                  <c:v>Full LightGCN</c:v>
                </c:pt>
              </c:strCache>
            </c:strRef>
          </c:cat>
          <c:val>
            <c:numRef>
              <c:f>'Chart Data'!$D$2:$D$4</c:f>
              <c:numCache>
                <c:formatCode>0.00%</c:formatCode>
                <c:ptCount val="3"/>
                <c:pt idx="0">
                  <c:v>0.0145961329</c:v>
                </c:pt>
                <c:pt idx="1">
                  <c:v>0.0104188296</c:v>
                </c:pt>
                <c:pt idx="2">
                  <c:v>0.0123731236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1">
                  <a:solidFill>
                    <a:srgbClr val="111317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0.017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CE2EA"/>
              </a:solidFill>
              <a:prstDash val="solid"/>
            </a:ln>
          </c:spPr>
        </c:majorGridlines>
        <c:numFmt formatCode="0.0%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0.004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00">
              <a:solidFill>
                <a:srgbClr val="626C7A"/>
              </a:solidFill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8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Catalog coverage@20</c:v>
          </c:tx>
          <c:spPr>
            <a:solidFill xmlns:a="http://schemas.openxmlformats.org/drawingml/2006/main">
              <a:srgbClr val="F4A24C"/>
            </a:solidFill>
          </c:spPr>
          <c:cat>
            <c:strRef>
              <c:f>'Chart Data'!$A$2:$A$4</c:f>
              <c:strCache>
                <c:ptCount val="3"/>
                <c:pt idx="0">
                  <c:v>MostPop</c:v>
                </c:pt>
                <c:pt idx="1">
                  <c:v>BPR-MF</c:v>
                </c:pt>
                <c:pt idx="2">
                  <c:v>Full</c:v>
                </c:pt>
              </c:strCache>
            </c:strRef>
          </c:cat>
          <c:val>
            <c:numRef>
              <c:f>'Chart Data'!$B$2:$B$4</c:f>
              <c:numCache>
                <c:formatCode>0.00%</c:formatCode>
                <c:ptCount val="3"/>
                <c:pt idx="0">
                  <c:v>0.000154202</c:v>
                </c:pt>
                <c:pt idx="1">
                  <c:v>0.0335173477</c:v>
                </c:pt>
                <c:pt idx="2">
                  <c:v>0.0063654588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825" b="1">
                  <a:solidFill>
                    <a:srgbClr val="111317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CE2EA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9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NDCG@20</c:v>
          </c:tx>
          <c:spPr>
            <a:solidFill xmlns:a="http://schemas.openxmlformats.org/drawingml/2006/main">
              <a:srgbClr val="3E8BFF"/>
            </a:solidFill>
          </c:spPr>
          <c:cat>
            <c:strRef>
              <c:f>'Chart Data'!$A$2:$A$4</c:f>
              <c:strCache>
                <c:ptCount val="3"/>
                <c:pt idx="0">
                  <c:v>M0</c:v>
                </c:pt>
                <c:pt idx="1">
                  <c:v>M1</c:v>
                </c:pt>
                <c:pt idx="2">
                  <c:v>M2</c:v>
                </c:pt>
              </c:strCache>
            </c:strRef>
          </c:cat>
          <c:val>
            <c:numRef>
              <c:f>'Chart Data'!$B$2:$B$4</c:f>
              <c:numCache>
                <c:formatCode>0.00%</c:formatCode>
                <c:ptCount val="3"/>
                <c:pt idx="0">
                  <c:v>0.005727283</c:v>
                </c:pt>
                <c:pt idx="1">
                  <c:v>0.0061532962</c:v>
                </c:pt>
                <c:pt idx="2">
                  <c:v>0.0059206961</c:v>
                </c:pt>
              </c:numCache>
            </c:numRef>
          </c:val>
        </c:ser>
        <c:ser>
          <c:idx val="1"/>
          <c:order val="1"/>
          <c:tx>
            <c:v>Recall@20</c:v>
          </c:tx>
          <c:spPr>
            <a:solidFill xmlns:a="http://schemas.openxmlformats.org/drawingml/2006/main">
              <a:srgbClr val="2CA47B"/>
            </a:solidFill>
          </c:spPr>
          <c:cat>
            <c:strRef>
              <c:f>'Chart Data'!$C$2:$C$4</c:f>
              <c:strCache>
                <c:ptCount val="3"/>
                <c:pt idx="0">
                  <c:v>M0</c:v>
                </c:pt>
                <c:pt idx="1">
                  <c:v>M1</c:v>
                </c:pt>
                <c:pt idx="2">
                  <c:v>M2</c:v>
                </c:pt>
              </c:strCache>
            </c:strRef>
          </c:cat>
          <c:val>
            <c:numRef>
              <c:f>'Chart Data'!$D$2:$D$4</c:f>
              <c:numCache>
                <c:formatCode>0.00%</c:formatCode>
                <c:ptCount val="3"/>
                <c:pt idx="0">
                  <c:v>0.0146572046</c:v>
                </c:pt>
                <c:pt idx="1">
                  <c:v>0.0159885674</c:v>
                </c:pt>
                <c:pt idx="2">
                  <c:v>0.0153167788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1">
                  <a:solidFill>
                    <a:srgbClr val="111317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0.017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CE2EA"/>
              </a:solidFill>
              <a:prstDash val="solid"/>
            </a:ln>
          </c:spPr>
        </c:majorGridlines>
        <c:numFmt formatCode="0.0%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0.004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00">
              <a:solidFill>
                <a:srgbClr val="626C7A"/>
              </a:solidFill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10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Training wall (s)</c:v>
          </c:tx>
          <c:spPr>
            <a:solidFill xmlns:a="http://schemas.openxmlformats.org/drawingml/2006/main">
              <a:srgbClr val="F4A24C"/>
            </a:solidFill>
          </c:spPr>
          <c:cat>
            <c:strRef>
              <c:f>'Chart Data'!$A$2:$A$4</c:f>
              <c:strCache>
                <c:ptCount val="3"/>
                <c:pt idx="0">
                  <c:v>M0</c:v>
                </c:pt>
                <c:pt idx="1">
                  <c:v>M1</c:v>
                </c:pt>
                <c:pt idx="2">
                  <c:v>M2</c:v>
                </c:pt>
              </c:strCache>
            </c:strRef>
          </c:cat>
          <c:val>
            <c:numRef>
              <c:f>'Chart Data'!$B$2:$B$4</c:f>
              <c:numCache>
                <c:formatCode>0</c:formatCode>
                <c:ptCount val="3"/>
                <c:pt idx="0">
                  <c:v>705.32</c:v>
                </c:pt>
                <c:pt idx="1">
                  <c:v>795.1</c:v>
                </c:pt>
                <c:pt idx="2">
                  <c:v>868.63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825" b="1">
                  <a:solidFill>
                    <a:srgbClr val="111317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CE2EA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11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M0</c:v>
          </c:tx>
          <c:spPr>
            <a:ln xmlns:a="http://schemas.openxmlformats.org/drawingml/2006/main" w="28575">
              <a:solidFill>
                <a:srgbClr val="3E8BFF"/>
              </a:solidFill>
              <a:prstDash val="solid"/>
            </a:ln>
          </c:spPr>
          <c:marker>
            <c:symbol val="circle"/>
            <c:size val="8"/>
            <c:spPr>
              <a:solidFill xmlns:a="http://schemas.openxmlformats.org/drawingml/2006/main">
                <a:srgbClr val="3E8BFF"/>
              </a:solidFill>
            </c:spPr>
          </c:marker>
          <c:cat>
            <c:strRef>
              <c:f>'Chart Data'!$A$2:$A$4</c:f>
              <c:strCache>
                <c:ptCount val="3"/>
                <c:pt idx="0">
                  <c:v>s0</c:v>
                </c:pt>
                <c:pt idx="1">
                  <c:v>s1</c:v>
                </c:pt>
                <c:pt idx="2">
                  <c:v>s2</c:v>
                </c:pt>
              </c:strCache>
            </c:strRef>
          </c:cat>
          <c:val>
            <c:numRef>
              <c:f>'Chart Data'!$B$2:$B$4</c:f>
              <c:numCache>
                <c:formatCode>0.00%</c:formatCode>
                <c:ptCount val="3"/>
                <c:pt idx="0">
                  <c:v>0.005727283</c:v>
                </c:pt>
                <c:pt idx="1">
                  <c:v>0.00562498</c:v>
                </c:pt>
                <c:pt idx="2">
                  <c:v>0.0057669238</c:v>
                </c:pt>
              </c:numCache>
            </c:numRef>
          </c:val>
          <c:smooth val="0"/>
        </c:ser>
        <c:ser>
          <c:idx val="1"/>
          <c:order val="1"/>
          <c:tx>
            <c:v>M1</c:v>
          </c:tx>
          <c:spPr>
            <a:ln xmlns:a="http://schemas.openxmlformats.org/drawingml/2006/main" w="28575">
              <a:solidFill>
                <a:srgbClr val="2CA47B"/>
              </a:solidFill>
              <a:prstDash val="solid"/>
            </a:ln>
          </c:spPr>
          <c:marker>
            <c:symbol val="circle"/>
            <c:size val="8"/>
            <c:spPr>
              <a:solidFill xmlns:a="http://schemas.openxmlformats.org/drawingml/2006/main">
                <a:srgbClr val="2CA47B"/>
              </a:solidFill>
            </c:spPr>
          </c:marker>
          <c:cat>
            <c:strRef>
              <c:f>'Chart Data'!$C$2:$C$4</c:f>
              <c:strCache>
                <c:ptCount val="3"/>
                <c:pt idx="0">
                  <c:v>s0</c:v>
                </c:pt>
                <c:pt idx="1">
                  <c:v>s1</c:v>
                </c:pt>
                <c:pt idx="2">
                  <c:v>s2</c:v>
                </c:pt>
              </c:strCache>
            </c:strRef>
          </c:cat>
          <c:val>
            <c:numRef>
              <c:f>'Chart Data'!$D$2:$D$4</c:f>
              <c:numCache>
                <c:formatCode>0.00%</c:formatCode>
                <c:ptCount val="3"/>
                <c:pt idx="0">
                  <c:v>0.0061532962</c:v>
                </c:pt>
                <c:pt idx="1">
                  <c:v>0.0057042864</c:v>
                </c:pt>
                <c:pt idx="2">
                  <c:v>0.0057403666</c:v>
                </c:pt>
              </c:numCache>
            </c:numRef>
          </c:val>
          <c:smooth val="0"/>
        </c:ser>
        <c:ser>
          <c:idx val="2"/>
          <c:order val="2"/>
          <c:tx>
            <c:v>M2</c:v>
          </c:tx>
          <c:spPr>
            <a:ln xmlns:a="http://schemas.openxmlformats.org/drawingml/2006/main" w="28575">
              <a:solidFill>
                <a:srgbClr val="F4A24C"/>
              </a:solidFill>
              <a:prstDash val="solid"/>
            </a:ln>
          </c:spPr>
          <c:marker>
            <c:symbol val="circle"/>
            <c:size val="8"/>
            <c:spPr>
              <a:solidFill xmlns:a="http://schemas.openxmlformats.org/drawingml/2006/main">
                <a:srgbClr val="F4A24C"/>
              </a:solidFill>
            </c:spPr>
          </c:marker>
          <c:cat>
            <c:strRef>
              <c:f>'Chart Data'!$E$2:$E$4</c:f>
              <c:strCache>
                <c:ptCount val="3"/>
                <c:pt idx="0">
                  <c:v>s0</c:v>
                </c:pt>
                <c:pt idx="1">
                  <c:v>s1</c:v>
                </c:pt>
                <c:pt idx="2">
                  <c:v>s2</c:v>
                </c:pt>
              </c:strCache>
            </c:strRef>
          </c:cat>
          <c:val>
            <c:numRef>
              <c:f>'Chart Data'!$F$2:$F$4</c:f>
              <c:numCache>
                <c:formatCode>0.00%</c:formatCode>
                <c:ptCount val="3"/>
                <c:pt idx="0">
                  <c:v>0.0059206961</c:v>
                </c:pt>
                <c:pt idx="1">
                  <c:v>0.0055738678</c:v>
                </c:pt>
                <c:pt idx="2">
                  <c:v>0.005668182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0.0063"/>
          <c:min val="0.0054"/>
        </c:scaling>
        <c:delete val="0"/>
        <c:axPos val="l"/>
        <c:majorGridlines>
          <c:spPr>
            <a:ln xmlns:a="http://schemas.openxmlformats.org/drawingml/2006/main" w="9525">
              <a:solidFill>
                <a:srgbClr val="DCE2EA"/>
              </a:solidFill>
              <a:prstDash val="solid"/>
            </a:ln>
          </c:spPr>
        </c:majorGridlines>
        <c:numFmt formatCode="0.00%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0.0002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00">
              <a:solidFill>
                <a:srgbClr val="626C7A"/>
              </a:solidFill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4063012-3562-40BC-BF3E-16B77E78E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781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LUẬN VĂN THẠC SĨ | BẢN TỔNG HỢP BẰNG CHỨNG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A29FA9-4397-42AD-BDBC-FF29EED65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09650"/>
            <a:ext cx="85725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330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Lấy mẫu đồ thị cho hệ thống</a:t>
            </a:r>
          </a:p>
          <a:p xmlns:a="http://schemas.openxmlformats.org/drawingml/2006/main">
            <a:pPr algn="l">
              <a:defRPr sz="330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330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gợi ý quy mô lớn bằng GNN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410D0D-8BF3-440B-B4DD-7FE47A122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33650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Amazon Reviews’23 Baby_Products | temporal warm-start | pure-ID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381458-D616-46DD-962C-BAB079B97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33750"/>
            <a:ext cx="323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Mục tiêu buổi trình bày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2804E1-7494-497C-878D-12D360D0B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57600"/>
            <a:ext cx="857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95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Giải thích dữ liệu, cách đo và cách lấy mẫu trước khi đọc kết quả.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BBCE56-098D-42C5-8565-64383CAAD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95800"/>
            <a:ext cx="3000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DỮ LIỆU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19E22D-548D-497D-BC1C-8BE9959EF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781550"/>
            <a:ext cx="3143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Rating theo thời gian trên user-item graph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910ADD-096F-4CCE-B5F1-83B6858FA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429125"/>
            <a:ext cx="9525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6AF14C-C4D2-41EA-8068-6E5D4B288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495800"/>
            <a:ext cx="3000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2CA47B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CA47B"/>
                </a:solidFill>
                <a:latin typeface="Arial"/>
                <a:ea typeface="Arial"/>
                <a:cs typeface="Arial"/>
              </a:rPr>
              <a:t>CÂU HỎI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726D25-B325-43F8-A4E1-058DEE69A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781550"/>
            <a:ext cx="3143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Sampler thay đổi context có ích cho ranking không?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42AFDE-FBAC-42A3-9343-838CC65A3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429125"/>
            <a:ext cx="9525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D532FC-5BFB-408F-AE9E-F5B4D2E61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495800"/>
            <a:ext cx="3000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F4A24C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F4A24C"/>
                </a:solidFill>
                <a:latin typeface="Arial"/>
                <a:ea typeface="Arial"/>
                <a:cs typeface="Arial"/>
              </a:rPr>
              <a:t>BẰNG CHỨNG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EE3AA1D-99C3-403E-8BB9-A29CA0A68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781550"/>
            <a:ext cx="3143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Validation đã khóa; test target chưa đọc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4833A5-CC86-4D90-9A73-48D1A4AB9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638800"/>
            <a:ext cx="190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16/09/2026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B31F9DF-23E4-4046-B8C4-4220D7EE0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960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66991C-553E-4419-A1AE-D3D6371BD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817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Nguồn: Amazon Reviews’23 + artifact dự án đã audit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C1C2718-6C8C-47DA-8B11-4DF699D97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72225"/>
            <a:ext cx="476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37608644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7C69771-368C-486E-88E7-2DB1C2AC5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00 / BẢN ĐỒ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55D7B7-36B4-4ABE-8317-2C8BABF2B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Mạch trình bày đi từ dữ liệu đến câu trả lời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5AA9AA-0870-4ABC-A658-227A72A64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960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C350B0-7F83-4C92-B5F0-841AADD93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81750"/>
            <a:ext cx="1000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Nguồn: research plan; data story; validation protocol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DDBFEC-AF47-4A74-930A-4EA0D4EB0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153150"/>
            <a:ext cx="106680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675" b="0" i="1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675" b="0" i="1">
                <a:solidFill>
                  <a:srgbClr val="8C96A5"/>
                </a:solidFill>
                <a:latin typeface="Arial"/>
                <a:ea typeface="Arial"/>
                <a:cs typeface="Arial"/>
              </a:rPr>
              <a:t>Hiểu nhanh: đây là bản đồ câu chuyện; kết quả chỉ xuất hiện sau phần thiết kế và đánh giá.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72DC8D-1466-4CF2-B045-6D6D05DAB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72225"/>
            <a:ext cx="476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643E55-C660-4959-A750-E74014272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14475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DỮ LIỆU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2DDD38-7AAE-487D-8A47-C89302142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14525"/>
            <a:ext cx="314325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Nguồn chính thức</a:t>
            </a:r>
          </a:p>
          <a:p xmlns:a="http://schemas.openxmlformats.org/drawingml/2006/main">
            <a:pPr algn="l">
              <a:defRPr sz="1650" b="0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Schema và P4</a:t>
            </a:r>
          </a:p>
          <a:p xmlns:a="http://schemas.openxmlformats.org/drawingml/2006/main">
            <a:pPr algn="l">
              <a:defRPr sz="1650" b="0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Temporal split</a:t>
            </a:r>
          </a:p>
          <a:p xmlns:a="http://schemas.openxmlformats.org/drawingml/2006/main">
            <a:pPr algn="l">
              <a:defRPr sz="1650" b="0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Population được đánh giá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7A186F-BCB4-4E73-89C4-BBE051799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1428750"/>
            <a:ext cx="1905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C52678-D2CD-4421-9397-41227FE7E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1514475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2CA47B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2CA47B"/>
                </a:solidFill>
                <a:latin typeface="Arial"/>
                <a:ea typeface="Arial"/>
                <a:cs typeface="Arial"/>
              </a:rPr>
              <a:t>CẤU TRÚC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44A432-F1CC-495E-A6FB-8B27B710F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1914525"/>
            <a:ext cx="314325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Sparsity và singleton</a:t>
            </a:r>
          </a:p>
          <a:p xmlns:a="http://schemas.openxmlformats.org/drawingml/2006/main">
            <a:pPr algn="l">
              <a:defRPr sz="1650" b="0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Long tail</a:t>
            </a:r>
          </a:p>
          <a:p xmlns:a="http://schemas.openxmlformats.org/drawingml/2006/main">
            <a:pPr algn="l">
              <a:defRPr sz="1650" b="0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Head, body, tail</a:t>
            </a:r>
          </a:p>
          <a:p xmlns:a="http://schemas.openxmlformats.org/drawingml/2006/main">
            <a:pPr algn="l">
              <a:defRPr sz="1650" b="0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Warm-start retention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3111849-5B02-46EA-AEA8-9E8FD7D90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1428750"/>
            <a:ext cx="1905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B3C06F-71A2-40E2-9039-FF4FC0586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514475"/>
            <a:ext cx="3676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F4A24C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4A24C"/>
                </a:solidFill>
                <a:latin typeface="Arial"/>
                <a:ea typeface="Arial"/>
                <a:cs typeface="Arial"/>
              </a:rPr>
              <a:t>THỰC NGHIỆM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527A0C3-6E26-4606-9D36-F790DDB69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914525"/>
            <a:ext cx="367665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Metric và baseline</a:t>
            </a:r>
          </a:p>
          <a:p xmlns:a="http://schemas.openxmlformats.org/drawingml/2006/main">
            <a:pPr algn="l">
              <a:defRPr sz="165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LightGCN + BPR</a:t>
            </a:r>
          </a:p>
          <a:p xmlns:a="http://schemas.openxmlformats.org/drawingml/2006/main">
            <a:pPr algn="l">
              <a:defRPr sz="165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M0, M1, M2</a:t>
            </a:r>
          </a:p>
          <a:p xmlns:a="http://schemas.openxmlformats.org/drawingml/2006/main">
            <a:pPr algn="l">
              <a:defRPr sz="165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Paired validation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4BEF0EE-759F-4465-AD91-3C0559C69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62450"/>
            <a:ext cx="111633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9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686FFF9-D448-467F-9422-ED1FF82ED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24375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2CA47B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CA47B"/>
                </a:solidFill>
                <a:latin typeface="Arial"/>
                <a:ea typeface="Arial"/>
                <a:cs typeface="Arial"/>
              </a:rPr>
              <a:t>CÁCH ĐỌC DECK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484C538-F342-4FA7-BBEE-04AA45B1B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10125"/>
            <a:ext cx="107156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Mỗi phần trả lời một câu: dữ liệu có đáng tin không, metric đo gì, sampler thay đổi gì, rồi kết quả nói được gì.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B5F7302-D6AC-4C2C-8165-CCDB82FAB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62625"/>
            <a:ext cx="11163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317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4CB82B1-5888-4A9B-929B-A7523C15A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38825"/>
            <a:ext cx="1085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Kết quả và kết luận chỉ xuất hiện sau khi đã có ngữ cảnh để đọc chúng</a:t>
            </a:r>
          </a:p>
        </p:txBody>
      </p:sp>
    </p:spTree>
    <p:extLst>
      <p:ext uri="{BB962C8B-B14F-4D97-AF65-F5344CB8AC3E}">
        <p14:creationId xmlns:p14="http://schemas.microsoft.com/office/powerpoint/2010/main" val="154024753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05A82D3-60BE-4D1D-93EB-01AA4D9BB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00 / CÂU HỎI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6586E7-AAF3-4EC5-96A0-3AA48D31C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Câu hỏi nghiên cứu và phạm vi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9523A9-4D2C-4FEB-870F-C9C984ACC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960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051628-C566-4607-A802-DAF66F1AC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81750"/>
            <a:ext cx="1000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Nguồn: PHASE2_RESEARCH_PLAN_vn.md; BPR; LightGCN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5537CB-551C-4A7C-8314-844908710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153150"/>
            <a:ext cx="106680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675" b="0" i="1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675" b="0" i="1">
                <a:solidFill>
                  <a:srgbClr val="8C96A5"/>
                </a:solidFill>
                <a:latin typeface="Arial"/>
                <a:ea typeface="Arial"/>
                <a:cs typeface="Arial"/>
              </a:rPr>
              <a:t>Hiểu nhanh: pure-ID chỉ dùng ID và interaction, không có mô tả sản phẩm.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67CEB1-2C3D-44AC-9213-4FD04A213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72225"/>
            <a:ext cx="476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02C939-EA0B-43E0-9AF6-F32DC2414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09700"/>
            <a:ext cx="190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CÂU HỎI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F3B8DF-23E3-4507-B4DF-C5BAD2F95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24025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210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Khi giữ nguyên mô hình, dữ liệu, budget và evaluator, cách lấy context nào tạo ranking tốt hơn với chi phí chấp nhận được?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465974-EA68-4DCC-BF91-A126FC70B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47950"/>
            <a:ext cx="10782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800E99-B322-4007-BC3B-044A61C63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114675"/>
            <a:ext cx="3000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ĐỐI TƯỢNG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B0F36A-DE40-41B3-8748-652077F81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19475"/>
            <a:ext cx="3048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Gợi ý top-20 trên graph user–item, temporal warm-start, pure-ID.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DDA5DF-C8D0-4129-8536-996FE18B3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028950"/>
            <a:ext cx="9525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EC46AC-0939-49AF-8ADB-9ECDA4988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114675"/>
            <a:ext cx="3000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2CA47B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CA47B"/>
                </a:solidFill>
                <a:latin typeface="Arial"/>
                <a:ea typeface="Arial"/>
                <a:cs typeface="Arial"/>
              </a:rPr>
              <a:t>CAN THIỆP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1E9BDBD-7852-42B1-A3D2-67F40BB8B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419475"/>
            <a:ext cx="3048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Chỉ thay sampler M0, M1, M2. Context là các node và edge lân cận được dùng để truyền thông tin trong batch/layer.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EDCF1D2-04D4-4EE7-9FD3-D69C472E7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028950"/>
            <a:ext cx="9525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7EC74FF-51F3-4237-816E-9F4998AA0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114675"/>
            <a:ext cx="3000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F4A24C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F4A24C"/>
                </a:solidFill>
                <a:latin typeface="Arial"/>
                <a:ea typeface="Arial"/>
                <a:cs typeface="Arial"/>
              </a:rPr>
              <a:t>RANH GIỚI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69EDAD-2B72-452F-A516-221E7BE33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419475"/>
            <a:ext cx="3048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Kết luận chỉ dùng validation. Không suy ra semantic relevance, cold-start, ý nghĩa thống kê, hay kết quả test.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E454FD0-549C-4886-81D1-27B4AF12D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067300"/>
            <a:ext cx="107823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F943737-B057-4227-A3D5-BF32A0FA4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81600"/>
            <a:ext cx="10382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Mục tiêu là một so sánh có kiểm soát, không phải chứng minh sampler phức tạp luôn tốt hơn.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8051FE0-747F-46AF-8EE3-A6623AB22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72150"/>
            <a:ext cx="11163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317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094B44C-D08E-4C08-90A0-9CFE816F3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48350"/>
            <a:ext cx="1085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Câu hỏi đúng giúp kết quả âm vẫn có giá trị khoa học</a:t>
            </a:r>
          </a:p>
        </p:txBody>
      </p:sp>
    </p:spTree>
    <p:extLst>
      <p:ext uri="{BB962C8B-B14F-4D97-AF65-F5344CB8AC3E}">
        <p14:creationId xmlns:p14="http://schemas.microsoft.com/office/powerpoint/2010/main" val="120429544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8D35FE2-AA71-483A-9B71-2BD72EEA6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00 / KHÁI NIỆM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1CD41A-5899-4655-85BB-34C66CDF2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Context là phần graph model được nhìn thấy trong một batch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4A8732-A248-4865-AB39-07304E04A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960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02F106-2B77-4476-85DD-F60A0ABC4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81750"/>
            <a:ext cx="1000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Nguồn: THESIS_REPORT_vn.md, Section 1 and 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C4CBEA-B9EE-47C8-8882-094353367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153150"/>
            <a:ext cx="106680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675" b="0" i="1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675" b="0" i="1">
                <a:solidFill>
                  <a:srgbClr val="8C96A5"/>
                </a:solidFill>
                <a:latin typeface="Arial"/>
                <a:ea typeface="Arial"/>
                <a:cs typeface="Arial"/>
              </a:rPr>
              <a:t>Hiểu nhanh: node là user hoặc item; edge là interaction; propagation là truyền embedding qua edge.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56E21E-42CF-49DF-B93C-B5F375A01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72225"/>
            <a:ext cx="476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FFEC28-69B5-4D2A-BE67-5B6CA2468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287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Trong graph recommendation, user và item là node; rating tích cực là edge. LightGCN học embedding bằng cách truyền tín hiệu qua các edge.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F28416-D533-447E-9466-01A934B4B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47950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TARGET BATCH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076CCB-ADE0-46B9-863B-F93FE4E6C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09900"/>
            <a:ext cx="304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Những user–item interaction đang dùng để cập nhật model.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B20E30-3127-49C0-817F-5BC28DCB7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552700"/>
            <a:ext cx="9525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C90EC3-605F-4850-A247-2BFCB7949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647950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2CA47B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CA47B"/>
                </a:solidFill>
                <a:latin typeface="Arial"/>
                <a:ea typeface="Arial"/>
                <a:cs typeface="Arial"/>
              </a:rPr>
              <a:t>CONTEXT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B54D66-4F77-48AB-87EE-878A4F9CB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3009900"/>
            <a:ext cx="304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Các node và edge lân cận được lấy thêm để propagation trong từng layer.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69C772-750C-47C4-9493-D320CA3FD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552700"/>
            <a:ext cx="9525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2152FD-56DE-4701-A9F4-2F4F8D856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647950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F4A24C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F4A24C"/>
                </a:solidFill>
                <a:latin typeface="Arial"/>
                <a:ea typeface="Arial"/>
                <a:cs typeface="Arial"/>
              </a:rPr>
              <a:t>SAMPLER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151EC2-EBF9-40A3-9243-8DA569DE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009900"/>
            <a:ext cx="304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Quy tắc quyết định node lân cận nào được lấy khi không thể dùng toàn graph.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18D09E8-EA88-412A-8E37-73F1138D2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33900"/>
            <a:ext cx="107823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A6915EC-0D21-4C89-8342-A7AE83F69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714875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Sampler không đổi target hay metric. Nó đổi thông tin hàng xóm mà model nhận được để học từ target đó.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2C54ECB-BE15-4476-BFA7-8D5B63655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72150"/>
            <a:ext cx="11163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317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9CA6AD-EEB5-4BCA-BE9A-1BF1FCAF9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48350"/>
            <a:ext cx="1085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Câu hỏi thực nghiệm: context khác có giúp xếp đúng item mục tiêu tốt hơn không?</a:t>
            </a:r>
          </a:p>
        </p:txBody>
      </p:sp>
    </p:spTree>
    <p:extLst>
      <p:ext uri="{BB962C8B-B14F-4D97-AF65-F5344CB8AC3E}">
        <p14:creationId xmlns:p14="http://schemas.microsoft.com/office/powerpoint/2010/main" val="23445814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701A5C-2F0B-438D-AA96-81D75494F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01 / LỰA CHỌN DỮ LIỆU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5449E6-ED17-4D12-9132-F96285E88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Các benchmark ngoài Amazon đã được xem xét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FE8A62-4B03-4A64-BC3E-790AA0FD6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960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186F97-C133-4747-B973-395FA2976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81750"/>
            <a:ext cx="1000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Nguồn: GroupLens; LightGCN; MIND; KuaiRec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AB68EA-9147-47EC-A3B7-E59AB9287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153150"/>
            <a:ext cx="106680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675" b="0" i="1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675" b="0" i="1">
                <a:solidFill>
                  <a:srgbClr val="8C96A5"/>
                </a:solidFill>
                <a:latin typeface="Arial"/>
                <a:ea typeface="Arial"/>
                <a:cs typeface="Arial"/>
              </a:rPr>
              <a:t>Hiểu nhanh: benchmark là bộ dữ liệu chuẩn; Graph-CF là collaborative filtering trên graph.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F75455-F25A-4DB3-B026-6B64DFAAA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72225"/>
            <a:ext cx="476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graphicFrame>
        <p:nvGraphicFramePr>
          <p:cNvPr id="18" name=""/>
          <p:cNvGraphicFramePr/>
          <p:nvPr/>
        </p:nvGraphicFramePr>
        <p:xfrm>
          <a:off xmlns:a="http://schemas.openxmlformats.org/drawingml/2006/main" x="514350" y="1381125"/>
          <a:ext xmlns:a="http://schemas.openxmlformats.org/drawingml/2006/main" cx="11163300" cy="32194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905000"/>
                <a:gridCol w="2476500"/>
                <a:gridCol w="3476625"/>
                <a:gridCol w="3305175"/>
              </a:tblGrid>
              <a:tr h="64389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Bộ dữ liệu</a:t>
                      </a:r>
                    </a:p>
                  </a:txBody>
                  <a:tcPr marL="76200" marR="76200" marT="57150" marB="57150">
                    <a:solidFill>
                      <a:srgbClr val="111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Được dùng phổ biến cho</a:t>
                      </a:r>
                    </a:p>
                  </a:txBody>
                  <a:tcPr marL="76200" marR="76200" marT="57150" marB="57150">
                    <a:solidFill>
                      <a:srgbClr val="111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Điểm phù hợp</a:t>
                      </a:r>
                    </a:p>
                  </a:txBody>
                  <a:tcPr marL="76200" marR="76200" marT="57150" marB="57150">
                    <a:solidFill>
                      <a:srgbClr val="111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Vì sao chưa chạy trong nghiên cứu này</a:t>
                      </a:r>
                    </a:p>
                  </a:txBody>
                  <a:tcPr marL="76200" marR="76200" marT="57150" marB="57150">
                    <a:solidFill>
                      <a:srgbClr val="111317"/>
                    </a:solidFill>
                  </a:tcPr>
                </a:tc>
              </a:tr>
              <a:tr h="64389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MovieLens 25M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Collaborative filtering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25M rating, 162.541 user, 62.423 phim; có tag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Khác miền sản phẩm và khác cấu trúc long-tail Amazon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</a:tr>
              <a:tr h="64389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Gowalla / Yelp2018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Graph-CF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LightGCN dùng hai benchmark này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Phù hợp để mở rộng sau này, chưa phải thực nghiệm hiện tại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</a:tr>
              <a:tr h="64389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MIND / KuaiRec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Content / exposure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MIND có text; KuaiRec gần fully observed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Khác pure-ID e-commerce hoặc không đại diện graph thưa quy mô lớn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</a:tr>
              <a:tr h="64389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Amazon Reviews’23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E-commerce recommendation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Có category, review theo thời gian và volume lớn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Được chọn sau audit nội bộ, không phải vì là lựa chọn duy nhất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99AC78-43AF-4463-9A60-42A4CB704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95850"/>
            <a:ext cx="10782300" cy="504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E6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14E9BD-138A-4054-848E-12F6C20F5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48250"/>
            <a:ext cx="10382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Các bộ trên là benchmark tham khảo. Nghiên cứu này chỉ chạy Amazon Reviews’23 Baby_Products.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99FB69-9FFF-4EFD-A164-906B55E22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72150"/>
            <a:ext cx="11163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317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0697E1-9949-4743-B834-1B494BFC2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48350"/>
            <a:ext cx="1085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Dữ liệu phải khớp câu hỏi và giới hạn đo lường, không chỉ cần nổi tiếng</a:t>
            </a:r>
          </a:p>
        </p:txBody>
      </p:sp>
    </p:spTree>
    <p:extLst>
      <p:ext uri="{BB962C8B-B14F-4D97-AF65-F5344CB8AC3E}">
        <p14:creationId xmlns:p14="http://schemas.microsoft.com/office/powerpoint/2010/main" val="56754171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A27B5DC-60B9-46BD-B7CC-03B642761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01 / LỰA CHỌN DỮ LIỆU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2332B9-B178-43AD-84AD-952C37526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Vì sao Baby_Products là bộ dữ liệu thực nghiệm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8EB271-D50A-4A65-8AB9-79FBC61B9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960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BF05FB-DCE2-44CB-B08B-0855EC4E4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81750"/>
            <a:ext cx="1000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Nguồn: DATASET_PORTFOLIO_AND_ANALYSIS_PROTOCOL_vn.md; audit artifacts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BBD153-A6E8-41D5-8DB1-23BA1BC9C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153150"/>
            <a:ext cx="106680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675" b="0" i="1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675" b="0" i="1">
                <a:solidFill>
                  <a:srgbClr val="8C96A5"/>
                </a:solidFill>
                <a:latin typeface="Arial"/>
                <a:ea typeface="Arial"/>
                <a:cs typeface="Arial"/>
              </a:rPr>
              <a:t>Hiểu nhanh: warm-start giữ user và item đã xuất hiện trong train; retention là tỷ lệ còn lại.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B7BB98-86FD-4D85-91DA-2AC75BEED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72225"/>
            <a:ext cx="476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graphicFrame>
        <p:nvGraphicFramePr>
          <p:cNvPr id="20" name="Chart"/>
          <p:cNvGraphicFramePr/>
          <p:nvPr/>
        </p:nvGraphicFramePr>
        <p:xfrm>
          <a:off xmlns:a="http://schemas.openxmlformats.org/drawingml/2006/main" x="514350" y="1504950"/>
          <a:ext xmlns:a="http://schemas.openxmlformats.org/drawingml/2006/main" cx="4953000" cy="2905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8a55921cec84d15"/>
          </a:graphicData>
        </a:graphic>
      </p:graphicFrame>
      <p:graphicFrame>
        <p:nvGraphicFramePr>
          <p:cNvPr id="21" name=""/>
          <p:cNvGraphicFramePr/>
          <p:nvPr/>
        </p:nvGraphicFramePr>
        <p:xfrm>
          <a:off xmlns:a="http://schemas.openxmlformats.org/drawingml/2006/main" x="6000750" y="1428750"/>
          <a:ext xmlns:a="http://schemas.openxmlformats.org/drawingml/2006/main" cx="5334000" cy="26860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714500"/>
                <a:gridCol w="1190625"/>
                <a:gridCol w="1190625"/>
                <a:gridCol w="1238250"/>
              </a:tblGrid>
              <a:tr h="671513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Tiêu chí</a:t>
                      </a:r>
                    </a:p>
                  </a:txBody>
                  <a:tcPr marL="76200" marR="76200" marT="57150" marB="57150">
                    <a:solidFill>
                      <a:srgbClr val="111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All_Beauty</a:t>
                      </a:r>
                    </a:p>
                  </a:txBody>
                  <a:tcPr marL="76200" marR="76200" marT="57150" marB="57150">
                    <a:solidFill>
                      <a:srgbClr val="111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Baby_Products</a:t>
                      </a:r>
                    </a:p>
                  </a:txBody>
                  <a:tcPr marL="76200" marR="76200" marT="57150" marB="57150">
                    <a:solidFill>
                      <a:srgbClr val="111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Home_and_Kitchen</a:t>
                      </a:r>
                    </a:p>
                  </a:txBody>
                  <a:tcPr marL="76200" marR="76200" marT="57150" marB="57150">
                    <a:solidFill>
                      <a:srgbClr val="111317"/>
                    </a:solidFill>
                  </a:tcPr>
                </a:tc>
              </a:tr>
              <a:tr h="671513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Raw row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693.929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5.953.891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66.623.880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</a:tr>
              <a:tr h="671513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Vai trò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Schema/pipeline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Benchmark chính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Chỉ provenance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</a:tr>
              <a:tr h="671513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Đánh giá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Warm validation 3,98%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Warm validation 21,90%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Chưa full protocol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8CC5DB-3D1C-49BD-90D4-9B1F368C7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505325"/>
            <a:ext cx="190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2CA47B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CA47B"/>
                </a:solidFill>
                <a:latin typeface="Arial"/>
                <a:ea typeface="Arial"/>
                <a:cs typeface="Arial"/>
              </a:rPr>
              <a:t>LÝ DO CHỌN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83427B-CB71-449B-BE6E-8C2454F0D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781550"/>
            <a:ext cx="5143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Baby có nhiều interaction hơn All_Beauty, long tail rõ, đủ lớn để stress sampling, nhưng vẫn chạy được trong ngân sách Colab đã kiểm chứng.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E909A04-002F-4523-915E-C8711830E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714875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Home_and_Kitchen lớn hơn 11,19 lần Baby. Ta chỉ biết provenance và quy mô, chưa được quyền dùng nó để nói về performance.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55524D-B33E-4E5F-9A3E-5CD73C0F2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72150"/>
            <a:ext cx="11163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317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B603D48-A539-4FC9-9091-70A6EBECB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48350"/>
            <a:ext cx="1085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Lựa chọn Baby dựa trên audit và khả năng thực nghiệm, không dựa trên score model</a:t>
            </a:r>
          </a:p>
        </p:txBody>
      </p:sp>
    </p:spTree>
    <p:extLst>
      <p:ext uri="{BB962C8B-B14F-4D97-AF65-F5344CB8AC3E}">
        <p14:creationId xmlns:p14="http://schemas.microsoft.com/office/powerpoint/2010/main" val="32299302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BE67356-037A-4848-9DD5-AA5699F13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01 / NGUỒN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FA0F35-3C10-40C8-ACF7-BD0A96DB4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Nguồn chính thức và tệp thực sự được dùng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D595B4-45E9-43B1-91C2-365A576E4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960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C4DFC2-970C-4636-B516-3F882E1F0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81750"/>
            <a:ext cx="1000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Nguồn: Amazon Reviews’23; Baby_Products_protocol_audit.json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B95E20-4C89-486B-8EFF-2ACDFC68C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153150"/>
            <a:ext cx="106680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675" b="0" i="1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675" b="0" i="1">
                <a:solidFill>
                  <a:srgbClr val="8C96A5"/>
                </a:solidFill>
                <a:latin typeface="Arial"/>
                <a:ea typeface="Arial"/>
                <a:cs typeface="Arial"/>
              </a:rPr>
              <a:t>Hiểu nhanh: 0-core nghĩa là chưa lọc node ít tương tác; parent_asin là mã item.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66DA1B-8070-4674-BD03-049DB0CFB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72225"/>
            <a:ext cx="476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E54EC2-3349-4481-A37C-D2114665E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335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McAuley Lab — Amazon Reviews’23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317FB3-2A71-4D0B-913C-22B6E40E3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81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Category: Baby_Products, benchmark 0-core, rating_only</a:t>
            </a:r>
          </a:p>
        </p:txBody>
      </p:sp>
      <p:graphicFrame>
        <p:nvGraphicFramePr>
          <p:cNvPr id="31" name=""/>
          <p:cNvGraphicFramePr/>
          <p:nvPr/>
        </p:nvGraphicFramePr>
        <p:xfrm>
          <a:off xmlns:a="http://schemas.openxmlformats.org/drawingml/2006/main" x="514350" y="2143125"/>
          <a:ext xmlns:a="http://schemas.openxmlformats.org/drawingml/2006/main" cx="6477000" cy="2381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714500"/>
                <a:gridCol w="1238250"/>
                <a:gridCol w="3524250"/>
              </a:tblGrid>
              <a:tr h="47625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Trường</a:t>
                      </a:r>
                    </a:p>
                  </a:txBody>
                  <a:tcPr marL="76200" marR="76200" marT="57150" marB="57150">
                    <a:solidFill>
                      <a:srgbClr val="111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Kiểu</a:t>
                      </a:r>
                    </a:p>
                  </a:txBody>
                  <a:tcPr marL="76200" marR="76200" marT="57150" marB="57150">
                    <a:solidFill>
                      <a:srgbClr val="111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Ý nghĩa trong nghiên cứu</a:t>
                      </a:r>
                    </a:p>
                  </a:txBody>
                  <a:tcPr marL="76200" marR="76200" marT="57150" marB="57150">
                    <a:solidFill>
                      <a:srgbClr val="111317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user_id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string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ID người đánh giá, dùng làm node user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parent_asin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string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ID cha sản phẩm, dùng làm node item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float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Điểm 1–5; dự án đổi thành positive khi ≥4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timestamp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int (ms)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Thứ tự thời gian để tách train/validation/test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BC9AB6-D355-40BC-BD3C-BCFE21BA5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362075"/>
            <a:ext cx="19050" cy="3676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09310B-3E59-4997-9527-4C4003911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409700"/>
            <a:ext cx="31432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TỆP TẢI CHÍNH XÁC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912704-36BC-43EF-BA09-3FA391D71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590675"/>
            <a:ext cx="3143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217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148.609.233 bytes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B69295-698B-48D6-9F0C-84C664AF1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98120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Baby_Products.csv.gz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165418-29E6-4BEF-8882-CA9779B4D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476500"/>
            <a:ext cx="31432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2CA47B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CA47B"/>
                </a:solidFill>
                <a:latin typeface="Arial"/>
                <a:ea typeface="Arial"/>
                <a:cs typeface="Arial"/>
              </a:rPr>
              <a:t>SHA-256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13AF30-80AB-4C70-B550-CC1534BC3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657475"/>
            <a:ext cx="3143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217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e2a8d049…c279e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41FD5A1-8007-4134-937B-E7C45957C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04800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Nhận diện đúng byte nguồn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0F1727D-3731-40C8-AADF-54B6084DF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581400"/>
            <a:ext cx="304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F4A24C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F4A24C"/>
                </a:solidFill>
                <a:latin typeface="Arial"/>
                <a:ea typeface="Arial"/>
                <a:cs typeface="Arial"/>
              </a:rPr>
              <a:t>URL artifact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1D88803-66CB-480D-8E81-19798C054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800475"/>
            <a:ext cx="323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datarepo.eng.ucsd.edu/…/0core/</a:t>
            </a:r>
          </a:p>
          <a:p xmlns:a="http://schemas.openxmlformats.org/drawingml/2006/main">
            <a:pPr algn="l">
              <a:defRPr sz="1200" b="0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rating_only/Baby_Products.csv.gz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E447B83-42E5-4266-8CCE-13E61EA31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4552950"/>
            <a:ext cx="3095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E6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7353C3A-7FB7-4817-A4FE-3637134B7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667250"/>
            <a:ext cx="280987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Không dùng title/category/text/metadata</a:t>
            </a:r>
          </a:p>
          <a:p xmlns:a="http://schemas.openxmlformats.org/drawingml/2006/main">
            <a:pPr algn="l">
              <a:defRPr sz="112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trong task chính.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E5DA745-8F9F-4F89-9E2F-3A1DBB812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62625"/>
            <a:ext cx="11163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317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8774B39-6E48-4B66-BBE6-5B9608923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38825"/>
            <a:ext cx="1085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Nguồn chính thức cung cấp schema; artifact audit cung cấp byte, checksum và quy tắc dự án</a:t>
            </a:r>
          </a:p>
        </p:txBody>
      </p:sp>
    </p:spTree>
    <p:extLst>
      <p:ext uri="{BB962C8B-B14F-4D97-AF65-F5344CB8AC3E}">
        <p14:creationId xmlns:p14="http://schemas.microsoft.com/office/powerpoint/2010/main" val="108678064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BCD5F58-920D-4DA4-988E-6BFE48C09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02 / PIPELINE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D2533B-B95F-4EA5-BF10-EB5E8DB60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Phân tích đi theo thời gian, không nhìn test để chọn phương pháp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43281E-0209-4D9E-9890-D2E89DCAC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960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84BBD8-71B5-4730-9D7D-904883815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81750"/>
            <a:ext cx="1000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Nguồn: baby_p4_g2c_manifest.json; audit cutoffs t1/t2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207228-7297-48D9-9093-B968EC87F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153150"/>
            <a:ext cx="106680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675" b="0" i="1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675" b="0" i="1">
                <a:solidFill>
                  <a:srgbClr val="8C96A5"/>
                </a:solidFill>
                <a:latin typeface="Arial"/>
                <a:ea typeface="Arial"/>
                <a:cs typeface="Arial"/>
              </a:rPr>
              <a:t>Hiểu nhanh: temporal split tách theo thời gian; leakage là dùng thông tin tương lai khi train.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B55245-C70F-4ACF-8483-2C990A6F4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72225"/>
            <a:ext cx="476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64D722-C811-4A5E-B1E5-601327B75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04950"/>
            <a:ext cx="17621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RAW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A2EAC0-2489-4416-B9D2-F376C8C37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19275"/>
            <a:ext cx="1762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5.953.891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CF58D2-4941-4A50-80BA-59B4F4CC8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00275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parsed row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71AB63-D50C-4DFB-A0CA-BA1F90542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2000250"/>
            <a:ext cx="352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E6F90A-D74D-4E92-B964-0BD61360A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2000250"/>
            <a:ext cx="2095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96A5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839B64-924D-4114-8AE4-FED3A840A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1504950"/>
            <a:ext cx="17621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F4A24C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F4A24C"/>
                </a:solidFill>
                <a:latin typeface="Arial"/>
                <a:ea typeface="Arial"/>
                <a:cs typeface="Arial"/>
              </a:rPr>
              <a:t>QUARANTINE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560BA73-4443-41F8-97CD-AB2A64F86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1819275"/>
            <a:ext cx="1762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1 rating = 0,0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CA0898-1D47-4E9E-8898-84499579A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200275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khỏi [1,5]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E0F55E5-718F-4F15-8782-AD300A0CA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2000250"/>
            <a:ext cx="352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9865422-CC9A-4325-8EBB-4FDB3C31E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2000250"/>
            <a:ext cx="2095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96A5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D2EAB4A-34D7-43A3-B35E-DABCD3DB0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1504950"/>
            <a:ext cx="17621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P4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5769A4A-81B5-447E-9D33-30FA7864E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1819275"/>
            <a:ext cx="1762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4.655.843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42FABFC-B1B9-4466-ACEB-884563468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2200275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rating 4–5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D988C2C-29AD-48B3-B771-BC92C2BA1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2000250"/>
            <a:ext cx="352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5F82F10-D99C-43B4-8023-05D71782D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9425" y="2000250"/>
            <a:ext cx="2095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96A5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E74B477-4534-4BC6-93F3-AAD2C3D23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504950"/>
            <a:ext cx="17621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TEMPORAL SPLIT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C11527B-4735-4C76-94EC-BDCED1330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819275"/>
            <a:ext cx="1762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t1 / t2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391F3D1-98B3-43CD-87C4-8A6AFEBDE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200275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11/08/2021 đến 16/07/2022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F2AEA49-2925-4D15-A366-07366AE34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2000250"/>
            <a:ext cx="352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EA230D4-8CFB-46EA-85F5-15D130E07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7325" y="2000250"/>
            <a:ext cx="2095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96A5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A8F39E4-29A7-4073-A567-D487C905A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504950"/>
            <a:ext cx="17621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WARM FILTER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689A3A7-ABEC-4179-B479-E27685CA8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819275"/>
            <a:ext cx="1762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train-only map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BE0A338-9A1C-4773-AEFC-B7943570D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200275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user &amp; item phải đã thấy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BEC12E3-0E8E-4E40-AB54-AFD3D73FF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114675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2CA47B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CA47B"/>
                </a:solidFill>
                <a:latin typeface="Arial"/>
                <a:ea typeface="Arial"/>
                <a:cs typeface="Arial"/>
              </a:rPr>
              <a:t>ARTIFACT SAU KHI KHÓA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134776C-72E0-414B-BDE0-22A320464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67100"/>
            <a:ext cx="3333750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9"/>
          </a:solidFill>
          <a:ln xmlns:a="http://schemas.openxmlformats.org/drawingml/2006/main" w="0">
            <a:noFill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BFA021E-BDA7-4058-A4B2-45F0E2B47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0"/>
            <a:ext cx="29527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2CA47B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CA47B"/>
                </a:solidFill>
                <a:latin typeface="Arial"/>
                <a:ea typeface="Arial"/>
                <a:cs typeface="Arial"/>
              </a:rPr>
              <a:t>TRAIN GRAPH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6DA256D-938E-4C4A-811F-DD71D08B8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95725"/>
            <a:ext cx="295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3.868.654 edge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E9E50BA-9927-46B0-81C6-6CC49198E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Model chỉ nhìn quá khứ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4F5631C-29DE-4E43-8897-F980380EE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3467100"/>
            <a:ext cx="3333750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9"/>
          </a:solidFill>
          <a:ln xmlns:a="http://schemas.openxmlformats.org/drawingml/2006/main" w="0">
            <a:noFill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B275DD9-1045-45CF-99F1-D776388EB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619500"/>
            <a:ext cx="29527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2CA47B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CA47B"/>
                </a:solidFill>
                <a:latin typeface="Arial"/>
                <a:ea typeface="Arial"/>
                <a:cs typeface="Arial"/>
              </a:rPr>
              <a:t>VALIDATION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97A362E-6C47-4464-8B92-B4D581364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895725"/>
            <a:ext cx="295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81.871 warm target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0F408DA-6FC2-4734-B4B8-EFB7D5648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28625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Dùng development evidence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16F56C5-E5D0-43CD-93A1-8A4402EDA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467100"/>
            <a:ext cx="3333750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E6"/>
          </a:solidFill>
          <a:ln xmlns:a="http://schemas.openxmlformats.org/drawingml/2006/main" w="0">
            <a:noFill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FFBB07F-925E-47E7-B276-31A0B1559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619500"/>
            <a:ext cx="29527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F4A24C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F4A24C"/>
                </a:solidFill>
                <a:latin typeface="Arial"/>
                <a:ea typeface="Arial"/>
                <a:cs typeface="Arial"/>
              </a:rPr>
              <a:t>TEST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E46E131-CD1B-4554-B0C7-340813111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895725"/>
            <a:ext cx="295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40.587 warm target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F46CAC2-2A00-4886-8045-88A1D2CA6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28625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Đã tạo artifact, chưa đọc target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746EDF6-DB56-494B-8309-B9DD6A57B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943475"/>
            <a:ext cx="107632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0">
            <a:noFill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8A2FFE0-12EF-4BA4-8D27-A4689AD17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57775"/>
            <a:ext cx="10429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Không leakage: mapping/cohort học từ train; evaluator loại strict prior history; model selection chỉ dùng validation.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FC9A653-7BEE-4ADF-953D-E1594EB2F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62625"/>
            <a:ext cx="11163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317"/>
          </a:solidFill>
          <a:ln xmlns:a="http://schemas.openxmlformats.org/drawingml/2006/main" w="0">
            <a:noFill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BA7A696-0FD3-45EA-9EDF-8F78B9C9A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38825"/>
            <a:ext cx="1085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P4 là phép biến đổi của dự án, không phải nhãn có sẵn của nguồn</a:t>
            </a:r>
          </a:p>
        </p:txBody>
      </p:sp>
    </p:spTree>
    <p:extLst>
      <p:ext uri="{BB962C8B-B14F-4D97-AF65-F5344CB8AC3E}">
        <p14:creationId xmlns:p14="http://schemas.microsoft.com/office/powerpoint/2010/main" val="136381978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8AFC04D-BA9A-4408-B456-F88426C53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03 / CHẤT LƯỢNG DỮ LIỆU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78D954-140B-4E17-AC05-BDF687FF9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Rating lệch mạnh về phía tích cực; P4 giữ 78,20%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DF0086-9300-4B2B-85FE-E4083608F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960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B27C33-B849-4918-BF14-989B2CC86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81750"/>
            <a:ext cx="1000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Nguồn: data_story_summary.json / source.rating_counts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7D14A8-216E-4658-8509-B53D26FAE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153150"/>
            <a:ext cx="106680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675" b="0" i="1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675" b="0" i="1">
                <a:solidFill>
                  <a:srgbClr val="8C96A5"/>
                </a:solidFill>
                <a:latin typeface="Arial"/>
                <a:ea typeface="Arial"/>
                <a:cs typeface="Arial"/>
              </a:rPr>
              <a:t>Hiểu nhanh: P4 xem rating 4 hoặc 5 là positive interaction cho implicit ranking.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F3CC3A-4576-449C-8C18-CDE18BF87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72225"/>
            <a:ext cx="476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514350" y="1524000"/>
          <a:ext xmlns:a="http://schemas.openxmlformats.org/drawingml/2006/main" cx="6953250" cy="3476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275c87f9acf4156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0F021D-AAB8-4D37-901D-078F5FC6A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571625"/>
            <a:ext cx="30003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RAW ROWS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4C42B2-13B5-4D1F-B27E-FC07F8EDE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752600"/>
            <a:ext cx="300037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217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5.953.891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D6EB8C-5AF9-4752-94FB-42764C6D6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143125"/>
            <a:ext cx="30003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0 missing / parse-invalid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648B59-782D-4E3C-8963-4112CE87B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628900"/>
            <a:ext cx="30003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2CA47B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CA47B"/>
                </a:solidFill>
                <a:latin typeface="Arial"/>
                <a:ea typeface="Arial"/>
                <a:cs typeface="Arial"/>
              </a:rPr>
              <a:t>DUPLICATE PAIR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313EB5-AC26-48B9-9F5B-C26DA3F20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809875"/>
            <a:ext cx="300037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217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0DE30CD-2045-4192-BF9E-CEF49DA05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200400"/>
            <a:ext cx="30003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user–item exact audit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5A6480-C9DC-4CA6-9CC1-E9CF629CD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686175"/>
            <a:ext cx="30003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F4A24C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F4A24C"/>
                </a:solidFill>
                <a:latin typeface="Arial"/>
                <a:ea typeface="Arial"/>
                <a:cs typeface="Arial"/>
              </a:rPr>
              <a:t>NGOÀI [1,5]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72C1788-90A1-4AB9-B8F2-18859256B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867150"/>
            <a:ext cx="300037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217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962351E-5995-4090-9C91-993AF8B92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257675"/>
            <a:ext cx="30003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rating 0,0 đã quarantine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6E5B9FF-9ABD-4C1E-B409-C745E7642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791075"/>
            <a:ext cx="30003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F2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232804-9240-4A92-A6A0-1B4C3981E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933950"/>
            <a:ext cx="2714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Positive edge = rating 4 hoặc 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7C21AA0-4A53-4EA0-9868-00CAFBF5F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62625"/>
            <a:ext cx="11163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317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82D54D3-003A-4CC5-836F-4EA83C5A4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38825"/>
            <a:ext cx="1085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5★ chiếm 66,74%: training signal vốn đã không cân bằng</a:t>
            </a:r>
          </a:p>
        </p:txBody>
      </p:sp>
    </p:spTree>
    <p:extLst>
      <p:ext uri="{BB962C8B-B14F-4D97-AF65-F5344CB8AC3E}">
        <p14:creationId xmlns:p14="http://schemas.microsoft.com/office/powerpoint/2010/main" val="51138358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EEEBB57-26DE-4E02-ABDA-EB24BF9B3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04 / GRAPH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AFB9E5-5C92-468D-9271-DCEBDEF8D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Đồ thị train đã được xây trước khi chạy các mô hình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BCF813-42E4-4075-A551-AE71E58F3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960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B8E990-9570-45D4-A8E1-2ACD3DA72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81750"/>
            <a:ext cx="1000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Nguồn: baby_p4_g2c_manifest.json; data_story_summary.json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76FA5A-2748-4CCD-85FB-9C9B96C21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153150"/>
            <a:ext cx="106680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675" b="0" i="1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675" b="0" i="1">
                <a:solidFill>
                  <a:srgbClr val="8C96A5"/>
                </a:solidFill>
                <a:latin typeface="Arial"/>
                <a:ea typeface="Arial"/>
                <a:cs typeface="Arial"/>
              </a:rPr>
              <a:t>Hiểu nhanh: graph train chỉ dùng edge trước mốc thời gian; mapping biến ID gốc thành chỉ số node; target validation đứng ngoài graph train.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E96444-EDF5-4B37-A4BA-DF6E19EEA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72225"/>
            <a:ext cx="476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B18BBE-0AFF-4177-AAFF-6513AC0E6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90650"/>
            <a:ext cx="1078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Đây là dữ liệu đầu vào cố định cho MostPop, BPR-MF, Full LightGCN, M0, M1 và M2. Các phương pháp chỉ khác cách lấy context khi train, không tạo lại graph.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879A81-A028-4E09-8CF6-5DA44DD45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52700"/>
            <a:ext cx="2447925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9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889CDA-9AD0-42C3-BDD0-7D67078A6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52700"/>
            <a:ext cx="24479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8BFF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B60191-999E-4F78-BD24-655AFD207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09875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44304C-9104-4BCD-8003-22DBCC8DE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33725"/>
            <a:ext cx="21240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P4 interaction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B99F3BD-C17C-479D-8DEE-9D02266E1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48050"/>
            <a:ext cx="21240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4.655.843 rating 4–5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A48321-18DA-4624-972F-5DD71091A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3190875"/>
            <a:ext cx="342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17C456-9053-4CF8-952B-42B0E0DBD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2552700"/>
            <a:ext cx="2447925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9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E8AD2A-A7E7-447C-B0D7-C8E7B4C98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2552700"/>
            <a:ext cx="24479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A47B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999388C-9165-487B-B773-70D54EFE7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809875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2CA47B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2CA47B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09E188-BAB8-4DF9-9971-B2E6E4DE2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133725"/>
            <a:ext cx="21240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Temporal train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FE4DB3C-5AE7-428E-8597-C47BED53F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448050"/>
            <a:ext cx="21240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3.868.654 edge trước cutoff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228EEE-A977-4DC5-8629-3E35C8E51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3190875"/>
            <a:ext cx="342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8E284E0-B6B6-4A17-98BA-D7D31D96D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552700"/>
            <a:ext cx="2447925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9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E681194-7416-467D-A893-7E45BFF0B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552700"/>
            <a:ext cx="24479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A24C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BFC1F65-D737-4223-9530-A0E2CC87E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809875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F4A24C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4A24C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B1CB1F4-6B53-4C4B-BA6E-CE97EC232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133725"/>
            <a:ext cx="21240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Graph artifact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665691F-8951-4AA3-A48E-0A0A08E65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448050"/>
            <a:ext cx="21240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user/item mapping + train edge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CFCDF31-2859-4D2D-80F6-72972BE57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3190875"/>
            <a:ext cx="342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D5B397F-33ED-4B04-A04B-97CBE0040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6825" y="2552700"/>
            <a:ext cx="2447925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9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CE1DD6F-E817-4E9B-89E7-1C9A6623E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6825" y="2552700"/>
            <a:ext cx="24479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5555"/>
          </a:solidFill>
          <a:ln xmlns:a="http://schemas.openxmlformats.org/drawingml/2006/main" w="0">
            <a:noFill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7311274-D9D5-4AB1-A5D9-C5420BAB7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2809875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D65555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D65555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0D85D35-7677-459D-8A3F-4444B27A5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3133725"/>
            <a:ext cx="21240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Training &amp; validation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298204B-469D-411F-8D2F-544E31F0F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3448050"/>
            <a:ext cx="21240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cùng graph, sampler khác nhau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E7B0DB2-4CD5-433D-B097-EA412FD11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33875"/>
            <a:ext cx="10782300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0">
            <a:noFill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9BB4AE3-78B6-4477-B1C3-21CB875C8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24375"/>
            <a:ext cx="2333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GRAPH ĐÃ CÓ GÌ?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DF21ED7-E54C-491D-A92A-116B5CA8A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1012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2.318.308 user  |  162.125 item  |  3.868.654 edge train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7CACC1F-A835-4C65-B2C8-BFE2ABF6E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05400"/>
            <a:ext cx="933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Validation có 81.871 target warm-start và không được thêm edge vào graph train.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B05EAA0-A485-4D8B-B8DD-C32C59775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62625"/>
            <a:ext cx="11163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317"/>
          </a:solidFill>
          <a:ln xmlns:a="http://schemas.openxmlformats.org/drawingml/2006/main" w="0">
            <a:noFill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9572024-58A2-48E7-B462-56E520F91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38825"/>
            <a:ext cx="1085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Chỉ khi mở rộng sang Yelp2018 hoặc Gowalla mới cần xây một đồ thị mới, tách riêng khỏi kết quả Baby</a:t>
            </a:r>
          </a:p>
        </p:txBody>
      </p:sp>
    </p:spTree>
    <p:extLst>
      <p:ext uri="{BB962C8B-B14F-4D97-AF65-F5344CB8AC3E}">
        <p14:creationId xmlns:p14="http://schemas.microsoft.com/office/powerpoint/2010/main" val="29247967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BD590D1-C476-4E6A-AFC3-3DED5E99F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04 / GRAPH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B9B056-C58B-4C2A-8042-A937C558F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Graph lớn, nhưng lịch sử của phần lớn node rất mỏng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EA442A-CBC7-4199-A47C-BAB253364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960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9B1104-7701-4F8E-AE43-12E81D087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81750"/>
            <a:ext cx="1000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Nguồn: data_story_summary.json / training_graph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949132-B8AC-4075-BD45-B713FE89D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153150"/>
            <a:ext cx="106680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675" b="0" i="1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675" b="0" i="1">
                <a:solidFill>
                  <a:srgbClr val="8C96A5"/>
                </a:solidFill>
                <a:latin typeface="Arial"/>
                <a:ea typeface="Arial"/>
                <a:cs typeface="Arial"/>
              </a:rPr>
              <a:t>Hiểu nhanh: degree là số cạnh của node; density là phần cạnh thật trên mọi cặp user-item có thể.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D4EF0B-2FAD-4181-A2EB-4FB88352B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72225"/>
            <a:ext cx="476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graphicFrame>
        <p:nvGraphicFramePr>
          <p:cNvPr id="29" name="Chart"/>
          <p:cNvGraphicFramePr/>
          <p:nvPr/>
        </p:nvGraphicFramePr>
        <p:xfrm>
          <a:off xmlns:a="http://schemas.openxmlformats.org/drawingml/2006/main" x="514350" y="1524000"/>
          <a:ext xmlns:a="http://schemas.openxmlformats.org/drawingml/2006/main" cx="6667500" cy="3238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f3e4037667a439b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D07150-00C7-4994-A61F-4E21FE7E9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1428750"/>
            <a:ext cx="3429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TRAINING GRAPH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784360-FC1E-4555-97BD-7470A7701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1609725"/>
            <a:ext cx="34290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217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3.868.654 edge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F60AE5-306B-44C8-B322-C88722495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200025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2.318.308 user, 162.125 item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82D507-2F54-4690-8763-F3EFADC25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2543175"/>
            <a:ext cx="3429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F4A24C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F4A24C"/>
                </a:solidFill>
                <a:latin typeface="Arial"/>
                <a:ea typeface="Arial"/>
                <a:cs typeface="Arial"/>
              </a:rPr>
              <a:t>DENSITY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9A9F15-4B31-4D24-912F-05503DFE1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2724150"/>
            <a:ext cx="34290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217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1,0293 × 10⁻⁵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AA1433E-3554-4AEE-A750-FEF9271D5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114675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Bipartite graph cực thưa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4351277-9FBE-4AC2-9BA2-F9E2527CF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657600"/>
            <a:ext cx="3429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2CA47B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CA47B"/>
                </a:solidFill>
                <a:latin typeface="Arial"/>
                <a:ea typeface="Arial"/>
                <a:cs typeface="Arial"/>
              </a:rPr>
              <a:t>LARGEST COMPONENT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9702DC-4ACB-49FF-B612-CA92B2B28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838575"/>
            <a:ext cx="34290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217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96,50% node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1B168A-C006-4111-9F14-C0B04298A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422910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2.393.587 / 2.480.433 node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2A91622-774B-4D86-9249-C1DC56E60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933950"/>
            <a:ext cx="10763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9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3B66B7-47AE-4847-A41E-3B6B338D4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76825"/>
            <a:ext cx="2095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Degree p50 / p90 / p99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41354A-D87E-42EF-8FC7-23C9C06DC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5048250"/>
            <a:ext cx="2762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User  1 / 3 / 9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AFBC063-D5C6-4B24-A1B8-DAAA9C1E9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048250"/>
            <a:ext cx="3143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Item  3 / 32 / 397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59B4B09-EEAC-4121-A4BC-55BACAC0C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62625"/>
            <a:ext cx="11163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317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371E18C-F77D-4FAE-8C35-A9967936A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38825"/>
            <a:ext cx="1085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Mean metric không đủ: phải xem theo cohort user activity và item popularity</a:t>
            </a:r>
          </a:p>
        </p:txBody>
      </p:sp>
    </p:spTree>
    <p:extLst>
      <p:ext uri="{BB962C8B-B14F-4D97-AF65-F5344CB8AC3E}">
        <p14:creationId xmlns:p14="http://schemas.microsoft.com/office/powerpoint/2010/main" val="10193793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E33A07-356E-45B4-825D-6F1108248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05 / POPULARITY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F1EA3C-CD15-441C-8734-2DD1D5F0A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1% item giữ 44,09% training interaction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8C11F5-4353-4293-A526-929BFA22D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960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0C4BFF-C949-476F-87C1-53F4E1472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81750"/>
            <a:ext cx="1000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Nguồn: data story top-item shares + cohorts_v1.json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773FA4-8351-45BF-BDB0-789BEF799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153150"/>
            <a:ext cx="106680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675" b="0" i="1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675" b="0" i="1">
                <a:solidFill>
                  <a:srgbClr val="8C96A5"/>
                </a:solidFill>
                <a:latin typeface="Arial"/>
                <a:ea typeface="Arial"/>
                <a:cs typeface="Arial"/>
              </a:rPr>
              <a:t>Hiểu nhanh: Gini cao nghĩa là interaction dồn vào ít item; head/body/tail dựa trên training degree.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3AC8C2-E1F2-4133-BCE6-739B42DF4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72225"/>
            <a:ext cx="476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graphicFrame>
        <p:nvGraphicFramePr>
          <p:cNvPr id="19" name="Chart"/>
          <p:cNvGraphicFramePr/>
          <p:nvPr/>
        </p:nvGraphicFramePr>
        <p:xfrm>
          <a:off xmlns:a="http://schemas.openxmlformats.org/drawingml/2006/main" x="514350" y="1504950"/>
          <a:ext xmlns:a="http://schemas.openxmlformats.org/drawingml/2006/main" cx="5286375" cy="3333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f5c71f8c652450e"/>
          </a:graphicData>
        </a:graphic>
      </p:graphicFrame>
      <p:graphicFrame>
        <p:nvGraphicFramePr>
          <p:cNvPr id="20" name="Chart"/>
          <p:cNvGraphicFramePr/>
          <p:nvPr/>
        </p:nvGraphicFramePr>
        <p:xfrm>
          <a:off xmlns:a="http://schemas.openxmlformats.org/drawingml/2006/main" x="6191250" y="1504950"/>
          <a:ext xmlns:a="http://schemas.openxmlformats.org/drawingml/2006/main" cx="5143500" cy="3333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2a5426d286f4eb2"/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5914CB-5693-410A-BD0A-43500E663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9530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F4A24C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F4A24C"/>
                </a:solidFill>
                <a:latin typeface="Arial"/>
                <a:ea typeface="Arial"/>
                <a:cs typeface="Arial"/>
              </a:rPr>
              <a:t>Gini item-degree = 0,8584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E2D713-CD41-4F9B-A3E7-D1C1EEB75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991100"/>
            <a:ext cx="752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44,09% = exact top-1% cumulative; 44,16% = cohort head tie-aware.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FA9A41-12EA-4D74-BBD2-02F9E32AB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62625"/>
            <a:ext cx="11163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317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29C24E-391F-4D8E-B88C-363EF5220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38825"/>
            <a:ext cx="1085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Accuracy phải đi cùng coverage, exposure và hit theo head/body/tail</a:t>
            </a:r>
          </a:p>
        </p:txBody>
      </p:sp>
    </p:spTree>
    <p:extLst>
      <p:ext uri="{BB962C8B-B14F-4D97-AF65-F5344CB8AC3E}">
        <p14:creationId xmlns:p14="http://schemas.microsoft.com/office/powerpoint/2010/main" val="31605505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5E8AAA4-A32C-4884-A1AB-4C3E24FD6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06 / PHẠM VI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AE44B5-70C3-4C36-9203-D752AAD9B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Warm-start chỉ giữ 21,90% validation và 9,82% test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70115B-E351-462B-BD5A-7D04116B9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960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53D6D7-3DE8-4253-AEA9-37F3ADB55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81750"/>
            <a:ext cx="1000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Nguồn: data_story_summary.json / temporal_population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D4F3FF-6CAA-4182-899C-EC9A231C6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153150"/>
            <a:ext cx="106680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675" b="0" i="1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675" b="0" i="1">
                <a:solidFill>
                  <a:srgbClr val="8C96A5"/>
                </a:solidFill>
                <a:latin typeface="Arial"/>
                <a:ea typeface="Arial"/>
                <a:cs typeface="Arial"/>
              </a:rPr>
              <a:t>Hiểu nhanh: OOV là user hoặc item chưa có mapping train; exact catalog xếp trên toàn bộ item hợp lệ.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E29E84-601D-4258-BA6A-32F929B47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72225"/>
            <a:ext cx="476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graphicFrame>
        <p:nvGraphicFramePr>
          <p:cNvPr id="25" name="Chart"/>
          <p:cNvGraphicFramePr/>
          <p:nvPr/>
        </p:nvGraphicFramePr>
        <p:xfrm>
          <a:off xmlns:a="http://schemas.openxmlformats.org/drawingml/2006/main" x="514350" y="1571625"/>
          <a:ext xmlns:a="http://schemas.openxmlformats.org/drawingml/2006/main" cx="72390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9292369e8a6462e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7FC5DF-6B69-470A-8268-DD2283291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71625"/>
            <a:ext cx="31432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2CA47B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CA47B"/>
                </a:solidFill>
                <a:latin typeface="Arial"/>
                <a:ea typeface="Arial"/>
                <a:cs typeface="Arial"/>
              </a:rPr>
              <a:t>VALIDATION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3DF7ED-DFE7-407E-B623-301D37D17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752600"/>
            <a:ext cx="3143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217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81.871 / 373.776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BC341A-9297-40C6-BB03-59223E622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143125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warm target / candidate row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DEB2C8-45FB-4AA5-A8B6-E9E704BCE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05100"/>
            <a:ext cx="31432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TEST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33D540B-41EF-4DB7-B819-2678D83C3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886075"/>
            <a:ext cx="3143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217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40.587 / 413.413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B858F6-03A6-4261-8110-5C9829336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7660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warm target / candidate row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269A04-C29C-455C-80CD-A56080DFC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971925"/>
            <a:ext cx="31432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E6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D08D27C-3924-4A49-943E-23DA8170F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114800"/>
            <a:ext cx="2838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F4A24C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F4A24C"/>
                </a:solidFill>
                <a:latin typeface="Arial"/>
                <a:ea typeface="Arial"/>
                <a:cs typeface="Arial"/>
              </a:rPr>
              <a:t>RANH GIỚI CLAIM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7C19F62-B571-4134-AD46-36D324A23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391025"/>
            <a:ext cx="2838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Chỉ temporal warm-start, pure-ID.</a:t>
            </a:r>
          </a:p>
          <a:p xmlns:a="http://schemas.openxmlformats.org/drawingml/2006/main">
            <a:pPr algn="l">
              <a:defRPr sz="127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Không suy ra cold-start toàn dữ liệu.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85845B0-DE9D-4D65-971F-D049CEDC9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62625"/>
            <a:ext cx="11163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317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C87C976-D132-4207-B7B3-DC420AF7F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38825"/>
            <a:ext cx="1085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Test artifact tồn tại nhưng target chưa được đọc trong validation</a:t>
            </a:r>
          </a:p>
        </p:txBody>
      </p:sp>
    </p:spTree>
    <p:extLst>
      <p:ext uri="{BB962C8B-B14F-4D97-AF65-F5344CB8AC3E}">
        <p14:creationId xmlns:p14="http://schemas.microsoft.com/office/powerpoint/2010/main" val="98914338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F02C109-354E-462B-8DA7-2DC09C609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07 / METRIC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095725-37F7-4022-9D8F-3BAE8C303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NDCG@20 và Recall@20 đọc chất lượng ranking khác nhau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AC3FFC-1D10-423E-8DC3-6BE0BDF35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960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1B3A08-DFD1-4E59-9BE0-E927FA404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81750"/>
            <a:ext cx="1000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Nguồn nền tảng: BPR (UAI 2009), LightGCN (SIGIR 2020)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235BA6-4FE5-4AB6-9465-9800A1EA6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153150"/>
            <a:ext cx="106680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675" b="0" i="1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675" b="0" i="1">
                <a:solidFill>
                  <a:srgbClr val="8C96A5"/>
                </a:solidFill>
                <a:latin typeface="Arial"/>
                <a:ea typeface="Arial"/>
                <a:cs typeface="Arial"/>
              </a:rPr>
              <a:t>Hiểu nhanh: NDCG thưởng target đứng sớm; Recall chỉ hỏi target có vào top-20 hay không.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271453-52C6-4A1C-B944-EE101827C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72225"/>
            <a:ext cx="476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493E45-C8C7-47A3-AAF3-C9C5A0C91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52550"/>
            <a:ext cx="111633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317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E932F2-7A2D-4719-9217-4CF3E3818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04950"/>
            <a:ext cx="10706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Mỗi dòng validation có một item mục tiêu. Hai metric đầu tiên trả lời: item đó có vào top 20 không, và nếu có thì đứng ở đâu?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25CD2E-EF8D-436E-AA93-300567D3D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66975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NDCG@20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3B378E-0FA8-4E09-8C77-498727EA9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790825"/>
            <a:ext cx="5000625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203200" indent="-101600" algn="l">
              <a:spcAft>
                <a:spcPts val="300"/>
              </a:spcAft>
              <a:buChar char="•"/>
              <a:defRPr sz="1350" b="0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Hit ở rank 1 giá trị hơn hit ở rank 20, nên NDCG là metric chính.</a:t>
            </a:r>
          </a:p>
          <a:p xmlns:a="http://schemas.openxmlformats.org/drawingml/2006/main">
            <a:pPr marL="203200" indent="-101600" algn="l">
              <a:spcAft>
                <a:spcPts val="300"/>
              </a:spcAft>
              <a:buChar char="•"/>
              <a:defRPr sz="1350" b="0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Với một target mỗi dòng, hit ở rank r nhận điểm 1/log₂(r+1).</a:t>
            </a:r>
          </a:p>
          <a:p xmlns:a="http://schemas.openxmlformats.org/drawingml/2006/main">
            <a:pPr marL="203200" indent="-101600" algn="l">
              <a:spcAft>
                <a:spcPts val="300"/>
              </a:spcAft>
              <a:buChar char="•"/>
              <a:defRPr sz="1350" b="0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Miss hoặc rank ngoài 20 nhận điểm 0.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3C854F-E27C-4B26-AD84-CE716EF34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2381250"/>
            <a:ext cx="190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484C7C-7A59-4941-9FF0-B53DC706D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466975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2CA47B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CA47B"/>
                </a:solidFill>
                <a:latin typeface="Arial"/>
                <a:ea typeface="Arial"/>
                <a:cs typeface="Arial"/>
              </a:rPr>
              <a:t>RECALL@20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24628A-3D06-40C6-80D3-7AEB92B83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809875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2CA47B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2CA47B"/>
                </a:solidFill>
                <a:latin typeface="Arial"/>
                <a:ea typeface="Arial"/>
                <a:cs typeface="Arial"/>
              </a:rPr>
              <a:t>Câu hỏi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370AB9-BEB4-42E3-97FE-7192E9BA5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790825"/>
            <a:ext cx="3381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Item mục tiêu có xuất hiện trong 20 item đầu không?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8FE4FCB-B56E-4586-B211-C9820ADD6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181350"/>
            <a:ext cx="5000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E529657-6917-4BFD-86CC-CC66FB37A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381375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Điểm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BCE3E1-3384-49D9-B23F-4C611AFC9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362325"/>
            <a:ext cx="3381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Có hit là 1, không hit là 0. Không phân biệt rank 1 và 20.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83DB472-9324-4EFA-A321-3EF835A8A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752850"/>
            <a:ext cx="5000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855ED17-B492-43BD-A831-B5B866B84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52875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F4A24C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4A24C"/>
                </a:solidFill>
                <a:latin typeface="Arial"/>
                <a:ea typeface="Arial"/>
                <a:cs typeface="Arial"/>
              </a:rPr>
              <a:t>Vai trò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9F97F9B-E23D-4F0E-BF64-B67C6653D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933825"/>
            <a:ext cx="3381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Dễ hiểu, nhưng phải đi cùng NDCG để không bỏ qua thứ tự.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0023B20-8F10-463B-81B3-A95F9E59A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324350"/>
            <a:ext cx="5000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97C47AE-459D-44D9-BD38-98E65331A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524375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D65555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D65555"/>
                </a:solidFill>
                <a:latin typeface="Arial"/>
                <a:ea typeface="Arial"/>
                <a:cs typeface="Arial"/>
              </a:rPr>
              <a:t>Evaluator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D874916-DFC6-4613-BF80-BE192689B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505325"/>
            <a:ext cx="3381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Xếp hạng exact trên toàn bộ training catalog hợp lệ, không sampled ranking.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E711EF6-721A-4ABA-9664-F9C8662EB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019675"/>
            <a:ext cx="50006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E6"/>
          </a:solidFill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52F681D-EB8F-40BA-81CB-5B20B5B9B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5124450"/>
            <a:ext cx="4714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NDCG và Recall đo ranking target, chưa nói gì về đa dạng hay nghĩa của item.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B6A375D-FF44-4ADE-8B0E-108EBE10A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62625"/>
            <a:ext cx="11163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317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E3AD7C7-7494-4104-A6C9-BF2FB457F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38825"/>
            <a:ext cx="1085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NDCG ưu tiên thứ hạng sớm; Recall trả lời trực tiếp tỷ lệ tìm được target</a:t>
            </a:r>
          </a:p>
        </p:txBody>
      </p:sp>
    </p:spTree>
    <p:extLst>
      <p:ext uri="{BB962C8B-B14F-4D97-AF65-F5344CB8AC3E}">
        <p14:creationId xmlns:p14="http://schemas.microsoft.com/office/powerpoint/2010/main" val="248504141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F7121C9-EBED-434E-A580-1A7BCAD8D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07 / METRIC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CC6F74-CB21-40BB-8DE7-9E2E946AA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Coverage, cohort và semantic diversity là ba khái niệm khác nhau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33EFF4-F327-4002-9271-F01D0CC4E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960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666F79-3CC6-4670-BA11-C598C0F5B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81750"/>
            <a:ext cx="1000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Nguồn: data_story_summary.json; THESIS_REPORT_vn.md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112F76-E696-4C59-A771-1411A082D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153150"/>
            <a:ext cx="106680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675" b="0" i="1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675" b="0" i="1">
                <a:solidFill>
                  <a:srgbClr val="8C96A5"/>
                </a:solidFill>
                <a:latin typeface="Arial"/>
                <a:ea typeface="Arial"/>
                <a:cs typeface="Arial"/>
              </a:rPr>
              <a:t>Hiểu nhanh: coverage đo độ rộng catalog; exposure đo phân bổ slot; semantic diversity cần metadata.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22DCD8-E22F-4DA0-8650-C8FD4325D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72225"/>
            <a:ext cx="476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422CD4-1F2D-4FE2-BAB6-074F171DC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28750"/>
            <a:ext cx="2667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Catalog Coverage@20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B16626-CEB2-4401-9B62-158C5C084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428750"/>
            <a:ext cx="3524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Bao nhiêu item khác nhau xuất hiện trong mọi top-20 list?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FFD4EA-BEA5-4321-95BF-E893EBA5E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428750"/>
            <a:ext cx="3905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Phát hiện catalog collapse; không nói item có giống nhau về nghĩa hay không.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35930D-0293-4920-A4BD-DBBF50862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52650"/>
            <a:ext cx="10782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AEBC28-7F4E-42EF-A261-31C587773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81250"/>
            <a:ext cx="2667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2CA47B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2CA47B"/>
                </a:solidFill>
                <a:latin typeface="Arial"/>
                <a:ea typeface="Arial"/>
                <a:cs typeface="Arial"/>
              </a:rPr>
              <a:t>Exposure và hit theo cohort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8BE699-7830-4BD7-A63A-33FF0BA63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381250"/>
            <a:ext cx="3524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Các slot và hit thuộc head, body hay tail?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8F2011-FA4F-4146-83B8-67557D6F4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381250"/>
            <a:ext cx="3905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Kiểm tra phân bổ popularity và target relevance theo nhóm.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C9A75E-275E-42CD-93AF-E60F61EBF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105150"/>
            <a:ext cx="10782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8CF698-BF1D-4F5B-AE2A-9A293C2F6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33750"/>
            <a:ext cx="2667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F4A24C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4A24C"/>
                </a:solidFill>
                <a:latin typeface="Arial"/>
                <a:ea typeface="Arial"/>
                <a:cs typeface="Arial"/>
              </a:rPr>
              <a:t>Semantic match/diversity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4232A7-5608-4CD7-BF76-A8F65D0C5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333750"/>
            <a:ext cx="3524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Sản phẩm có giống nghĩa, khác category hay hợp sở thích không?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AD3704-C712-4221-B9DE-8E981819D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333750"/>
            <a:ext cx="3905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Không đo được: file chính chỉ có ID, rating và thời gian; không có text/category/embedding.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735A7B1-9797-4ADC-8DA4-B9355E2D2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57650"/>
            <a:ext cx="10782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7FE1524-3EA7-4DED-AB13-DDACEC1F8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0"/>
            <a:ext cx="2667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D65555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D65555"/>
                </a:solidFill>
                <a:latin typeface="Arial"/>
                <a:ea typeface="Arial"/>
                <a:cs typeface="Arial"/>
              </a:rPr>
              <a:t>Time và GPU memory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36AEA54-F866-4963-8577-170381D8D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286250"/>
            <a:ext cx="3524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Mất bao lâu, dùng bộ nhớ đỉnh bao nhiêu?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D3705CC-303C-45FE-832B-114D12229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286250"/>
            <a:ext cx="3905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Đọc trade-off, vì sampler tốt hơn một chút nhưng quá chậm chưa chắc đáng dùng.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2CD8731-05ED-4C7B-9493-386D3E8CD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381625"/>
            <a:ext cx="10782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E6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190E53F-D6FD-49C3-9787-7AF22434A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57825"/>
            <a:ext cx="1038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Vì vậy không dùng một chữ “đa dạng” chung chung: phải nói rõ đa dạng catalog, phân bổ popularity hay đa dạng ngữ nghĩa.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3FE4AF2-CB34-465C-9801-D8FB4DFE3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91200"/>
            <a:ext cx="11163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317"/>
          </a:solidFill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71D54F0-5AA8-47BE-BB08-F70C701AC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67400"/>
            <a:ext cx="1085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M2 có thể đổi phân bổ context, nhưng điều đó chỉ có giá trị nếu target ranking hoặc trade-off cải thiện</a:t>
            </a:r>
          </a:p>
        </p:txBody>
      </p:sp>
    </p:spTree>
    <p:extLst>
      <p:ext uri="{BB962C8B-B14F-4D97-AF65-F5344CB8AC3E}">
        <p14:creationId xmlns:p14="http://schemas.microsoft.com/office/powerpoint/2010/main" val="993275421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2DD3D9-896D-490D-AF2D-27BB8A3B3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08 / THIẾT KẾ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C1F351-7DF7-49EF-A5D6-7108A5877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Đi từ sanity gate đến matched sampler rồi paired validation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FEE382-92AD-4115-B4A8-81BB35353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960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A4DE77-9700-42E4-BB74-0E573E939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81750"/>
            <a:ext cx="1000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Nguồn: configs/*.json; PHASE2_RESEARCH_PLAN_vn.md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06377D-3B04-4577-A89E-644ED5325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153150"/>
            <a:ext cx="106680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675" b="0" i="1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675" b="0" i="1">
                <a:solidFill>
                  <a:srgbClr val="8C96A5"/>
                </a:solidFill>
                <a:latin typeface="Arial"/>
                <a:ea typeface="Arial"/>
                <a:cs typeface="Arial"/>
              </a:rPr>
              <a:t>Hiểu nhanh: sanity gate kiểm tra pipeline bằng baseline trước khi so sánh sampler.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2C23EE-F2C5-4EEC-AAF7-3F449250F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72225"/>
            <a:ext cx="476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graphicFrame>
        <p:nvGraphicFramePr>
          <p:cNvPr id="18" name=""/>
          <p:cNvGraphicFramePr/>
          <p:nvPr/>
        </p:nvGraphicFramePr>
        <p:xfrm>
          <a:off xmlns:a="http://schemas.openxmlformats.org/drawingml/2006/main" x="514350" y="1381125"/>
          <a:ext xmlns:a="http://schemas.openxmlformats.org/drawingml/2006/main" cx="11163300" cy="33813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524000"/>
                <a:gridCol w="2381250"/>
                <a:gridCol w="3810000"/>
                <a:gridCol w="3448050"/>
              </a:tblGrid>
              <a:tr h="48305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Mã</a:t>
                      </a:r>
                    </a:p>
                  </a:txBody>
                  <a:tcPr marL="76200" marR="76200" marT="57150" marB="57150">
                    <a:solidFill>
                      <a:srgbClr val="111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Vai trò</a:t>
                      </a:r>
                    </a:p>
                  </a:txBody>
                  <a:tcPr marL="76200" marR="76200" marT="57150" marB="57150">
                    <a:solidFill>
                      <a:srgbClr val="111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Điều thay đổi</a:t>
                      </a:r>
                    </a:p>
                  </a:txBody>
                  <a:tcPr marL="76200" marR="76200" marT="57150" marB="57150">
                    <a:solidFill>
                      <a:srgbClr val="111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Mục đích</a:t>
                      </a:r>
                    </a:p>
                  </a:txBody>
                  <a:tcPr marL="76200" marR="76200" marT="57150" marB="57150">
                    <a:solidFill>
                      <a:srgbClr val="111317"/>
                    </a:solidFill>
                  </a:tcPr>
                </a:tc>
              </a:tr>
              <a:tr h="48305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MostPop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Sanity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Không học embedding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Kiểm split / evaluator / popularity failure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</a:tr>
              <a:tr h="48305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BPR-MF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Sanity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Pairwise ranking, không message passing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Kiểm đường train và coverage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</a:tr>
              <a:tr h="48305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Full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Backbone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Full-graph LightGCN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Mốc feasibility cho message passing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</a:tr>
              <a:tr h="48305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M0</a:t>
                      </a:r>
                    </a:p>
                  </a:txBody>
                  <a:tcPr marL="76200" marR="76200" marT="57150" marB="57150">
                    <a:solidFill>
                      <a:srgbClr val="EAF3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Matched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Uniform không hoàn lại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Đối chứng sampling đơn giản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</a:tr>
              <a:tr h="48305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M1</a:t>
                      </a:r>
                    </a:p>
                  </a:txBody>
                  <a:tcPr marL="76200" marR="76200" marT="57150" marB="57150">
                    <a:solidFill>
                      <a:srgbClr val="EAF7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Matched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Degree-aware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Static reference mạnh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</a:tr>
              <a:tr h="48305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M2</a:t>
                      </a:r>
                    </a:p>
                  </a:txBody>
                  <a:tcPr marL="76200" marR="76200" marT="57150" marB="57150">
                    <a:solidFill>
                      <a:srgbClr val="FFF3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Proposed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Frontier / √degree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Task-conditioned candidate đã khóa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8C8465-6152-4506-A3AB-97906DACF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000625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2CA47B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CA47B"/>
                </a:solidFill>
                <a:latin typeface="Arial"/>
                <a:ea typeface="Arial"/>
                <a:cs typeface="Arial"/>
              </a:rPr>
              <a:t>MATCHED CONTRACT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3B9D71-D510-4150-B462-23550AF21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953000"/>
            <a:ext cx="9144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5 epoch • 300 optimizer step • batch 65.536 • kₗ = 65.536 × 3 lớp • 58.982.400 context slot • Tesla T4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D30A968-51BF-4CFD-A7CE-D67B2AB2F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62625"/>
            <a:ext cx="11163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317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697130-0C9A-4BC9-8720-43459D6F6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38825"/>
            <a:ext cx="1085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Trong từng paired seed, init embedding, pair order và negative draw khớp giữa M0–M1–M2</a:t>
            </a:r>
          </a:p>
        </p:txBody>
      </p:sp>
    </p:spTree>
    <p:extLst>
      <p:ext uri="{BB962C8B-B14F-4D97-AF65-F5344CB8AC3E}">
        <p14:creationId xmlns:p14="http://schemas.microsoft.com/office/powerpoint/2010/main" val="209425626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9CA6D1-51F1-4C2F-938C-07E85EE89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09 / BASELINES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1AB025-EC09-4E2F-AE8E-36F986C3E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Baseline cho thấy accuracy, coverage và popularity không đi cùng nhau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666155-DEBF-41CD-9F94-9E6DE048B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960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4C0BD4-06D8-4B6A-A314-989015472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81750"/>
            <a:ext cx="1000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Nguồn: mostpop / bpr_mf / full_lightgcn validation summaries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3CAADB-546D-4FF1-9EBF-3AB2938D7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153150"/>
            <a:ext cx="106680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675" b="0" i="1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675" b="0" i="1">
                <a:solidFill>
                  <a:srgbClr val="8C96A5"/>
                </a:solidFill>
                <a:latin typeface="Arial"/>
                <a:ea typeface="Arial"/>
                <a:cs typeface="Arial"/>
              </a:rPr>
              <a:t>Hiểu nhanh: MostPop chọn item phổ biến; BPR-MF là matrix factorization; Full dùng LightGCN không sampling.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14CD32-5AA1-4FEB-8CBF-CA0E9EFC2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72225"/>
            <a:ext cx="476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graphicFrame>
        <p:nvGraphicFramePr>
          <p:cNvPr id="23" name="Chart"/>
          <p:cNvGraphicFramePr/>
          <p:nvPr/>
        </p:nvGraphicFramePr>
        <p:xfrm>
          <a:off xmlns:a="http://schemas.openxmlformats.org/drawingml/2006/main" x="514350" y="1476375"/>
          <a:ext xmlns:a="http://schemas.openxmlformats.org/drawingml/2006/main" cx="6000750" cy="3190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a33c72ba4304358"/>
          </a:graphicData>
        </a:graphic>
      </p:graphicFrame>
      <p:graphicFrame>
        <p:nvGraphicFramePr>
          <p:cNvPr id="24" name="Chart"/>
          <p:cNvGraphicFramePr/>
          <p:nvPr/>
        </p:nvGraphicFramePr>
        <p:xfrm>
          <a:off xmlns:a="http://schemas.openxmlformats.org/drawingml/2006/main" x="6858000" y="1476375"/>
          <a:ext xmlns:a="http://schemas.openxmlformats.org/drawingml/2006/main" cx="4476750" cy="3190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0493995466749ec"/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AAEF2B-DDB9-42B0-A5E0-0A261C60D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905375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MostPop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A1D315-CDE5-418B-A088-196B09DAC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867275"/>
            <a:ext cx="2524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1.195 hit • 25 item • 100% head exposure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3176F1-D9CE-47CC-9CE9-9D2125861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4905375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2CA47B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CA47B"/>
                </a:solidFill>
                <a:latin typeface="Arial"/>
                <a:ea typeface="Arial"/>
                <a:cs typeface="Arial"/>
              </a:rPr>
              <a:t>BPR-MF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AA126B-35DA-461A-9481-E1247C15C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867275"/>
            <a:ext cx="2524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853 hit • 5.434 item • 23 body hit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52D2B03-CD27-4B7C-8798-363C5E5FC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905375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7157D9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7157D9"/>
                </a:solidFill>
                <a:latin typeface="Arial"/>
                <a:ea typeface="Arial"/>
                <a:cs typeface="Arial"/>
              </a:rPr>
              <a:t>Full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8B53B5-D267-4EB9-B157-524FAE26E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867275"/>
            <a:ext cx="2524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1.013 hit • 1.032 item • 1.012/1.013 hit thuộc head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6D727C9-BAB6-4F64-9178-C652302F2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62625"/>
            <a:ext cx="11163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317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021D1B6-DC8B-48C1-AA2D-7280C1EFE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38825"/>
            <a:ext cx="1085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Không gọi baseline nào là ‘tối ưu’: đây là các sanity gate cố định, chưa tuning</a:t>
            </a:r>
          </a:p>
        </p:txBody>
      </p:sp>
    </p:spTree>
    <p:extLst>
      <p:ext uri="{BB962C8B-B14F-4D97-AF65-F5344CB8AC3E}">
        <p14:creationId xmlns:p14="http://schemas.microsoft.com/office/powerpoint/2010/main" val="2055319610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FCC1051-9BC8-4DF8-B198-491760ABD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10 / THIẾT KẾ SO SÁNH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F6206C-EEF6-4226-8EDB-145C71B0A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M không phải tên model: M0, M1, M2 là ba cách chọn context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CFE5A5-087C-4D4A-9613-441692C00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960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109EF6-D9F9-4FF7-A9E3-43DBF4427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81750"/>
            <a:ext cx="1000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Nguồn: configs M0/M1/M2; protocol audit; THESIS_REPORT_vn.md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5CC385-FE4E-4649-B439-F3A58F532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153150"/>
            <a:ext cx="106680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675" b="0" i="1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675" b="0" i="1">
                <a:solidFill>
                  <a:srgbClr val="8C96A5"/>
                </a:solidFill>
                <a:latin typeface="Arial"/>
                <a:ea typeface="Arial"/>
                <a:cs typeface="Arial"/>
              </a:rPr>
              <a:t>Hiểu nhanh: M là method label; BPR là loss xếp positive cao hơn negative; budget là số mẫu tối đa mỗi layer.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A3177D-DB47-4DA6-A5A6-2187B3CBB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72225"/>
            <a:ext cx="476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A76AAB-5F2D-4D5C-B7C1-72E3C2141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33500"/>
            <a:ext cx="111633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9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567549-F629-4EE0-9323-568F5BE2C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43050"/>
            <a:ext cx="10715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Cùng một LightGCN được huấn luyện trên cùng graph. M chỉ cho biết quy tắc sampler dùng để chọn các node và edge lân cận mà model nhìn thấy trong batch.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C2B1F3-9E13-4C96-BD89-FF9DCC234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6695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GIỮ CỐ ĐỊNH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5D2AE3-D313-4164-BD75-A612C9FDB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33650"/>
            <a:ext cx="5143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Baby P4 graph, LightGCN 3 layer, BPR, training pair, negative draw, 5 epoch / 300 step, budget [65.536, 65.536, 65.536], seed, evaluator và GPU.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E51D60-0EB5-4F5D-845F-12DB29241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26695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2CA47B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CA47B"/>
                </a:solidFill>
                <a:latin typeface="Arial"/>
                <a:ea typeface="Arial"/>
                <a:cs typeface="Arial"/>
              </a:rPr>
              <a:t>CHỈ THAY ĐỔI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16A297-E74F-4658-8B10-F0163849A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533650"/>
            <a:ext cx="5143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Quy tắc chọn hàng xóm. Vì vậy so sánh M0–M2 trả lời: context nào đáng đưa vào propagation hơn?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6D2C77D-6EB4-497D-B936-B92E9C655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81375"/>
            <a:ext cx="3381375" cy="1476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BEA98DA-A664-4019-B640-74B7F1C21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623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M0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8908B8D-659A-4F2A-8C89-5E680969F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609975"/>
            <a:ext cx="2305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Bốc thăm đều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3612694-D203-4300-B5A5-F196A309E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52875"/>
            <a:ext cx="30289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Mỗi hàng xóm có cơ hội như nhau. Đây là đối chứng trung tính: random context tự nó đạt mức nào?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0025F84-2B53-484F-A112-A59C5DC99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3381375"/>
            <a:ext cx="3381375" cy="1476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F2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6A92B0A-A7AA-47AE-AA96-A2E713808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5623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2CA47B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2CA47B"/>
                </a:solidFill>
                <a:latin typeface="Arial"/>
                <a:ea typeface="Arial"/>
                <a:cs typeface="Arial"/>
              </a:rPr>
              <a:t>M1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1AACD5E-B6F9-4E81-A6A6-01C248901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6825" y="3609975"/>
            <a:ext cx="2305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Ưu tiên degree cao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E5CABB4-2C38-42EA-84E8-751A561AE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952875"/>
            <a:ext cx="30289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Node có nhiều tương tác trong training graph được ưu tiên. Câu hỏi: tín hiệu phổ biến, ổn định có giúp ranking không?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710540A-7BA2-4339-AC0D-D96F4A4ED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381375"/>
            <a:ext cx="3381375" cy="1476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E6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96AC4C4-72E9-422C-BFEC-C5E74E7DA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5623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F4A24C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F4A24C"/>
                </a:solidFill>
                <a:latin typeface="Arial"/>
                <a:ea typeface="Arial"/>
                <a:cs typeface="Arial"/>
              </a:rPr>
              <a:t>M2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19B0F3D-3308-4A9A-80ED-800169FD2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609975"/>
            <a:ext cx="2305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Ưu tiên frontier, phạt hub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EC8E4D1-07C3-4E77-8B7C-44B1B1FDC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952875"/>
            <a:ext cx="30289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Ưu tiên node đang nối với frontier của layer trước, đồng thời giảm trọng số hub. Câu hỏi: context cục bộ có liên quan hơn không?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1B5FAC0-129D-4B65-9281-687ED2B6F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067300"/>
            <a:ext cx="1057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 i="1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1050" b="0" i="1">
                <a:solidFill>
                  <a:srgbClr val="626C7A"/>
                </a:solidFill>
                <a:latin typeface="Arial"/>
                <a:ea typeface="Arial"/>
                <a:cs typeface="Arial"/>
              </a:rPr>
              <a:t>Frontier = các node ở layer trước đang cần hàng xóm để tiếp tục truyền thông tin. Đây là biến kỹ thuật của sampler, không phải một metric.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77B32A1-00C6-4B4E-AEE1-851F553E5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62625"/>
            <a:ext cx="11163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317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91C511C-1B34-4EAC-BDC5-00C72DE72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38825"/>
            <a:ext cx="1085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Đừng đọc M0, M1, M2 như ba kiến trúc khác nhau: đó là ba chính sách chọn context trong cùng một kiến trúc</a:t>
            </a:r>
          </a:p>
        </p:txBody>
      </p:sp>
    </p:spTree>
    <p:extLst>
      <p:ext uri="{BB962C8B-B14F-4D97-AF65-F5344CB8AC3E}">
        <p14:creationId xmlns:p14="http://schemas.microsoft.com/office/powerpoint/2010/main" val="1419896229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15B3D74-9096-4B4F-A551-CCCC2E643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11 / SAMPLERS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228539-A469-43CC-8FFC-D7788BD13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Dấu vết context cho thấy mỗi chính sách thực sự chọn khác nhau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CA0EF5-3560-4413-BCFC-351BD9A52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960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A4953F-44A8-49D9-BD0C-6176673AF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81750"/>
            <a:ext cx="1000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Nguồn: M0/M1/M2 configs và full validation traces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C3640F-2ACB-4991-80FC-FC94ED246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153150"/>
            <a:ext cx="106680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675" b="0" i="1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675" b="0" i="1">
                <a:solidFill>
                  <a:srgbClr val="8C96A5"/>
                </a:solidFill>
                <a:latin typeface="Arial"/>
                <a:ea typeface="Arial"/>
                <a:cs typeface="Arial"/>
              </a:rPr>
              <a:t>Hiểu nhanh: Gumbel tạo nhiễu ngẫu nhiên khi chọn; hub là node degree cao; frontier là node ở layer trước.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119E37-9B75-42B5-A641-5BEB0370C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72225"/>
            <a:ext cx="476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graphicFrame>
        <p:nvGraphicFramePr>
          <p:cNvPr id="21" name=""/>
          <p:cNvGraphicFramePr/>
          <p:nvPr/>
        </p:nvGraphicFramePr>
        <p:xfrm>
          <a:off xmlns:a="http://schemas.openxmlformats.org/drawingml/2006/main" x="514350" y="1428750"/>
          <a:ext xmlns:a="http://schemas.openxmlformats.org/drawingml/2006/main" cx="11163300" cy="2667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143000"/>
                <a:gridCol w="2857500"/>
                <a:gridCol w="3143250"/>
                <a:gridCol w="4019550"/>
              </a:tblGrid>
              <a:tr h="66675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Method</a:t>
                      </a:r>
                    </a:p>
                  </a:txBody>
                  <a:tcPr marL="76200" marR="76200" marT="57150" marB="57150">
                    <a:solidFill>
                      <a:srgbClr val="111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Priority</a:t>
                      </a:r>
                    </a:p>
                  </a:txBody>
                  <a:tcPr marL="76200" marR="76200" marT="57150" marB="57150">
                    <a:solidFill>
                      <a:srgbClr val="111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Ý định</a:t>
                      </a:r>
                    </a:p>
                  </a:txBody>
                  <a:tcPr marL="76200" marR="76200" marT="57150" marB="57150">
                    <a:solidFill>
                      <a:srgbClr val="111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Điều quan sát ở s0</a:t>
                      </a:r>
                    </a:p>
                  </a:txBody>
                  <a:tcPr marL="76200" marR="76200" marT="57150" marB="57150">
                    <a:solidFill>
                      <a:srgbClr val="111317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E8BFF"/>
                          </a:solidFill>
                          <a:latin typeface="Arial"/>
                          <a:ea typeface="Arial"/>
                          <a:cs typeface="Arial"/>
                        </a:rPr>
                        <a:t>M0</a:t>
                      </a:r>
                    </a:p>
                  </a:txBody>
                  <a:tcPr marL="76200" marR="76200" marT="57150" marB="57150">
                    <a:solidFill>
                      <a:srgbClr val="EAF3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Uniform + Gumbel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Chọn ngẫu nhiên không hoàn lại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60,52% item-context ở tail; coverage cao nhất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CA47B"/>
                          </a:solidFill>
                          <a:latin typeface="Arial"/>
                          <a:ea typeface="Arial"/>
                          <a:cs typeface="Arial"/>
                        </a:rPr>
                        <a:t>M1</a:t>
                      </a:r>
                    </a:p>
                  </a:txBody>
                  <a:tcPr marL="76200" marR="76200" marT="57150" marB="57150">
                    <a:solidFill>
                      <a:srgbClr val="EAF7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log(degree) + Gumbel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Ưu tiên node có nhiều tương tác trong training graph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68,29% item-context ở body; mean quality cao nhất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4A24C"/>
                          </a:solidFill>
                          <a:latin typeface="Arial"/>
                          <a:ea typeface="Arial"/>
                          <a:cs typeface="Arial"/>
                        </a:rPr>
                        <a:t>M2</a:t>
                      </a:r>
                    </a:p>
                  </a:txBody>
                  <a:tcPr marL="76200" marR="76200" marT="57150" marB="57150">
                    <a:solidFill>
                      <a:srgbClr val="FFF3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frontier support và penalty degree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Ưu tiên node nối với frontier hiện tại, đồng thời giảm ưu tiên hub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68,60% item-context ở tail; tail hit vẫn bằng 0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1B3FBA-A24D-4AF8-A47C-288B49755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48175"/>
            <a:ext cx="190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F4A24C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F4A24C"/>
                </a:solidFill>
                <a:latin typeface="Arial"/>
                <a:ea typeface="Arial"/>
                <a:cs typeface="Arial"/>
              </a:rPr>
              <a:t>STRUCTURAL EFFECT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AF54E5-98F6-49D3-A9B0-9F890A195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714875"/>
            <a:ext cx="7334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M2 dùng ít directed block entry hơn M1 11,97% nhưng sampler vẫn chậm hơn 45,14 s ở s0 vì phải tính frontier support.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BDC4DA-6DF6-4946-85A7-F33CEA407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371975"/>
            <a:ext cx="25717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D65555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D65555"/>
                </a:solidFill>
                <a:latin typeface="Arial"/>
                <a:ea typeface="Arial"/>
                <a:cs typeface="Arial"/>
              </a:rPr>
              <a:t>SAMPLER SHARE M0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4B0F60-5EF1-4647-A25B-2649B125E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552950"/>
            <a:ext cx="25717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217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84,04%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5AA384-9FDE-47BD-84B3-14F1E8D0E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943475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592,79 / 705,32 giây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2D1A9A-9129-4973-921D-0F6BC8048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62625"/>
            <a:ext cx="11163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317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5CF2E8-3CE6-4CFC-8C15-9D957E513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38825"/>
            <a:ext cx="1085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M2 thay đổi context theo chủ đích, nhưng thay đổi đó chưa biến thành ranking gain</a:t>
            </a:r>
          </a:p>
        </p:txBody>
      </p:sp>
    </p:spTree>
    <p:extLst>
      <p:ext uri="{BB962C8B-B14F-4D97-AF65-F5344CB8AC3E}">
        <p14:creationId xmlns:p14="http://schemas.microsoft.com/office/powerpoint/2010/main" val="134598911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4455CA6-E630-4F8C-B01A-99A1FAEEF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11 / MATCHED S0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77DFA2-F73E-4754-A2DB-6CA806170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Ở seed đầu, M1 tốt hơn M2 về ranking và thời gian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70DE78-10DA-490F-A1AD-DFA03D3BD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960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0BEF13-9D57-4D07-8C2A-9BF88EDB3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81750"/>
            <a:ext cx="1000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Nguồn: uniform / degree-aware / frontier-normalized validation summaries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25D818-09DE-4E3F-AD49-2AA45BA86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153150"/>
            <a:ext cx="106680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675" b="0" i="1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675" b="0" i="1">
                <a:solidFill>
                  <a:srgbClr val="8C96A5"/>
                </a:solidFill>
                <a:latin typeface="Arial"/>
                <a:ea typeface="Arial"/>
                <a:cs typeface="Arial"/>
              </a:rPr>
              <a:t>Hiểu nhanh: seed là trạng thái ngẫu nhiên ban đầu; paired giữ cùng seed và negative draw giữa các method.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0DB806-AA78-466E-866C-40D9DB0EC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72225"/>
            <a:ext cx="476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graphicFrame>
        <p:nvGraphicFramePr>
          <p:cNvPr id="20" name="Chart"/>
          <p:cNvGraphicFramePr/>
          <p:nvPr/>
        </p:nvGraphicFramePr>
        <p:xfrm>
          <a:off xmlns:a="http://schemas.openxmlformats.org/drawingml/2006/main" x="514350" y="1476375"/>
          <a:ext xmlns:a="http://schemas.openxmlformats.org/drawingml/2006/main" cx="60960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1f23343c3584515"/>
          </a:graphicData>
        </a:graphic>
      </p:graphicFrame>
      <p:graphicFrame>
        <p:nvGraphicFramePr>
          <p:cNvPr id="21" name="Chart"/>
          <p:cNvGraphicFramePr/>
          <p:nvPr/>
        </p:nvGraphicFramePr>
        <p:xfrm>
          <a:off xmlns:a="http://schemas.openxmlformats.org/drawingml/2006/main" x="7000875" y="1476375"/>
          <a:ext xmlns:a="http://schemas.openxmlformats.org/drawingml/2006/main" cx="4333875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ad2c35e545c4e89"/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FB358ED-3475-471C-BC6D-6C6107A75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905375"/>
            <a:ext cx="1190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F4A24C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F4A24C"/>
                </a:solidFill>
                <a:latin typeface="Arial"/>
                <a:ea typeface="Arial"/>
                <a:cs typeface="Arial"/>
              </a:rPr>
              <a:t>M2 − M1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C10988-DBE7-45F4-92F6-F4C68FF50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819650"/>
            <a:ext cx="4953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NDCG giảm 3,78%. Recall giảm 4,20%. Training tăng 9,25%; chỉ thêm 13 item unique.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BB3C42-5CFB-40CA-ADDC-5341E47FA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4905375"/>
            <a:ext cx="433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Peak GPU: M0 3.483 MB, M1 2.665 MB, M2 2.669 MB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359F22-EC1E-4F34-86AB-B65CA7293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62625"/>
            <a:ext cx="11163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317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FB122F-1B25-439B-B4C1-FD1402966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38825"/>
            <a:ext cx="1085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Body hit 25/25/25; tail hit 0/0/0 — quality gain của M1 đến từ head</a:t>
            </a:r>
          </a:p>
        </p:txBody>
      </p:sp>
    </p:spTree>
    <p:extLst>
      <p:ext uri="{BB962C8B-B14F-4D97-AF65-F5344CB8AC3E}">
        <p14:creationId xmlns:p14="http://schemas.microsoft.com/office/powerpoint/2010/main" val="1054819956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C66E27-20A0-4465-8E3C-8FE874B53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12 / PAIRED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A082A6-E95E-44F8-9A69-D7FDDA863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M2 thấp hơn M1 về quality ở cả ba validation seed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D96FF0-FBCC-4E8F-AB0D-986CA51E1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960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D7369E-AFDA-493B-8D64-66807CDB6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81750"/>
            <a:ext cx="1000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Nguồn: paired_sampling_validation_summary.json + six rank vectors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A2C445-B933-4997-B768-E56B4A572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153150"/>
            <a:ext cx="106680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675" b="0" i="1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675" b="0" i="1">
                <a:solidFill>
                  <a:srgbClr val="8C96A5"/>
                </a:solidFill>
                <a:latin typeface="Arial"/>
                <a:ea typeface="Arial"/>
                <a:cs typeface="Arial"/>
              </a:rPr>
              <a:t>Hiểu nhanh: mean là trung bình seed; SD là độ dao động mẫu; ba seed chưa đủ để kết luận significance.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9830F2-6F09-4664-81B2-42C40FEF4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72225"/>
            <a:ext cx="476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514350" y="1428750"/>
          <a:ext xmlns:a="http://schemas.openxmlformats.org/drawingml/2006/main" cx="6953250" cy="3429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a6b6d6ad81e4ad9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C2591A-F29A-499E-B205-7C1AEAD96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428750"/>
            <a:ext cx="33337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2CA47B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CA47B"/>
                </a:solidFill>
                <a:latin typeface="Arial"/>
                <a:ea typeface="Arial"/>
                <a:cs typeface="Arial"/>
              </a:rPr>
              <a:t>MEAN NDCG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0AC444-3406-49E5-ACA7-4677C1361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609725"/>
            <a:ext cx="33337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217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M1 0,005866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9B3219-1266-454C-80C9-AAD280672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0025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M2 0,005721, thấp hơn 2,47%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B7A483-20DC-4F53-B618-B2F29B128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552700"/>
            <a:ext cx="33337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MEAN RECALL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5A94DA-6039-470C-B458-C1B79FCA0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733675"/>
            <a:ext cx="33337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217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M1 0,015296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DBA086-FFE3-447C-86BF-8994A7A43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12420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M2 0,014873, thấp hơn 2,77%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76A244-103A-4F39-9E41-A5E95F467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676650"/>
            <a:ext cx="33337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F4A24C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F4A24C"/>
                </a:solidFill>
                <a:latin typeface="Arial"/>
                <a:ea typeface="Arial"/>
                <a:cs typeface="Arial"/>
              </a:rPr>
              <a:t>HAI REPEAT MỚI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A58E523-7F7D-42F1-BAC2-8F69F9C0B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857625"/>
            <a:ext cx="33337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217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+14,36% time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2BED13-9BB5-4DA1-AE47-60CB49A04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24815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M2 914,95 s vs M1 800,07 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B6269D3-BDA1-4229-8E28-A2B4ACD3B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048250"/>
            <a:ext cx="10715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M2 thấp hơn M1 ở 3/3 seed. M1 không thắng M0 ở mọi seed nên không có claim significance hay superiority phổ quát.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F01CB42-1575-484B-8561-8087E4EC7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62625"/>
            <a:ext cx="11163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317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ABF2EF4-8C06-4CCA-AE41-384134519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38825"/>
            <a:ext cx="1085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Kết luận hẹp: M2 không tạo đánh đổi ranking và chi phí tốt hơn M1 ở budget đã khóa</a:t>
            </a:r>
          </a:p>
        </p:txBody>
      </p:sp>
    </p:spTree>
    <p:extLst>
      <p:ext uri="{BB962C8B-B14F-4D97-AF65-F5344CB8AC3E}">
        <p14:creationId xmlns:p14="http://schemas.microsoft.com/office/powerpoint/2010/main" val="1315335744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D57837-5C89-44EC-98A3-FC728431B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14 / KẾT LUẬN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E417B1-C78A-43C8-BA81-EED573B07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Kết luận và bước tiếp theo có điều kiện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5A1F9B-A170-4F3C-A399-EE45F487C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960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C0993A-B8D3-4115-843E-5D978DB68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81750"/>
            <a:ext cx="1000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Nguồn: paired_sampling_validation_summary.json; THESIS_REPORT_vn.md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193DEB-C371-4B9B-8876-1D15938BA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153150"/>
            <a:ext cx="106680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675" b="0" i="1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675" b="0" i="1">
                <a:solidFill>
                  <a:srgbClr val="8C96A5"/>
                </a:solidFill>
                <a:latin typeface="Arial"/>
                <a:ea typeface="Arial"/>
                <a:cs typeface="Arial"/>
              </a:rPr>
              <a:t>Hiểu nhanh: validation dùng để chọn quyết định; test chưa đọc nên không dùng để kết luận.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1BD332-E988-4A63-82BD-763B77388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72225"/>
            <a:ext cx="476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graphicFrame>
        <p:nvGraphicFramePr>
          <p:cNvPr id="22" name=""/>
          <p:cNvGraphicFramePr/>
          <p:nvPr/>
        </p:nvGraphicFramePr>
        <p:xfrm>
          <a:off xmlns:a="http://schemas.openxmlformats.org/drawingml/2006/main" x="514350" y="1381125"/>
          <a:ext xmlns:a="http://schemas.openxmlformats.org/drawingml/2006/main" cx="11163300" cy="3048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809750"/>
                <a:gridCol w="4286250"/>
                <a:gridCol w="5067300"/>
              </a:tblGrid>
              <a:tr h="609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Trạng thái</a:t>
                      </a:r>
                    </a:p>
                  </a:txBody>
                  <a:tcPr marL="76200" marR="76200" marT="57150" marB="57150">
                    <a:solidFill>
                      <a:srgbClr val="111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Kết luận hoặc hành động</a:t>
                      </a:r>
                    </a:p>
                  </a:txBody>
                  <a:tcPr marL="76200" marR="76200" marT="57150" marB="57150">
                    <a:solidFill>
                      <a:srgbClr val="111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Lý do</a:t>
                      </a:r>
                    </a:p>
                  </a:txBody>
                  <a:tcPr marL="76200" marR="76200" marT="57150" marB="57150">
                    <a:solidFill>
                      <a:srgbClr val="111317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KẾT LUẬN</a:t>
                      </a:r>
                    </a:p>
                  </a:txBody>
                  <a:tcPr marL="76200" marR="76200" marT="57150" marB="57150">
                    <a:solidFill>
                      <a:srgbClr val="FFF3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Không chọn M2 thay M1 ở budget đã khóa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M2 thấp hơn M1 ở NDCG và Recall trong cả 3 validation seed, đồng thời chậm hơn ở hai repeat mới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KHÓA</a:t>
                      </a:r>
                    </a:p>
                  </a:txBody>
                  <a:tcPr marL="76200" marR="76200" marT="57150" marB="57150">
                    <a:solidFill>
                      <a:srgbClr val="EAF7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Không mở thêm sampler chỉ để đuổi validation score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Giữ được tính đối chứng sau khi đã quan sát kết quả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BÁO CÁO</a:t>
                      </a:r>
                    </a:p>
                  </a:txBody>
                  <a:tcPr marL="76200" marR="76200" marT="57150" marB="57150">
                    <a:solidFill>
                      <a:srgbClr val="EAF3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Trình bày kết quả validation và failure analysis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Test target chưa đọc, không có quyền gọi đó là final test result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MỞ RỘNG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Nếu cần generalization, pre-register một benchmark ngoài Amazon trước khi chạy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Yelp2018 hoặc Gowalla phù hợp Graph-CF; không trộn chúng với kết luận hiện tại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DFDB63-7BE2-4F58-8672-0956B749B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724400"/>
            <a:ext cx="276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2CA47B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CA47B"/>
                </a:solidFill>
                <a:latin typeface="Arial"/>
                <a:ea typeface="Arial"/>
                <a:cs typeface="Arial"/>
              </a:rPr>
              <a:t>ĐÓNG GÓP CÓ THỂ BẢO VỆ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E9360A-0E8F-4896-A80A-8AE64C51E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991100"/>
            <a:ext cx="8572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Audit có truy vết, protocol đối chứng, evaluator exact và failure analysis cho một kết quả âm được lặp lại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971ECC-F267-44C2-ABC0-E71681856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686300"/>
            <a:ext cx="17145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2250" b="1" i="0">
                <a:solidFill>
                  <a:srgbClr val="2CA47B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2CA47B"/>
                </a:solidFill>
                <a:latin typeface="Arial"/>
                <a:ea typeface="Arial"/>
                <a:cs typeface="Arial"/>
              </a:rPr>
              <a:t>85/85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893D86-34B3-485F-8F82-CC1BB48AF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06730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0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artifact checks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121FAA-F8DE-4D8A-B041-A35267A01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276850"/>
            <a:ext cx="1714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1800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96/96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A4A387B-3164-4777-B162-9EA5CACD2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56260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0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project tests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4AF44A8-2583-4EB9-A01D-E54BC99AB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829300"/>
            <a:ext cx="11163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317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7BB052-945F-40CB-B8D2-1353D73A7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05500"/>
            <a:ext cx="1085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Sampler phức tạp hơn không tự động tạo recommendation tốt hơn</a:t>
            </a:r>
          </a:p>
        </p:txBody>
      </p:sp>
    </p:spTree>
    <p:extLst>
      <p:ext uri="{BB962C8B-B14F-4D97-AF65-F5344CB8AC3E}">
        <p14:creationId xmlns:p14="http://schemas.microsoft.com/office/powerpoint/2010/main" val="43967227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2026-09-16T16:17:35.8670000Z</dcterms:created>
  <dcterms:modified xsi:type="dcterms:W3CDTF">2026-09-16T16:17:35.8670000Z</dcterms:modified>
</coreProperties>
</file>