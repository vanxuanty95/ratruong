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6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11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ba9c081fa24077" /><Relationship Type="http://schemas.openxmlformats.org/officeDocument/2006/relationships/extended-properties" Target="/docProps/app.xml" Id="R83a80adb82fd445b" /><Relationship Type="http://schemas.openxmlformats.org/officeDocument/2006/relationships/officeDocument" Target="/ppt/presentation.xml" Id="Rb43ff73370d841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e2e66b01f54d90"/>
  </p:sldMasterIdLst>
  <p:notesMasterIdLst>
    <p:notesMasterId xmlns:r="http://schemas.openxmlformats.org/officeDocument/2006/relationships" r:id="R4b28ceb09f1f4539"/>
  </p:notesMasterIdLst>
  <p:sldIdLst>
    <p:sldId xmlns:r="http://schemas.openxmlformats.org/officeDocument/2006/relationships" id="256" r:id="R34fa5c8575864955"/>
    <p:sldId xmlns:r="http://schemas.openxmlformats.org/officeDocument/2006/relationships" id="257" r:id="Ra534560b70324dcd"/>
    <p:sldId xmlns:r="http://schemas.openxmlformats.org/officeDocument/2006/relationships" id="258" r:id="R8c8d676fa8484ab9"/>
    <p:sldId xmlns:r="http://schemas.openxmlformats.org/officeDocument/2006/relationships" id="259" r:id="R401c0213d7064b9f"/>
    <p:sldId xmlns:r="http://schemas.openxmlformats.org/officeDocument/2006/relationships" id="260" r:id="Ra3acaad33e664500"/>
    <p:sldId xmlns:r="http://schemas.openxmlformats.org/officeDocument/2006/relationships" id="261" r:id="Rdc3191778694437e"/>
    <p:sldId xmlns:r="http://schemas.openxmlformats.org/officeDocument/2006/relationships" id="262" r:id="R4746ef61ce56457c"/>
    <p:sldId xmlns:r="http://schemas.openxmlformats.org/officeDocument/2006/relationships" id="263" r:id="Ra76e59b10e0c4302"/>
    <p:sldId xmlns:r="http://schemas.openxmlformats.org/officeDocument/2006/relationships" id="264" r:id="R2cfaefad0e2a4f26"/>
    <p:sldId xmlns:r="http://schemas.openxmlformats.org/officeDocument/2006/relationships" id="265" r:id="Rcde4d40dae104c6f"/>
    <p:sldId xmlns:r="http://schemas.openxmlformats.org/officeDocument/2006/relationships" id="266" r:id="R829b418da89a4cbd"/>
    <p:sldId xmlns:r="http://schemas.openxmlformats.org/officeDocument/2006/relationships" id="267" r:id="R545a5f61d9d34743"/>
    <p:sldId xmlns:r="http://schemas.openxmlformats.org/officeDocument/2006/relationships" id="268" r:id="Rb4d62e80e3554c2b"/>
    <p:sldId xmlns:r="http://schemas.openxmlformats.org/officeDocument/2006/relationships" id="269" r:id="Ra888283984894b2f"/>
    <p:sldId xmlns:r="http://schemas.openxmlformats.org/officeDocument/2006/relationships" id="270" r:id="Rf7242e4811a14919"/>
    <p:sldId xmlns:r="http://schemas.openxmlformats.org/officeDocument/2006/relationships" id="271" r:id="R4957dd6d20724b00"/>
    <p:sldId xmlns:r="http://schemas.openxmlformats.org/officeDocument/2006/relationships" id="272" r:id="R0189c714f8ab45d9"/>
    <p:sldId xmlns:r="http://schemas.openxmlformats.org/officeDocument/2006/relationships" id="273" r:id="R20c7898e8e0a4a1d"/>
    <p:sldId xmlns:r="http://schemas.openxmlformats.org/officeDocument/2006/relationships" id="274" r:id="R91cd18b61f694928"/>
    <p:sldId xmlns:r="http://schemas.openxmlformats.org/officeDocument/2006/relationships" id="275" r:id="R3a6bed37d3df414e"/>
    <p:sldId xmlns:r="http://schemas.openxmlformats.org/officeDocument/2006/relationships" id="276" r:id="R9ec9d6f6d4bc462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51c85c809c4a18" /><Relationship Type="http://schemas.openxmlformats.org/officeDocument/2006/relationships/slideMaster" Target="/ppt/slideMasters/slideMaster1.xml" Id="R59e2e66b01f54d90" /><Relationship Type="http://schemas.openxmlformats.org/officeDocument/2006/relationships/notesMaster" Target="/ppt/notesMasters/notesMaster1.xml" Id="R4b28ceb09f1f4539" /><Relationship Type="http://schemas.openxmlformats.org/officeDocument/2006/relationships/presProps" Target="/ppt/presProps.xml" Id="R4d099f58ccc34c79" /><Relationship Type="http://schemas.openxmlformats.org/officeDocument/2006/relationships/tableStyles" Target="/ppt/tableStyles.xml" Id="Rfe1cc57e968f42c7" /><Relationship Type="http://schemas.openxmlformats.org/officeDocument/2006/relationships/slide" Target="/ppt/slides/slide1.xml" Id="R34fa5c8575864955" /><Relationship Type="http://schemas.openxmlformats.org/officeDocument/2006/relationships/slide" Target="/ppt/slides/slide2.xml" Id="Ra534560b70324dcd" /><Relationship Type="http://schemas.openxmlformats.org/officeDocument/2006/relationships/slide" Target="/ppt/slides/slide3.xml" Id="R8c8d676fa8484ab9" /><Relationship Type="http://schemas.openxmlformats.org/officeDocument/2006/relationships/slide" Target="/ppt/slides/slide4.xml" Id="R401c0213d7064b9f" /><Relationship Type="http://schemas.openxmlformats.org/officeDocument/2006/relationships/slide" Target="/ppt/slides/slide5.xml" Id="Ra3acaad33e664500" /><Relationship Type="http://schemas.openxmlformats.org/officeDocument/2006/relationships/slide" Target="/ppt/slides/slide6.xml" Id="Rdc3191778694437e" /><Relationship Type="http://schemas.openxmlformats.org/officeDocument/2006/relationships/slide" Target="/ppt/slides/slide7.xml" Id="R4746ef61ce56457c" /><Relationship Type="http://schemas.openxmlformats.org/officeDocument/2006/relationships/slide" Target="/ppt/slides/slide8.xml" Id="Ra76e59b10e0c4302" /><Relationship Type="http://schemas.openxmlformats.org/officeDocument/2006/relationships/slide" Target="/ppt/slides/slide9.xml" Id="R2cfaefad0e2a4f26" /><Relationship Type="http://schemas.openxmlformats.org/officeDocument/2006/relationships/slide" Target="/ppt/slides/slide10.xml" Id="Rcde4d40dae104c6f" /><Relationship Type="http://schemas.openxmlformats.org/officeDocument/2006/relationships/slide" Target="/ppt/slides/slide11.xml" Id="R829b418da89a4cbd" /><Relationship Type="http://schemas.openxmlformats.org/officeDocument/2006/relationships/slide" Target="/ppt/slides/slide12.xml" Id="R545a5f61d9d34743" /><Relationship Type="http://schemas.openxmlformats.org/officeDocument/2006/relationships/slide" Target="/ppt/slides/slide13.xml" Id="Rb4d62e80e3554c2b" /><Relationship Type="http://schemas.openxmlformats.org/officeDocument/2006/relationships/slide" Target="/ppt/slides/slide14.xml" Id="Ra888283984894b2f" /><Relationship Type="http://schemas.openxmlformats.org/officeDocument/2006/relationships/slide" Target="/ppt/slides/slide15.xml" Id="Rf7242e4811a14919" /><Relationship Type="http://schemas.openxmlformats.org/officeDocument/2006/relationships/slide" Target="/ppt/slides/slide16.xml" Id="R4957dd6d20724b00" /><Relationship Type="http://schemas.openxmlformats.org/officeDocument/2006/relationships/slide" Target="/ppt/slides/slide17.xml" Id="R0189c714f8ab45d9" /><Relationship Type="http://schemas.openxmlformats.org/officeDocument/2006/relationships/slide" Target="/ppt/slides/slide18.xml" Id="R20c7898e8e0a4a1d" /><Relationship Type="http://schemas.openxmlformats.org/officeDocument/2006/relationships/slide" Target="/ppt/slides/slide19.xml" Id="R91cd18b61f694928" /><Relationship Type="http://schemas.openxmlformats.org/officeDocument/2006/relationships/slide" Target="/ppt/slides/slide20.xml" Id="R3a6bed37d3df414e" /><Relationship Type="http://schemas.openxmlformats.org/officeDocument/2006/relationships/slide" Target="/ppt/slides/slide21.xml" Id="R9ec9d6f6d4bc46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aedf66d253491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ae7daaed1f409b" /><Relationship Type="http://schemas.openxmlformats.org/officeDocument/2006/relationships/notesMaster" Target="/ppt/notesMasters/notesMaster1.xml" Id="R5f642c6f485a4d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7858a3798143e8" /><Relationship Type="http://schemas.openxmlformats.org/officeDocument/2006/relationships/notesMaster" Target="/ppt/notesMasters/notesMaster1.xml" Id="R07771b13b59f4d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92e54bd87f4920" /><Relationship Type="http://schemas.openxmlformats.org/officeDocument/2006/relationships/notesMaster" Target="/ppt/notesMasters/notesMaster1.xml" Id="R9c557c972aac4f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05a4189d0c4a79" /><Relationship Type="http://schemas.openxmlformats.org/officeDocument/2006/relationships/notesMaster" Target="/ppt/notesMasters/notesMaster1.xml" Id="R19e12eb89b0843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631c7c86a24764" /><Relationship Type="http://schemas.openxmlformats.org/officeDocument/2006/relationships/notesMaster" Target="/ppt/notesMasters/notesMaster1.xml" Id="R1d56276e21904c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928569b2574962" /><Relationship Type="http://schemas.openxmlformats.org/officeDocument/2006/relationships/notesMaster" Target="/ppt/notesMasters/notesMaster1.xml" Id="R76a8b5c63cdf4b6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a3685db9ff645f5" /><Relationship Type="http://schemas.openxmlformats.org/officeDocument/2006/relationships/notesMaster" Target="/ppt/notesMasters/notesMaster1.xml" Id="R806eb95eeb8244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47b1031f0a42c2" /><Relationship Type="http://schemas.openxmlformats.org/officeDocument/2006/relationships/notesMaster" Target="/ppt/notesMasters/notesMaster1.xml" Id="Ref509333f924412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3e71cdf0a5e43b0" /><Relationship Type="http://schemas.openxmlformats.org/officeDocument/2006/relationships/notesMaster" Target="/ppt/notesMasters/notesMaster1.xml" Id="R3b4e5a494d6246e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2c23e3af6474b3a" /><Relationship Type="http://schemas.openxmlformats.org/officeDocument/2006/relationships/notesMaster" Target="/ppt/notesMasters/notesMaster1.xml" Id="R1840851b74014f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9a13b3e769c4845" /><Relationship Type="http://schemas.openxmlformats.org/officeDocument/2006/relationships/notesMaster" Target="/ppt/notesMasters/notesMaster1.xml" Id="Red2eba355a2e4a5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70f043717314dac" /><Relationship Type="http://schemas.openxmlformats.org/officeDocument/2006/relationships/notesMaster" Target="/ppt/notesMasters/notesMaster1.xml" Id="R3cd2c6155e8d41f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48e52cdc8b4459d" /><Relationship Type="http://schemas.openxmlformats.org/officeDocument/2006/relationships/notesMaster" Target="/ppt/notesMasters/notesMaster1.xml" Id="Ra0e162406167447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b2ac0f91f7c410d" /><Relationship Type="http://schemas.openxmlformats.org/officeDocument/2006/relationships/notesMaster" Target="/ppt/notesMasters/notesMaster1.xml" Id="Ra85ceb4794624cd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815eb87b6a64542" /><Relationship Type="http://schemas.openxmlformats.org/officeDocument/2006/relationships/notesMaster" Target="/ppt/notesMasters/notesMaster1.xml" Id="Re4ff6018dfae459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bf8b8af5d62433e" /><Relationship Type="http://schemas.openxmlformats.org/officeDocument/2006/relationships/notesMaster" Target="/ppt/notesMasters/notesMaster1.xml" Id="Rb25154ea7ed0433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b23c212469d4d96" /><Relationship Type="http://schemas.openxmlformats.org/officeDocument/2006/relationships/notesMaster" Target="/ppt/notesMasters/notesMaster1.xml" Id="R3a67b63987e24ee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d85d59cc8fd4ef9" /><Relationship Type="http://schemas.openxmlformats.org/officeDocument/2006/relationships/notesMaster" Target="/ppt/notesMasters/notesMaster1.xml" Id="Rbee34caeab384fb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9b3d62c3c924f42" /><Relationship Type="http://schemas.openxmlformats.org/officeDocument/2006/relationships/notesMaster" Target="/ppt/notesMasters/notesMaster1.xml" Id="Rdd2ef5b7a1794e4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0a5730b2da348d8" /><Relationship Type="http://schemas.openxmlformats.org/officeDocument/2006/relationships/notesMaster" Target="/ppt/notesMasters/notesMaster1.xml" Id="R01b3cb2aebc341a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46894a0cc874b63" /><Relationship Type="http://schemas.openxmlformats.org/officeDocument/2006/relationships/notesMaster" Target="/ppt/notesMasters/notesMaster1.xml" Id="R503e54b49d5a4e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Mục tiêu trình bày: tổng hợp toàn bộ chuỗi bằng chứng từ dữ liệu đến quyết định nghiên cứu.</a:t>
            </a:r>
          </a:p>
          <a:p xmlns:a="http://schemas.openxmlformats.org/drawingml/2006/main">
            <a:r>
              <a:t>Nguồn chính: https://amazon-reviews-2023.github.io/</a:t>
            </a:r>
          </a:p>
          <a:p xmlns:a="http://schemas.openxmlformats.org/drawingml/2006/main">
            <a:r>
              <a:t>Nguồn kết quả: Do An/06_code/results/data_story/data_story_summary.json</a:t>
            </a:r>
          </a:p>
          <a:p xmlns:a="http://schemas.openxmlformats.org/drawingml/2006/main">
            <a:r>
              <a:t>Nguồn paired: Do An/06_code/results/paired_sampling_validation/paired_sampling_validation_summary.json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BPR: https://arxiv.org/abs/1205.2618</a:t>
            </a:r>
          </a:p>
          <a:p xmlns:a="http://schemas.openxmlformats.org/drawingml/2006/main">
            <a:r>
              <a:t>LightGCN: https://hexiangnan.github.io/papers/sigir20-LightGCN.pdf</a:t>
            </a:r>
          </a:p>
          <a:p xmlns:a="http://schemas.openxmlformats.org/drawingml/2006/main">
            <a:r>
              <a:t>Phạm vi và protocol: Do An/00_project/PHASE2_RESEARCH_PLAN_vn.md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Định nghĩa context: Do An/04_thesis/THESIS_REPORT_vn.md, Sections 1.1 and 4.</a:t>
            </a:r>
          </a:p>
          <a:p xmlns:a="http://schemas.openxmlformats.org/drawingml/2006/main">
            <a:r>
              <a:t>Không có claim rằng sampler thay đổi semantic meaning của sản phẩm.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MovieLens 25M: https://grouplens.org/datasets/movielens/25m/</a:t>
            </a:r>
          </a:p>
          <a:p xmlns:a="http://schemas.openxmlformats.org/drawingml/2006/main">
            <a:r>
              <a:t>LightGCN benchmark context: https://hexiangnan.github.io/papers/sigir20-LightGCN.pdf</a:t>
            </a:r>
          </a:p>
          <a:p xmlns:a="http://schemas.openxmlformats.org/drawingml/2006/main">
            <a:r>
              <a:t>MIND: https://aclanthology.org/2020.acl-main.331/</a:t>
            </a:r>
          </a:p>
          <a:p xmlns:a="http://schemas.openxmlformats.org/drawingml/2006/main">
            <a:r>
              <a:t>KuaiRec: https://arxiv.org/abs/2202.10842</a:t>
            </a:r>
          </a:p>
          <a:p xmlns:a="http://schemas.openxmlformats.org/drawingml/2006/main">
            <a:r>
              <a:t>Không có run/project result nào trên MovieLens, Gowalla, Yelp2018, MIND, hoặc KuaiRec.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All_Beauty raw rows: 693,929. Baby_Products raw rows: 5,953,891. Home_and_Kitchen raw rows: 66,623,880.</a:t>
            </a:r>
          </a:p>
          <a:p xmlns:a="http://schemas.openxmlformats.org/drawingml/2006/main">
            <a:r>
              <a:t>All_Beauty P4 validation warm retention: 3.982%. Baby validation warm retention: 21.9038%.</a:t>
            </a:r>
          </a:p>
          <a:p xmlns:a="http://schemas.openxmlformats.org/drawingml/2006/main">
            <a:r>
              <a:t>Amazon Reviews’23: https://amazon-reviews-2023.github.io/main.html</a:t>
            </a:r>
          </a:p>
          <a:p xmlns:a="http://schemas.openxmlformats.org/drawingml/2006/main">
            <a:r>
              <a:t>Project evidence: Do An/06_code/results/data_story/data_story_summary.json and audit artifacts.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Các con số dữ liệu lấy từ data_story_summary.json.</a:t>
            </a:r>
          </a:p>
          <a:p xmlns:a="http://schemas.openxmlformats.org/drawingml/2006/main">
            <a:r>
              <a:t>Các con số paired lấy từ paired_sampling_validation_summary.json; M2−M1 mean: NDCG −2.473%, Recall −2.768%.</a:t>
            </a:r>
          </a:p>
          <a:p xmlns:a="http://schemas.openxmlformats.org/drawingml/2006/main">
            <a:r>
              <a:t>Không diễn giải ba seed như kiểm định ý nghĩa thống kê hoặc chứng minh phổ quát.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chính thức Amazon Reviews’23: https://amazon-reviews-2023.github.io/</a:t>
            </a:r>
          </a:p>
          <a:p xmlns:a="http://schemas.openxmlformats.org/drawingml/2006/main">
            <a:r>
              <a:t>Ví dụ tải rating-only JSON/CSV và bốn trường: https://amazon-reviews-2023.github.io/data_loading/jsonl.html</a:t>
            </a:r>
          </a:p>
          <a:p xmlns:a="http://schemas.openxmlformats.org/drawingml/2006/main">
            <a:r>
              <a:t>Artifact URL: https://datarepo.eng.ucsd.edu/mcauley_group/data/amazon_2023/benchmark/0core/rating_only/Baby_Products.csv.gz</a:t>
            </a:r>
          </a:p>
          <a:p xmlns:a="http://schemas.openxmlformats.org/drawingml/2006/main">
            <a:r>
              <a:t>Audit cục bộ: Do An/06_code/results/Baby_Products_protocol_audit.json</a:t>
            </a:r>
          </a:p>
          <a:p xmlns:a="http://schemas.openxmlformats.org/drawingml/2006/main">
            <a:r>
              <a:t>SHA đầy đủ: e2a8d0498afed767ee2615db7fac549559d82490b1a73c7241b84b5e9e8c279e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Cutoff t1 = 1628643414042 ms = 2021-08-11 00:56:54 UTC.</a:t>
            </a:r>
          </a:p>
          <a:p xmlns:a="http://schemas.openxmlformats.org/drawingml/2006/main">
            <a:r>
              <a:t>Cutoff t2 = 1658002729837 ms = 2022-07-16 20:18:49 UTC.</a:t>
            </a:r>
          </a:p>
          <a:p xmlns:a="http://schemas.openxmlformats.org/drawingml/2006/main">
            <a:r>
              <a:t>Nguồn: Do An/06_code/results/baby_p4_g2c_manifest.json và Baby_Products_protocol_audit.json.</a:t>
            </a:r>
          </a:p>
          <a:p xmlns:a="http://schemas.openxmlformats.org/drawingml/2006/main">
            <a:r>
              <a:t>Test target đã được tạo trong pipeline nhưng test_targets_read=false trong mọi validation summary.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Rating counts: 0★=1, 1★=555424, 2★=309591, 3★=433032, 4★=681977, 5★=3973866.</a:t>
            </a:r>
          </a:p>
          <a:p xmlns:a="http://schemas.openxmlformats.org/drawingml/2006/main">
            <a:r>
              <a:t>P4 rows = 4,655,843; retention = 0.7819832442.</a:t>
            </a:r>
          </a:p>
          <a:p xmlns:a="http://schemas.openxmlformats.org/drawingml/2006/main">
            <a:r>
              <a:t>Nguồn: Do An/06_code/results/data_story/data_story_summary.json.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graph: 3,868,654 edges; 2,318,308 users; 162,125 items; density 1.0292924e-05.</a:t>
            </a:r>
          </a:p>
          <a:p xmlns:a="http://schemas.openxmlformats.org/drawingml/2006/main">
            <a:r>
              <a:t>User singleton 71.7634%; item singleton 33.3496%.</a:t>
            </a:r>
          </a:p>
          <a:p xmlns:a="http://schemas.openxmlformats.org/drawingml/2006/main">
            <a:r>
              <a:t>Largest connected component: 96.4988% nodes.</a:t>
            </a:r>
          </a:p>
          <a:p xmlns:a="http://schemas.openxmlformats.org/drawingml/2006/main">
            <a:r>
              <a:t>Nguồn: data_story_summary.json.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Top-item cumulative interaction shares: 1%=44.0941%, 5%=71.1174%, 10%=81.3265%, 20%=89.6456%.</a:t>
            </a:r>
          </a:p>
          <a:p xmlns:a="http://schemas.openxmlformats.org/drawingml/2006/main">
            <a:r>
              <a:t>Frozen cohort shares: head 1.00% items / 44.16% edges; body 18.92% / 45.45%; tail 80.07% / 10.39%.</a:t>
            </a:r>
          </a:p>
          <a:p xmlns:a="http://schemas.openxmlformats.org/drawingml/2006/main">
            <a:r>
              <a:t>Hai số 44.09% và 44.16% dùng cách cắt khác nhau; slide ghi rõ để tránh coi chúng là cùng một statistic.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Validation: 81,871 warm / 373,776 candidate = 21.9038%.</a:t>
            </a:r>
          </a:p>
          <a:p xmlns:a="http://schemas.openxmlformats.org/drawingml/2006/main">
            <a:r>
              <a:t>Test: 40,587 warm / 413,413 candidate = 9.8175%.</a:t>
            </a:r>
          </a:p>
          <a:p xmlns:a="http://schemas.openxmlformats.org/drawingml/2006/main">
            <a:r>
              <a:t>Ranh giới này bắt buộc: kết quả không đại diện cho unseen user/item.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BPR: https://www.cs.mcgill.ca/~uai2009/papers/UAI2009_0139_48141db02b9f0b02bc7158819ebfa2c7.pdf</a:t>
            </a:r>
          </a:p>
          <a:p xmlns:a="http://schemas.openxmlformats.org/drawingml/2006/main">
            <a:r>
              <a:t>LightGCN: https://hexiangnan.github.io/papers/sigir20-LightGCN.pdf</a:t>
            </a:r>
          </a:p>
          <a:p xmlns:a="http://schemas.openxmlformats.org/drawingml/2006/main">
            <a:r>
              <a:t>Graph sampling context: GraphSAGE https://papers.nips.cc/paper_files/paper/2017/hash/5dd9db5e033da9c6fb5ba83c7a7ebea9-Abstract.html</a:t>
            </a:r>
          </a:p>
          <a:p xmlns:a="http://schemas.openxmlformats.org/drawingml/2006/main">
            <a:r>
              <a:t>FastGCN: https://openreview.net/pdf?id=rytstxWAW</a:t>
            </a:r>
          </a:p>
          <a:p xmlns:a="http://schemas.openxmlformats.org/drawingml/2006/main">
            <a:r>
              <a:t>LADIES: https://proceedings.neurips.cc/paper/2019/hash/91ba4a4478a66bee9812b0804b6f9d1b-Abstract.html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Coverage and cohorts: Do An/04_thesis/THESIS_REPORT_vn.md, Sections 5.3--5.5.</a:t>
            </a:r>
          </a:p>
          <a:p xmlns:a="http://schemas.openxmlformats.org/drawingml/2006/main">
            <a:r>
              <a:t>Semantic diversity is deliberately not measured from this pure-ID artifact.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Thiết kế paired xác minh checksum khởi tạo, training-pair order và negative draw ở cả 5 epoch.</a:t>
            </a:r>
          </a:p>
          <a:p xmlns:a="http://schemas.openxmlformats.org/drawingml/2006/main">
            <a:r>
              <a:t>Full LightGCN và BPR-MF là sanity/feasibility references; optimizer-step budget của chúng không matched với sampled runs.</a:t>
            </a:r>
          </a:p>
          <a:p xmlns:a="http://schemas.openxmlformats.org/drawingml/2006/main">
            <a:r>
              <a:t>GRAPES là tài liệu tham khảo về adaptive sampling, không phải phương pháp được sao chép nguyên xi: https://arxiv.org/abs/2310.03399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MostPop: NDCG .00587255, Recall .01459613, coverage .00015420, 25 unique items, 1195 hits.</a:t>
            </a:r>
          </a:p>
          <a:p xmlns:a="http://schemas.openxmlformats.org/drawingml/2006/main">
            <a:r>
              <a:t>BPR-MF: NDCG .00405351, Recall .01041883, coverage .03351735, 5434 unique items, 853 hits.</a:t>
            </a:r>
          </a:p>
          <a:p xmlns:a="http://schemas.openxmlformats.org/drawingml/2006/main">
            <a:r>
              <a:t>Full LightGCN: NDCG .00493124, Recall .01237312, coverage .00636546, 1032 unique items, 1013 hits.</a:t>
            </a:r>
          </a:p>
          <a:p xmlns:a="http://schemas.openxmlformats.org/drawingml/2006/main">
            <a:r>
              <a:t>Nguồn file: Do An/06_code/results/{mostpop_validation,bpr_mf_validation,full_lightgcn_validation}/*.json.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M0: uniform without replacement. M1: log(training_degree)+Gumbel. M2: log(frontier_support)-0.5 log(training_degree)+Gumbel.</a:t>
            </a:r>
          </a:p>
          <a:p xmlns:a="http://schemas.openxmlformats.org/drawingml/2006/main">
            <a:r>
              <a:t>Không thay backbone, objective, data split, budget hay evaluator giữa ba method.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M0 item-context: body 39.31%, tail 60.52% (head còn lại).</a:t>
            </a:r>
          </a:p>
          <a:p xmlns:a="http://schemas.openxmlformats.org/drawingml/2006/main">
            <a:r>
              <a:t>M1 item-context: body 68.29%, tail 31.48%.</a:t>
            </a:r>
          </a:p>
          <a:p xmlns:a="http://schemas.openxmlformats.org/drawingml/2006/main">
            <a:r>
              <a:t>M2 chỉ có 290,606 item-context slot; tail 68.60%.</a:t>
            </a:r>
          </a:p>
          <a:p xmlns:a="http://schemas.openxmlformats.org/drawingml/2006/main">
            <a:r>
              <a:t>Tất cả sampled methods chọn tổng 58,982,400 context slots theo layer budget.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s0: M0 NDCG .00572728 / Recall .01465720 / 705.32s / 3482.90MB.</a:t>
            </a:r>
          </a:p>
          <a:p xmlns:a="http://schemas.openxmlformats.org/drawingml/2006/main">
            <a:r>
              <a:t>s0: M1 .00615330 / .01598857 / 795.10s / 2665.10MB.</a:t>
            </a:r>
          </a:p>
          <a:p xmlns:a="http://schemas.openxmlformats.org/drawingml/2006/main">
            <a:r>
              <a:t>s0: M2 .00592070 / .01531678 / 868.63s / 2669.06MB.</a:t>
            </a:r>
          </a:p>
          <a:p xmlns:a="http://schemas.openxmlformats.org/drawingml/2006/main">
            <a:r>
              <a:t>M1 và M2 có peak GPU gần như nhau; M2 chậm hơn và quality thấp hơn.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Mean±SD NDCG: M0 .00570640±.00007324; M1 .00586598±.00024947; M2 .00572092±.00017933.</a:t>
            </a:r>
          </a:p>
          <a:p xmlns:a="http://schemas.openxmlformats.org/drawingml/2006/main">
            <a:r>
              <a:t>M2−M1 per seed NDCG: s0 −.00023260; s1 −.00013042; s2 −.00007218.</a:t>
            </a:r>
          </a:p>
          <a:p xmlns:a="http://schemas.openxmlformats.org/drawingml/2006/main">
            <a:r>
              <a:t>M2−M1 Recall cũng âm ở 3/3 seed.</a:t>
            </a:r>
          </a:p>
          <a:p xmlns:a="http://schemas.openxmlformats.org/drawingml/2006/main">
            <a:r>
              <a:t>Resource average +14.36% chỉ dùng hai repeat mới s1/s2 vì s0 có instrumentation boundary khác.</a:t>
            </a:r>
          </a:p>
          <a:p xmlns:a="http://schemas.openxmlformats.org/drawingml/2006/main">
            <a:r>
              <a:t>Paired bundle audit: 85/85 checks pass; test_targets_read=false.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Paired aggregate: Do An/06_code/results/paired_sampling_validation/paired_sampling_validation_summary.json</a:t>
            </a:r>
          </a:p>
          <a:p xmlns:a="http://schemas.openxmlformats.org/drawingml/2006/main">
            <a:r>
              <a:t>Paired artifact audit: 85/85 checks passed; test_targets_read=false.</a:t>
            </a:r>
          </a:p>
          <a:p xmlns:a="http://schemas.openxmlformats.org/drawingml/2006/main">
            <a:r>
              <a:t>Any cross-dataset extension must be registered before execution and reported separately from the present Baby_Products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830787029e43a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7fef8f17c04ea2" /><Relationship Type="http://schemas.openxmlformats.org/officeDocument/2006/relationships/slideLayout" Target="/ppt/slideLayouts/slideLayout1.xml" Id="Rb4ca6997bb9443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ca6997bb9443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3fddd442714371" /><Relationship Type="http://schemas.openxmlformats.org/officeDocument/2006/relationships/notesSlide" Target="/ppt/notesSlides/notesSlide1.xml" Id="Rd06146fecde240d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9a8cde2c94046" /><Relationship Type="http://schemas.openxmlformats.org/officeDocument/2006/relationships/notesSlide" Target="/ppt/notesSlides/notesSlide2.xml" Id="R31eba4b921b049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2fc62ab6a4b5b" /><Relationship Type="http://schemas.openxmlformats.org/officeDocument/2006/relationships/notesSlide" Target="/ppt/notesSlides/notesSlide3.xml" Id="Re82bc50ba44e45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185e1b15484e0b" /><Relationship Type="http://schemas.openxmlformats.org/officeDocument/2006/relationships/notesSlide" Target="/ppt/notesSlides/notesSlide4.xml" Id="Rec83edc37043448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a31c246e14d54" /><Relationship Type="http://schemas.openxmlformats.org/officeDocument/2006/relationships/chart" Target="/ppt/slides/charts/chart1.xml" Id="Rc1442b8c0a2343a0" /><Relationship Type="http://schemas.openxmlformats.org/officeDocument/2006/relationships/notesSlide" Target="/ppt/notesSlides/notesSlide5.xml" Id="Rdaa36dedcd14412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dc0d25c2954d0a" /><Relationship Type="http://schemas.openxmlformats.org/officeDocument/2006/relationships/notesSlide" Target="/ppt/notesSlides/notesSlide6.xml" Id="R58eb48a6403443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832bbc2700418e" /><Relationship Type="http://schemas.openxmlformats.org/officeDocument/2006/relationships/notesSlide" Target="/ppt/notesSlides/notesSlide7.xml" Id="Rf68fa6648b2443b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f8a5bbd504482" /><Relationship Type="http://schemas.openxmlformats.org/officeDocument/2006/relationships/notesSlide" Target="/ppt/notesSlides/notesSlide8.xml" Id="R9df4175480eb42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d63b3511c64535" /><Relationship Type="http://schemas.openxmlformats.org/officeDocument/2006/relationships/chart" Target="/ppt/slides/charts/chart2.xml" Id="Rb5b66909928141a5" /><Relationship Type="http://schemas.openxmlformats.org/officeDocument/2006/relationships/notesSlide" Target="/ppt/notesSlides/notesSlide9.xml" Id="R99ad6ebafd6c429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1a4e319048448a" /><Relationship Type="http://schemas.openxmlformats.org/officeDocument/2006/relationships/chart" Target="/ppt/slides/charts/chart3.xml" Id="Rb30f7471284148bd" /><Relationship Type="http://schemas.openxmlformats.org/officeDocument/2006/relationships/notesSlide" Target="/ppt/notesSlides/notesSlide10.xml" Id="Rc775fb9258a14fe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300ee6d0cc42b7" /><Relationship Type="http://schemas.openxmlformats.org/officeDocument/2006/relationships/chart" Target="/ppt/slides/charts/chart4.xml" Id="Rc1cd1e5b867a4acd" /><Relationship Type="http://schemas.openxmlformats.org/officeDocument/2006/relationships/chart" Target="/ppt/slides/charts/chart5.xml" Id="R9520c419d85148c9" /><Relationship Type="http://schemas.openxmlformats.org/officeDocument/2006/relationships/notesSlide" Target="/ppt/notesSlides/notesSlide11.xml" Id="R8deb00aab0e6495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b9c2c7ce64d70" /><Relationship Type="http://schemas.openxmlformats.org/officeDocument/2006/relationships/chart" Target="/ppt/slides/charts/chart6.xml" Id="R73b52099bdb843d1" /><Relationship Type="http://schemas.openxmlformats.org/officeDocument/2006/relationships/notesSlide" Target="/ppt/notesSlides/notesSlide12.xml" Id="Rae884fe2cbb643b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d789ff239248be" /><Relationship Type="http://schemas.openxmlformats.org/officeDocument/2006/relationships/notesSlide" Target="/ppt/notesSlides/notesSlide13.xml" Id="R47fe5063c865444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2bbbec95b84b8f" /><Relationship Type="http://schemas.openxmlformats.org/officeDocument/2006/relationships/notesSlide" Target="/ppt/notesSlides/notesSlide14.xml" Id="R07234a7c441f4c1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02527a2fd84235" /><Relationship Type="http://schemas.openxmlformats.org/officeDocument/2006/relationships/notesSlide" Target="/ppt/notesSlides/notesSlide15.xml" Id="R6b5db90669f7494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3750d078524f58" /><Relationship Type="http://schemas.openxmlformats.org/officeDocument/2006/relationships/chart" Target="/ppt/slides/charts/chart7.xml" Id="Rfbbe2cdf4fa84a3c" /><Relationship Type="http://schemas.openxmlformats.org/officeDocument/2006/relationships/chart" Target="/ppt/slides/charts/chart8.xml" Id="R09aa38f1882348b5" /><Relationship Type="http://schemas.openxmlformats.org/officeDocument/2006/relationships/notesSlide" Target="/ppt/notesSlides/notesSlide16.xml" Id="Reb2fbf23c2c1438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c628cc1aea4871" /><Relationship Type="http://schemas.openxmlformats.org/officeDocument/2006/relationships/notesSlide" Target="/ppt/notesSlides/notesSlide17.xml" Id="R3868cd55323645d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64608330434a28" /><Relationship Type="http://schemas.openxmlformats.org/officeDocument/2006/relationships/notesSlide" Target="/ppt/notesSlides/notesSlide18.xml" Id="R524b3e131cf44d1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4d2e57f88940e2" /><Relationship Type="http://schemas.openxmlformats.org/officeDocument/2006/relationships/chart" Target="/ppt/slides/charts/chart9.xml" Id="R7886545830a1425a" /><Relationship Type="http://schemas.openxmlformats.org/officeDocument/2006/relationships/chart" Target="/ppt/slides/charts/chart10.xml" Id="R083a2e34db8a4f7d" /><Relationship Type="http://schemas.openxmlformats.org/officeDocument/2006/relationships/notesSlide" Target="/ppt/notesSlides/notesSlide19.xml" Id="Rac680013bda94b1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7fb44375674a58" /><Relationship Type="http://schemas.openxmlformats.org/officeDocument/2006/relationships/chart" Target="/ppt/slides/charts/chart11.xml" Id="R3fc315c10ee64e18" /><Relationship Type="http://schemas.openxmlformats.org/officeDocument/2006/relationships/notesSlide" Target="/ppt/notesSlides/notesSlide20.xml" Id="R6dd7726a50df47a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2a7e6c30747be" /><Relationship Type="http://schemas.openxmlformats.org/officeDocument/2006/relationships/notesSlide" Target="/ppt/notesSlides/notesSlide21.xml" Id="R827f8e9f3013485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_rels/chart8.xml.rels><Relationships xmlns="http://schemas.openxmlformats.org/package/2006/relationships"><Relationship Id="rIdChartSnapshot1" Type="http://schemas.openxmlformats.org/officeDocument/2006/relationships/package" Target="../../embeddings/chart-data-snapshot-008.xlsx"/></Relationships>
</file>

<file path=ppt/slides/charts/_rels/chart9.xml.rels><Relationships xmlns="http://schemas.openxmlformats.org/package/2006/relationships"><Relationship Id="rIdChartSnapshot1" Type="http://schemas.openxmlformats.org/officeDocument/2006/relationships/package" Target="../../embeddings/chart-data-snapshot-009.xlsx"/></Relationships>
</file>

<file path=ppt/slides/charts/_rels/chart10.xml.rels><Relationships xmlns="http://schemas.openxmlformats.org/package/2006/relationships"><Relationship Id="rIdChartSnapshot1" Type="http://schemas.openxmlformats.org/officeDocument/2006/relationships/package" Target="../../embeddings/chart-data-snapshot-010.xlsx"/></Relationships>
</file>

<file path=ppt/slides/charts/_rels/chart11.xml.rels><Relationships xmlns="http://schemas.openxmlformats.org/package/2006/relationships"><Relationship Id="rIdChartSnapshot1" Type="http://schemas.openxmlformats.org/officeDocument/2006/relationships/package" Target="../../embeddings/chart-data-snapshot-01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Raw review (triệu)</c:v>
          </c:tx>
          <c:spPr>
            <a:solidFill xmlns:a="http://schemas.openxmlformats.org/drawingml/2006/main">
              <a:srgbClr val="3E8BFF"/>
            </a:solidFill>
          </c:spPr>
          <c:cat>
            <c:strRef>
              <c:f>'Chart Data'!$A$2:$A$3</c:f>
              <c:strCache>
                <c:ptCount val="2"/>
                <c:pt idx="0">
                  <c:v>All_Beauty</c:v>
                </c:pt>
                <c:pt idx="1">
                  <c:v>Baby_Products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0.693929</c:v>
                </c:pt>
                <c:pt idx="1">
                  <c:v>5.953891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6.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Tỷ lệ raw row</c:v>
          </c:tx>
          <c:spPr>
            <a:solidFill xmlns:a="http://schemas.openxmlformats.org/drawingml/2006/main">
              <a:srgbClr val="626C7A"/>
            </a:solidFill>
          </c:spPr>
          <c:dPt>
            <c:idx val="3"/>
            <c:invertIfNegative val="0"/>
            <c:spPr>
              <a:solidFill xmlns:a="http://schemas.openxmlformats.org/drawingml/2006/main">
                <a:srgbClr val="2CA47B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CA47B"/>
              </a:solidFill>
            </c:spPr>
          </c:dPt>
          <c:cat>
            <c:strRef>
              <c:f>'Chart Data'!$A$2:$A$6</c:f>
              <c:strCache>
                <c:ptCount val="5"/>
                <c:pt idx="0">
                  <c:v>1★</c:v>
                </c:pt>
                <c:pt idx="1">
                  <c:v>2★</c:v>
                </c:pt>
                <c:pt idx="2">
                  <c:v>3★</c:v>
                </c:pt>
                <c:pt idx="3">
                  <c:v>4★</c:v>
                </c:pt>
                <c:pt idx="4">
                  <c:v>5★</c:v>
                </c:pt>
              </c:strCache>
            </c:strRef>
          </c:cat>
          <c:val>
            <c:numRef>
              <c:f>'Chart Data'!$B$2:$B$6</c:f>
              <c:numCache>
                <c:formatCode>0%</c:formatCode>
                <c:ptCount val="5"/>
                <c:pt idx="0">
                  <c:v>0.0932875661</c:v>
                </c:pt>
                <c:pt idx="1">
                  <c:v>0.0519980967</c:v>
                </c:pt>
                <c:pt idx="2">
                  <c:v>0.072730925</c:v>
                </c:pt>
                <c:pt idx="3">
                  <c:v>0.1145430778</c:v>
                </c:pt>
                <c:pt idx="4">
                  <c:v>0.6674401664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15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Singleton</c:v>
          </c:tx>
          <c:spPr>
            <a:solidFill xmlns:a="http://schemas.openxmlformats.org/drawingml/2006/main">
              <a:srgbClr val="3E8BFF"/>
            </a:solidFill>
          </c:spPr>
          <c:cat>
            <c:strRef>
              <c:f>'Chart Data'!$A$2:$A$3</c:f>
              <c:strCache>
                <c:ptCount val="2"/>
                <c:pt idx="0">
                  <c:v>User</c:v>
                </c:pt>
                <c:pt idx="1">
                  <c:v>Item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0.7176341539</c:v>
                </c:pt>
                <c:pt idx="1">
                  <c:v>0.3334957594</c:v>
                </c:pt>
              </c:numCache>
            </c:numRef>
          </c:val>
        </c:ser>
        <c:ser>
          <c:idx val="1"/>
          <c:order val="1"/>
          <c:tx>
            <c:v>Degree &gt; 1</c:v>
          </c:tx>
          <c:spPr>
            <a:solidFill xmlns:a="http://schemas.openxmlformats.org/drawingml/2006/main">
              <a:srgbClr val="2CA47B"/>
            </a:solidFill>
          </c:spPr>
          <c:cat>
            <c:strRef>
              <c:f>'Chart Data'!$C$2:$C$3</c:f>
              <c:strCache>
                <c:ptCount val="2"/>
                <c:pt idx="0">
                  <c:v>User</c:v>
                </c:pt>
                <c:pt idx="1">
                  <c:v>Item</c:v>
                </c:pt>
              </c:strCache>
            </c:strRef>
          </c:cat>
          <c:val>
            <c:numRef>
              <c:f>'Chart Data'!$D$2:$D$3</c:f>
              <c:numCache>
                <c:formatCode>0.0%</c:formatCode>
                <c:ptCount val="2"/>
                <c:pt idx="0">
                  <c:v>0.2823658461</c:v>
                </c:pt>
                <c:pt idx="1">
                  <c:v>0.6665042406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Tỷ lệ interaction tích lũy</c:v>
          </c:tx>
          <c:spPr>
            <a:solidFill xmlns:a="http://schemas.openxmlformats.org/drawingml/2006/main">
              <a:srgbClr val="F4A24C"/>
            </a:solidFill>
          </c:spPr>
          <c:cat>
            <c:strRef>
              <c:f>'Chart Data'!$A$2:$A$5</c:f>
              <c:strCache>
                <c:ptCount val="4"/>
                <c:pt idx="0">
                  <c:v>Top 1%</c:v>
                </c:pt>
                <c:pt idx="1">
                  <c:v>Top 5%</c:v>
                </c:pt>
                <c:pt idx="2">
                  <c:v>Top 10%</c:v>
                </c:pt>
                <c:pt idx="3">
                  <c:v>Top 20%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0.4409414747</c:v>
                </c:pt>
                <c:pt idx="1">
                  <c:v>0.7111744808</c:v>
                </c:pt>
                <c:pt idx="2">
                  <c:v>0.8132650271</c:v>
                </c:pt>
                <c:pt idx="3">
                  <c:v>0.8964559767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Head ≥397</c:v>
          </c:tx>
          <c:spPr>
            <a:solidFill xmlns:a="http://schemas.openxmlformats.org/drawingml/2006/main">
              <a:srgbClr val="3E8BFF"/>
            </a:solidFill>
          </c:spPr>
          <c:cat>
            <c:strRef>
              <c:f>'Chart Data'!$A$2:$A$3</c:f>
              <c:strCache>
                <c:ptCount val="2"/>
                <c:pt idx="0">
                  <c:v>Tỷ lệ item</c:v>
                </c:pt>
                <c:pt idx="1">
                  <c:v>Tỷ lệ interaction</c:v>
                </c:pt>
              </c:strCache>
            </c:strRef>
          </c:cat>
          <c:val>
            <c:numRef>
              <c:f>'Chart Data'!$B$2:$B$3</c:f>
              <c:numCache>
                <c:formatCode>0%</c:formatCode>
                <c:ptCount val="2"/>
                <c:pt idx="0">
                  <c:v>0.01</c:v>
                </c:pt>
                <c:pt idx="1">
                  <c:v>0.4416</c:v>
                </c:pt>
              </c:numCache>
            </c:numRef>
          </c:val>
        </c:ser>
        <c:ser>
          <c:idx val="1"/>
          <c:order val="1"/>
          <c:tx>
            <c:v>Body 13–396</c:v>
          </c:tx>
          <c:spPr>
            <a:solidFill xmlns:a="http://schemas.openxmlformats.org/drawingml/2006/main">
              <a:srgbClr val="2CA47B"/>
            </a:solidFill>
          </c:spPr>
          <c:cat>
            <c:strRef>
              <c:f>'Chart Data'!$C$2:$C$3</c:f>
              <c:strCache>
                <c:ptCount val="2"/>
                <c:pt idx="0">
                  <c:v>Tỷ lệ item</c:v>
                </c:pt>
                <c:pt idx="1">
                  <c:v>Tỷ lệ interaction</c:v>
                </c:pt>
              </c:strCache>
            </c:strRef>
          </c:cat>
          <c:val>
            <c:numRef>
              <c:f>'Chart Data'!$D$2:$D$3</c:f>
              <c:numCache>
                <c:formatCode>0%</c:formatCode>
                <c:ptCount val="2"/>
                <c:pt idx="0">
                  <c:v>0.1892</c:v>
                </c:pt>
                <c:pt idx="1">
                  <c:v>0.4545</c:v>
                </c:pt>
              </c:numCache>
            </c:numRef>
          </c:val>
        </c:ser>
        <c:ser>
          <c:idx val="2"/>
          <c:order val="2"/>
          <c:tx>
            <c:v>Tail ≤12</c:v>
          </c:tx>
          <c:spPr>
            <a:solidFill xmlns:a="http://schemas.openxmlformats.org/drawingml/2006/main">
              <a:srgbClr val="F4A24C"/>
            </a:solidFill>
          </c:spPr>
          <c:cat>
            <c:strRef>
              <c:f>'Chart Data'!$E$2:$E$3</c:f>
              <c:strCache>
                <c:ptCount val="2"/>
                <c:pt idx="0">
                  <c:v>Tỷ lệ item</c:v>
                </c:pt>
                <c:pt idx="1">
                  <c:v>Tỷ lệ interaction</c:v>
                </c:pt>
              </c:strCache>
            </c:strRef>
          </c:cat>
          <c:val>
            <c:numRef>
              <c:f>'Chart Data'!$F$2:$F$3</c:f>
              <c:numCache>
                <c:formatCode>0%</c:formatCode>
                <c:ptCount val="2"/>
                <c:pt idx="0">
                  <c:v>0.8007</c:v>
                </c:pt>
                <c:pt idx="1">
                  <c:v>0.1039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825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percentStacked"/>
        <c:varyColors val="0"/>
        <c:ser>
          <c:idx val="0"/>
          <c:order val="0"/>
          <c:tx>
            <c:v>Warm retained</c:v>
          </c:tx>
          <c:spPr>
            <a:solidFill xmlns:a="http://schemas.openxmlformats.org/drawingml/2006/main">
              <a:srgbClr val="2CA47B"/>
            </a:solidFill>
          </c:spPr>
          <c:cat>
            <c:strRef>
              <c:f>'Chart Data'!$A$2:$A$3</c:f>
              <c:strCache>
                <c:ptCount val="2"/>
                <c:pt idx="0">
                  <c:v>Validation</c:v>
                </c:pt>
                <c:pt idx="1">
                  <c:v>Test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0.2190376054</c:v>
                </c:pt>
                <c:pt idx="1">
                  <c:v>0.0981754323</c:v>
                </c:pt>
              </c:numCache>
            </c:numRef>
          </c:val>
        </c:ser>
        <c:ser>
          <c:idx val="1"/>
          <c:order val="1"/>
          <c:tx>
            <c:v>Loại do user/item OOV</c:v>
          </c:tx>
          <c:spPr>
            <a:solidFill xmlns:a="http://schemas.openxmlformats.org/drawingml/2006/main">
              <a:srgbClr val="D7DEE8"/>
            </a:solidFill>
          </c:spPr>
          <c:cat>
            <c:strRef>
              <c:f>'Chart Data'!$C$2:$C$3</c:f>
              <c:strCache>
                <c:ptCount val="2"/>
                <c:pt idx="0">
                  <c:v>Validation</c:v>
                </c:pt>
                <c:pt idx="1">
                  <c:v>Test</c:v>
                </c:pt>
              </c:strCache>
            </c:strRef>
          </c:cat>
          <c:val>
            <c:numRef>
              <c:f>'Chart Data'!$D$2:$D$3</c:f>
              <c:numCache>
                <c:formatCode>0.0%</c:formatCode>
                <c:ptCount val="2"/>
                <c:pt idx="0">
                  <c:v>0.7809623946</c:v>
                </c:pt>
                <c:pt idx="1">
                  <c:v>0.9018245677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NDCG@20</c:v>
          </c:tx>
          <c:spPr>
            <a:solidFill xmlns:a="http://schemas.openxmlformats.org/drawingml/2006/main">
              <a:srgbClr val="3E8BFF"/>
            </a:solidFill>
          </c:spPr>
          <c:cat>
            <c:strRef>
              <c:f>'Chart Data'!$A$2:$A$4</c:f>
              <c:strCache>
                <c:ptCount val="3"/>
                <c:pt idx="0">
                  <c:v>MostPop</c:v>
                </c:pt>
                <c:pt idx="1">
                  <c:v>BPR-MF</c:v>
                </c:pt>
                <c:pt idx="2">
                  <c:v>Full LightGCN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0.0058725502</c:v>
                </c:pt>
                <c:pt idx="1">
                  <c:v>0.0040535124</c:v>
                </c:pt>
                <c:pt idx="2">
                  <c:v>0.0049312379</c:v>
                </c:pt>
              </c:numCache>
            </c:numRef>
          </c:val>
        </c:ser>
        <c:ser>
          <c:idx val="1"/>
          <c:order val="1"/>
          <c:tx>
            <c:v>Recall@20</c:v>
          </c:tx>
          <c:spPr>
            <a:solidFill xmlns:a="http://schemas.openxmlformats.org/drawingml/2006/main">
              <a:srgbClr val="2CA47B"/>
            </a:solidFill>
          </c:spPr>
          <c:cat>
            <c:strRef>
              <c:f>'Chart Data'!$C$2:$C$4</c:f>
              <c:strCache>
                <c:ptCount val="3"/>
                <c:pt idx="0">
                  <c:v>MostPop</c:v>
                </c:pt>
                <c:pt idx="1">
                  <c:v>BPR-MF</c:v>
                </c:pt>
                <c:pt idx="2">
                  <c:v>Full LightGCN</c:v>
                </c:pt>
              </c:strCache>
            </c:strRef>
          </c:cat>
          <c:val>
            <c:numRef>
              <c:f>'Chart Data'!$D$2:$D$4</c:f>
              <c:numCache>
                <c:formatCode>0.00%</c:formatCode>
                <c:ptCount val="3"/>
                <c:pt idx="0">
                  <c:v>0.0145961329</c:v>
                </c:pt>
                <c:pt idx="1">
                  <c:v>0.0104188296</c:v>
                </c:pt>
                <c:pt idx="2">
                  <c:v>0.0123731236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017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004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8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Catalog coverage@20</c:v>
          </c:tx>
          <c:spPr>
            <a:solidFill xmlns:a="http://schemas.openxmlformats.org/drawingml/2006/main">
              <a:srgbClr val="F4A24C"/>
            </a:solidFill>
          </c:spPr>
          <c:cat>
            <c:strRef>
              <c:f>'Chart Data'!$A$2:$A$4</c:f>
              <c:strCache>
                <c:ptCount val="3"/>
                <c:pt idx="0">
                  <c:v>MostPop</c:v>
                </c:pt>
                <c:pt idx="1">
                  <c:v>BPR-MF</c:v>
                </c:pt>
                <c:pt idx="2">
                  <c:v>Full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0.000154202</c:v>
                </c:pt>
                <c:pt idx="1">
                  <c:v>0.0335173477</c:v>
                </c:pt>
                <c:pt idx="2">
                  <c:v>0.0063654588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9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NDCG@20</c:v>
          </c:tx>
          <c:spPr>
            <a:solidFill xmlns:a="http://schemas.openxmlformats.org/drawingml/2006/main">
              <a:srgbClr val="3E8BFF"/>
            </a:solidFill>
          </c:spPr>
          <c:cat>
            <c:strRef>
              <c:f>'Chart Data'!$A$2:$A$4</c:f>
              <c:strCache>
                <c:ptCount val="3"/>
                <c:pt idx="0">
                  <c:v>M0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0.005727283</c:v>
                </c:pt>
                <c:pt idx="1">
                  <c:v>0.0061532962</c:v>
                </c:pt>
                <c:pt idx="2">
                  <c:v>0.0059206961</c:v>
                </c:pt>
              </c:numCache>
            </c:numRef>
          </c:val>
        </c:ser>
        <c:ser>
          <c:idx val="1"/>
          <c:order val="1"/>
          <c:tx>
            <c:v>Recall@20</c:v>
          </c:tx>
          <c:spPr>
            <a:solidFill xmlns:a="http://schemas.openxmlformats.org/drawingml/2006/main">
              <a:srgbClr val="2CA47B"/>
            </a:solidFill>
          </c:spPr>
          <c:cat>
            <c:strRef>
              <c:f>'Chart Data'!$C$2:$C$4</c:f>
              <c:strCache>
                <c:ptCount val="3"/>
                <c:pt idx="0">
                  <c:v>M0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'Chart Data'!$D$2:$D$4</c:f>
              <c:numCache>
                <c:formatCode>0.00%</c:formatCode>
                <c:ptCount val="3"/>
                <c:pt idx="0">
                  <c:v>0.0146572046</c:v>
                </c:pt>
                <c:pt idx="1">
                  <c:v>0.0159885674</c:v>
                </c:pt>
                <c:pt idx="2">
                  <c:v>0.0153167788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017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004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10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Training wall (s)</c:v>
          </c:tx>
          <c:spPr>
            <a:solidFill xmlns:a="http://schemas.openxmlformats.org/drawingml/2006/main">
              <a:srgbClr val="F4A24C"/>
            </a:solidFill>
          </c:spPr>
          <c:cat>
            <c:strRef>
              <c:f>'Chart Data'!$A$2:$A$4</c:f>
              <c:strCache>
                <c:ptCount val="3"/>
                <c:pt idx="0">
                  <c:v>M0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705.32</c:v>
                </c:pt>
                <c:pt idx="1">
                  <c:v>795.1</c:v>
                </c:pt>
                <c:pt idx="2">
                  <c:v>868.63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1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M0</c:v>
          </c:tx>
          <c:spPr>
            <a:ln xmlns:a="http://schemas.openxmlformats.org/drawingml/2006/main" w="28575">
              <a:solidFill>
                <a:srgbClr val="3E8BFF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3E8BFF"/>
              </a:solidFill>
            </c:spPr>
          </c:marker>
          <c:cat>
            <c:strRef>
              <c:f>'Chart Data'!$A$2:$A$4</c:f>
              <c:strCache>
                <c:ptCount val="3"/>
                <c:pt idx="0">
                  <c:v>s0</c:v>
                </c:pt>
                <c:pt idx="1">
                  <c:v>s1</c:v>
                </c:pt>
                <c:pt idx="2">
                  <c:v>s2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0.005727283</c:v>
                </c:pt>
                <c:pt idx="1">
                  <c:v>0.00562498</c:v>
                </c:pt>
                <c:pt idx="2">
                  <c:v>0.0057669238</c:v>
                </c:pt>
              </c:numCache>
            </c:numRef>
          </c:val>
          <c:smooth val="0"/>
        </c:ser>
        <c:ser>
          <c:idx val="1"/>
          <c:order val="1"/>
          <c:tx>
            <c:v>M1</c:v>
          </c:tx>
          <c:spPr>
            <a:ln xmlns:a="http://schemas.openxmlformats.org/drawingml/2006/main" w="28575">
              <a:solidFill>
                <a:srgbClr val="2CA47B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2CA47B"/>
              </a:solidFill>
            </c:spPr>
          </c:marker>
          <c:cat>
            <c:strRef>
              <c:f>'Chart Data'!$C$2:$C$4</c:f>
              <c:strCache>
                <c:ptCount val="3"/>
                <c:pt idx="0">
                  <c:v>s0</c:v>
                </c:pt>
                <c:pt idx="1">
                  <c:v>s1</c:v>
                </c:pt>
                <c:pt idx="2">
                  <c:v>s2</c:v>
                </c:pt>
              </c:strCache>
            </c:strRef>
          </c:cat>
          <c:val>
            <c:numRef>
              <c:f>'Chart Data'!$D$2:$D$4</c:f>
              <c:numCache>
                <c:formatCode>0.00%</c:formatCode>
                <c:ptCount val="3"/>
                <c:pt idx="0">
                  <c:v>0.0061532962</c:v>
                </c:pt>
                <c:pt idx="1">
                  <c:v>0.0057042864</c:v>
                </c:pt>
                <c:pt idx="2">
                  <c:v>0.0057403666</c:v>
                </c:pt>
              </c:numCache>
            </c:numRef>
          </c:val>
          <c:smooth val="0"/>
        </c:ser>
        <c:ser>
          <c:idx val="2"/>
          <c:order val="2"/>
          <c:tx>
            <c:v>M2</c:v>
          </c:tx>
          <c:spPr>
            <a:ln xmlns:a="http://schemas.openxmlformats.org/drawingml/2006/main" w="28575">
              <a:solidFill>
                <a:srgbClr val="F4A24C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F4A24C"/>
              </a:solidFill>
            </c:spPr>
          </c:marker>
          <c:cat>
            <c:strRef>
              <c:f>'Chart Data'!$E$2:$E$4</c:f>
              <c:strCache>
                <c:ptCount val="3"/>
                <c:pt idx="0">
                  <c:v>s0</c:v>
                </c:pt>
                <c:pt idx="1">
                  <c:v>s1</c:v>
                </c:pt>
                <c:pt idx="2">
                  <c:v>s2</c:v>
                </c:pt>
              </c:strCache>
            </c:strRef>
          </c:cat>
          <c:val>
            <c:numRef>
              <c:f>'Chart Data'!$F$2:$F$4</c:f>
              <c:numCache>
                <c:formatCode>0.00%</c:formatCode>
                <c:ptCount val="3"/>
                <c:pt idx="0">
                  <c:v>0.0059206961</c:v>
                </c:pt>
                <c:pt idx="1">
                  <c:v>0.0055738678</c:v>
                </c:pt>
                <c:pt idx="2">
                  <c:v>0.005668182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0063"/>
          <c:min val="0.0054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.0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000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B930A2-75BC-46CE-9587-080F40124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LUẬN VĂN THẠC SĨ | BẢN TỔNG HỢP BẰNG CHỨNG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6E95FA-FCD1-4CFA-AEE7-BC083E24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9650"/>
            <a:ext cx="8572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Lấy mẫu đồ thị cho hệ thống</a:t>
            </a:r>
          </a:p>
          <a:p xmlns:a="http://schemas.openxmlformats.org/drawingml/2006/main">
            <a:pPr algn="l">
              <a:defRPr sz="33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gợi ý quy mô lớn bằng GNN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82582C-636A-44FC-99DA-22AC412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Amazon Reviews’23 Baby_Products, temporal warm-start, pure-ID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14584C-34E6-4C90-A406-06074D4C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0"/>
            <a:ext cx="68103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0B0C10-263D-4487-8EB3-CC645850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KẾT LUẬN HIỆN TẠI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47CE52-F0E2-4FF9-8165-1BD1D680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14700"/>
            <a:ext cx="4619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M2 không tạo trade-off tốt hơn M1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09AD22-5713-476F-B603-F8A7F2A2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148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3/3 validation seed: M2 thấp hơn M1 về NDCG@20 và Recall@20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290CD5-111E-4B89-8D11-5B4807F5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43425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Negative result có kiểm soát — không phải thất bại cần che giấu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082DC3-5730-4F50-8F39-C99C085E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3880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16/09/2026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CD32D7-9A24-4F87-8F94-9B4ADFC5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B477E4-2F90-48B3-9149-7BF67033B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Amazon Reviews’23 + artifact dự án đã audit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894EE7-97D6-4A93-8FC8-1FD5268A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380147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94EC31-68E6-4DB5-8940-C6A1EA32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00 / CÂU HỎI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6B74C-CB81-4B43-A0B9-A34E3DA2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Câu hỏi nghiên cứu và phạm vi kết luận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D549C-6B63-4444-AF54-3665D3F8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7285E7-C79C-42BF-BAD0-2D35E72F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PHASE2_RESEARCH_PLAN_vn.md; BPR; LightGCN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FA6E10-954C-43E7-8040-7C27C14C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D5B834-B9D9-4858-9ED4-490E20B6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CÂU HỎI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2A1CD6-E376-477C-A7F8-EBCAB769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240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Khi giữ nguyên mô hình, dữ liệu, budget và evaluator, cách lấy context nào tạo ranking tốt hơn với chi phí chấp nhận được?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680B69-777E-47A1-9291-036ABA72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4260C6-E5BC-42C6-992E-C2A0F3F8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14675"/>
            <a:ext cx="3000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ĐỐI TƯỢNG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8BF1D2-4887-4D6E-A3F5-6501F435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19475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Gợi ý top-20 trên graph user–item, temporal warm-start, pure-ID.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BA802-A3AB-4F11-928B-DB74528EC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028950"/>
            <a:ext cx="95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5C82B0-F51C-45C5-BE84-2FB5F5B02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114675"/>
            <a:ext cx="3000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CAN THIỆP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C46742-3111-4EAC-AF38-34D6A36F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19475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Chỉ thay sampler M0, M1, M2. Context là các node và edge lân cận được dùng để truyền thông tin trong batch/layer.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BF153-E427-4C91-A8FB-32626A78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28950"/>
            <a:ext cx="95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E58BCA-027F-4D61-A519-230EE9006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14675"/>
            <a:ext cx="3000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RANH GIỚI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584462-9E30-45CF-A940-61897261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19475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Kết luận chỉ dùng validation. Không suy ra semantic relevance, cold-start, ý nghĩa thống kê, hay kết quả test.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30008A-4DE3-4842-A4CB-E756E435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07823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570764-CDFE-4177-9069-91DC3A67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38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Mục tiêu là một so sánh có kiểm soát, không phải chứng minh sampler phức tạp luôn tốt hơn.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969DCA-8F18-4621-887B-E1657718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7215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30D494-68AE-478E-9021-A506BDFC0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4835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Câu hỏi đúng giúp kết quả âm vẫn có giá trị khoa học</a:t>
            </a:r>
          </a:p>
        </p:txBody>
      </p:sp>
    </p:spTree>
    <p:extLst>
      <p:ext uri="{BB962C8B-B14F-4D97-AF65-F5344CB8AC3E}">
        <p14:creationId xmlns:p14="http://schemas.microsoft.com/office/powerpoint/2010/main" val="15585089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1F206D-FE68-4010-9014-5E1CB0EA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00 / KHÁI NIỆM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1DC86-002A-4A82-A55E-F4CB9C8A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Context là phần graph model được nhìn thấy trong một batch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C4AC70-8083-4145-8BD0-64BB04A7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7F43A7-F2AC-4BB3-BDBF-74CE17151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THESIS_REPORT_vn.md, Section 1 and 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6584F0-8BE9-41C6-86F6-FD564597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6CD965-5B7A-49A3-A4D0-7427C7A7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Trong graph recommendation, user và item là node; rating tích cực là edge. LightGCN học embedding bằng cách truyền tín hiệu qua các edge.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A46151-0348-4BB8-AB8F-6E1AB1AE7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TARGET BATCH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B3AAFF-AC21-4043-B1FF-D75093EC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09900"/>
            <a:ext cx="304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Những user–item interaction đang dùng để cập nhật model.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80FA2D-8202-4E90-BF03-009AEC289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52700"/>
            <a:ext cx="95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8C7280-408A-43F9-B083-4A808370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64795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47E4C-140C-44C5-83F7-735CF0BD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009900"/>
            <a:ext cx="304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Các node và edge lân cận được lấy thêm để propagation trong từng layer.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B44635-038A-4F65-9D62-4DE32A93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52700"/>
            <a:ext cx="95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1A4B17-943F-44F7-9C22-F47E594B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64795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SAMPLER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4F65AF-8F67-4830-88C1-F7F838677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09900"/>
            <a:ext cx="304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Quy tắc quyết định node lân cận nào được lấy khi không thể dùng toàn graph.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94EFB1-3ABD-4BCA-82DA-C76E75A29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33900"/>
            <a:ext cx="107823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A977D0-1D10-4715-90D9-BAD2FF4B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1487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Sampler không đổi target hay metric. Nó đổi thông tin hàng xóm mà model nhận được để học từ target đó.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E05585-C1A8-49FA-A10C-C56FC204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7215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E8BBD6-18E8-4D4E-B16F-F58D1455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4835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Câu hỏi thực nghiệm: context khác có giúp xếp đúng item mục tiêu tốt hơn không?</a:t>
            </a:r>
          </a:p>
        </p:txBody>
      </p:sp>
    </p:spTree>
    <p:extLst>
      <p:ext uri="{BB962C8B-B14F-4D97-AF65-F5344CB8AC3E}">
        <p14:creationId xmlns:p14="http://schemas.microsoft.com/office/powerpoint/2010/main" val="18600083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6213AE-14C9-490A-B78C-FF7AC0D1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01 / LỰA CHỌN DỮ LIỆU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4E13D1-20A6-492A-A853-8F3281DF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Các benchmark ngoài Amazon đã được xem xét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C092C8-A3BC-4A88-B143-4A6427B7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15C996-A5D3-4B5B-8FBB-6C97C02FB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GroupLens; LightGCN; MIND; KuaiRec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D50F9B-FCA4-4C10-AAF8-46E4F6B71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14350" y="1381125"/>
          <a:ext xmlns:a="http://schemas.openxmlformats.org/drawingml/2006/main" cx="11163300" cy="3219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2476500"/>
                <a:gridCol w="3476625"/>
                <a:gridCol w="3305175"/>
              </a:tblGrid>
              <a:tr h="64389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Bộ dữ liệu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Được dùng phổ biến cho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Điểm phù hợp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Vì sao chưa chạy trong nghiên cứu này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MovieLens 25M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Collaborative filtering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25M rating, 162.541 user, 62.423 phim; có tag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Khác miền sản phẩm và khác cấu trúc long-tail Amazon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Gowalla / Yelp2018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Graph-CF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LightGCN dùng hai benchmark này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Phù hợp để mở rộng sau này, chưa phải thực nghiệm hiện tại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MIND / KuaiRec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Content / exposure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MIND có text; KuaiRec gần fully observed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Khác pure-ID e-commerce hoặc không đại diện graph thưa quy mô lớn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Amazon Reviews’23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E-commerce recommendation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Có category, review theo thời gian và volume lớn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Được chọn sau audit nội bộ, không phải vì là lựa chọn duy nhất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D09F40-49E5-4185-A48E-C9E5D08B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95850"/>
            <a:ext cx="10782300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49FF33-A1ED-4A2E-BB25-07F1307E1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48250"/>
            <a:ext cx="1038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Các bộ trên là benchmark tham khảo. Nghiên cứu này chỉ chạy Amazon Reviews’23 Baby_Products.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145608-2DBC-42BA-86E8-42189408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7215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90E9B6-B5AB-406F-8A7E-9C66D125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4835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Dữ liệu phải khớp câu hỏi và giới hạn đo lường, không chỉ cần nổi tiếng</a:t>
            </a:r>
          </a:p>
        </p:txBody>
      </p:sp>
    </p:spTree>
    <p:extLst>
      <p:ext uri="{BB962C8B-B14F-4D97-AF65-F5344CB8AC3E}">
        <p14:creationId xmlns:p14="http://schemas.microsoft.com/office/powerpoint/2010/main" val="2861376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9459ED-FA36-49A4-9D7D-CB9F7761F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01 / LỰA CHỌN DỮ LIỆU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6EFBEF-4835-454E-8F3E-3388B24D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Vì sao Baby_Products là bộ dữ liệu thực nghiệm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4ABED8-0825-483F-B071-EEEA51DA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2E4AC3-42C7-4FE5-8C81-0C42FBEC6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DATASET_PORTFOLIO_AND_ANALYSIS_PROTOCOL_vn.md; audit artifacts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B69C6A-82FE-4435-AE2E-19D4FE2C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514350" y="1504950"/>
          <a:ext xmlns:a="http://schemas.openxmlformats.org/drawingml/2006/main" cx="4953000" cy="2905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442b8c0a2343a0"/>
          </a:graphicData>
        </a:graphic>
      </p:graphicFrame>
      <p:graphicFrame>
        <p:nvGraphicFramePr>
          <p:cNvPr id="19" name=""/>
          <p:cNvGraphicFramePr/>
          <p:nvPr/>
        </p:nvGraphicFramePr>
        <p:xfrm>
          <a:off xmlns:a="http://schemas.openxmlformats.org/drawingml/2006/main" x="6000750" y="1428750"/>
          <a:ext xmlns:a="http://schemas.openxmlformats.org/drawingml/2006/main" cx="5334000" cy="2686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1190625"/>
                <a:gridCol w="1190625"/>
                <a:gridCol w="1238250"/>
              </a:tblGrid>
              <a:tr h="671513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Tiêu chí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All_Beauty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Baby_Products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Home_and_Kitchen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Raw row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693.929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5.953.891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66.623.880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Vai trò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Schema/pipeline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Benchmark chính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Chỉ provenance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Đánh giá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Warm validation 3,98%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Warm validation 21,90%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Chưa full protocol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95D154-D778-4D33-8D70-3A22A542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0532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LÝ DO CHỌN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89E125-65B4-42E8-95CC-19AD5FB98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81550"/>
            <a:ext cx="5143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Baby có nhiều interaction hơn All_Beauty, long tail rõ, đủ lớn để stress sampling, nhưng vẫn chạy được trong ngân sách Colab đã kiểm chứng.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DEC9B4-91F4-47F0-82AE-0C7A8BDF2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14875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Home_and_Kitchen lớn hơn 11,19 lần Baby. Ta chỉ biết provenance và quy mô, chưa được quyền dùng nó để nói về performance.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309F25-9179-484B-B0AF-6497FB38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7215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9B1276-0406-4536-BFCA-B24958EA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4835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Lựa chọn Baby dựa trên audit và khả năng thực nghiệm, không dựa trên score model</a:t>
            </a:r>
          </a:p>
        </p:txBody>
      </p:sp>
    </p:spTree>
    <p:extLst>
      <p:ext uri="{BB962C8B-B14F-4D97-AF65-F5344CB8AC3E}">
        <p14:creationId xmlns:p14="http://schemas.microsoft.com/office/powerpoint/2010/main" val="12280136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389521-0DAA-4444-B17F-FBA0F26B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00 / TỔNG HỢP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BB095F-2A06-44A3-9FD2-419B6D64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Câu chuyện nghiên cứu trong một phút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D7972D-570A-4B4F-AD07-9A148501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870CE-6A11-44CC-B53B-CEC7BE36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 story + baseline summaries + paired aggregate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103B85-92E7-4035-851D-9591DEDF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9D202F-E97C-4A0A-A385-22A61351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1447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203438-7A01-4040-AECE-0795A4C7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14525"/>
            <a:ext cx="31432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5,95M raw review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4,66M positive P4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3,87M training edge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2,32M user / 162k item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961283-BAAB-4F9C-B6AE-1349141D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428750"/>
            <a:ext cx="190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056B5E-06CC-4CBA-A3BE-C39A5D1A4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51447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CAN THIỆP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B3437C-1C26-4183-80C5-708231F77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914525"/>
            <a:ext cx="31432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Giữ cố định graph, split,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LightGCN, BPR, budget,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seed, evaluator, hardware;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chỉ thay sampler M0–M2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2959B-8024-4856-9A3E-9A96CB852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428750"/>
            <a:ext cx="190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4C77DE-8C0A-4729-9371-9138CE13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14475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7D3683-3FF4-464B-9CAC-95A37879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14525"/>
            <a:ext cx="36766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M2 &lt; M1 ở 3/3 seed</a:t>
            </a:r>
          </a:p>
          <a:p xmlns:a="http://schemas.openxmlformats.org/drawingml/2006/main">
            <a:pPr algn="l">
              <a:defRPr sz="16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NDCG −2,47% theo mean</a:t>
            </a:r>
          </a:p>
          <a:p xmlns:a="http://schemas.openxmlformats.org/drawingml/2006/main">
            <a:pPr algn="l">
              <a:defRPr sz="16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Recall −2,77% theo mean</a:t>
            </a:r>
          </a:p>
          <a:p xmlns:a="http://schemas.openxmlformats.org/drawingml/2006/main">
            <a:pPr algn="l">
              <a:defRPr sz="16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tail hit = 0 cho mọi method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9A393D-1465-4EA7-B0E2-2C6DEC61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62450"/>
            <a:ext cx="111633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7A65CE-F1BC-41B9-AAE0-D410264E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EFC052-32DC-4F45-8A99-74AEDBC0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10715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Giữ M2 như negative result. Chưa đọc test target và không mở thêm sampler sau khi đã thấy validation.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2CB43E-2DF0-48EC-B76F-52C87292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DAAF99-7BB3-42B7-8594-E0DA446E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Đóng góp nằm ở chuỗi đối chứng và failure analysis — không nằm ở việc ‘phải thắng’</a:t>
            </a:r>
          </a:p>
        </p:txBody>
      </p:sp>
    </p:spTree>
    <p:extLst>
      <p:ext uri="{BB962C8B-B14F-4D97-AF65-F5344CB8AC3E}">
        <p14:creationId xmlns:p14="http://schemas.microsoft.com/office/powerpoint/2010/main" val="10369955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99DD43-FF6C-44ED-88E8-C7AC71CF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01 / NGUỒN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7628F9-C427-452E-8C96-1C8420FF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Nguồn chính thức và tệp thực sự được dùng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6CA9C-E335-48BF-87EC-2F5B489AD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24E703-3CC0-4720-8D2F-538C1B1D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Amazon Reviews’23; Baby_Products_protocol_audit.json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4585A4-31E6-4375-AD4A-D5E6ADA2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538D25-B669-420D-894F-45725588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McAuley Lab — Amazon Reviews’23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61238B-7D33-4954-A4D2-AA63FB9D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81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Category: Baby_Products, benchmark 0-core, rating_only</a:t>
            </a:r>
          </a:p>
        </p:txBody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514350" y="2143125"/>
          <a:ext xmlns:a="http://schemas.openxmlformats.org/drawingml/2006/main" cx="647700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1238250"/>
                <a:gridCol w="3524250"/>
              </a:tblGrid>
              <a:tr h="4762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Trường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Kiểu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Ý nghĩa trong nghiên cứu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user_id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string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ID người đánh giá, dùng làm node user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parent_asin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string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ID cha sản phẩm, dùng làm node item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float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Điểm 1–5; dự án đổi thành positive khi ≥4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timestamp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int (ms)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Thứ tự thời gian để tách train/validation/test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6827E0-9DC0-4E0D-A9D5-20887959E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362075"/>
            <a:ext cx="19050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5B3A4B-E31A-4362-9248-6BDC9116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09700"/>
            <a:ext cx="3143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TỆP TẢI CHÍNH XÁC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C0CE77-9919-4EE1-B0E0-B328BFBD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590675"/>
            <a:ext cx="314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148.609.233 bytes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3E943A-945F-4041-821F-7D733D6E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812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Baby_Products.csv.gz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883D32-A943-4C76-8700-27361730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476500"/>
            <a:ext cx="3143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SHA-256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D76D35-A83E-4460-B32B-1726D916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657475"/>
            <a:ext cx="314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e2a8d049…c279e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BC867C-8B7C-4528-B77B-27E9080DF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0480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Nhận diện đúng byte nguồn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9C2C61-2698-4452-A55B-85D532C4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8140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URL artifact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BF4A92-A032-413B-9023-72145CF9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800475"/>
            <a:ext cx="323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datarepo.eng.ucsd.edu/…/0core/</a:t>
            </a:r>
          </a:p>
          <a:p xmlns:a="http://schemas.openxmlformats.org/drawingml/2006/main">
            <a:pPr algn="l">
              <a:defRPr sz="120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rating_only/Baby_Products.csv.gz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379424-7DEB-481C-8BA5-EAD326F58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5529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35567F-8D9E-4165-AFC8-70592463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28098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Không dùng title/category/text/metadata</a:t>
            </a:r>
          </a:p>
          <a:p xmlns:a="http://schemas.openxmlformats.org/drawingml/2006/main">
            <a:pPr algn="l">
              <a:defRPr sz="11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trong task chính.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5BAF0A-F5A5-4BAB-A7BB-58C3FAFC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BA3627-8079-4925-85DA-B318F22A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Nguồn chính thức cung cấp schema; artifact audit cung cấp byte, checksum và quy tắc dự án</a:t>
            </a:r>
          </a:p>
        </p:txBody>
      </p:sp>
    </p:spTree>
    <p:extLst>
      <p:ext uri="{BB962C8B-B14F-4D97-AF65-F5344CB8AC3E}">
        <p14:creationId xmlns:p14="http://schemas.microsoft.com/office/powerpoint/2010/main" val="3482533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AEA9E20-7013-4BFF-8445-4EC81278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02 /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BCCE87-0133-465C-984B-838D8F9C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Phân tích đi theo thời gian, không nhìn test để chọn phương pháp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4869A6-4867-43A6-BADE-1AED3E7C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C70E97-5E1E-4D70-8A2D-A9718DA8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baby_p4_g2c_manifest.json; audit cutoffs t1/t2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3C10F0-13F7-4F55-A44B-4E936C05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ECDD53-9503-4453-BCE9-8A998A7F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1762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RAW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9260C4-30BB-4CC6-9222-B8F906FEF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1927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5.953.891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7CA528-212F-45CE-816F-62EDBA8D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02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parsed row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22A9DC-EEE2-4909-88D4-2CB4EB52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000250"/>
            <a:ext cx="352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A77217-C773-4D2C-A38B-62DF214E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000250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6A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662168-BADA-4353-AE83-975E1F61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504950"/>
            <a:ext cx="1762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QUARANTINE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1A22AC-89C9-4985-95B3-B7B494850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81927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 rating = 0,0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7331D4-6177-4877-8CFD-012693EE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002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khỏi [1,5]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A6D540-CD3B-4180-A7D5-9225D6CA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000250"/>
            <a:ext cx="352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C896F5-DAFF-4345-A75E-9C367A2D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000250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6A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1135A0-E84C-41D2-AD4B-F70161DF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04950"/>
            <a:ext cx="1762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P4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AF1D6E-9078-43E9-9324-92F0C055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81927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4.655.843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C663F-0D1B-44A4-B04B-DE11939D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2002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rating 4–5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2F5F00-3467-4484-B55A-518494172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000250"/>
            <a:ext cx="352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ED9F98-D44E-4312-AD53-58B312F2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00250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6A5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17A321-27AF-400B-BAED-FB04B6C5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504950"/>
            <a:ext cx="1762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TEMPORAL SPLIT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0E68F3-0545-4EAC-B0EF-D83FE612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81927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t1 / t2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75AB5C-E449-4EC7-8167-9A49332C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2002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11/08/2021 đến 16/07/2022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5BCEA9-5B6B-4B41-8A94-F96D61D30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000250"/>
            <a:ext cx="352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9D250D-3C3A-4D63-BF00-282BC8A6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000250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6A5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6FBE7C-DE44-470A-BCB7-FFCFCAD1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504950"/>
            <a:ext cx="1762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WARM FILTER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028707-9407-4A30-9879-EFA54C252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81927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train-only map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93C76E-F3FC-4CA4-8E98-581A94D0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2002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user &amp; item phải đã thấy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687883-36EB-42D8-839A-B5E07CE9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1467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ARTIFACT SAU KHI KHÓA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C5E3DE-78BC-42C7-8954-E189ECB0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67100"/>
            <a:ext cx="3333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BB0C607-381E-4AB5-975F-752179AF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2952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TRAIN GRAPH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02A0180-146A-442F-963C-4128B138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957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3.868.654 edge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609524-3307-4F65-8F35-7A7A4CB1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Model chỉ nhìn quá khứ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27245C-56A7-4AAC-B60A-DC26B876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467100"/>
            <a:ext cx="3333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364697-44CA-4A53-AD49-7361E4657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619500"/>
            <a:ext cx="2952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DE7E611-72C8-49F5-94E1-E3EE501CE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957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81.871 warm target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569DD97-9489-4B87-963E-BB509460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862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Dùng development evidence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C2E76E-44F4-4377-9979-4A0B8594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467100"/>
            <a:ext cx="3333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8B4B5F-1C24-4F34-8D9D-FA60F73A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19500"/>
            <a:ext cx="2952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7A516FF-B1ED-4789-92ED-30CE026A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957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40.587 warm target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A23B141-F70C-4AC0-AB6D-20711F3C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862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Đã tạo artifact, chưa đọc target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53A55C3-3415-4D1C-B7F1-7CB3E8C6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43475"/>
            <a:ext cx="1076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6672B41-8B18-4BA7-BAC2-E837F881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57775"/>
            <a:ext cx="10429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Không leakage: mapping/cohort học từ train; evaluator loại strict prior history; model selection chỉ dùng validation.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26DB665-CB88-45E7-8923-445235AE9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ED93ABF-EC26-45B6-B6DB-0F744DD1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P4 là phép biến đổi của dự án, không phải nhãn có sẵn của nguồn</a:t>
            </a:r>
          </a:p>
        </p:txBody>
      </p:sp>
    </p:spTree>
    <p:extLst>
      <p:ext uri="{BB962C8B-B14F-4D97-AF65-F5344CB8AC3E}">
        <p14:creationId xmlns:p14="http://schemas.microsoft.com/office/powerpoint/2010/main" val="16604558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DC018D-B7A6-4E37-8CCF-7184BEAF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03 / CHẤT LƯỢNG DỮ LIỆU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0DA3C4-91DA-4A79-94CA-A251B0AF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Rating lệch mạnh về phía tích cực; P4 giữ 78,20%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90DD95-3B1E-4813-B7D7-475EDD32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80EBD9-7148-4426-AF19-363F13C3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data_story_summary.json / source.rating_counts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907AC0-5E2B-4A5F-B526-2D4D499A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14350" y="1524000"/>
          <a:ext xmlns:a="http://schemas.openxmlformats.org/drawingml/2006/main" cx="695325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b66909928141a5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41280B-CCC0-4DAF-890D-5D5AC645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571625"/>
            <a:ext cx="3000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RAW ROWS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D6F641-0A09-4138-8153-FE39FC2FF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52600"/>
            <a:ext cx="3000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5.953.891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4C6441-7AB4-483E-8846-720495F3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143125"/>
            <a:ext cx="3000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0 missing / parse-invalid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76635B-8C94-4444-B12A-718AEC9A0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28900"/>
            <a:ext cx="3000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DUPLICATE PAIR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A0F353-6267-4D3B-A60D-5E769D7B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809875"/>
            <a:ext cx="3000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43E4A3-85D2-41C9-91F9-1BE146BC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200400"/>
            <a:ext cx="3000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user–item exact audit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BEC420-1ABE-4CD2-94AD-29C76B71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686175"/>
            <a:ext cx="3000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NGOÀI [1,5]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12F915-4BA7-4EE5-A775-11CFA0EA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867150"/>
            <a:ext cx="3000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0D3B6A-4325-4E5B-9228-FFEEC94F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257675"/>
            <a:ext cx="3000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rating 0,0 đã quarantine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71E812-6ECE-4DE1-A032-90C14602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91075"/>
            <a:ext cx="30003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EABB2C-A4C0-412D-BC5D-264F43BC5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3395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Positive edge = rating 4 hoặc 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BAFC0B-BAE9-4A69-8286-BD35D57D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815AB7-80CD-40AF-B46E-7910F130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5★ chiếm 66,74%: training signal vốn đã không cân bằng</a:t>
            </a:r>
          </a:p>
        </p:txBody>
      </p:sp>
    </p:spTree>
    <p:extLst>
      <p:ext uri="{BB962C8B-B14F-4D97-AF65-F5344CB8AC3E}">
        <p14:creationId xmlns:p14="http://schemas.microsoft.com/office/powerpoint/2010/main" val="31740640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ADCCF4-6D08-4D4A-AB12-ACF9DA17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04 / GRAPH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91A9F1-65D9-494B-96A7-A463A9902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Graph lớn, nhưng lịch sử của phần lớn node rất mỏng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5E9E67-5C1E-4D7A-A272-1B8778601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51DC5A-B34B-4979-B440-E9FBA307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data_story_summary.json / training_graph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5BBEB6-20F7-4481-B015-DF125B6B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14350" y="1524000"/>
          <a:ext xmlns:a="http://schemas.openxmlformats.org/drawingml/2006/main" cx="6667500" cy="3238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0f7471284148bd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7F561-1476-40E6-8EFA-0CF1462AC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428750"/>
            <a:ext cx="342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TRAINING GRAPH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A8A77E-B971-4D82-B38C-DB5CCAECE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609725"/>
            <a:ext cx="3429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3.868.654 edge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974A48-EEBD-410C-A3AC-57BE5C2C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0002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2.318.308 user, 162.125 item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F3D965-2E21-4301-82DB-B0FA79E49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543175"/>
            <a:ext cx="342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97043E-F30E-42BF-8E9C-EA7F713D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24150"/>
            <a:ext cx="3429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1,0293 × 10⁻⁵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D4E2BF-D57C-4464-9287-234F826F3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1467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Bipartite graph cực thưa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6E0C0E-A920-426C-BFC9-9676B069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657600"/>
            <a:ext cx="342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LARGEST COMPONENT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462E88-A0CA-4C1C-8AC7-49CF7B16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838575"/>
            <a:ext cx="3429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96,50% node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FC4DD4-0E4B-4995-BD88-8CA35A527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2291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2.393.587 / 2.480.433 node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8854D0-03DE-4836-BAA6-F6E77D791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0763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32A0E-4661-4178-BD93-06B9B953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7682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Degree p50 / p90 / p99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CFFE2A-BE9D-48A6-B058-B114603B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04825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User  1 / 3 / 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2AE489-FB54-4C02-9801-264333324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4825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Item  3 / 32 / 397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4E9953-6F1A-4291-BAA9-FFA42EAE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B096F5-86CD-49C9-85E7-8C5D7ACF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Mean metric không đủ: phải xem theo cohort user activity và item popularity</a:t>
            </a:r>
          </a:p>
        </p:txBody>
      </p:sp>
    </p:spTree>
    <p:extLst>
      <p:ext uri="{BB962C8B-B14F-4D97-AF65-F5344CB8AC3E}">
        <p14:creationId xmlns:p14="http://schemas.microsoft.com/office/powerpoint/2010/main" val="8338812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5F11A7-F38D-4AD4-B60B-6CE25AA6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05 / POPULARITY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DCBB11-9A4A-424B-8594-E889D427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1% item giữ 44,09% training interaction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BB812C-978D-42A7-B359-A27103CD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E9B4D2-510E-408A-8C4C-785EAC15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 story top-item shares + cohorts_v1.json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4CB408-4FC9-47BB-AF89-0454176F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514350" y="1504950"/>
          <a:ext xmlns:a="http://schemas.openxmlformats.org/drawingml/2006/main" cx="5286375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cd1e5b867a4acd"/>
          </a:graphicData>
        </a:graphic>
      </p:graphicFrame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191250" y="1504950"/>
          <a:ext xmlns:a="http://schemas.openxmlformats.org/drawingml/2006/main" cx="51435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520c419d85148c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B926EB-8FB8-40FD-BB2F-1C5025DF8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Gini item-degree = 0,8584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81DE21-96BA-456F-8C4C-56825305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991100"/>
            <a:ext cx="752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44,09% = exact top-1% cumulative; 44,16% = cohort head tie-aware.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441391-74D0-4B83-8F74-34D9358D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AFAB90-08B7-4D8F-85A1-3EF435E7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Accuracy phải đi cùng coverage, exposure và hit theo head/body/tail</a:t>
            </a:r>
          </a:p>
        </p:txBody>
      </p:sp>
    </p:spTree>
    <p:extLst>
      <p:ext uri="{BB962C8B-B14F-4D97-AF65-F5344CB8AC3E}">
        <p14:creationId xmlns:p14="http://schemas.microsoft.com/office/powerpoint/2010/main" val="4117689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752180-5FA9-4185-AC19-39828B15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06 / PHẠM VI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187CD3-006D-453B-82BA-E9FE8903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Warm-start chỉ giữ 21,90% validation và 9,82%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5EC09B-8099-460A-B37F-CFB63888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09271E-47DE-4749-8558-8DDEF79D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data_story_summary.json / temporal_population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8B8D6D-4007-4B28-B281-18566BAB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14350" y="1571625"/>
          <a:ext xmlns:a="http://schemas.openxmlformats.org/drawingml/2006/main" cx="7239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b52099bdb843d1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2B4DDC-99F2-4C67-AD3C-8DD1A86E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143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426660-7D03-411C-96DE-BCF896EF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52600"/>
            <a:ext cx="314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81.871 / 373.776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7B016B-DAA4-454C-A9CB-7A9D90F8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431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warm target / candidate row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AD7F44-D5FF-4F01-AF19-7CF6A92D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05100"/>
            <a:ext cx="3143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5C6CB-774B-4D4D-B777-57D59749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86075"/>
            <a:ext cx="314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40.587 / 413.413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5233A2-4BF0-403F-97AF-A19AF98E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warm target / candidate row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E37C65-8B91-4C66-9E74-CF5E5A01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71925"/>
            <a:ext cx="3143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0D4E45-C259-44FB-A48E-5F759B4E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114800"/>
            <a:ext cx="2838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RANH GIỚI CLAIM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C81F03-9987-4B41-B91F-93A8E05D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91025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Chỉ temporal warm-start, pure-ID.</a:t>
            </a:r>
          </a:p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Không suy ra cold-start toàn dữ liệu.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CD78FD-2E50-440E-9F20-A6919F34C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B8C24A-887B-46F7-9188-4C2DD674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Test artifact tồn tại nhưng target chưa được đọc trong validation</a:t>
            </a:r>
          </a:p>
        </p:txBody>
      </p:sp>
    </p:spTree>
    <p:extLst>
      <p:ext uri="{BB962C8B-B14F-4D97-AF65-F5344CB8AC3E}">
        <p14:creationId xmlns:p14="http://schemas.microsoft.com/office/powerpoint/2010/main" val="39777343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4865D9-AF47-49E5-ADE4-509EAB53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07 / METRIC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AB669F-BA03-460F-8D33-28AEC080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NDCG@20 và Recall@20 đọc chất lượng ranking khác nhau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7120C7-5C0C-4DFD-AA0F-52C53127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947B7E-C5B3-4A4E-9FAE-06361188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 nền tảng: BPR (UAI 2009), LightGCN (SIGIR 2020)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4AF8D2-FAC8-43C5-9FA1-DC6938408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26B035-D988-4575-9A90-60C74F92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8F3843-6981-42D9-B7BA-B7EAA727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0706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Mỗi dòng validation có một item mục tiêu. Hai metric đầu tiên trả lời: item đó có vào top 20 không, và nếu có thì đứng ở đâu?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A56DC7-338F-4B88-83CE-3FA19F00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6697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NDCG@20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03BC49-4D3F-4A4C-A269-F310E849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90825"/>
            <a:ext cx="500062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03200" indent="-101600" algn="l">
              <a:spcAft>
                <a:spcPts val="300"/>
              </a:spcAft>
              <a:buChar char="•"/>
              <a:defRPr sz="13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Hit ở rank 1 giá trị hơn hit ở rank 20, nên NDCG là metric chính.</a:t>
            </a:r>
          </a:p>
          <a:p xmlns:a="http://schemas.openxmlformats.org/drawingml/2006/main">
            <a:pPr marL="203200" indent="-101600" algn="l">
              <a:spcAft>
                <a:spcPts val="300"/>
              </a:spcAft>
              <a:buChar char="•"/>
              <a:defRPr sz="13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Với một target mỗi dòng, hit ở rank r nhận điểm 1/log₂(r+1).</a:t>
            </a:r>
          </a:p>
          <a:p xmlns:a="http://schemas.openxmlformats.org/drawingml/2006/main">
            <a:pPr marL="203200" indent="-101600" algn="l">
              <a:spcAft>
                <a:spcPts val="300"/>
              </a:spcAft>
              <a:buChar char="•"/>
              <a:defRPr sz="13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Miss hoặc rank ngoài 20 nhận điểm 0.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6B4D9A-748B-4CC8-B1EA-74762B23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81250"/>
            <a:ext cx="190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11E13F-517C-4492-AC9B-48D26E59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6697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RECALL@20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D953E5-F339-495E-BC01-E1BA7CB7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098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Câu hỏi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F66E61-F1EF-4737-9AA2-7D6BF5D6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90825"/>
            <a:ext cx="3381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Item mục tiêu có xuất hiện trong 20 item đầu không?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3F0F69-EBE7-4B7E-AAA0-20DF478BE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81350"/>
            <a:ext cx="5000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DE9929-3519-4D24-95EC-90B7C69A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813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Điểm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FF0586-85B3-4106-B216-FA54D900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62325"/>
            <a:ext cx="3381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Có hit là 1, không hit là 0. Không phân biệt rank 1 và 20.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8638EF-F9C7-4E99-BCD0-06CF3FDB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5000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13D2FB-A85A-4071-BBE7-A54B011C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528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Vai trò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D3C3FF-1C3F-4779-9BA8-3329A7B5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33825"/>
            <a:ext cx="3381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Dễ hiểu, nhưng phải đi cùng NDCG để không bỏ qua thứ tự.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2AE33A-8847-4432-9737-F9860E26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5000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9816A0-0A44-47FD-B88C-355616F6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243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D65555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D65555"/>
                </a:solidFill>
                <a:latin typeface="Arial"/>
                <a:ea typeface="Arial"/>
                <a:cs typeface="Arial"/>
              </a:rPr>
              <a:t>Evaluator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F82517-9878-4901-B277-730ABE1C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05325"/>
            <a:ext cx="3381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Xếp hạng exact trên toàn bộ training catalog hợp lệ, không sampled ranking.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7C219B-42B7-4233-A964-135310C3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196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D02973-C8CC-4207-9D60-BAC2F11FC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124450"/>
            <a:ext cx="4714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NDCG và Recall đo ranking target, chưa nói gì về đa dạng hay nghĩa của item.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654998-A319-43DC-B5C8-A8A942FD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0AADB1-6CEF-47A2-A6B2-249D1B2D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NDCG ưu tiên thứ hạng sớm; Recall trả lời trực tiếp tỷ lệ tìm được target</a:t>
            </a:r>
          </a:p>
        </p:txBody>
      </p:sp>
    </p:spTree>
    <p:extLst>
      <p:ext uri="{BB962C8B-B14F-4D97-AF65-F5344CB8AC3E}">
        <p14:creationId xmlns:p14="http://schemas.microsoft.com/office/powerpoint/2010/main" val="61737864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F91D53-F6F2-4D34-93B3-92C53D0A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07 / METRIC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7C08EA-C5B6-46D8-A714-3F7E54D3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Coverage, cohort và semantic diversity là ba khái niệm khác nhau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87A0DB-4AC0-48C0-A464-77D014B0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4B100A-8AC1-4B6B-97AE-DB4A74FC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data_story_summary.json; THESIS_REPORT_vn.md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33BA55-679A-46BF-8A93-25025FF5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08D2C-80C2-4DAD-99CD-518D4B55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Catalog Coverage@20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7FEE4D-BCC1-4539-8E05-21084F20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28750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Bao nhiêu item khác nhau xuất hiện trong mọi top-20 list?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EA1571-5AD2-4ECA-8941-B033887B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287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Phát hiện catalog collapse; không nói item có giống nhau về nghĩa hay không.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ED067-41A1-4FF3-9877-96A79C54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F10B0B-A1D7-4158-A691-E0135EBC9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Exposure và hit theo cohort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BD4D8A-974C-495F-8389-FE091ABB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81250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Các slot và hit thuộc head, body hay tail?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8F32B8-B0EF-4154-AA0F-69BEF8E6A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812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Kiểm tra phân bổ popularity và target relevance theo nhóm.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A61032-02DE-4496-93AF-339280B3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051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F2C7D4-415F-4465-BFA4-F63DFCA4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Semantic match/diversity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A63298-E800-455A-89AF-B9A1D931F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33750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Sản phẩm có giống nghĩa, khác category hay hợp sở thích không?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BA93A7-D06B-49C4-AB78-EA5D43B01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337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Không đo được: file chính chỉ có ID, rating và thời gian; không có text/category/embedding.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8D0AF7-8B6A-4EE4-BF90-F5C11101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576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F5EA44-59E5-4017-90A6-49E0C74E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D65555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D65555"/>
                </a:solidFill>
                <a:latin typeface="Arial"/>
                <a:ea typeface="Arial"/>
                <a:cs typeface="Arial"/>
              </a:rPr>
              <a:t>Time và GPU memory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208D7C-D3E4-48EC-8615-E2832E75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286250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Mất bao lâu, dùng bộ nhớ đỉnh bao nhiêu?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AD48F6-FC0B-45D0-8AEB-4C9BFB51B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862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Đọc trade-off, vì sampler tốt hơn một chút nhưng quá chậm chưa chắc đáng dùng.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25DBA4-6833-4276-97F0-A4AF567D0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81625"/>
            <a:ext cx="10782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4C91B0-922C-4F19-A6D4-46FCB6A8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57825"/>
            <a:ext cx="1038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Vì vậy không dùng một chữ “đa dạng” chung chung: phải nói rõ đa dạng catalog, phân bổ popularity hay đa dạng ngữ nghĩa.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DE17CA-3583-448C-B6ED-AAAD55E3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9120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00B6E0-90F1-41D2-AF2E-74A98007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67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M2 có thể đổi phân bổ context, nhưng điều đó chỉ có giá trị nếu target ranking hoặc trade-off cải thiện</a:t>
            </a:r>
          </a:p>
        </p:txBody>
      </p:sp>
    </p:spTree>
    <p:extLst>
      <p:ext uri="{BB962C8B-B14F-4D97-AF65-F5344CB8AC3E}">
        <p14:creationId xmlns:p14="http://schemas.microsoft.com/office/powerpoint/2010/main" val="114458161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8A09FD-2318-4CE3-A3CB-030A75C7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08 / THIẾT KẾ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C20A34-2D67-478E-B982-103D6DB9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Đi từ sanity gate đến matched sampler rồi paired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D968CF-0E9A-41DB-9DA0-545E4A14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A1DDF5-398C-4C9A-8EFA-E38E0A79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configs/*.json; PHASE2_RESEARCH_PLAN_vn.md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28FE41-A462-4614-9714-41C3CAF2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14350" y="1381125"/>
          <a:ext xmlns:a="http://schemas.openxmlformats.org/drawingml/2006/main" cx="111633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2381250"/>
                <a:gridCol w="3810000"/>
                <a:gridCol w="3448050"/>
              </a:tblGrid>
              <a:tr h="4830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Mã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Vai trò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Điều thay đổi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Mục đích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MostPop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Sanity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Không học embedding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Kiểm split / evaluator / popularity failure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BPR-MF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Sanity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Pairwise ranking, không message passing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Kiểm đường train và coverage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Full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Backbone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Full-graph LightGCN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Mốc feasibility cho message passing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M0</a:t>
                      </a:r>
                    </a:p>
                  </a:txBody>
                  <a:tcPr marL="76200" marR="76200" marT="57150" marB="57150"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Matched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Uniform không hoàn lại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Đối chứng sampling đơn giản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M1</a:t>
                      </a:r>
                    </a:p>
                  </a:txBody>
                  <a:tcPr marL="76200" marR="76200" marT="57150" marB="57150">
                    <a:solidFill>
                      <a:srgbClr val="E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Matched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Degree-aware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Static reference mạnh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M2</a:t>
                      </a:r>
                    </a:p>
                  </a:txBody>
                  <a:tcPr marL="76200" marR="76200" marT="57150" marB="57150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Proposed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Frontier / √degree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Task-conditioned candidate đã khóa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15B3AB-5E1C-4E6C-BE66-F7F20AC6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006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MATCHED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B301D5-C46E-49F7-AA0D-08859D13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953000"/>
            <a:ext cx="9144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5 epoch • 300 optimizer step • batch 65.536 • kₗ = 65.536 × 3 lớp • 58.982.400 context slot • Tesla T4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8A65FC-F63D-4D1F-9959-625DFB7C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40929F-4D75-46FD-8522-62E0F4B85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Trong từng paired seed, init embedding, pair order và negative draw khớp giữa M0–M1–M2</a:t>
            </a:r>
          </a:p>
        </p:txBody>
      </p:sp>
    </p:spTree>
    <p:extLst>
      <p:ext uri="{BB962C8B-B14F-4D97-AF65-F5344CB8AC3E}">
        <p14:creationId xmlns:p14="http://schemas.microsoft.com/office/powerpoint/2010/main" val="127429333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F05F91-6CE8-4921-9928-37A6C717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09 / BASELINES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597B94-2E80-400A-BEA0-D96F9348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Baseline cho thấy accuracy, coverage và popularity không đi cùng nhau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AD8FF5-DCA9-43CF-9308-87C604B2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61AB9A-90F6-4943-B9E4-E497983B2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mostpop / bpr_mf / full_lightgcn validation summaries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40833C-0BDC-4E16-85B4-D427980F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514350" y="1476375"/>
          <a:ext xmlns:a="http://schemas.openxmlformats.org/drawingml/2006/main" cx="6000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be2cdf4fa84a3c"/>
          </a:graphicData>
        </a:graphic>
      </p:graphicFrame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6858000" y="1476375"/>
          <a:ext xmlns:a="http://schemas.openxmlformats.org/drawingml/2006/main" cx="4476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9aa38f1882348b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65EC5C-F7D7-42DB-A567-E2DA1B60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05375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MostPop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308C5D-E1A6-4C3C-BAC0-BC47A50AE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67275"/>
            <a:ext cx="2524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1.195 hit • 25 item • 100% head exposure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918080-44A6-4422-9D79-C9231271E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905375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BPR-MF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33BE85-438F-4F8A-9306-D969878E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867275"/>
            <a:ext cx="2524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853 hit • 5.434 item • 23 body hit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09B2BA-DFBB-4F3B-8901-83688DE6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905375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7157D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157D9"/>
                </a:solidFill>
                <a:latin typeface="Arial"/>
                <a:ea typeface="Arial"/>
                <a:cs typeface="Arial"/>
              </a:rPr>
              <a:t>Full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234B36-B7A7-4487-8A46-6A9146E4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67275"/>
            <a:ext cx="2524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1.013 hit • 1.032 item • 1.012/1.013 hit thuộc head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EC3A88-77B6-4BB5-835E-E8BAD860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C2EE78-93CD-45D5-AAF8-EF3746905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Không gọi baseline nào là ‘tối ưu’: đây là các sanity gate cố định, chưa tuning</a:t>
            </a:r>
          </a:p>
        </p:txBody>
      </p:sp>
    </p:spTree>
    <p:extLst>
      <p:ext uri="{BB962C8B-B14F-4D97-AF65-F5344CB8AC3E}">
        <p14:creationId xmlns:p14="http://schemas.microsoft.com/office/powerpoint/2010/main" val="162776465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B1A2F7-7D5E-4587-83D3-BC07080A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10 / THIẾT KẾ SO SÁNH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9CBF78-E1A9-4337-875A-B3835292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 không phải tên model: M0, M1, M2 là ba cách chọn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34ECE8-796F-4CB8-9E84-320A5A2AE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A80C8D-C1AC-4D57-9EC5-AF84EBF2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configs M0/M1/M2; protocol audit; THESIS_REPORT_vn.md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E8190-FC19-4DF2-94B1-81DEBA95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367AA5-D334-4D76-967F-C4C12B5C6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34435E-C0E4-433D-9897-C2E32934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1071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Cùng một LightGCN được huấn luyện trên cùng graph. M chỉ cho biết quy tắc sampler dùng để chọn các node và edge lân cận mà model nhìn thấy trong batch.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D7BA36-AA3A-4C02-987D-F26A451D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GIỮ CỐ ĐỊNH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3BC54E-D8C9-40EA-B98B-89F6068AC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Baby P4 graph, LightGCN 3 layer, BPR, training pair, negative draw, 5 epoch / 300 step, budget [65.536, 65.536, 65.536], seed, evaluator và GPU.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B96543-3CFA-4903-8F9F-51051E60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2669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CHỈ THAY ĐỔI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48907-1EC7-4AE6-B9C1-DCB250F3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336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Quy tắc chọn hàng xóm. Vì vậy so sánh M0–M2 trả lời: context nào đáng đưa vào propagation hơn?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8906C9-6431-4A2D-91DB-593381F3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81375"/>
            <a:ext cx="338137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C7C29C-77EF-4C49-BB64-DF1C6AB1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M0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A8247D-DA25-4B11-BBA2-02ABFFB8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0997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Bốc thăm đều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4A033D-34C4-49D0-A3AB-8675F4AF2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028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Mỗi hàng xóm có cơ hội như nhau. Đây là đối chứng trung tính: random context tự nó đạt mức nào?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72B455-C3BA-4EEA-B9F9-C9EC75572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381375"/>
            <a:ext cx="338137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328B1B-0E51-427C-81E2-D181D454C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5623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M1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691906-E579-417F-971B-9912ADE6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360997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Ưu tiên degree cao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51DED5-4E12-415D-BC29-EC58CE08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52875"/>
            <a:ext cx="3028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Node có nhiều tương tác trong training graph được ưu tiên. Câu hỏi: tín hiệu phổ biến, ổn định có giúp ranking không?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BA96EB-CA7F-424F-99CD-78DDE5A7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81375"/>
            <a:ext cx="338137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563839-0B26-400B-BABA-BCE0F03F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M2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4D6728-6650-4ABA-A5D1-10B4FB25D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0997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Ưu tiên frontier, phạt hub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57DA9C-0793-4F2C-8368-FDD61AFDE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52875"/>
            <a:ext cx="3028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Ưu tiên node đang nối với frontier của layer trước, đồng thời giảm trọng số hub. Câu hỏi: context cục bộ có liên quan hơn không?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2A7F16-93F1-45FE-BC89-36549BDA3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057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1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626C7A"/>
                </a:solidFill>
                <a:latin typeface="Arial"/>
                <a:ea typeface="Arial"/>
                <a:cs typeface="Arial"/>
              </a:rPr>
              <a:t>Frontier = các node ở layer trước đang cần hàng xóm để tiếp tục truyền thông tin. Đây là biến kỹ thuật của sampler, không phải một metric.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405019-B3BB-4059-9477-5E68CCDF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3565A7-9809-4201-91FB-349254C7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Đừng đọc M0, M1, M2 như ba kiến trúc khác nhau: đó là ba chính sách chọn context trong cùng một kiến trúc</a:t>
            </a:r>
          </a:p>
        </p:txBody>
      </p:sp>
    </p:spTree>
    <p:extLst>
      <p:ext uri="{BB962C8B-B14F-4D97-AF65-F5344CB8AC3E}">
        <p14:creationId xmlns:p14="http://schemas.microsoft.com/office/powerpoint/2010/main" val="51677287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CCA11D-3102-4FFE-B9FB-9D3077AF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11 / SAMPLERS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DEF262-7FCE-46DF-A358-5EC7DF59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Dấu vết context cho thấy mỗi chính sách thực sự chọn khác nhau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1EEC65-1457-4A13-B9F5-CECEF7D8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C123D2-C257-43B1-B66C-F99698EC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M0/M1/M2 configs và full validation traces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5BF933-4B50-4AEA-AC36-CDE58E69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514350" y="1428750"/>
          <a:ext xmlns:a="http://schemas.openxmlformats.org/drawingml/2006/main" cx="111633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43000"/>
                <a:gridCol w="2857500"/>
                <a:gridCol w="3143250"/>
                <a:gridCol w="4019550"/>
              </a:tblGrid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Priority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Ý định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Điều quan sát ở s0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E8BFF"/>
                          </a:solidFill>
                          <a:latin typeface="Arial"/>
                          <a:ea typeface="Arial"/>
                          <a:cs typeface="Arial"/>
                        </a:rPr>
                        <a:t>M0</a:t>
                      </a:r>
                    </a:p>
                  </a:txBody>
                  <a:tcPr marL="76200" marR="76200" marT="57150" marB="57150"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Uniform + Gumbel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Chọn ngẫu nhiên không hoàn lại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60,52% item-context ở tail; coverage cao nhất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CA47B"/>
                          </a:solidFill>
                          <a:latin typeface="Arial"/>
                          <a:ea typeface="Arial"/>
                          <a:cs typeface="Arial"/>
                        </a:rPr>
                        <a:t>M1</a:t>
                      </a:r>
                    </a:p>
                  </a:txBody>
                  <a:tcPr marL="76200" marR="76200" marT="57150" marB="57150">
                    <a:solidFill>
                      <a:srgbClr val="E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log(degree) + Gumbel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Ưu tiên node có nhiều tương tác trong training graph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68,29% item-context ở body; mean quality cao nhất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A24C"/>
                          </a:solidFill>
                          <a:latin typeface="Arial"/>
                          <a:ea typeface="Arial"/>
                          <a:cs typeface="Arial"/>
                        </a:rPr>
                        <a:t>M2</a:t>
                      </a:r>
                    </a:p>
                  </a:txBody>
                  <a:tcPr marL="76200" marR="76200" marT="57150" marB="57150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frontier support và penalty degree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Ưu tiên node nối với frontier hiện tại, đồng thời giảm ưu tiên hub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68,60% item-context ở tail; tail hit vẫn bằng 0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C0DA7B-8E12-4C22-AF68-AC0C9A55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4817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STRUCTURAL EFFECT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37B304-9410-47F3-B5A8-AAF8777B7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1487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M2 dùng ít directed block entry hơn M1 11,97% nhưng sampler vẫn chậm hơn 45,14 s ở s0 vì phải tính frontier support.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1DBC17-8DC5-4125-BD05-5C171DAE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371975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6555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D65555"/>
                </a:solidFill>
                <a:latin typeface="Arial"/>
                <a:ea typeface="Arial"/>
                <a:cs typeface="Arial"/>
              </a:rPr>
              <a:t>SAMPLER SHARE M0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090AF6-982F-406A-A42A-582180AA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552950"/>
            <a:ext cx="2571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84,04%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178FEC-1E2C-4C0B-B208-A6EA76451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9434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592,79 / 705,32 giây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B4444-4461-4E05-A398-649EBAFEA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64D765-817B-4D21-9956-072C69B2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M2 thay đổi context theo chủ đích, nhưng thay đổi đó chưa biến thành ranking gain</a:t>
            </a:r>
          </a:p>
        </p:txBody>
      </p:sp>
    </p:spTree>
    <p:extLst>
      <p:ext uri="{BB962C8B-B14F-4D97-AF65-F5344CB8AC3E}">
        <p14:creationId xmlns:p14="http://schemas.microsoft.com/office/powerpoint/2010/main" val="38019451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D876C5-18FE-4693-80F3-02A1FBF1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11 / MATCHED S0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43DC18-44B0-447F-9ECA-7F211538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Ở seed đầu, M1 tốt hơn M2 về ranking và thời gian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D70E19-AF22-4B9D-BCF2-6EFBEAFA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FC4C21-F520-4481-8B34-AEFA535B6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uniform / degree-aware / frontier-normalized validation summaries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69F9F5-6E03-4B6E-B9ED-A66370E5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514350" y="1476375"/>
          <a:ext xmlns:a="http://schemas.openxmlformats.org/drawingml/2006/main" cx="6096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86545830a1425a"/>
          </a:graphicData>
        </a:graphic>
      </p:graphicFrame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7000875" y="1476375"/>
          <a:ext xmlns:a="http://schemas.openxmlformats.org/drawingml/2006/main" cx="4333875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3a2e34db8a4f7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A7E10E-89FD-4AD0-A04E-2BED206B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05375"/>
            <a:ext cx="1190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M2 − M1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3820F4-96D8-4C40-9BC4-67538AEF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196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NDCG giảm 3,78%. Recall giảm 4,20%. Training tăng 9,25%; chỉ thêm 13 item unique.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27946C-F7A4-448A-9ED8-28670FDBF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905375"/>
            <a:ext cx="433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Peak GPU: M0 3.483 MB, M1 2.665 MB, M2 2.669 MB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68DE08-C39A-4848-96DA-470E301A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E5DCFE-6D44-4BF3-A8C1-79B83B0A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Body hit 25/25/25; tail hit 0/0/0 — quality gain của M1 đến từ head</a:t>
            </a:r>
          </a:p>
        </p:txBody>
      </p:sp>
    </p:spTree>
    <p:extLst>
      <p:ext uri="{BB962C8B-B14F-4D97-AF65-F5344CB8AC3E}">
        <p14:creationId xmlns:p14="http://schemas.microsoft.com/office/powerpoint/2010/main" val="38532358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3DBCCE-E9BA-4B89-A964-9A3648D1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12 / PAIRED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251594-9DAF-4D3D-ACBB-8530B6D9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M2 thấp hơn M1 về quality ở cả ba validation seed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DE6EBF-AF1B-4EBC-93BD-909CE4BB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0FACB6-3865-4CAA-9FE0-4BB9B12C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paired_sampling_validation_summary.json + six rank vectors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4DB0F-B3CC-4532-A51C-5C95D48A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14350" y="1428750"/>
          <a:ext xmlns:a="http://schemas.openxmlformats.org/drawingml/2006/main" cx="695325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c315c10ee64e18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D65040-7AD5-4959-BFA0-64EC750B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28750"/>
            <a:ext cx="3333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MEAN NDCG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EBD5BA-ECD3-4C04-8C96-C8EFBBEA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0972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M1 0,005866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6D0547-E751-4F8D-B7B5-67D9FD3A7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M2 0,005721, thấp hơn 2,47%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5C10D-598E-482F-8110-DB6D63F9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52700"/>
            <a:ext cx="3333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MEAN RECALL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4DB722-EAE6-4932-BEEF-FF43F6A9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3367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M1 0,015296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56761D-1763-4402-83CC-8186C82F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242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M2 0,014873, thấp hơn 2,77%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328EF3-0C54-4DE7-A38E-6FD54227D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76650"/>
            <a:ext cx="3333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HAI REPEAT MỚI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61E904-12E1-4B0F-A2DE-53EB8145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5762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+14,36% 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EA5203-F9A7-47C2-94E5-613193E06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481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M2 914,95 s vs M1 800,07 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ABAEE5-B9F4-4591-AD2C-95DC19B6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48250"/>
            <a:ext cx="10715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M2 thấp hơn M1 ở 3/3 seed. M1 không thắng M0 ở mọi seed nên không có claim significance hay superiority phổ quát.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9CD0AC-A238-4F01-BFF4-FB8D7779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DFACBB-F31D-4DE4-B811-E1DA0B3C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Kết luận hẹp: M2 không tạo đánh đổi ranking và chi phí tốt hơn M1 ở budget đã khóa</a:t>
            </a:r>
          </a:p>
        </p:txBody>
      </p:sp>
    </p:spTree>
    <p:extLst>
      <p:ext uri="{BB962C8B-B14F-4D97-AF65-F5344CB8AC3E}">
        <p14:creationId xmlns:p14="http://schemas.microsoft.com/office/powerpoint/2010/main" val="124504514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7794EE-8512-454D-B6F2-18129714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14 / KẾT LUẬN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7BCD4E-3E26-4C90-8F85-EFB76642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Kết luận và bước tiếp theo có điều kiện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110CBF-0A2A-4BF0-8404-67A3CD956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6BE334-06F1-4478-856B-50F0A9261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paired_sampling_validation_summary.json; THESIS_REPORT_vn.md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DD24B2-F57B-4A92-BBB8-5475E8D3B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20" name=""/>
          <p:cNvGraphicFramePr/>
          <p:nvPr/>
        </p:nvGraphicFramePr>
        <p:xfrm>
          <a:off xmlns:a="http://schemas.openxmlformats.org/drawingml/2006/main" x="514350" y="1381125"/>
          <a:ext xmlns:a="http://schemas.openxmlformats.org/drawingml/2006/main" cx="111633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4286250"/>
                <a:gridCol w="5067300"/>
              </a:tblGrid>
              <a:tr h="609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Trạng thái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Kết luận hoặc hành động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Lý do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KẾT LUẬN</a:t>
                      </a:r>
                    </a:p>
                  </a:txBody>
                  <a:tcPr marL="76200" marR="76200" marT="57150" marB="57150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Không chọn M2 thay M1 ở budget đã khóa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M2 thấp hơn M1 ở NDCG và Recall trong cả 3 validation seed, đồng thời chậm hơn ở hai repeat mới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KHÓA</a:t>
                      </a:r>
                    </a:p>
                  </a:txBody>
                  <a:tcPr marL="76200" marR="76200" marT="57150" marB="57150">
                    <a:solidFill>
                      <a:srgbClr val="E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Không mở thêm sampler chỉ để đuổi validation score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Giữ được tính đối chứng sau khi đã quan sát kết quả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BÁO CÁO</a:t>
                      </a:r>
                    </a:p>
                  </a:txBody>
                  <a:tcPr marL="76200" marR="76200" marT="57150" marB="57150"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Trình bày kết quả validation và failure analysis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Test target chưa đọc, không có quyền gọi đó là final test result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MỞ RỘNG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Nếu cần generalization, pre-register một benchmark ngoài Amazon trước khi chạy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Yelp2018 hoặc Gowalla phù hợp Graph-CF; không trộn chúng với kết luận hiện tại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CAF3B2-C77F-4225-9E2C-3769C4A8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2440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ĐÓNG GÓP CÓ THỂ BẢO VỆ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68A2C0-C970-400D-B99F-7DBB5B78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9110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Audit có truy vết, protocol đối chứng, evaluator exact và failure analysis cho một kết quả âm được lặp lại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617B23-38A2-48FE-B49A-FB47903E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86300"/>
            <a:ext cx="1714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225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85/85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7FCEED-8B05-4384-B933-B7AF0344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0673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artifact checks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2BBF03-A639-43E2-B9D5-7CDCCAA6A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276850"/>
            <a:ext cx="171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8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96/96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E70F43-30CD-47E6-9E97-6292054BC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626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project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996AD4-9811-4775-A2C1-8735C8BD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2930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352EBD-58DA-4B68-8F42-B595FACD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Sampler phức tạp hơn không tự động tạo recommendation tốt hơn</a:t>
            </a:r>
          </a:p>
        </p:txBody>
      </p:sp>
    </p:spTree>
    <p:extLst>
      <p:ext uri="{BB962C8B-B14F-4D97-AF65-F5344CB8AC3E}">
        <p14:creationId xmlns:p14="http://schemas.microsoft.com/office/powerpoint/2010/main" val="5873518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2026-09-16T15:48:33.7160000Z</dcterms:created>
  <dcterms:modified xsi:type="dcterms:W3CDTF">2026-09-16T15:48:33.7160000Z</dcterms:modified>
</coreProperties>
</file>