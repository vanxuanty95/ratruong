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f1742ed4124503" /><Relationship Type="http://schemas.openxmlformats.org/officeDocument/2006/relationships/extended-properties" Target="/docProps/app.xml" Id="Rfb0adfe1d5ba4d1c" /><Relationship Type="http://schemas.openxmlformats.org/officeDocument/2006/relationships/officeDocument" Target="/ppt/presentation.xml" Id="Rd298e8aaf3b948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beb6307b874d00"/>
  </p:sldMasterIdLst>
  <p:notesMasterIdLst>
    <p:notesMasterId xmlns:r="http://schemas.openxmlformats.org/officeDocument/2006/relationships" r:id="Rff6ab5d656f44481"/>
  </p:notesMasterIdLst>
  <p:sldIdLst>
    <p:sldId xmlns:r="http://schemas.openxmlformats.org/officeDocument/2006/relationships" id="256" r:id="Rac35e1243b4548b2"/>
    <p:sldId xmlns:r="http://schemas.openxmlformats.org/officeDocument/2006/relationships" id="257" r:id="Re0bb738a76014c2f"/>
    <p:sldId xmlns:r="http://schemas.openxmlformats.org/officeDocument/2006/relationships" id="258" r:id="R0f775bf9e7a348a5"/>
    <p:sldId xmlns:r="http://schemas.openxmlformats.org/officeDocument/2006/relationships" id="259" r:id="Rabcd398128a74152"/>
    <p:sldId xmlns:r="http://schemas.openxmlformats.org/officeDocument/2006/relationships" id="260" r:id="R454b34fa7d324996"/>
    <p:sldId xmlns:r="http://schemas.openxmlformats.org/officeDocument/2006/relationships" id="261" r:id="R4e48015e929f4e29"/>
    <p:sldId xmlns:r="http://schemas.openxmlformats.org/officeDocument/2006/relationships" id="262" r:id="R45dd677cebe94169"/>
    <p:sldId xmlns:r="http://schemas.openxmlformats.org/officeDocument/2006/relationships" id="263" r:id="Rd33e8ed08d6d43cf"/>
    <p:sldId xmlns:r="http://schemas.openxmlformats.org/officeDocument/2006/relationships" id="264" r:id="R56669f70cf7a4b01"/>
    <p:sldId xmlns:r="http://schemas.openxmlformats.org/officeDocument/2006/relationships" id="265" r:id="R5824a35be3a34c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a8e00ab59649c0" /><Relationship Type="http://schemas.openxmlformats.org/officeDocument/2006/relationships/slideMaster" Target="/ppt/slideMasters/slideMaster1.xml" Id="R2cbeb6307b874d00" /><Relationship Type="http://schemas.openxmlformats.org/officeDocument/2006/relationships/notesMaster" Target="/ppt/notesMasters/notesMaster1.xml" Id="Rff6ab5d656f44481" /><Relationship Type="http://schemas.openxmlformats.org/officeDocument/2006/relationships/presProps" Target="/ppt/presProps.xml" Id="Re7282f1cc960432c" /><Relationship Type="http://schemas.openxmlformats.org/officeDocument/2006/relationships/tableStyles" Target="/ppt/tableStyles.xml" Id="R885e85d6a6364f3e" /><Relationship Type="http://schemas.openxmlformats.org/officeDocument/2006/relationships/slide" Target="/ppt/slides/slide1.xml" Id="Rac35e1243b4548b2" /><Relationship Type="http://schemas.openxmlformats.org/officeDocument/2006/relationships/slide" Target="/ppt/slides/slide2.xml" Id="Re0bb738a76014c2f" /><Relationship Type="http://schemas.openxmlformats.org/officeDocument/2006/relationships/slide" Target="/ppt/slides/slide3.xml" Id="R0f775bf9e7a348a5" /><Relationship Type="http://schemas.openxmlformats.org/officeDocument/2006/relationships/slide" Target="/ppt/slides/slide4.xml" Id="Rabcd398128a74152" /><Relationship Type="http://schemas.openxmlformats.org/officeDocument/2006/relationships/slide" Target="/ppt/slides/slide5.xml" Id="R454b34fa7d324996" /><Relationship Type="http://schemas.openxmlformats.org/officeDocument/2006/relationships/slide" Target="/ppt/slides/slide6.xml" Id="R4e48015e929f4e29" /><Relationship Type="http://schemas.openxmlformats.org/officeDocument/2006/relationships/slide" Target="/ppt/slides/slide7.xml" Id="R45dd677cebe94169" /><Relationship Type="http://schemas.openxmlformats.org/officeDocument/2006/relationships/slide" Target="/ppt/slides/slide8.xml" Id="Rd33e8ed08d6d43cf" /><Relationship Type="http://schemas.openxmlformats.org/officeDocument/2006/relationships/slide" Target="/ppt/slides/slide9.xml" Id="R56669f70cf7a4b01" /><Relationship Type="http://schemas.openxmlformats.org/officeDocument/2006/relationships/slide" Target="/ppt/slides/slide10.xml" Id="R5824a35be3a34c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56cee6c03f4c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fd00e39e49454d" /><Relationship Type="http://schemas.openxmlformats.org/officeDocument/2006/relationships/notesMaster" Target="/ppt/notesMasters/notesMaster1.xml" Id="Rb53f1dab54d64e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404d78b0c5412b" /><Relationship Type="http://schemas.openxmlformats.org/officeDocument/2006/relationships/notesMaster" Target="/ppt/notesMasters/notesMaster1.xml" Id="Ra6931132dfb341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cd18d2ea9e4661" /><Relationship Type="http://schemas.openxmlformats.org/officeDocument/2006/relationships/notesMaster" Target="/ppt/notesMasters/notesMaster1.xml" Id="R6d69bf4f773641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9f5f7514cc4e74" /><Relationship Type="http://schemas.openxmlformats.org/officeDocument/2006/relationships/notesMaster" Target="/ppt/notesMasters/notesMaster1.xml" Id="Rcd13637ea00642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1f9e5f614a441d" /><Relationship Type="http://schemas.openxmlformats.org/officeDocument/2006/relationships/notesMaster" Target="/ppt/notesMasters/notesMaster1.xml" Id="Rf7db4c7be4ba43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c06fb386db4570" /><Relationship Type="http://schemas.openxmlformats.org/officeDocument/2006/relationships/notesMaster" Target="/ppt/notesMasters/notesMaster1.xml" Id="R542bb1bb6b4d48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2ad1b8059049e2" /><Relationship Type="http://schemas.openxmlformats.org/officeDocument/2006/relationships/notesMaster" Target="/ppt/notesMasters/notesMaster1.xml" Id="Rd193c3e18b324d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148009d97c4627" /><Relationship Type="http://schemas.openxmlformats.org/officeDocument/2006/relationships/notesMaster" Target="/ppt/notesMasters/notesMaster1.xml" Id="R2637026fc55047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7e7ffb6d4944b9" /><Relationship Type="http://schemas.openxmlformats.org/officeDocument/2006/relationships/notesMaster" Target="/ppt/notesMasters/notesMaster1.xml" Id="R7083ea8884144b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795a3915b04bae" /><Relationship Type="http://schemas.openxmlformats.org/officeDocument/2006/relationships/notesMaster" Target="/ppt/notesMasters/notesMaster1.xml" Id="Rf885d2626c234f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 đầu: luận văn là nghiên cứu phát triển phương pháp độc lập. Chưa phương pháp hay kết quả nào được chọn trước.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GRAPES: https://arxiv.org/abs/2310.03399v3</a:t>
            </a:r>
          </a:p>
          <a:p xmlns:a="http://schemas.openxmlformats.org/drawingml/2006/main">
            <a:r>
              <a:t>- BPR: https://arxiv.org/abs/1205.2618</a:t>
            </a:r>
          </a:p>
          <a:p xmlns:a="http://schemas.openxmlformats.org/drawingml/2006/main">
            <a:r>
              <a:t>- LightGCN: https://arxiv.org/abs/2002.02126</a:t>
            </a:r>
          </a:p>
          <a:p xmlns:a="http://schemas.openxmlformats.org/drawingml/2006/main">
            <a:r>
              <a:t>- Amazon Reviews'23: https://amazon-reviews-2023.github.io/main.html</a:t>
            </a:r>
          </a:p>
          <a:p xmlns:a="http://schemas.openxmlformats.org/drawingml/2006/main">
            <a:r>
              <a:t>- Recommender leakage controls: https://arxiv.org/abs/2010.11060</a:t>
            </a:r>
          </a:p>
          <a:p xmlns:a="http://schemas.openxmlformats.org/drawingml/2006/main">
            <a:r>
              <a:t>- Full-catalog evaluation caution: https://arxiv.org/abs/1912.02263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Phase 1 chỉ là bối cảnh lịch sử. GRAPES vẫn là nguồn ý tưởng và comparator, không phải phương pháp luận văn.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GRAPES: https://arxiv.org/abs/2310.03399v3</a:t>
            </a:r>
          </a:p>
          <a:p xmlns:a="http://schemas.openxmlformats.org/drawingml/2006/main">
            <a:r>
              <a:t>- BPR: https://arxiv.org/abs/1205.2618</a:t>
            </a:r>
          </a:p>
          <a:p xmlns:a="http://schemas.openxmlformats.org/drawingml/2006/main">
            <a:r>
              <a:t>- LightGCN: https://arxiv.org/abs/2002.02126</a:t>
            </a:r>
          </a:p>
          <a:p xmlns:a="http://schemas.openxmlformats.org/drawingml/2006/main">
            <a:r>
              <a:t>- Amazon Reviews'23: https://amazon-reviews-2023.github.io/main.html</a:t>
            </a:r>
          </a:p>
          <a:p xmlns:a="http://schemas.openxmlformats.org/drawingml/2006/main">
            <a:r>
              <a:t>- Recommender leakage controls: https://arxiv.org/abs/2010.11060</a:t>
            </a:r>
          </a:p>
          <a:p xmlns:a="http://schemas.openxmlformats.org/drawingml/2006/main">
            <a:r>
              <a:t>- Full-catalog evaluation caution: https://arxiv.org/abs/1912.02263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Câu hỏi nghiên cứu được đặt quanh quality–resource trade-off dưới budget cố định.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GRAPES: https://arxiv.org/abs/2310.03399v3</a:t>
            </a:r>
          </a:p>
          <a:p xmlns:a="http://schemas.openxmlformats.org/drawingml/2006/main">
            <a:r>
              <a:t>- BPR: https://arxiv.org/abs/1205.2618</a:t>
            </a:r>
          </a:p>
          <a:p xmlns:a="http://schemas.openxmlformats.org/drawingml/2006/main">
            <a:r>
              <a:t>- LightGCN: https://arxiv.org/abs/2002.02126</a:t>
            </a:r>
          </a:p>
          <a:p xmlns:a="http://schemas.openxmlformats.org/drawingml/2006/main">
            <a:r>
              <a:t>- Amazon Reviews'23: https://amazon-reviews-2023.github.io/main.html</a:t>
            </a:r>
          </a:p>
          <a:p xmlns:a="http://schemas.openxmlformats.org/drawingml/2006/main">
            <a:r>
              <a:t>- Recommender leakage controls: https://arxiv.org/abs/2010.11060</a:t>
            </a:r>
          </a:p>
          <a:p xmlns:a="http://schemas.openxmlformats.org/drawingml/2006/main">
            <a:r>
              <a:t>- Full-catalog evaluation caution: https://arxiv.org/abs/1912.02263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Lớp evidence xác định vai trò của literature và protocol control; không đưa novelty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GRAPES: https://arxiv.org/abs/2310.03399v3</a:t>
            </a:r>
          </a:p>
          <a:p xmlns:a="http://schemas.openxmlformats.org/drawingml/2006/main">
            <a:r>
              <a:t>- BPR: https://arxiv.org/abs/1205.2618</a:t>
            </a:r>
          </a:p>
          <a:p xmlns:a="http://schemas.openxmlformats.org/drawingml/2006/main">
            <a:r>
              <a:t>- LightGCN: https://arxiv.org/abs/2002.02126</a:t>
            </a:r>
          </a:p>
          <a:p xmlns:a="http://schemas.openxmlformats.org/drawingml/2006/main">
            <a:r>
              <a:t>- Amazon Reviews'23: https://amazon-reviews-2023.github.io/main.html</a:t>
            </a:r>
          </a:p>
          <a:p xmlns:a="http://schemas.openxmlformats.org/drawingml/2006/main">
            <a:r>
              <a:t>- Recommender leakage controls: https://arxiv.org/abs/2010.11060</a:t>
            </a:r>
          </a:p>
          <a:p xmlns:a="http://schemas.openxmlformats.org/drawingml/2006/main">
            <a:r>
              <a:t>- Full-catalog evaluation caution: https://arxiv.org/abs/1912.02263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Đây là framework ra quyết định: reference design có thể định hướng ablation nhưng không khóa final method.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GRAPES: https://arxiv.org/abs/2310.03399v3</a:t>
            </a:r>
          </a:p>
          <a:p xmlns:a="http://schemas.openxmlformats.org/drawingml/2006/main">
            <a:r>
              <a:t>- BPR: https://arxiv.org/abs/1205.2618</a:t>
            </a:r>
          </a:p>
          <a:p xmlns:a="http://schemas.openxmlformats.org/drawingml/2006/main">
            <a:r>
              <a:t>- LightGCN: https://arxiv.org/abs/2002.02126</a:t>
            </a:r>
          </a:p>
          <a:p xmlns:a="http://schemas.openxmlformats.org/drawingml/2006/main">
            <a:r>
              <a:t>- Amazon Reviews'23: https://amazon-reviews-2023.github.io/main.html</a:t>
            </a:r>
          </a:p>
          <a:p xmlns:a="http://schemas.openxmlformats.org/drawingml/2006/main">
            <a:r>
              <a:t>- Recommender leakage controls: https://arxiv.org/abs/2010.11060</a:t>
            </a:r>
          </a:p>
          <a:p xmlns:a="http://schemas.openxmlformats.org/drawingml/2006/main">
            <a:r>
              <a:t>- Full-catalog evaluation caution: https://arxiv.org/abs/1912.02263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Vai trò dataset được ghi trong portfolio/protocol song ngữ. Mọi quyết định G2 vẫn mở.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GRAPES: https://arxiv.org/abs/2310.03399v3</a:t>
            </a:r>
          </a:p>
          <a:p xmlns:a="http://schemas.openxmlformats.org/drawingml/2006/main">
            <a:r>
              <a:t>- BPR: https://arxiv.org/abs/1205.2618</a:t>
            </a:r>
          </a:p>
          <a:p xmlns:a="http://schemas.openxmlformats.org/drawingml/2006/main">
            <a:r>
              <a:t>- LightGCN: https://arxiv.org/abs/2002.02126</a:t>
            </a:r>
          </a:p>
          <a:p xmlns:a="http://schemas.openxmlformats.org/drawingml/2006/main">
            <a:r>
              <a:t>- Amazon Reviews'23: https://amazon-reviews-2023.github.io/main.html</a:t>
            </a:r>
          </a:p>
          <a:p xmlns:a="http://schemas.openxmlformats.org/drawingml/2006/main">
            <a:r>
              <a:t>- Recommender leakage controls: https://arxiv.org/abs/2010.11060</a:t>
            </a:r>
          </a:p>
          <a:p xmlns:a="http://schemas.openxmlformats.org/drawingml/2006/main">
            <a:r>
              <a:t>- Full-catalog evaluation caution: https://arxiv.org/abs/1912.02263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Temporal và training-only graph control dựa trên literature leakage; policy cụ thể chờ Gate G2-D.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GRAPES: https://arxiv.org/abs/2310.03399v3</a:t>
            </a:r>
          </a:p>
          <a:p xmlns:a="http://schemas.openxmlformats.org/drawingml/2006/main">
            <a:r>
              <a:t>- BPR: https://arxiv.org/abs/1205.2618</a:t>
            </a:r>
          </a:p>
          <a:p xmlns:a="http://schemas.openxmlformats.org/drawingml/2006/main">
            <a:r>
              <a:t>- LightGCN: https://arxiv.org/abs/2002.02126</a:t>
            </a:r>
          </a:p>
          <a:p xmlns:a="http://schemas.openxmlformats.org/drawingml/2006/main">
            <a:r>
              <a:t>- Amazon Reviews'23: https://amazon-reviews-2023.github.io/main.html</a:t>
            </a:r>
          </a:p>
          <a:p xmlns:a="http://schemas.openxmlformats.org/drawingml/2006/main">
            <a:r>
              <a:t>- Recommender leakage controls: https://arxiv.org/abs/2010.11060</a:t>
            </a:r>
          </a:p>
          <a:p xmlns:a="http://schemas.openxmlformats.org/drawingml/2006/main">
            <a:r>
              <a:t>- Full-catalog evaluation caution: https://arxiv.org/abs/1912.02263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full-catalog ranking là headline protocol dự kiến, chờ feasibility được ghi nhận và gate đóng.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GRAPES: https://arxiv.org/abs/2310.03399v3</a:t>
            </a:r>
          </a:p>
          <a:p xmlns:a="http://schemas.openxmlformats.org/drawingml/2006/main">
            <a:r>
              <a:t>- BPR: https://arxiv.org/abs/1205.2618</a:t>
            </a:r>
          </a:p>
          <a:p xmlns:a="http://schemas.openxmlformats.org/drawingml/2006/main">
            <a:r>
              <a:t>- LightGCN: https://arxiv.org/abs/2002.02126</a:t>
            </a:r>
          </a:p>
          <a:p xmlns:a="http://schemas.openxmlformats.org/drawingml/2006/main">
            <a:r>
              <a:t>- Amazon Reviews'23: https://amazon-reviews-2023.github.io/main.html</a:t>
            </a:r>
          </a:p>
          <a:p xmlns:a="http://schemas.openxmlformats.org/drawingml/2006/main">
            <a:r>
              <a:t>- Recommender leakage controls: https://arxiv.org/abs/2010.11060</a:t>
            </a:r>
          </a:p>
          <a:p xmlns:a="http://schemas.openxmlformats.org/drawingml/2006/main">
            <a:r>
              <a:t>- Full-catalog evaluation caution: https://arxiv.org/abs/1912.02263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Raw audit tạm thời và toy test không phải trained model hoặc scientific performance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GRAPES: https://arxiv.org/abs/2310.03399v3</a:t>
            </a:r>
          </a:p>
          <a:p xmlns:a="http://schemas.openxmlformats.org/drawingml/2006/main">
            <a:r>
              <a:t>- BPR: https://arxiv.org/abs/1205.2618</a:t>
            </a:r>
          </a:p>
          <a:p xmlns:a="http://schemas.openxmlformats.org/drawingml/2006/main">
            <a:r>
              <a:t>- LightGCN: https://arxiv.org/abs/2002.02126</a:t>
            </a:r>
          </a:p>
          <a:p xmlns:a="http://schemas.openxmlformats.org/drawingml/2006/main">
            <a:r>
              <a:t>- Amazon Reviews'23: https://amazon-reviews-2023.github.io/main.html</a:t>
            </a:r>
          </a:p>
          <a:p xmlns:a="http://schemas.openxmlformats.org/drawingml/2006/main">
            <a:r>
              <a:t>- Recommender leakage controls: https://arxiv.org/abs/2010.11060</a:t>
            </a:r>
          </a:p>
          <a:p xmlns:a="http://schemas.openxmlformats.org/drawingml/2006/main">
            <a:r>
              <a:t>- Full-catalog evaluation caution: https://arxiv.org/abs/1912.02263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Các quyết định tiếp theo đóng rủi ro provenance và protocol trước final-method implementation hoặc experiment.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GRAPES: https://arxiv.org/abs/2310.03399v3</a:t>
            </a:r>
          </a:p>
          <a:p xmlns:a="http://schemas.openxmlformats.org/drawingml/2006/main">
            <a:r>
              <a:t>- BPR: https://arxiv.org/abs/1205.2618</a:t>
            </a:r>
          </a:p>
          <a:p xmlns:a="http://schemas.openxmlformats.org/drawingml/2006/main">
            <a:r>
              <a:t>- LightGCN: https://arxiv.org/abs/2002.02126</a:t>
            </a:r>
          </a:p>
          <a:p xmlns:a="http://schemas.openxmlformats.org/drawingml/2006/main">
            <a:r>
              <a:t>- Amazon Reviews'23: https://amazon-reviews-2023.github.io/main.html</a:t>
            </a:r>
          </a:p>
          <a:p xmlns:a="http://schemas.openxmlformats.org/drawingml/2006/main">
            <a:r>
              <a:t>- Recommender leakage controls: https://arxiv.org/abs/2010.11060</a:t>
            </a:r>
          </a:p>
          <a:p xmlns:a="http://schemas.openxmlformats.org/drawingml/2006/main">
            <a:r>
              <a:t>- Full-catalog evaluation caution: https://arxiv.org/abs/1912.02263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bfa9b9415c45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4ee0519f3e42c1" /><Relationship Type="http://schemas.openxmlformats.org/officeDocument/2006/relationships/slideLayout" Target="/ppt/slideLayouts/slideLayout1.xml" Id="R341e7af06c9e47d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1e7af06c9e47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45ac41ba24249" /><Relationship Type="http://schemas.openxmlformats.org/officeDocument/2006/relationships/notesSlide" Target="/ppt/notesSlides/notesSlide1.xml" Id="R1899c9e4f02c40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dc0a02df8b4d9b" /><Relationship Type="http://schemas.openxmlformats.org/officeDocument/2006/relationships/notesSlide" Target="/ppt/notesSlides/notesSlide2.xml" Id="R2cc644a2516547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4facfcc086465e" /><Relationship Type="http://schemas.openxmlformats.org/officeDocument/2006/relationships/notesSlide" Target="/ppt/notesSlides/notesSlide3.xml" Id="Rf653866e744049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d1352b19f4ae9" /><Relationship Type="http://schemas.openxmlformats.org/officeDocument/2006/relationships/notesSlide" Target="/ppt/notesSlides/notesSlide4.xml" Id="Rb858435442f947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6f06eb31e4463" /><Relationship Type="http://schemas.openxmlformats.org/officeDocument/2006/relationships/notesSlide" Target="/ppt/notesSlides/notesSlide5.xml" Id="Re426d7587c804e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a7399a38e4a77" /><Relationship Type="http://schemas.openxmlformats.org/officeDocument/2006/relationships/notesSlide" Target="/ppt/notesSlides/notesSlide6.xml" Id="Rb1b01c63fc764d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81fb45a1394d85" /><Relationship Type="http://schemas.openxmlformats.org/officeDocument/2006/relationships/notesSlide" Target="/ppt/notesSlides/notesSlide7.xml" Id="Rdbf4799549a24e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a07d31759b41f1" /><Relationship Type="http://schemas.openxmlformats.org/officeDocument/2006/relationships/notesSlide" Target="/ppt/notesSlides/notesSlide8.xml" Id="Rf51eecd4c48944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649ffa4214580" /><Relationship Type="http://schemas.openxmlformats.org/officeDocument/2006/relationships/notesSlide" Target="/ppt/notesSlides/notesSlide9.xml" Id="Rba93ad11d4d94d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3cdae25fb4476" /><Relationship Type="http://schemas.openxmlformats.org/officeDocument/2006/relationships/notesSlide" Target="/ppt/notesSlides/notesSlide10.xml" Id="R3583efe3387746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C82551-B4BD-4E4D-85D7-6FCC3384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LUẬN VĂN THẠC SĨ / GIAI ĐOẠN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250B85-EC38-45FC-BC4E-4E41CEF9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301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Phát triển phương pháp lấy mẫu đồ thị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cho hệ thống gợi ý quy mô lớn bằng GNN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67FF4-148C-4AA9-8B8D-1D361EB6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Nghiên cứu phát triển phương pháp độc lập • Bản trình bày đang hoàn thiện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1E5A43-6591-4A24-A4A7-E81CFB47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4000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9F2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9AB97C-A5EA-4EAE-8AD2-8867DD84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815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TRẠNG THÁI / ĐANG XÂY DỰNG NỀN TẢNG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F00870-9012-45BC-B2D2-F9B6F4F9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Khoa học máy tính · Kế hoạch luận văn 12 tuần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D8DFFC-FCF8-4D20-9B46-D1C2316D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2DB70-DC71-47AD-86C9-4F4586AB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LUẬN VĂN THẠC SĨ / BẢN TRÌNH BÀY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5070E7-BD5C-4524-91FB-9ECBD17A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33421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86AAFB-BEC7-40EF-93E8-FC651E77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 / ĐỘNG LỰC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E08399-92FB-4890-AE7B-FEF22410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Đồ thị tương tác người dùng–sản phẩm quy mô lớn khiến GNN nhiều lớp trở nên tốn kém.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B3CF2-4866-44DB-8B95-4FFF594E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57E925-EAF2-4D56-A6F7-137CC206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LUẬN VĂN THẠC SĨ / BẢN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D204C7-D9D7-4CDB-9ED7-9B59405B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BACFAA-0084-403C-86B6-8E28820B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Đồ thị tương tác của hệ gợi ý thường thưa, lớn và lệch về số kết nối. Luận văn khảo sát lấy mẫu đồ thị để giảm chi phí tính toán mà vẫn giữ đánh giá công bằng.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553632-86FF-4F0D-834A-613618C7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811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NỀN TẢNG THAM KHẢO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EFF04A-06F6-42C4-9F19-3E1C7F66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20002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EF0F3"/>
          </a:solidFill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E62079-2B18-4A15-A5C1-0434FAB6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95525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469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GRAPES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phân loại nút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FC245-9997-4902-B62C-3564743A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2669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17F59D-4983-49DF-8CCB-FE3BA632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811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MỤC TIÊU LUẬN VĂN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7B267F-3061-49B4-96DA-DE302ED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95500"/>
            <a:ext cx="20002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D9F2FC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5BE34-AB4D-431E-A330-A2506D8A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295525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469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Lấy mẫu đồ thị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mới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B901B5-0FE7-4B1A-BADF-76E2CB8E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433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B0DBB6-609D-45AC-B53B-E64CC2AA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Giai đoạn 1 cung cấp nền tảng và ý tưởng; Giai đoạn 2 tự thiết kế và đánh giá phương pháp.</a:t>
            </a:r>
          </a:p>
        </p:txBody>
      </p:sp>
    </p:spTree>
    <p:extLst>
      <p:ext uri="{BB962C8B-B14F-4D97-AF65-F5344CB8AC3E}">
        <p14:creationId xmlns:p14="http://schemas.microsoft.com/office/powerpoint/2010/main" val="475536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3AE043-36AF-4ABB-BABC-D55A2566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 / BÀI TOÁN NGHIÊN CỨU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236EB4-9197-446E-B030-258FA30E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341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Luận văn phát triển phương pháp mới, không chuyển nguyên phương pháp cũ.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3D4439-F60D-488E-A78F-067D0B47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794E91-33C7-4F37-B2FD-A9E72077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LUẬN VĂN THẠC SĨ / BẢN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5C937-BD4C-4857-BC4F-07018DB9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FE957-2FD6-472A-9DE8-DAC04870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108204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0D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DB73D-B3F9-43A1-B13B-FA706824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LẤY MẪU ĐỒ THỊ CHO HỆ GỢI Ý GNN QUY MÔ LỚN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1A9F9-209F-4102-BE0E-4784022D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Câu hỏi nghiên cứu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4F4489-4918-441F-B56A-D8F07821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666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Thiết kế lấy mẫu nào duy trì chất lượng xếp hạng trong cùng ngân sách tính toán và kiểm soát chi phí tài nguyên?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3FFC13-027B-4182-BE1D-0B4B796E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19450"/>
            <a:ext cx="314325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3F9B6-63FC-4525-B21E-C5823419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476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B9B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B9B75"/>
                </a:solidFill>
                <a:latin typeface="Arial"/>
                <a:ea typeface="Arial"/>
                <a:cs typeface="Arial"/>
              </a:rPr>
              <a:t>Phạm vi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5680E9-EB52-4187-82EA-9EB21932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48100"/>
            <a:ext cx="252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• Đồ thị người dùng–sản phẩm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• Python và Google Colab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• Thiết kế dựa trên bằng chứng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• Đánh giá chất lượng và tài nguyên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333BE-7664-4BD0-8F05-9E3CDDC1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2A65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2A65A"/>
                </a:solidFill>
                <a:latin typeface="Arial"/>
                <a:ea typeface="Arial"/>
                <a:cs typeface="Arial"/>
              </a:rPr>
              <a:t>Các giả thuyết và thành phần đều chỉ là đề xuất cho đến khi được kiểm chứng.</a:t>
            </a:r>
          </a:p>
        </p:txBody>
      </p:sp>
    </p:spTree>
    <p:extLst>
      <p:ext uri="{BB962C8B-B14F-4D97-AF65-F5344CB8AC3E}">
        <p14:creationId xmlns:p14="http://schemas.microsoft.com/office/powerpoint/2010/main" val="12911238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C64C9A-6EF7-4D14-93C3-8B49AD24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 / NỀN TẢNG KHOA HỌC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0D1B0-7C0C-498B-9611-8F11D50C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Các nghiên cứu liên quan định hướng thiết kế, không quyết định sẵn phương pháp.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2E5443-B639-4862-9816-32B01513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AB1A9-2F02-4B6A-93BD-1C0EAAC7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LUẬN VĂN THẠC SĨ / BẢN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5CC5E-558A-4CD7-9F74-638B4568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C5BA1E-A79E-4D9A-889F-16E02FF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2076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A2BF2-63FF-42A2-8EE8-8F7E9642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GRAPES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A0FFA6-93D9-46A1-9978-43134268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Lấy mẫu thích nghi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tham khảo và đối chứng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953776-984A-4C47-8930-0C58FEC1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CƠ SỞ LẤY MẪU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CB5B7E-9451-4F17-BA3B-8D13A539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19300"/>
            <a:ext cx="2076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96AF7-3D69-4433-8900-141119F7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6695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BPR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65DE7E-433B-4CB6-B238-3DB5C744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3845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Xếp hạng theo cặp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đối chứng bài toán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73025B-F587-48D1-B800-5C07DA2B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005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ĐỐI CHỨNG BÀI TOÁN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1216E2-4FE7-4272-8F7B-0BE9D288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19300"/>
            <a:ext cx="2076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D3F04-1BB4-45A2-83D7-8317289A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6695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LightGCN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D7872F-6490-4F45-9F21-459E5EDA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3845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Khung GNN cho lọc cộng tác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tham khảo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F1601E-8619-4B0C-A71E-FED07BEF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005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KHUNG MÔ HÌNH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5BE0D8-3892-4A5E-852D-003AA62A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19300"/>
            <a:ext cx="2076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B5816-0554-46A4-B21F-CEB58D0C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Amazon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D0C648-5589-4B1E-BCB2-BF737561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3845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Dữ liệu tương tác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và kiểm soát rò rỉ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5BC055-E9C2-434A-A0CC-7B58D168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005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ĐÁNH GIÁ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714140-C582-4551-A13C-BBD05D3F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0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E92C84-5404-49D8-A48F-C0CA1016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1036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Tổng quan tài liệu vẫn đang hoàn thiện; chưa có khẳng định về tính mới hoặc hiệu quả.</a:t>
            </a:r>
          </a:p>
        </p:txBody>
      </p:sp>
    </p:spTree>
    <p:extLst>
      <p:ext uri="{BB962C8B-B14F-4D97-AF65-F5344CB8AC3E}">
        <p14:creationId xmlns:p14="http://schemas.microsoft.com/office/powerpoint/2010/main" val="5463055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AD6134-9C1B-4F11-9EA5-D5F91279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 / PHÁT TRIỂN PHƯƠNG PHÁP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9C3ED-8BFA-4306-BC2A-E6B88708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Phương pháp lấy mẫu cuối cùng được chọn bằng bằng chứng, không kế thừa nguyên mẫu.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6A8BA-D3F7-42BE-AA81-872A1C1C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777527-0BB1-4E80-8041-6EC4DA91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LUẬN VĂN THẠC SĨ / BẢN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4745F-331A-4DB4-B66B-3DFD8732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94DEA1-D2A9-4CFB-9B8D-35F271F7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Thành phần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18690-C99E-4867-AB92-BA0BD968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733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Vai trò trong luận văn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4FED1-BBF9-4712-B9C1-734127CB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335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Trạng thái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269CB-5B9D-4502-831D-5C145E8D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6C81DD-F2C8-45D6-ADB7-F83AAD79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08204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EC27EC-9B14-40A2-893D-45468347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90775"/>
            <a:ext cx="2619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Cơ chế của GRAPES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45774-EED4-467D-888D-D6AF5A82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907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Dùng để so sánh từng thành phần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469EEE-829B-4791-9642-1245D381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907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THAM KHẢO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F369D8-ECC5-4598-847A-0B04A425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57525"/>
            <a:ext cx="2619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Khung mô hình GNN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525F2D-9F88-4BA6-8A75-E24AD256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575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Khung mô hình hệ gợi ý được kiểm soát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66381C-CC0C-4667-9E5C-2218E91A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575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ỨNG VIÊN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F9B1BB-2D7B-4BE0-A134-E490FF53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108204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244AE0-B850-4516-9B96-6B70BA13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24275"/>
            <a:ext cx="2619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Tín hiệu lấy mẫu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352401-81A6-4CFD-8C6F-E4E164DF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242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Phát triển và so sánh trong cùng ngân sách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EE782D-58DE-4F53-A1EA-ECB42EE9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242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49F5D1-98E0-4EB1-98E4-1353B6A7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1025"/>
            <a:ext cx="2619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Hàm mục tiêu học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0268AE-AC6C-4CA4-BBC6-48F0A0723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910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Chọn theo bằng chứng và kiểm thử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687ED8-2D10-47C0-ADA2-EE9AA5EE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3910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2FECE1-F3C5-4BD0-AD00-8A73B724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4FE880-061A-4259-97CC-B08B1F97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57775"/>
            <a:ext cx="2619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Quy trình đánh giá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D79A66-4C3D-42BA-92BC-468AF086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0577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So sánh chung giữa chất lượng và chi phí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460E09-B22C-4BF5-B52F-4B17DDFB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0577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2A65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A65A"/>
                </a:solidFill>
                <a:latin typeface="Arial"/>
                <a:ea typeface="Arial"/>
                <a:cs typeface="Arial"/>
              </a:rPr>
              <a:t>KẾ HOẠCH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3981C2-300B-4AF2-8AF4-37C0E00E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A6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2A65A"/>
                </a:solidFill>
                <a:latin typeface="Arial"/>
                <a:ea typeface="Arial"/>
                <a:cs typeface="Arial"/>
              </a:rPr>
              <a:t>Các quy ước tham chiếu phục vụ kiểm chứng, không phải phương pháp cuối cùng.</a:t>
            </a:r>
          </a:p>
        </p:txBody>
      </p:sp>
    </p:spTree>
    <p:extLst>
      <p:ext uri="{BB962C8B-B14F-4D97-AF65-F5344CB8AC3E}">
        <p14:creationId xmlns:p14="http://schemas.microsoft.com/office/powerpoint/2010/main" val="17821555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62C793-8151-4A29-8A0C-27038904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05 / VAI TRÒ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85FF1-EB56-4755-8703-7519A72D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Mỗi bộ dữ liệu có một vai trò rõ ràng trong nghiên cứu.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4A230-5C28-42F2-98FE-83FDB8B4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7C447-3EBB-4416-BDAA-91369F37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LUẬN VĂN THẠC SĨ / BẢN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72AE6-F7EA-4BB6-8BD2-45CD90FA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615CD-5377-4D28-8389-AF599B61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0"/>
          </a:solidFill>
          <a:ln xmlns:a="http://schemas.openxmlformats.org/drawingml/2006/main" w="0">
            <a:solidFill>
              <a:srgbClr val="0B0D10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55D308-0E62-4536-910B-3AA6822A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719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36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All_Beauty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kiểm tra quy trình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B792AB-0D87-418C-AA91-7EFEE187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78130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55BEF6-B574-4C1E-8246-AD8A336E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241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0"/>
          </a:solidFill>
          <a:ln xmlns:a="http://schemas.openxmlformats.org/drawingml/2006/main" w="0">
            <a:solidFill>
              <a:srgbClr val="0B0D10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0D9F0-9A6F-4E53-B011-2A618FD0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7719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198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Baby_Products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ứng viên dữ liệu chính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9ADF8A-9894-4627-BA3A-30E38EFC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8130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74D2D-728C-4D52-8D64-291CBF63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241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0"/>
          </a:solidFill>
          <a:ln xmlns:a="http://schemas.openxmlformats.org/drawingml/2006/main" w="0">
            <a:solidFill>
              <a:srgbClr val="0B0D10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FBC915-4183-4840-9769-C28CAA01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719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Cổng G2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chốt quy trình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630E3C-B721-4A21-ABBA-01713E35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8130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920478-8DF8-4935-A8D9-4AA4F998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241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611511-DC45-4A36-B594-F6D3B9BF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719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0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Home_and_Kitchen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quy mô có điều kiện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9F457C-A538-4174-AFE9-C9FE8101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01662A-FB92-486D-84F4-6363283F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5241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0"/>
          </a:solidFill>
          <a:ln xmlns:a="http://schemas.openxmlformats.org/drawingml/2006/main" w="0">
            <a:solidFill>
              <a:srgbClr val="0B0D10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0F2E4C-1D61-4465-9838-ABA12357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719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222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Bộ dữ liệu khác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sau bằng chứng chính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5485E0-D73A-4656-B34E-5B66D357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08204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0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624FC2-AF86-4D30-BF33-FC856913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Chỉ chốt nguồn, ý nghĩa tương tác, cách chia tập và quy tắc đánh giá trước khi huấn luyện.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77C6F9-4F0B-4886-9842-4BFC72CE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All_Beauty không là bằng chứng chính; Baby_Products vẫn chưa được chốt.</a:t>
            </a:r>
          </a:p>
        </p:txBody>
      </p:sp>
    </p:spTree>
    <p:extLst>
      <p:ext uri="{BB962C8B-B14F-4D97-AF65-F5344CB8AC3E}">
        <p14:creationId xmlns:p14="http://schemas.microsoft.com/office/powerpoint/2010/main" val="6875851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23CB3E-FC82-46C4-8D69-AD16ECC2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06 / QUY TRÌNH ĐÁNH GIÁ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428DB0-4C89-4D72-B3D7-60D5C783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Đồ thị dùng để đánh giá chỉ được xây từ dữ liệu huấn luyện.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5DD36A-D7AC-4071-B296-FF5C673C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DE3438-AA8E-46E3-92BE-F0610161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LUẬN VĂN THẠC SĨ / BẢN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8E52F-6439-47CC-AD39-09DC4D63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23067-7824-4BC3-93C1-6975C160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4857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15D54-714F-47DB-B7F7-5E2B5854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57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CHIA TẬP THEO THỜI GIAN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69269-A593-4AA4-922C-8CFE9EDC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Chọn mốc thời gian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trước khi huấn luyện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11A018-1133-4CA2-9CCA-626F1D49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Báo cáo tỷ lệ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warm-start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CF53EE-5C5F-4C06-9039-2109F5F1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Chỉ dùng tương tác dương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trong tập huấn luyện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724491-37AE-42B8-8DFE-61D74F4A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71650"/>
            <a:ext cx="521970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D9F2FC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4E7762-3134-4C37-9BEB-9BBD4EB3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574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MẪU ÂM VÀ ĐÁNH GIÁ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CC721E-87C4-45AA-A85F-985BF1DB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717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Tập sản phẩm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để lấy mẫu âm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EF14ED-ABBE-4010-9AFB-0D306B24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909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Xếp hạng trên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toàn bộ danh mục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898B9-1D0C-4B95-8AE8-3A5060DD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3909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Xử lý rõ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tương tác dương về sau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A42245-89BA-4082-922F-979F189F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67200"/>
            <a:ext cx="453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9636E"/>
                </a:solidFill>
                <a:latin typeface="Arial"/>
                <a:ea typeface="Arial"/>
                <a:cs typeface="Arial"/>
              </a:rPr>
              <a:t>Tập xác thực/kiểm tra không được đưa vào đồ thị huấn luyện.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2A7B34-69CA-4F2D-ACB1-A8CD1F68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A6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2A65A"/>
                </a:solidFill>
                <a:latin typeface="Arial"/>
                <a:ea typeface="Arial"/>
                <a:cs typeface="Arial"/>
              </a:rPr>
              <a:t>Phải chốt ý nghĩa tương tác, cách xử lý trùng lặp và phạm vi OOV trước khi huấn luyện.</a:t>
            </a:r>
          </a:p>
        </p:txBody>
      </p:sp>
    </p:spTree>
    <p:extLst>
      <p:ext uri="{BB962C8B-B14F-4D97-AF65-F5344CB8AC3E}">
        <p14:creationId xmlns:p14="http://schemas.microsoft.com/office/powerpoint/2010/main" val="9732697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EE61E9-C979-40AB-903D-87C25A19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07 / THIẾT KẾ THỰC NGHIỆM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301A7-6AE2-4DE9-8F53-68B050E4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So sánh công bằng giữ nguyên bài toán và ngân sách lấy mẫu.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EFBC96-6DCC-4A1F-8BAE-5BB96736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EB0F9-A351-44F6-B7F3-82C467B6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LUẬN VĂN THẠC SĨ / BẢN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11C0F-4F31-4B0D-8590-5E888A3B3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8ED811-1940-482D-A5AA-6E276001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6220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FF6611-40D2-4C38-9A15-C0EA0B1F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B5EAAF-A432-4FA4-8BF7-2961C336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0350"/>
            <a:ext cx="1952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Baby_Products: chính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All_Beauty: kiểm tra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Home/Kitchen: có điều kiện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3274D-F823-4581-8330-56AD4A40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7051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7B1BA9-E0CF-409C-9E4C-9D14186C8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95500"/>
            <a:ext cx="236220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DE440-D091-476A-B9A9-0154BB05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431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KIỂM SOÁT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F3C885-2C1B-4996-8ACE-5A31C734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00350"/>
            <a:ext cx="1952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Chia theo thời gian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Đồ thị chỉ từ tập huấn luyện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Ghi nhận OOV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267DF5-DE57-4F13-904B-E89B16BA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843DCC-80B7-40EF-AC7F-99BFA445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95500"/>
            <a:ext cx="236220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CADB57-0355-40CC-AEDA-5E1ABD39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431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SO SÁNH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F9A1-51CA-4237-9CE6-260AF278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52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BPR-MF · GNN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Lấy mẫu đều · theo bậc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GRAPES tham chiếu · đề xuất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713BCB-018F-4A50-AD5F-1847466D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05100"/>
            <a:ext cx="32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348021-D2C1-44D3-BABE-A0108812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36220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D9F2FC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B00B7D-8CE4-4933-A839-F3D75DC7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431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ĐO LƯỜNG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A280BF-E983-4594-BA33-9084E5C2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00350"/>
            <a:ext cx="1952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61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NDCG / Recall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VRAM/RAM · thời gian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Tốc độ · kích thước mẫu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DA41C4-CC3A-4E3E-A1DB-9185EC41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Mục tiêu là xếp hạng chính xác trên toàn bộ danh mục, sau Cổng G2-D.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C3FF2E-420B-4CD7-8383-37E51D47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A6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2A65A"/>
                </a:solidFill>
                <a:latin typeface="Arial"/>
                <a:ea typeface="Arial"/>
                <a:cs typeface="Arial"/>
              </a:rPr>
              <a:t>Chưa chốt mô hình, môi trường hoặc bộ dữ liệu cuối cùng.</a:t>
            </a:r>
          </a:p>
        </p:txBody>
      </p:sp>
    </p:spTree>
    <p:extLst>
      <p:ext uri="{BB962C8B-B14F-4D97-AF65-F5344CB8AC3E}">
        <p14:creationId xmlns:p14="http://schemas.microsoft.com/office/powerpoint/2010/main" val="14557950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39913-9DC9-44ED-AB47-F8FE1485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08 / RANH GIỚI BẰNG CHỨNG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EFCE0-A9AC-40B3-82F8-7082F5A7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739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Các tài liệu hiện có mới thể hiện quá trình chuẩn bị, chưa phải kết quả khoa học.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3CCEE-6C40-43C6-B6DA-92CB437C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DCE8A-A1A2-4657-974E-8737BA4D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LUẬN VĂN THẠC SĨ / BẢN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98EEE-D531-4C6E-8334-3729AA15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FDA2ED-8E9F-43AC-B0F9-4F080079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09AEDE-B35C-474B-961C-25929974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ĐÃ GHI NHẬN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9519D-494B-4EE2-AE38-CAEB57D8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304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Định hướng luận văn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Quản trị nguồn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Danh mục dữ liệu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830646-D865-438D-A43D-80682B00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02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9B7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8B88BD-3AB7-429F-90E6-D87D1C7A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47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B9B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B9B75"/>
                </a:solidFill>
                <a:latin typeface="Arial"/>
                <a:ea typeface="Arial"/>
                <a:cs typeface="Arial"/>
              </a:rPr>
              <a:t>ĐÃ THỰC HIỆN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C784D-CC6D-4474-8D9F-02A64506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09900"/>
            <a:ext cx="304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605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Kiểm tra dữ liệu thô tạm thời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10 kiểm thử toy trên CPU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Đã phát hiện rủi ro OOV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DFF196-1071-4BA6-AD86-49FF7B75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002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2A65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036CEE-4A53-450E-AA05-7DE87C1F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47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2A65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2A65A"/>
                </a:solidFill>
                <a:latin typeface="Arial"/>
                <a:ea typeface="Arial"/>
                <a:cs typeface="Arial"/>
              </a:rPr>
              <a:t>CÒN MỞ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BA7C4A-6717-43E1-9308-AD171B12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304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34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Quy trình dữ liệu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Mô hình PyTorch/PyG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Kết quả đo thực nghiệm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95EA51-275D-4A3A-AA7A-DB6E555A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B0D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102AF4-C538-47F0-B8BB-E7BEC586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24450"/>
            <a:ext cx="1036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Chưa huấn luyện mô hình; chưa có kết quả về độ chính xác, bộ nhớ, tốc độ hay tính vượt trội.</a:t>
            </a:r>
          </a:p>
        </p:txBody>
      </p:sp>
    </p:spTree>
    <p:extLst>
      <p:ext uri="{BB962C8B-B14F-4D97-AF65-F5344CB8AC3E}">
        <p14:creationId xmlns:p14="http://schemas.microsoft.com/office/powerpoint/2010/main" val="13378501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6DEA9-5C66-41EF-8ED0-9A8CB4B0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09 / CÁC MỐC QUYẾT ĐỊNH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89A5F7-B31E-40B4-9C2D-10F17CE5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Các cổng bằng chứng giúp luận văn an toàn trước khi thực nghiệm.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25726F-7196-4162-9AD1-414F0B46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0D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262D3C-7168-450E-85F4-5F40627B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LUẬN VĂN THẠC SĨ / BẢN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C4155-2E5B-42DA-A026-C6699121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36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9636E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AA8DBE-26C2-45F3-9C0E-CCC4D22D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Trình tự triển khai tiếp theo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F9B50-0C45-4B49-8E39-BA9351EB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0"/>
          </a:solidFill>
          <a:ln xmlns:a="http://schemas.openxmlformats.org/drawingml/2006/main" w="0">
            <a:solidFill>
              <a:srgbClr val="0B0D10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D7F96E-FCC0-4148-AEC6-9BA4CAC8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66975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Lưu thông tin nguồn gốc và bảng kê dữ liệu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08842B-125C-4D73-9967-308EA7E7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0"/>
          </a:solidFill>
          <a:ln xmlns:a="http://schemas.openxmlformats.org/drawingml/2006/main" w="0">
            <a:solidFill>
              <a:srgbClr val="0B0D10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DF9E5B-6848-4D58-AB93-C7BD972D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33725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Chốt ý nghĩa tương tác và cách xử lý trùng lặp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7E6DFE-5CFC-416A-9E85-BE383CC4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0"/>
          </a:solidFill>
          <a:ln xmlns:a="http://schemas.openxmlformats.org/drawingml/2006/main" w="0">
            <a:solidFill>
              <a:srgbClr val="0B0D10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158CCB-256A-4E78-B91F-3B4CB074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00475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B0D10"/>
                </a:solidFill>
                <a:latin typeface="Arial"/>
                <a:ea typeface="Arial"/>
                <a:cs typeface="Arial"/>
              </a:rPr>
              <a:t>Kiểm tra tỷ lệ warm-start theo cách chia thời gian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285633-F027-4944-BFBF-DC68B225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60D916-290F-48ED-B31C-B4C8A7A6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67225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Quyết định G2-D, rồi xây các mô hình đối chứng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8EA148-81F1-41D8-B362-FFB6AF1C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64795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9F2FC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5C1471-58ED-45AE-B008-AD2A9186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19350"/>
            <a:ext cx="2019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TRAO ĐỔI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VỚI GIẢNG VIÊN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A04365-5A8C-4AD6-992D-6AAA0401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76600"/>
            <a:ext cx="1828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Phạm vi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Vai trò dữ liệu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Ranh giới đánh giá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Quyền truy cập máy tính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DAC92-A7C8-4E65-97CF-E4A57FB3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0D10"/>
                </a:solidFill>
                <a:latin typeface="Arial"/>
                <a:ea typeface="Arial"/>
                <a:cs typeface="Arial"/>
              </a:rPr>
              <a:t>Để giữ định hướng “quy mô lớn”, cần thử nghiệm Home_and_Kitchen ở phạm vi giới hạn.</a:t>
            </a:r>
          </a:p>
        </p:txBody>
      </p:sp>
    </p:spTree>
    <p:extLst>
      <p:ext uri="{BB962C8B-B14F-4D97-AF65-F5344CB8AC3E}">
        <p14:creationId xmlns:p14="http://schemas.microsoft.com/office/powerpoint/2010/main" val="5259120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2026-08-27T00:58:08.6070000Z</dcterms:created>
  <dcterms:modified xsi:type="dcterms:W3CDTF">2026-08-27T00:58:08.6070000Z</dcterms:modified>
</coreProperties>
</file>