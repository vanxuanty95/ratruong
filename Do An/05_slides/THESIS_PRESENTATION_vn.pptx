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6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11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36ef6b79f442c4" /><Relationship Type="http://schemas.openxmlformats.org/officeDocument/2006/relationships/extended-properties" Target="/docProps/app.xml" Id="R32822bcc7c284ed1" /><Relationship Type="http://schemas.openxmlformats.org/officeDocument/2006/relationships/officeDocument" Target="/ppt/presentation.xml" Id="R891d9bc646e04b6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6472e132f7b4152"/>
  </p:sldMasterIdLst>
  <p:notesMasterIdLst>
    <p:notesMasterId xmlns:r="http://schemas.openxmlformats.org/officeDocument/2006/relationships" r:id="R2530012cb7bb455e"/>
  </p:notesMasterIdLst>
  <p:sldIdLst>
    <p:sldId xmlns:r="http://schemas.openxmlformats.org/officeDocument/2006/relationships" id="256" r:id="R9c4624bf27ff46bd"/>
    <p:sldId xmlns:r="http://schemas.openxmlformats.org/officeDocument/2006/relationships" id="257" r:id="Ra482b8ca8bcd465d"/>
    <p:sldId xmlns:r="http://schemas.openxmlformats.org/officeDocument/2006/relationships" id="258" r:id="Ra2ad68aa6be14a3d"/>
    <p:sldId xmlns:r="http://schemas.openxmlformats.org/officeDocument/2006/relationships" id="259" r:id="Rc8ad25b83f914fa0"/>
    <p:sldId xmlns:r="http://schemas.openxmlformats.org/officeDocument/2006/relationships" id="260" r:id="Rc177d0aa66374afb"/>
    <p:sldId xmlns:r="http://schemas.openxmlformats.org/officeDocument/2006/relationships" id="261" r:id="Rce67ecd429a94d5f"/>
    <p:sldId xmlns:r="http://schemas.openxmlformats.org/officeDocument/2006/relationships" id="262" r:id="R5b81c5e591f248e1"/>
    <p:sldId xmlns:r="http://schemas.openxmlformats.org/officeDocument/2006/relationships" id="263" r:id="R50b176424c63467e"/>
    <p:sldId xmlns:r="http://schemas.openxmlformats.org/officeDocument/2006/relationships" id="264" r:id="R80c86fab535e41bf"/>
    <p:sldId xmlns:r="http://schemas.openxmlformats.org/officeDocument/2006/relationships" id="265" r:id="Rff638a2b1cd146fa"/>
    <p:sldId xmlns:r="http://schemas.openxmlformats.org/officeDocument/2006/relationships" id="266" r:id="Ra5aa068d179b4f44"/>
    <p:sldId xmlns:r="http://schemas.openxmlformats.org/officeDocument/2006/relationships" id="267" r:id="Ra895b75faeb5402e"/>
    <p:sldId xmlns:r="http://schemas.openxmlformats.org/officeDocument/2006/relationships" id="268" r:id="R2390a4adca574026"/>
    <p:sldId xmlns:r="http://schemas.openxmlformats.org/officeDocument/2006/relationships" id="269" r:id="R9830d7ebbd7e4e2c"/>
    <p:sldId xmlns:r="http://schemas.openxmlformats.org/officeDocument/2006/relationships" id="270" r:id="R92d1dd2e97304d4e"/>
    <p:sldId xmlns:r="http://schemas.openxmlformats.org/officeDocument/2006/relationships" id="271" r:id="R9fe54ab63a7d4b84"/>
    <p:sldId xmlns:r="http://schemas.openxmlformats.org/officeDocument/2006/relationships" id="272" r:id="R37c59724599d4b6c"/>
    <p:sldId xmlns:r="http://schemas.openxmlformats.org/officeDocument/2006/relationships" id="273" r:id="R775105a822a34c3c"/>
    <p:sldId xmlns:r="http://schemas.openxmlformats.org/officeDocument/2006/relationships" id="274" r:id="Rc4a3763b46f0469e"/>
    <p:sldId xmlns:r="http://schemas.openxmlformats.org/officeDocument/2006/relationships" id="275" r:id="R50679347d2a74ed9"/>
    <p:sldId xmlns:r="http://schemas.openxmlformats.org/officeDocument/2006/relationships" id="276" r:id="Rc972572e194c46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4bfa3e479e2433b" /><Relationship Type="http://schemas.openxmlformats.org/officeDocument/2006/relationships/slideMaster" Target="/ppt/slideMasters/slideMaster1.xml" Id="R76472e132f7b4152" /><Relationship Type="http://schemas.openxmlformats.org/officeDocument/2006/relationships/notesMaster" Target="/ppt/notesMasters/notesMaster1.xml" Id="R2530012cb7bb455e" /><Relationship Type="http://schemas.openxmlformats.org/officeDocument/2006/relationships/presProps" Target="/ppt/presProps.xml" Id="R07d2310074564b18" /><Relationship Type="http://schemas.openxmlformats.org/officeDocument/2006/relationships/tableStyles" Target="/ppt/tableStyles.xml" Id="R7f2121b7774e4364" /><Relationship Type="http://schemas.openxmlformats.org/officeDocument/2006/relationships/slide" Target="/ppt/slides/slide1.xml" Id="R9c4624bf27ff46bd" /><Relationship Type="http://schemas.openxmlformats.org/officeDocument/2006/relationships/slide" Target="/ppt/slides/slide2.xml" Id="Ra482b8ca8bcd465d" /><Relationship Type="http://schemas.openxmlformats.org/officeDocument/2006/relationships/slide" Target="/ppt/slides/slide3.xml" Id="Ra2ad68aa6be14a3d" /><Relationship Type="http://schemas.openxmlformats.org/officeDocument/2006/relationships/slide" Target="/ppt/slides/slide4.xml" Id="Rc8ad25b83f914fa0" /><Relationship Type="http://schemas.openxmlformats.org/officeDocument/2006/relationships/slide" Target="/ppt/slides/slide5.xml" Id="Rc177d0aa66374afb" /><Relationship Type="http://schemas.openxmlformats.org/officeDocument/2006/relationships/slide" Target="/ppt/slides/slide6.xml" Id="Rce67ecd429a94d5f" /><Relationship Type="http://schemas.openxmlformats.org/officeDocument/2006/relationships/slide" Target="/ppt/slides/slide7.xml" Id="R5b81c5e591f248e1" /><Relationship Type="http://schemas.openxmlformats.org/officeDocument/2006/relationships/slide" Target="/ppt/slides/slide8.xml" Id="R50b176424c63467e" /><Relationship Type="http://schemas.openxmlformats.org/officeDocument/2006/relationships/slide" Target="/ppt/slides/slide9.xml" Id="R80c86fab535e41bf" /><Relationship Type="http://schemas.openxmlformats.org/officeDocument/2006/relationships/slide" Target="/ppt/slides/slide10.xml" Id="Rff638a2b1cd146fa" /><Relationship Type="http://schemas.openxmlformats.org/officeDocument/2006/relationships/slide" Target="/ppt/slides/slide11.xml" Id="Ra5aa068d179b4f44" /><Relationship Type="http://schemas.openxmlformats.org/officeDocument/2006/relationships/slide" Target="/ppt/slides/slide12.xml" Id="Ra895b75faeb5402e" /><Relationship Type="http://schemas.openxmlformats.org/officeDocument/2006/relationships/slide" Target="/ppt/slides/slide13.xml" Id="R2390a4adca574026" /><Relationship Type="http://schemas.openxmlformats.org/officeDocument/2006/relationships/slide" Target="/ppt/slides/slide14.xml" Id="R9830d7ebbd7e4e2c" /><Relationship Type="http://schemas.openxmlformats.org/officeDocument/2006/relationships/slide" Target="/ppt/slides/slide15.xml" Id="R92d1dd2e97304d4e" /><Relationship Type="http://schemas.openxmlformats.org/officeDocument/2006/relationships/slide" Target="/ppt/slides/slide16.xml" Id="R9fe54ab63a7d4b84" /><Relationship Type="http://schemas.openxmlformats.org/officeDocument/2006/relationships/slide" Target="/ppt/slides/slide17.xml" Id="R37c59724599d4b6c" /><Relationship Type="http://schemas.openxmlformats.org/officeDocument/2006/relationships/slide" Target="/ppt/slides/slide18.xml" Id="R775105a822a34c3c" /><Relationship Type="http://schemas.openxmlformats.org/officeDocument/2006/relationships/slide" Target="/ppt/slides/slide19.xml" Id="Rc4a3763b46f0469e" /><Relationship Type="http://schemas.openxmlformats.org/officeDocument/2006/relationships/slide" Target="/ppt/slides/slide20.xml" Id="R50679347d2a74ed9" /><Relationship Type="http://schemas.openxmlformats.org/officeDocument/2006/relationships/slide" Target="/ppt/slides/slide21.xml" Id="Rc972572e194c461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41312de7cc4a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401d50118d4cb4" /><Relationship Type="http://schemas.openxmlformats.org/officeDocument/2006/relationships/notesMaster" Target="/ppt/notesMasters/notesMaster1.xml" Id="R14f98c4feef7441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16834ef4724938" /><Relationship Type="http://schemas.openxmlformats.org/officeDocument/2006/relationships/notesMaster" Target="/ppt/notesMasters/notesMaster1.xml" Id="Re041c6e3df43408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c55674f3594045" /><Relationship Type="http://schemas.openxmlformats.org/officeDocument/2006/relationships/notesMaster" Target="/ppt/notesMasters/notesMaster1.xml" Id="R31571a353f174f1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4b5d81e827b44d9" /><Relationship Type="http://schemas.openxmlformats.org/officeDocument/2006/relationships/notesMaster" Target="/ppt/notesMasters/notesMaster1.xml" Id="Rbcdf998eb0ef4a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a9089b4bd8400e" /><Relationship Type="http://schemas.openxmlformats.org/officeDocument/2006/relationships/notesMaster" Target="/ppt/notesMasters/notesMaster1.xml" Id="Ra4a989c68bc6459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7a3ced569d4da3" /><Relationship Type="http://schemas.openxmlformats.org/officeDocument/2006/relationships/notesMaster" Target="/ppt/notesMasters/notesMaster1.xml" Id="R4bde6076407e4c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65f2055be2b42e1" /><Relationship Type="http://schemas.openxmlformats.org/officeDocument/2006/relationships/notesMaster" Target="/ppt/notesMasters/notesMaster1.xml" Id="Rae1b457d34b240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4fe4e500c1a444a" /><Relationship Type="http://schemas.openxmlformats.org/officeDocument/2006/relationships/notesMaster" Target="/ppt/notesMasters/notesMaster1.xml" Id="R8bf67e4a70514dd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1ff82eac0814ac1" /><Relationship Type="http://schemas.openxmlformats.org/officeDocument/2006/relationships/notesMaster" Target="/ppt/notesMasters/notesMaster1.xml" Id="Ree1b32a8a5514d7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954b33078c415d" /><Relationship Type="http://schemas.openxmlformats.org/officeDocument/2006/relationships/notesMaster" Target="/ppt/notesMasters/notesMaster1.xml" Id="Rd3d8e4483ccd4ae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2c60ce967434250" /><Relationship Type="http://schemas.openxmlformats.org/officeDocument/2006/relationships/notesMaster" Target="/ppt/notesMasters/notesMaster1.xml" Id="R456d284d2bde4b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96e4db11e7343ba" /><Relationship Type="http://schemas.openxmlformats.org/officeDocument/2006/relationships/notesMaster" Target="/ppt/notesMasters/notesMaster1.xml" Id="R719ef9dc0a4b47e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00a641df0704df3" /><Relationship Type="http://schemas.openxmlformats.org/officeDocument/2006/relationships/notesMaster" Target="/ppt/notesMasters/notesMaster1.xml" Id="R7d8702b83c2b4b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37c72076abb483c" /><Relationship Type="http://schemas.openxmlformats.org/officeDocument/2006/relationships/notesMaster" Target="/ppt/notesMasters/notesMaster1.xml" Id="Rf52528cdd85b49d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db899bea96b49fe" /><Relationship Type="http://schemas.openxmlformats.org/officeDocument/2006/relationships/notesMaster" Target="/ppt/notesMasters/notesMaster1.xml" Id="Rf9dd9cfe517744d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a85e9cc4053470e" /><Relationship Type="http://schemas.openxmlformats.org/officeDocument/2006/relationships/notesMaster" Target="/ppt/notesMasters/notesMaster1.xml" Id="Rcc37d8a1105b4bb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68ce9049f74408b" /><Relationship Type="http://schemas.openxmlformats.org/officeDocument/2006/relationships/notesMaster" Target="/ppt/notesMasters/notesMaster1.xml" Id="R16d8b1e14fa9422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1711c9a978a4526" /><Relationship Type="http://schemas.openxmlformats.org/officeDocument/2006/relationships/notesMaster" Target="/ppt/notesMasters/notesMaster1.xml" Id="R68beaa9344ad43d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fdfa8eb9b364e34" /><Relationship Type="http://schemas.openxmlformats.org/officeDocument/2006/relationships/notesMaster" Target="/ppt/notesMasters/notesMaster1.xml" Id="Rbca6e93bb1574fa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83721bf0893423f" /><Relationship Type="http://schemas.openxmlformats.org/officeDocument/2006/relationships/notesMaster" Target="/ppt/notesMasters/notesMaster1.xml" Id="Rd023edf474724f7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ba7790c157f48c0" /><Relationship Type="http://schemas.openxmlformats.org/officeDocument/2006/relationships/notesMaster" Target="/ppt/notesMasters/notesMaster1.xml" Id="R673299eb221f4d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Mục tiêu trình bày: tổng hợp toàn bộ chuỗi bằng chứng từ dữ liệu đến quyết định nghiên cứu.</a:t>
            </a:r>
          </a:p>
          <a:p xmlns:a="http://schemas.openxmlformats.org/drawingml/2006/main">
            <a:r>
              <a:t>Nguồn chính: https://amazon-reviews-2023.github.io/</a:t>
            </a:r>
          </a:p>
          <a:p xmlns:a="http://schemas.openxmlformats.org/drawingml/2006/main">
            <a:r>
              <a:t>Slide mở đầu chỉ giới thiệu phạm vi và lộ trình trình bày, không nêu kết quả.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này chỉ dẫn đường, không công bố kết quả.</a:t>
            </a:r>
          </a:p>
          <a:p xmlns:a="http://schemas.openxmlformats.org/drawingml/2006/main">
            <a:r>
              <a:t>Các phần sau theo thứ tự: dữ liệu, metric, thiết kế, baseline, sampler, result, conclusion.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BPR: https://arxiv.org/abs/1205.2618</a:t>
            </a:r>
          </a:p>
          <a:p xmlns:a="http://schemas.openxmlformats.org/drawingml/2006/main">
            <a:r>
              <a:t>LightGCN: https://hexiangnan.github.io/papers/sigir20-LightGCN.pdf</a:t>
            </a:r>
          </a:p>
          <a:p xmlns:a="http://schemas.openxmlformats.org/drawingml/2006/main">
            <a:r>
              <a:t>Phạm vi và protocol: Do An/00_project/PHASE2_RESEARCH_PLAN_vn.md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Định nghĩa context: Do An/04_thesis/THESIS_REPORT_vn.md, Sections 1.1 and 4.</a:t>
            </a:r>
          </a:p>
          <a:p xmlns:a="http://schemas.openxmlformats.org/drawingml/2006/main">
            <a:r>
              <a:t>Không có claim rằng sampler thay đổi semantic meaning của sản phẩm.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MovieLens 25M: https://grouplens.org/datasets/movielens/25m/</a:t>
            </a:r>
          </a:p>
          <a:p xmlns:a="http://schemas.openxmlformats.org/drawingml/2006/main">
            <a:r>
              <a:t>LightGCN benchmark context: https://hexiangnan.github.io/papers/sigir20-LightGCN.pdf</a:t>
            </a:r>
          </a:p>
          <a:p xmlns:a="http://schemas.openxmlformats.org/drawingml/2006/main">
            <a:r>
              <a:t>MIND: https://aclanthology.org/2020.acl-main.331/</a:t>
            </a:r>
          </a:p>
          <a:p xmlns:a="http://schemas.openxmlformats.org/drawingml/2006/main">
            <a:r>
              <a:t>KuaiRec: https://arxiv.org/abs/2202.10842</a:t>
            </a:r>
          </a:p>
          <a:p xmlns:a="http://schemas.openxmlformats.org/drawingml/2006/main">
            <a:r>
              <a:t>Không có run/project result nào trên MovieLens, Gowalla, Yelp2018, MIND, hoặc KuaiRec.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All_Beauty raw rows: 693,929. Baby_Products raw rows: 5,953,891. Home_and_Kitchen raw rows: 66,623,880.</a:t>
            </a:r>
          </a:p>
          <a:p xmlns:a="http://schemas.openxmlformats.org/drawingml/2006/main">
            <a:r>
              <a:t>All_Beauty P4 validation warm retention: 3.982%. Baby validation warm retention: 21.9038%.</a:t>
            </a:r>
          </a:p>
          <a:p xmlns:a="http://schemas.openxmlformats.org/drawingml/2006/main">
            <a:r>
              <a:t>Amazon Reviews’23: https://amazon-reviews-2023.github.io/main.html</a:t>
            </a:r>
          </a:p>
          <a:p xmlns:a="http://schemas.openxmlformats.org/drawingml/2006/main">
            <a:r>
              <a:t>Project evidence: Do An/06_code/results/data_story/data_story_summary.json and audit artifacts.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chính thức Amazon Reviews’23: https://amazon-reviews-2023.github.io/</a:t>
            </a:r>
          </a:p>
          <a:p xmlns:a="http://schemas.openxmlformats.org/drawingml/2006/main">
            <a:r>
              <a:t>Ví dụ tải rating-only JSON/CSV và bốn trường: https://amazon-reviews-2023.github.io/data_loading/jsonl.html</a:t>
            </a:r>
          </a:p>
          <a:p xmlns:a="http://schemas.openxmlformats.org/drawingml/2006/main">
            <a:r>
              <a:t>Artifact URL: https://datarepo.eng.ucsd.edu/mcauley_group/data/amazon_2023/benchmark/0core/rating_only/Baby_Products.csv.gz</a:t>
            </a:r>
          </a:p>
          <a:p xmlns:a="http://schemas.openxmlformats.org/drawingml/2006/main">
            <a:r>
              <a:t>Audit cục bộ: Do An/06_code/results/Baby_Products_protocol_audit.json</a:t>
            </a:r>
          </a:p>
          <a:p xmlns:a="http://schemas.openxmlformats.org/drawingml/2006/main">
            <a:r>
              <a:t>SHA đầy đủ: e2a8d0498afed767ee2615db7fac549559d82490b1a73c7241b84b5e9e8c279e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Cutoff t1 = 1628643414042 ms = 2021-08-11 00:56:54 UTC.</a:t>
            </a:r>
          </a:p>
          <a:p xmlns:a="http://schemas.openxmlformats.org/drawingml/2006/main">
            <a:r>
              <a:t>Cutoff t2 = 1658002729837 ms = 2022-07-16 20:18:49 UTC.</a:t>
            </a:r>
          </a:p>
          <a:p xmlns:a="http://schemas.openxmlformats.org/drawingml/2006/main">
            <a:r>
              <a:t>Nguồn: Do An/06_code/results/baby_p4_g2c_manifest.json và Baby_Products_protocol_audit.json.</a:t>
            </a:r>
          </a:p>
          <a:p xmlns:a="http://schemas.openxmlformats.org/drawingml/2006/main">
            <a:r>
              <a:t>Test target đã được tạo trong pipeline nhưng test_targets_read=false trong mọi validation summary.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Rating counts: 0★=1, 1★=555424, 2★=309591, 3★=433032, 4★=681977, 5★=3973866.</a:t>
            </a:r>
          </a:p>
          <a:p xmlns:a="http://schemas.openxmlformats.org/drawingml/2006/main">
            <a:r>
              <a:t>P4 rows = 4,655,843; retention = 0.7819832442.</a:t>
            </a:r>
          </a:p>
          <a:p xmlns:a="http://schemas.openxmlformats.org/drawingml/2006/main">
            <a:r>
              <a:t>Nguồn: Do An/06_code/results/data_story/data_story_summary.json.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Training graph: 3,868,654 edges; 2,318,308 users; 162,125 items; density 1.0292924e-05.</a:t>
            </a:r>
          </a:p>
          <a:p xmlns:a="http://schemas.openxmlformats.org/drawingml/2006/main">
            <a:r>
              <a:t>User singleton 71.7634%; item singleton 33.3496%.</a:t>
            </a:r>
          </a:p>
          <a:p xmlns:a="http://schemas.openxmlformats.org/drawingml/2006/main">
            <a:r>
              <a:t>Largest connected component: 96.4988% nodes.</a:t>
            </a:r>
          </a:p>
          <a:p xmlns:a="http://schemas.openxmlformats.org/drawingml/2006/main">
            <a:r>
              <a:t>Nguồn: data_story_summary.json.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Top-item cumulative interaction shares: 1%=44.0941%, 5%=71.1174%, 10%=81.3265%, 20%=89.6456%.</a:t>
            </a:r>
          </a:p>
          <a:p xmlns:a="http://schemas.openxmlformats.org/drawingml/2006/main">
            <a:r>
              <a:t>Frozen cohort shares: head 1.00% items / 44.16% edges; body 18.92% / 45.45%; tail 80.07% / 10.39%.</a:t>
            </a:r>
          </a:p>
          <a:p xmlns:a="http://schemas.openxmlformats.org/drawingml/2006/main">
            <a:r>
              <a:t>Hai số 44.09% và 44.16% dùng cách cắt khác nhau; slide ghi rõ để tránh coi chúng là cùng một statistic.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Validation: 81,871 warm / 373,776 candidate = 21.9038%.</a:t>
            </a:r>
          </a:p>
          <a:p xmlns:a="http://schemas.openxmlformats.org/drawingml/2006/main">
            <a:r>
              <a:t>Test: 40,587 warm / 413,413 candidate = 9.8175%.</a:t>
            </a:r>
          </a:p>
          <a:p xmlns:a="http://schemas.openxmlformats.org/drawingml/2006/main">
            <a:r>
              <a:t>Ranh giới này bắt buộc: kết quả không đại diện cho unseen user/item.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BPR: https://www.cs.mcgill.ca/~uai2009/papers/UAI2009_0139_48141db02b9f0b02bc7158819ebfa2c7.pdf</a:t>
            </a:r>
          </a:p>
          <a:p xmlns:a="http://schemas.openxmlformats.org/drawingml/2006/main">
            <a:r>
              <a:t>LightGCN: https://hexiangnan.github.io/papers/sigir20-LightGCN.pdf</a:t>
            </a:r>
          </a:p>
          <a:p xmlns:a="http://schemas.openxmlformats.org/drawingml/2006/main">
            <a:r>
              <a:t>Graph sampling context: GraphSAGE https://papers.nips.cc/paper_files/paper/2017/hash/5dd9db5e033da9c6fb5ba83c7a7ebea9-Abstract.html</a:t>
            </a:r>
          </a:p>
          <a:p xmlns:a="http://schemas.openxmlformats.org/drawingml/2006/main">
            <a:r>
              <a:t>FastGCN: https://openreview.net/pdf?id=rytstxWAW</a:t>
            </a:r>
          </a:p>
          <a:p xmlns:a="http://schemas.openxmlformats.org/drawingml/2006/main">
            <a:r>
              <a:t>LADIES: https://proceedings.neurips.cc/paper/2019/hash/91ba4a4478a66bee9812b0804b6f9d1b-Abstract.html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Coverage and cohorts: Do An/04_thesis/THESIS_REPORT_vn.md, Sections 5.3--5.5.</a:t>
            </a:r>
          </a:p>
          <a:p xmlns:a="http://schemas.openxmlformats.org/drawingml/2006/main">
            <a:r>
              <a:t>Semantic diversity is deliberately not measured from this pure-ID artifact.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Thiết kế paired xác minh checksum khởi tạo, training-pair order và negative draw ở cả 5 epoch.</a:t>
            </a:r>
          </a:p>
          <a:p xmlns:a="http://schemas.openxmlformats.org/drawingml/2006/main">
            <a:r>
              <a:t>Full LightGCN và BPR-MF là sanity/feasibility references; optimizer-step budget của chúng không matched với sampled runs.</a:t>
            </a:r>
          </a:p>
          <a:p xmlns:a="http://schemas.openxmlformats.org/drawingml/2006/main">
            <a:r>
              <a:t>GRAPES là tài liệu tham khảo về adaptive sampling, không phải phương pháp được sao chép nguyên xi: https://arxiv.org/abs/2310.03399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MostPop: NDCG .00587255, Recall .01459613, coverage .00015420, 25 unique items, 1195 hits.</a:t>
            </a:r>
          </a:p>
          <a:p xmlns:a="http://schemas.openxmlformats.org/drawingml/2006/main">
            <a:r>
              <a:t>BPR-MF: NDCG .00405351, Recall .01041883, coverage .03351735, 5434 unique items, 853 hits.</a:t>
            </a:r>
          </a:p>
          <a:p xmlns:a="http://schemas.openxmlformats.org/drawingml/2006/main">
            <a:r>
              <a:t>Full LightGCN: NDCG .00493124, Recall .01237312, coverage .00636546, 1032 unique items, 1013 hits.</a:t>
            </a:r>
          </a:p>
          <a:p xmlns:a="http://schemas.openxmlformats.org/drawingml/2006/main">
            <a:r>
              <a:t>Nguồn file: Do An/06_code/results/{mostpop_validation,bpr_mf_validation,full_lightgcn_validation}/*.json.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M0: uniform without replacement. M1: log(training_degree)+Gumbel. M2: log(frontier_support)-0.5 log(training_degree)+Gumbel.</a:t>
            </a:r>
          </a:p>
          <a:p xmlns:a="http://schemas.openxmlformats.org/drawingml/2006/main">
            <a:r>
              <a:t>Không thay backbone, objective, data split, budget hay evaluator giữa ba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M0 item-context: body 39.31%, tail 60.52% (head còn lại).</a:t>
            </a:r>
          </a:p>
          <a:p xmlns:a="http://schemas.openxmlformats.org/drawingml/2006/main">
            <a:r>
              <a:t>M1 item-context: body 68.29%, tail 31.48%.</a:t>
            </a:r>
          </a:p>
          <a:p xmlns:a="http://schemas.openxmlformats.org/drawingml/2006/main">
            <a:r>
              <a:t>M2 chỉ có 290,606 item-context slot; tail 68.60%.</a:t>
            </a:r>
          </a:p>
          <a:p xmlns:a="http://schemas.openxmlformats.org/drawingml/2006/main">
            <a:r>
              <a:t>Tất cả sampled methods chọn tổng 58,982,400 context slots theo layer budget.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s0: M0 NDCG .00572728 / Recall .01465720 / 705.32s / 3482.90MB.</a:t>
            </a:r>
          </a:p>
          <a:p xmlns:a="http://schemas.openxmlformats.org/drawingml/2006/main">
            <a:r>
              <a:t>s0: M1 .00615330 / .01598857 / 795.10s / 2665.10MB.</a:t>
            </a:r>
          </a:p>
          <a:p xmlns:a="http://schemas.openxmlformats.org/drawingml/2006/main">
            <a:r>
              <a:t>s0: M2 .00592070 / .01531678 / 868.63s / 2669.06MB.</a:t>
            </a:r>
          </a:p>
          <a:p xmlns:a="http://schemas.openxmlformats.org/drawingml/2006/main">
            <a:r>
              <a:t>M1 và M2 có peak GPU gần như nhau; M2 chậm hơn và quality thấp hơn.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Mean±SD NDCG: M0 .00570640±.00007324; M1 .00586598±.00024947; M2 .00572092±.00017933.</a:t>
            </a:r>
          </a:p>
          <a:p xmlns:a="http://schemas.openxmlformats.org/drawingml/2006/main">
            <a:r>
              <a:t>M2−M1 per seed NDCG: s0 −.00023260; s1 −.00013042; s2 −.00007218.</a:t>
            </a:r>
          </a:p>
          <a:p xmlns:a="http://schemas.openxmlformats.org/drawingml/2006/main">
            <a:r>
              <a:t>M2−M1 Recall cũng âm ở 3/3 seed.</a:t>
            </a:r>
          </a:p>
          <a:p xmlns:a="http://schemas.openxmlformats.org/drawingml/2006/main">
            <a:r>
              <a:t>Resource average +14.36% chỉ dùng hai repeat mới s1/s2 vì s0 có instrumentation boundary khác.</a:t>
            </a:r>
          </a:p>
          <a:p xmlns:a="http://schemas.openxmlformats.org/drawingml/2006/main">
            <a:r>
              <a:t>Paired bundle audit: 85/85 checks pass; test_targets_read=false.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Paired aggregate: Do An/06_code/results/paired_sampling_validation/paired_sampling_validation_summary.json</a:t>
            </a:r>
          </a:p>
          <a:p xmlns:a="http://schemas.openxmlformats.org/drawingml/2006/main">
            <a:r>
              <a:t>Paired artifact audit: 85/85 checks passed; test_targets_read=false.</a:t>
            </a:r>
          </a:p>
          <a:p xmlns:a="http://schemas.openxmlformats.org/drawingml/2006/main">
            <a:r>
              <a:t>Any cross-dataset extension must be registered before execution and reported separately from the present Baby_Products result.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fe5d1cdd0043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507e2d300bc40ef" /><Relationship Type="http://schemas.openxmlformats.org/officeDocument/2006/relationships/slideLayout" Target="/ppt/slideLayouts/slideLayout1.xml" Id="R4807dce33c89446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807dce33c89446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e0c2626f174cfa" /><Relationship Type="http://schemas.openxmlformats.org/officeDocument/2006/relationships/notesSlide" Target="/ppt/notesSlides/notesSlide1.xml" Id="R9f914dfe0a4043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f72237f3894b45" /><Relationship Type="http://schemas.openxmlformats.org/officeDocument/2006/relationships/notesSlide" Target="/ppt/notesSlides/notesSlide2.xml" Id="R0b1e3191b1c940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6100171ef4d2a" /><Relationship Type="http://schemas.openxmlformats.org/officeDocument/2006/relationships/notesSlide" Target="/ppt/notesSlides/notesSlide3.xml" Id="R688fead5d24347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41f0f7c0d4906" /><Relationship Type="http://schemas.openxmlformats.org/officeDocument/2006/relationships/notesSlide" Target="/ppt/notesSlides/notesSlide4.xml" Id="R0d2bc61e75fa464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de8fe6171b4c72" /><Relationship Type="http://schemas.openxmlformats.org/officeDocument/2006/relationships/notesSlide" Target="/ppt/notesSlides/notesSlide5.xml" Id="R7da1171ac1464d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f87835abc648ef" /><Relationship Type="http://schemas.openxmlformats.org/officeDocument/2006/relationships/chart" Target="/ppt/slides/charts/chart1.xml" Id="R4640efee14404a12" /><Relationship Type="http://schemas.openxmlformats.org/officeDocument/2006/relationships/notesSlide" Target="/ppt/notesSlides/notesSlide6.xml" Id="Rac2b0818f12d406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953109119486d" /><Relationship Type="http://schemas.openxmlformats.org/officeDocument/2006/relationships/notesSlide" Target="/ppt/notesSlides/notesSlide7.xml" Id="R9cf1daf5c846423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c14c472ab74a1f" /><Relationship Type="http://schemas.openxmlformats.org/officeDocument/2006/relationships/notesSlide" Target="/ppt/notesSlides/notesSlide8.xml" Id="Rc855bd3b2c7e417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c32b9131064cb9" /><Relationship Type="http://schemas.openxmlformats.org/officeDocument/2006/relationships/chart" Target="/ppt/slides/charts/chart2.xml" Id="R205d60b20b58490b" /><Relationship Type="http://schemas.openxmlformats.org/officeDocument/2006/relationships/notesSlide" Target="/ppt/notesSlides/notesSlide9.xml" Id="Rde755c1fa2fa473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0083dff8548f9" /><Relationship Type="http://schemas.openxmlformats.org/officeDocument/2006/relationships/chart" Target="/ppt/slides/charts/chart3.xml" Id="Rb2ea3e0ec27141ac" /><Relationship Type="http://schemas.openxmlformats.org/officeDocument/2006/relationships/notesSlide" Target="/ppt/notesSlides/notesSlide10.xml" Id="Rc196b8baffce46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4d0e7eb02c4e41" /><Relationship Type="http://schemas.openxmlformats.org/officeDocument/2006/relationships/chart" Target="/ppt/slides/charts/chart4.xml" Id="R8b7a91d468504c73" /><Relationship Type="http://schemas.openxmlformats.org/officeDocument/2006/relationships/chart" Target="/ppt/slides/charts/chart5.xml" Id="R70a2bd9fdc044d22" /><Relationship Type="http://schemas.openxmlformats.org/officeDocument/2006/relationships/notesSlide" Target="/ppt/notesSlides/notesSlide11.xml" Id="Rba5a3fbb7f2741d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ba4dc96daf444a" /><Relationship Type="http://schemas.openxmlformats.org/officeDocument/2006/relationships/chart" Target="/ppt/slides/charts/chart6.xml" Id="Ra7b083ef1fbc4750" /><Relationship Type="http://schemas.openxmlformats.org/officeDocument/2006/relationships/notesSlide" Target="/ppt/notesSlides/notesSlide12.xml" Id="R646eb726874d401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6beaa778aa4c16" /><Relationship Type="http://schemas.openxmlformats.org/officeDocument/2006/relationships/notesSlide" Target="/ppt/notesSlides/notesSlide13.xml" Id="R2a064f93aa23443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854fac5a7b4cb6" /><Relationship Type="http://schemas.openxmlformats.org/officeDocument/2006/relationships/notesSlide" Target="/ppt/notesSlides/notesSlide14.xml" Id="R024b3bdbadfa447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5c0b33df4441c9" /><Relationship Type="http://schemas.openxmlformats.org/officeDocument/2006/relationships/notesSlide" Target="/ppt/notesSlides/notesSlide15.xml" Id="R1469c8e369de442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62ff7f2924c4e" /><Relationship Type="http://schemas.openxmlformats.org/officeDocument/2006/relationships/chart" Target="/ppt/slides/charts/chart7.xml" Id="R48e310419f044105" /><Relationship Type="http://schemas.openxmlformats.org/officeDocument/2006/relationships/chart" Target="/ppt/slides/charts/chart8.xml" Id="R39862a33bf854400" /><Relationship Type="http://schemas.openxmlformats.org/officeDocument/2006/relationships/notesSlide" Target="/ppt/notesSlides/notesSlide16.xml" Id="R5afa65bd43ba4a3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705dae248a4145" /><Relationship Type="http://schemas.openxmlformats.org/officeDocument/2006/relationships/notesSlide" Target="/ppt/notesSlides/notesSlide17.xml" Id="R6253450538b9456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08138950214dd3" /><Relationship Type="http://schemas.openxmlformats.org/officeDocument/2006/relationships/notesSlide" Target="/ppt/notesSlides/notesSlide18.xml" Id="Rfc07277dba2d40d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d4c0f84214324" /><Relationship Type="http://schemas.openxmlformats.org/officeDocument/2006/relationships/chart" Target="/ppt/slides/charts/chart9.xml" Id="R9707042ab6b94bd5" /><Relationship Type="http://schemas.openxmlformats.org/officeDocument/2006/relationships/chart" Target="/ppt/slides/charts/chart10.xml" Id="R8b689387916c431d" /><Relationship Type="http://schemas.openxmlformats.org/officeDocument/2006/relationships/notesSlide" Target="/ppt/notesSlides/notesSlide19.xml" Id="R6c715991ceb54c6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df5a46e4d145c9" /><Relationship Type="http://schemas.openxmlformats.org/officeDocument/2006/relationships/chart" Target="/ppt/slides/charts/chart11.xml" Id="Ra4883f11e65c4e6a" /><Relationship Type="http://schemas.openxmlformats.org/officeDocument/2006/relationships/notesSlide" Target="/ppt/notesSlides/notesSlide20.xml" Id="R15719e6fd4934e9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74770434a24238" /><Relationship Type="http://schemas.openxmlformats.org/officeDocument/2006/relationships/notesSlide" Target="/ppt/notesSlides/notesSlide21.xml" Id="R55cce9a378d7462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_rels/chart9.xml.rels><Relationships xmlns="http://schemas.openxmlformats.org/package/2006/relationships"><Relationship Id="rIdChartSnapshot1" Type="http://schemas.openxmlformats.org/officeDocument/2006/relationships/package" Target="../../embeddings/chart-data-snapshot-009.xlsx"/></Relationships>
</file>

<file path=ppt/slides/charts/_rels/chart10.xml.rels><Relationships xmlns="http://schemas.openxmlformats.org/package/2006/relationships"><Relationship Id="rIdChartSnapshot1" Type="http://schemas.openxmlformats.org/officeDocument/2006/relationships/package" Target="../../embeddings/chart-data-snapshot-010.xlsx"/></Relationships>
</file>

<file path=ppt/slides/charts/_rels/chart11.xml.rels><Relationships xmlns="http://schemas.openxmlformats.org/package/2006/relationships"><Relationship Id="rIdChartSnapshot1" Type="http://schemas.openxmlformats.org/officeDocument/2006/relationships/package" Target="../../embeddings/chart-data-snapshot-01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Raw review (triệu)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Data'!$A$2:$A$3</c:f>
              <c:strCache>
                <c:ptCount val="2"/>
                <c:pt idx="0">
                  <c:v>All_Beauty</c:v>
                </c:pt>
                <c:pt idx="1">
                  <c:v>Baby_Products</c:v>
                </c:pt>
              </c:strCache>
            </c:strRef>
          </c:cat>
          <c:val>
            <c:numRef>
              <c:f>'Chart Data'!$B$2:$B$3</c:f>
              <c:numCache>
                <c:formatCode>0.0</c:formatCode>
                <c:ptCount val="2"/>
                <c:pt idx="0">
                  <c:v>0.693929</c:v>
                </c:pt>
                <c:pt idx="1">
                  <c:v>5.953891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6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Tỷ lệ raw row</c:v>
          </c:tx>
          <c:spPr>
            <a:solidFill xmlns:a="http://schemas.openxmlformats.org/drawingml/2006/main">
              <a:srgbClr val="626C7A"/>
            </a:solidFill>
          </c:spPr>
          <c:dPt>
            <c:idx val="3"/>
            <c:invertIfNegative val="0"/>
            <c:spPr>
              <a:solidFill xmlns:a="http://schemas.openxmlformats.org/drawingml/2006/main">
                <a:srgbClr val="2CA47B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CA47B"/>
              </a:solidFill>
            </c:spPr>
          </c:dPt>
          <c:cat>
            <c:strRef>
              <c:f>'Chart Data'!$A$2:$A$6</c:f>
              <c:strCache>
                <c:ptCount val="5"/>
                <c:pt idx="0">
                  <c:v>1★</c:v>
                </c:pt>
                <c:pt idx="1">
                  <c:v>2★</c:v>
                </c:pt>
                <c:pt idx="2">
                  <c:v>3★</c:v>
                </c:pt>
                <c:pt idx="3">
                  <c:v>4★</c:v>
                </c:pt>
                <c:pt idx="4">
                  <c:v>5★</c:v>
                </c:pt>
              </c:strCache>
            </c:strRef>
          </c:cat>
          <c:val>
            <c:numRef>
              <c:f>'Chart Data'!$B$2:$B$6</c:f>
              <c:numCache>
                <c:formatCode>0%</c:formatCode>
                <c:ptCount val="5"/>
                <c:pt idx="0">
                  <c:v>0.0932875661</c:v>
                </c:pt>
                <c:pt idx="1">
                  <c:v>0.0519980967</c:v>
                </c:pt>
                <c:pt idx="2">
                  <c:v>0.072730925</c:v>
                </c:pt>
                <c:pt idx="3">
                  <c:v>0.1145430778</c:v>
                </c:pt>
                <c:pt idx="4">
                  <c:v>0.6674401664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7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1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Singleton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Data'!$A$2:$A$3</c:f>
              <c:strCache>
                <c:ptCount val="2"/>
                <c:pt idx="0">
                  <c:v>User</c:v>
                </c:pt>
                <c:pt idx="1">
                  <c:v>Item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0.7176341539</c:v>
                </c:pt>
                <c:pt idx="1">
                  <c:v>0.3334957594</c:v>
                </c:pt>
              </c:numCache>
            </c:numRef>
          </c:val>
        </c:ser>
        <c:ser>
          <c:idx val="1"/>
          <c:order val="1"/>
          <c:tx>
            <c:v>Degree &gt; 1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Data'!$C$2:$C$3</c:f>
              <c:strCache>
                <c:ptCount val="2"/>
                <c:pt idx="0">
                  <c:v>User</c:v>
                </c:pt>
                <c:pt idx="1">
                  <c:v>Item</c:v>
                </c:pt>
              </c:strCache>
            </c:strRef>
          </c:cat>
          <c:val>
            <c:numRef>
              <c:f>'Chart Data'!$D$2:$D$3</c:f>
              <c:numCache>
                <c:formatCode>0.0%</c:formatCode>
                <c:ptCount val="2"/>
                <c:pt idx="0">
                  <c:v>0.2823658461</c:v>
                </c:pt>
                <c:pt idx="1">
                  <c:v>0.6665042406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Tỷ lệ interaction tích lũy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Data'!$A$2:$A$5</c:f>
              <c:strCache>
                <c:ptCount val="4"/>
                <c:pt idx="0">
                  <c:v>Top 1%</c:v>
                </c:pt>
                <c:pt idx="1">
                  <c:v>Top 5%</c:v>
                </c:pt>
                <c:pt idx="2">
                  <c:v>Top 10%</c:v>
                </c:pt>
                <c:pt idx="3">
                  <c:v>Top 20%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0.4409414747</c:v>
                </c:pt>
                <c:pt idx="1">
                  <c:v>0.7111744808</c:v>
                </c:pt>
                <c:pt idx="2">
                  <c:v>0.8132650271</c:v>
                </c:pt>
                <c:pt idx="3">
                  <c:v>0.8964559767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Head ≥397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Data'!$A$2:$A$3</c:f>
              <c:strCache>
                <c:ptCount val="2"/>
                <c:pt idx="0">
                  <c:v>Tỷ lệ item</c:v>
                </c:pt>
                <c:pt idx="1">
                  <c:v>Tỷ lệ interaction</c:v>
                </c:pt>
              </c:strCache>
            </c:strRef>
          </c:cat>
          <c:val>
            <c:numRef>
              <c:f>'Chart Data'!$B$2:$B$3</c:f>
              <c:numCache>
                <c:formatCode>0%</c:formatCode>
                <c:ptCount val="2"/>
                <c:pt idx="0">
                  <c:v>0.01</c:v>
                </c:pt>
                <c:pt idx="1">
                  <c:v>0.4416</c:v>
                </c:pt>
              </c:numCache>
            </c:numRef>
          </c:val>
        </c:ser>
        <c:ser>
          <c:idx val="1"/>
          <c:order val="1"/>
          <c:tx>
            <c:v>Body 13–396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Data'!$C$2:$C$3</c:f>
              <c:strCache>
                <c:ptCount val="2"/>
                <c:pt idx="0">
                  <c:v>Tỷ lệ item</c:v>
                </c:pt>
                <c:pt idx="1">
                  <c:v>Tỷ lệ interaction</c:v>
                </c:pt>
              </c:strCache>
            </c:strRef>
          </c:cat>
          <c:val>
            <c:numRef>
              <c:f>'Chart Data'!$D$2:$D$3</c:f>
              <c:numCache>
                <c:formatCode>0%</c:formatCode>
                <c:ptCount val="2"/>
                <c:pt idx="0">
                  <c:v>0.1892</c:v>
                </c:pt>
                <c:pt idx="1">
                  <c:v>0.4545</c:v>
                </c:pt>
              </c:numCache>
            </c:numRef>
          </c:val>
        </c:ser>
        <c:ser>
          <c:idx val="2"/>
          <c:order val="2"/>
          <c:tx>
            <c:v>Tail ≤12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Data'!$E$2:$E$3</c:f>
              <c:strCache>
                <c:ptCount val="2"/>
                <c:pt idx="0">
                  <c:v>Tỷ lệ item</c:v>
                </c:pt>
                <c:pt idx="1">
                  <c:v>Tỷ lệ interaction</c:v>
                </c:pt>
              </c:strCache>
            </c:strRef>
          </c:cat>
          <c:val>
            <c:numRef>
              <c:f>'Chart Data'!$F$2:$F$3</c:f>
              <c:numCache>
                <c:formatCode>0%</c:formatCode>
                <c:ptCount val="2"/>
                <c:pt idx="0">
                  <c:v>0.8007</c:v>
                </c:pt>
                <c:pt idx="1">
                  <c:v>0.1039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825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percentStacked"/>
        <c:varyColors val="0"/>
        <c:ser>
          <c:idx val="0"/>
          <c:order val="0"/>
          <c:tx>
            <c:v>Warm retained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Data'!$A$2:$A$3</c:f>
              <c:strCache>
                <c:ptCount val="2"/>
                <c:pt idx="0">
                  <c:v>Validation</c:v>
                </c:pt>
                <c:pt idx="1">
                  <c:v>Test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0.2190376054</c:v>
                </c:pt>
                <c:pt idx="1">
                  <c:v>0.0981754323</c:v>
                </c:pt>
              </c:numCache>
            </c:numRef>
          </c:val>
        </c:ser>
        <c:ser>
          <c:idx val="1"/>
          <c:order val="1"/>
          <c:tx>
            <c:v>Loại do user/item OOV</c:v>
          </c:tx>
          <c:spPr>
            <a:solidFill xmlns:a="http://schemas.openxmlformats.org/drawingml/2006/main">
              <a:srgbClr val="D7DEE8"/>
            </a:solidFill>
          </c:spPr>
          <c:cat>
            <c:strRef>
              <c:f>'Chart Data'!$C$2:$C$3</c:f>
              <c:strCache>
                <c:ptCount val="2"/>
                <c:pt idx="0">
                  <c:v>Validation</c:v>
                </c:pt>
                <c:pt idx="1">
                  <c:v>Test</c:v>
                </c:pt>
              </c:strCache>
            </c:strRef>
          </c:cat>
          <c:val>
            <c:numRef>
              <c:f>'Chart Data'!$D$2:$D$3</c:f>
              <c:numCache>
                <c:formatCode>0.0%</c:formatCode>
                <c:ptCount val="2"/>
                <c:pt idx="0">
                  <c:v>0.7809623946</c:v>
                </c:pt>
                <c:pt idx="1">
                  <c:v>0.9018245677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NDCG@20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Data'!$A$2:$A$4</c:f>
              <c:strCache>
                <c:ptCount val="3"/>
                <c:pt idx="0">
                  <c:v>MostPop</c:v>
                </c:pt>
                <c:pt idx="1">
                  <c:v>BPR-MF</c:v>
                </c:pt>
                <c:pt idx="2">
                  <c:v>Full LightGCN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0.0058725502</c:v>
                </c:pt>
                <c:pt idx="1">
                  <c:v>0.0040535124</c:v>
                </c:pt>
                <c:pt idx="2">
                  <c:v>0.0049312379</c:v>
                </c:pt>
              </c:numCache>
            </c:numRef>
          </c:val>
        </c:ser>
        <c:ser>
          <c:idx val="1"/>
          <c:order val="1"/>
          <c:tx>
            <c:v>Recall@20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Data'!$C$2:$C$4</c:f>
              <c:strCache>
                <c:ptCount val="3"/>
                <c:pt idx="0">
                  <c:v>MostPop</c:v>
                </c:pt>
                <c:pt idx="1">
                  <c:v>BPR-MF</c:v>
                </c:pt>
                <c:pt idx="2">
                  <c:v>Full LightGCN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0.0145961329</c:v>
                </c:pt>
                <c:pt idx="1">
                  <c:v>0.0104188296</c:v>
                </c:pt>
                <c:pt idx="2">
                  <c:v>0.0123731236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17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04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Catalog coverage@20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Data'!$A$2:$A$4</c:f>
              <c:strCache>
                <c:ptCount val="3"/>
                <c:pt idx="0">
                  <c:v>MostPop</c:v>
                </c:pt>
                <c:pt idx="1">
                  <c:v>BPR-MF</c:v>
                </c:pt>
                <c:pt idx="2">
                  <c:v>Full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0.000154202</c:v>
                </c:pt>
                <c:pt idx="1">
                  <c:v>0.0335173477</c:v>
                </c:pt>
                <c:pt idx="2">
                  <c:v>0.0063654588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9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NDCG@20</c:v>
          </c:tx>
          <c:spPr>
            <a:solidFill xmlns:a="http://schemas.openxmlformats.org/drawingml/2006/main">
              <a:srgbClr val="3E8BFF"/>
            </a:solidFill>
          </c:spPr>
          <c:cat>
            <c:strRef>
              <c:f>'Chart Data'!$A$2:$A$4</c:f>
              <c:strCache>
                <c:ptCount val="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0.005727283</c:v>
                </c:pt>
                <c:pt idx="1">
                  <c:v>0.0061532962</c:v>
                </c:pt>
                <c:pt idx="2">
                  <c:v>0.0059206961</c:v>
                </c:pt>
              </c:numCache>
            </c:numRef>
          </c:val>
        </c:ser>
        <c:ser>
          <c:idx val="1"/>
          <c:order val="1"/>
          <c:tx>
            <c:v>Recall@20</c:v>
          </c:tx>
          <c:spPr>
            <a:solidFill xmlns:a="http://schemas.openxmlformats.org/drawingml/2006/main">
              <a:srgbClr val="2CA47B"/>
            </a:solidFill>
          </c:spPr>
          <c:cat>
            <c:strRef>
              <c:f>'Chart Data'!$C$2:$C$4</c:f>
              <c:strCache>
                <c:ptCount val="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0.0146572046</c:v>
                </c:pt>
                <c:pt idx="1">
                  <c:v>0.0159885674</c:v>
                </c:pt>
                <c:pt idx="2">
                  <c:v>0.0153167788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17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04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0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Training wall (s)</c:v>
          </c:tx>
          <c:spPr>
            <a:solidFill xmlns:a="http://schemas.openxmlformats.org/drawingml/2006/main">
              <a:srgbClr val="F4A24C"/>
            </a:solidFill>
          </c:spPr>
          <c:cat>
            <c:strRef>
              <c:f>'Chart Data'!$A$2:$A$4</c:f>
              <c:strCache>
                <c:ptCount val="3"/>
                <c:pt idx="0">
                  <c:v>M0</c:v>
                </c:pt>
                <c:pt idx="1">
                  <c:v>M1</c:v>
                </c:pt>
                <c:pt idx="2">
                  <c:v>M2</c:v>
                </c:pt>
              </c:strCache>
            </c:strRef>
          </c:cat>
          <c:val>
            <c:numRef>
              <c:f>'Chart Data'!$B$2:$B$4</c:f>
              <c:numCache>
                <c:formatCode>0</c:formatCode>
                <c:ptCount val="3"/>
                <c:pt idx="0">
                  <c:v>705.32</c:v>
                </c:pt>
                <c:pt idx="1">
                  <c:v>795.1</c:v>
                </c:pt>
                <c:pt idx="2">
                  <c:v>868.63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11317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1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M0</c:v>
          </c:tx>
          <c:spPr>
            <a:ln xmlns:a="http://schemas.openxmlformats.org/drawingml/2006/main" w="28575">
              <a:solidFill>
                <a:srgbClr val="3E8BFF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3E8BFF"/>
              </a:solidFill>
            </c:spPr>
          </c:marker>
          <c:cat>
            <c:strRef>
              <c:f>'Chart Data'!$A$2:$A$4</c:f>
              <c:strCache>
                <c:ptCount val="3"/>
                <c:pt idx="0">
                  <c:v>s0</c:v>
                </c:pt>
                <c:pt idx="1">
                  <c:v>s1</c:v>
                </c:pt>
                <c:pt idx="2">
                  <c:v>s2</c:v>
                </c:pt>
              </c:strCache>
            </c:strRef>
          </c:cat>
          <c:val>
            <c:numRef>
              <c:f>'Chart Data'!$B$2:$B$4</c:f>
              <c:numCache>
                <c:formatCode>0.00%</c:formatCode>
                <c:ptCount val="3"/>
                <c:pt idx="0">
                  <c:v>0.005727283</c:v>
                </c:pt>
                <c:pt idx="1">
                  <c:v>0.00562498</c:v>
                </c:pt>
                <c:pt idx="2">
                  <c:v>0.0057669238</c:v>
                </c:pt>
              </c:numCache>
            </c:numRef>
          </c:val>
          <c:smooth val="0"/>
        </c:ser>
        <c:ser>
          <c:idx val="1"/>
          <c:order val="1"/>
          <c:tx>
            <c:v>M1</c:v>
          </c:tx>
          <c:spPr>
            <a:ln xmlns:a="http://schemas.openxmlformats.org/drawingml/2006/main" w="28575">
              <a:solidFill>
                <a:srgbClr val="2CA47B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2CA47B"/>
              </a:solidFill>
            </c:spPr>
          </c:marker>
          <c:cat>
            <c:strRef>
              <c:f>'Chart Data'!$C$2:$C$4</c:f>
              <c:strCache>
                <c:ptCount val="3"/>
                <c:pt idx="0">
                  <c:v>s0</c:v>
                </c:pt>
                <c:pt idx="1">
                  <c:v>s1</c:v>
                </c:pt>
                <c:pt idx="2">
                  <c:v>s2</c:v>
                </c:pt>
              </c:strCache>
            </c:strRef>
          </c:cat>
          <c:val>
            <c:numRef>
              <c:f>'Chart Data'!$D$2:$D$4</c:f>
              <c:numCache>
                <c:formatCode>0.00%</c:formatCode>
                <c:ptCount val="3"/>
                <c:pt idx="0">
                  <c:v>0.0061532962</c:v>
                </c:pt>
                <c:pt idx="1">
                  <c:v>0.0057042864</c:v>
                </c:pt>
                <c:pt idx="2">
                  <c:v>0.0057403666</c:v>
                </c:pt>
              </c:numCache>
            </c:numRef>
          </c:val>
          <c:smooth val="0"/>
        </c:ser>
        <c:ser>
          <c:idx val="2"/>
          <c:order val="2"/>
          <c:tx>
            <c:v>M2</c:v>
          </c:tx>
          <c:spPr>
            <a:ln xmlns:a="http://schemas.openxmlformats.org/drawingml/2006/main" w="28575">
              <a:solidFill>
                <a:srgbClr val="F4A24C"/>
              </a:solidFill>
              <a:prstDash val="solid"/>
            </a:ln>
          </c:spPr>
          <c:marker>
            <c:symbol val="circle"/>
            <c:size val="8"/>
            <c:spPr>
              <a:solidFill xmlns:a="http://schemas.openxmlformats.org/drawingml/2006/main">
                <a:srgbClr val="F4A24C"/>
              </a:solidFill>
            </c:spPr>
          </c:marker>
          <c:cat>
            <c:strRef>
              <c:f>'Chart Data'!$E$2:$E$4</c:f>
              <c:strCache>
                <c:ptCount val="3"/>
                <c:pt idx="0">
                  <c:v>s0</c:v>
                </c:pt>
                <c:pt idx="1">
                  <c:v>s1</c:v>
                </c:pt>
                <c:pt idx="2">
                  <c:v>s2</c:v>
                </c:pt>
              </c:strCache>
            </c:strRef>
          </c:cat>
          <c:val>
            <c:numRef>
              <c:f>'Chart Data'!$F$2:$F$4</c:f>
              <c:numCache>
                <c:formatCode>0.00%</c:formatCode>
                <c:ptCount val="3"/>
                <c:pt idx="0">
                  <c:v>0.0059206961</c:v>
                </c:pt>
                <c:pt idx="1">
                  <c:v>0.0055738678</c:v>
                </c:pt>
                <c:pt idx="2">
                  <c:v>0.005668182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rial"/>
                  <a:ea typeface="Arial"/>
                  <a:cs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063"/>
          <c:min val="0.0054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2EA"/>
              </a:solidFill>
              <a:prstDash val="solid"/>
            </a:ln>
          </c:spPr>
        </c:majorGridlines>
        <c:numFmt formatCode="0.0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00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626C7A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AD34FD-8600-44B0-AADC-FBF2D04E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100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LUẬN VĂN THẠC SĨ | BẢN TỔNG HỢP BẰNG CHỨNG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E53461-44EB-4EF0-9AEB-567951001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009650"/>
            <a:ext cx="85725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Lấy mẫu đồ thị cho hệ thống</a:t>
            </a:r>
          </a:p>
          <a:p xmlns:a="http://schemas.openxmlformats.org/drawingml/2006/main">
            <a:pPr algn="l">
              <a:defRPr sz="33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gợi ý quy mô lớn bằng GNN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BBE85-FA7B-4DAD-B620-EE9043939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Amazon Reviews’23 Baby_Products | temporal warm-start | pure-ID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5B1C9C-209E-45EF-9B49-61E6DF65B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Mục tiêu buổi trình bày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9D5C5-D3DE-42B9-B9F7-02D290E4B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5760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9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Giải thích dữ liệu, cách đo và cách lấy mẫu trước khi đọc kết quả.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49644-E426-4D79-84EE-8781E4AEB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95800"/>
            <a:ext cx="3000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04C428-F355-422C-B142-F620B3A61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815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Rating theo thời gian trên user-item 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0691B5-1EB6-498E-9667-81ADCADFC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429125"/>
            <a:ext cx="95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128AC7-36A0-4326-924E-7DEB8BC3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495800"/>
            <a:ext cx="3000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CÂU HỎI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1E9C8E-4040-4584-A749-4A574B7C9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815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Sampler thay đổi context có ích cho ranking không?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822CA2-443B-4644-A4B2-F459CDDD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429125"/>
            <a:ext cx="9525" cy="933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031493-2B1E-40E9-BB9C-A51C61D8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495800"/>
            <a:ext cx="3000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BẰNG CHỨNG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B75E96-CE97-4D21-BCAA-28F12A37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78155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Validation đã khóa; test target chưa đọc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031959-42A5-4EDA-9338-9F4C0A981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190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16/09/2026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9FD991-CBC3-4563-86F1-B8C67501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CD1F6C-39BD-46C1-8FEE-9A018032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9715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Amazon Reviews’23 + artifact dự án đã audit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98CC126-A312-4B57-9E66-CD379F21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059535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27FE49-203E-45B6-B6A3-84E02C4CA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00 / BẢN ĐỒ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561E7A-8A02-404C-B45C-95523C3F2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Mạch trình bày đi từ dữ liệu đến câu trả lời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D3D61A-EB4E-4667-9F0A-04AFB173C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4FD1A5-9374-4D85-9FC8-C022D194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research plan; data story; validation protocol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687DDB-4680-4A27-B0E1-82ADD30C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đây là bản đồ câu chuyện; kết quả chỉ xuất hiện sau phần thiết kế và đánh giá.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0071B2-8EEC-41D9-84B5-BD16FA84F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930E4-393C-452C-AC62-8FEF956D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144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8ECCA0-0A35-49FF-8C7D-F8E9BA94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14525"/>
            <a:ext cx="3143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Nguồn chính thức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Schema và P4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Temporal split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Population được đánh giá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047E81-C21D-4951-920E-FE258F37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428750"/>
            <a:ext cx="190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17BC93-4004-4291-BD2F-1D0A7815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5144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CẤU TRÚC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98D91-AF1E-44E1-8676-849703B1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1914525"/>
            <a:ext cx="3143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Sparsity và singleton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Long tail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Head, body, tail</a:t>
            </a:r>
          </a:p>
          <a:p xmlns:a="http://schemas.openxmlformats.org/drawingml/2006/main">
            <a:pPr algn="l">
              <a:defRPr sz="16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Warm-start retention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23D6AD-1BEF-4185-8900-6A1FFE21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428750"/>
            <a:ext cx="19050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C0B83B-320D-4B35-8164-24EF92D37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14475"/>
            <a:ext cx="3676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THỰC NGHIỆM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33C5C5-8F8C-4C2C-97D4-F1C1EEA24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914525"/>
            <a:ext cx="36766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Metric và baseline</a:t>
            </a:r>
          </a:p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LightGCN + BPR</a:t>
            </a:r>
          </a:p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M0, M1, M2</a:t>
            </a:r>
          </a:p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Paired validation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6DF31B-F5D4-47D3-911F-B8352A627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62450"/>
            <a:ext cx="111633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14012C5-FAD8-4E7C-BA3A-05E613F6C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4375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CÁCH ĐỌC DECK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8B3A31-9469-4415-A023-763E920DB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0715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Mỗi phần trả lời một câu: dữ liệu có đáng tin không, metric đo gì, sampler thay đổi gì, rồi kết quả nói được gì.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532732-AC6B-42CC-B6D7-FBDBE080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14669A-44F3-431E-A33E-F31B653D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Kết quả và kết luận chỉ xuất hiện sau khi đã có ngữ cảnh để đọc chúng</a:t>
            </a:r>
          </a:p>
        </p:txBody>
      </p:sp>
    </p:spTree>
    <p:extLst>
      <p:ext uri="{BB962C8B-B14F-4D97-AF65-F5344CB8AC3E}">
        <p14:creationId xmlns:p14="http://schemas.microsoft.com/office/powerpoint/2010/main" val="4997892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C183D3-92A8-433A-81D7-FCF022C8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00 / CÂU HỎI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33BB42-4E66-403D-8125-400D07DB4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Câu hỏi nghiên cứu và phạm vi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F8064B-86A4-4722-B491-36C08CC21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D60CE2-3FBD-4927-A045-77633B6F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PHASE2_RESEARCH_PLAN_vn.md; BPR; LightGCN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03BAC4-7FE5-429E-8D0E-4AEA7F8C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pure-ID chỉ dùng ID và interaction, không có mô tả sản phẩm.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3DCE5-18F5-4276-A5A3-A21AAB116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7D85F0-8A36-4B73-BF9A-1F76EB72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09700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CÂU HỎI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E78C50-A695-4893-9378-4BA1C44CF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24025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Khi giữ nguyên mô hình, dữ liệu, budget và evaluator, cách lấy context nào tạo ranking tốt hơn với chi phí chấp nhận được?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E36D08-2442-4F7D-9E43-88FAF606E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32A36-CF6F-4C5D-9126-7DC7C516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14675"/>
            <a:ext cx="3000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ĐỐI TƯỢNG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A7BCDF-FBD9-4F60-A254-DB29E8958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194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Gợi ý top-20 trên graph user–item, temporal warm-start, pure-ID.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05EA01-561D-430F-9F2F-6569676F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02895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424B6B-EDF1-4297-BD9C-CFD87565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114675"/>
            <a:ext cx="3000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CAN THIỆP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969220-1AA7-404E-8866-3AB7D5EA3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4194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Chỉ thay sampler M0, M1, M2. Context là các node và edge lân cận được dùng để truyền thông tin trong batch/layer.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5FE689-A217-4E6F-940D-FF2866F99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02895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CF6935-BD98-4B69-9184-B749DC7E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114675"/>
            <a:ext cx="30003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RANH GIỚI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A9AC54-6486-48AA-8718-5AD9C9D80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419475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Kết luận chỉ dùng validation. Không suy ra semantic relevance, cold-start, ý nghĩa thống kê, hay kết quả test.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5BC892-8E52-418F-924C-B869092B1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07823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B95012-1D07-4365-B492-A10AA4EB6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8160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Mục tiêu là một so sánh có kiểm soát, không phải chứng minh sampler phức tạp luôn tốt hơn.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96D942-665B-4541-B561-BF63CEAC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79D0E8-9A58-4EF5-9405-E7A7B8C9B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Câu hỏi đúng giúp kết quả âm vẫn có giá trị khoa học</a:t>
            </a:r>
          </a:p>
        </p:txBody>
      </p:sp>
    </p:spTree>
    <p:extLst>
      <p:ext uri="{BB962C8B-B14F-4D97-AF65-F5344CB8AC3E}">
        <p14:creationId xmlns:p14="http://schemas.microsoft.com/office/powerpoint/2010/main" val="81056299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8C2336-3B2C-4448-9313-22118224B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00 / KHÁI NIỆM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576016-7718-4262-9B3D-32CE1DF62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Context là phần graph model được nhìn thấy trong một batch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80D65A-A69D-436F-9824-C49A3BC6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F8EFC-99D7-4B0B-8B0D-2D15351E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THESIS_REPORT_vn.md, Section 1 and 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FFD6A1-9869-4147-8978-EACA93180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node là user hoặc item; edge là interaction; propagation là truyền embedding qua edge.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133012-80F5-40D8-A444-EF56732AE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1719A8-C30F-473F-A4EF-49D81708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Trong graph recommendation, user và item là node; rating tích cực là edge. LightGCN học embedding bằng cách truyền tín hiệu qua các edge.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9DC512-A816-48EE-99B3-2C7B94146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TARGET 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17EE55-C7AB-490B-85CA-4F3B04FB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099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Những user–item interaction đang dùng để cập nhật model.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506455-7468-4AD4-8FE1-1B0E5E4AB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55270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208CC-BD08-406C-946B-DD34FBDB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6479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AFC338-9F80-4850-A6EF-72503157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0099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node và edge lân cận được lấy thêm để propagation trong từng layer.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6D6B50-9555-4AF9-B2FF-6A92807E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52700"/>
            <a:ext cx="9525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6E740B-393B-46AA-B9BC-CBADB0BED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47950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SAMPLER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AB7FE0-45CC-4ACC-981D-7964E153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009900"/>
            <a:ext cx="304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Quy tắc quyết định node lân cận nào được lấy khi không thể dùng toàn graph.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60052D-27E5-4846-BE8F-9E3944003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33900"/>
            <a:ext cx="107823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F8B229-710F-40DD-A040-A56C38D6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71487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Sampler không đổi target hay metric. Nó đổi thông tin hàng xóm mà model nhận được để học từ target đó.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557A66-AEC9-4209-BDFE-949E2771C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F45AB7-FBBA-4D29-926B-FF0F7048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Câu hỏi thực nghiệm: context khác có giúp xếp đúng item mục tiêu tốt hơn không?</a:t>
            </a:r>
          </a:p>
        </p:txBody>
      </p:sp>
    </p:spTree>
    <p:extLst>
      <p:ext uri="{BB962C8B-B14F-4D97-AF65-F5344CB8AC3E}">
        <p14:creationId xmlns:p14="http://schemas.microsoft.com/office/powerpoint/2010/main" val="20281750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98625D-F89E-41C2-95CE-CB8455DA4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 / LỰA CHỌN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0B22F7-537C-4A88-A93E-CDB4D0B0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benchmark ngoài Amazon đã được xem xét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9563F1-E1C3-4D43-8FB7-6F22D8235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BC3D4-F841-47EF-A9AA-C5F342083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GroupLens; LightGCN; MIND; KuaiRec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7963B-C961-47BC-9556-1BA878DE8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benchmark là bộ dữ liệu chuẩn; Graph-CF là collaborative filtering trên graph.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033FBD-32C4-44C0-960A-114E20591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514350" y="1381125"/>
          <a:ext xmlns:a="http://schemas.openxmlformats.org/drawingml/2006/main" cx="11163300" cy="3219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05000"/>
                <a:gridCol w="2476500"/>
                <a:gridCol w="3476625"/>
                <a:gridCol w="3305175"/>
              </a:tblGrid>
              <a:tr h="64389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Bộ dữ liệu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Được dùng phổ biến cho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Điểm phù hợp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Vì sao chưa chạy trong nghiên cứu này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MovieLens 25M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Collaborative filtering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25M rating, 162.541 user, 62.423 phim; có tag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Khác miền sản phẩm và khác cấu trúc long-tail Amazon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Gowalla / Yelp2018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Graph-CF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LightGCN dùng hai benchmark này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Phù hợp để mở rộng sau này, chưa phải thực nghiệm hiện tại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MIND / KuaiRec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Content / exposure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MIND có text; KuaiRec gần fully observed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Khác pure-ID e-commerce hoặc không đại diện graph thưa quy mô lớn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4389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Amazon Reviews’23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E-commerce recommendation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Có category, review theo thời gian và volume lớn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Được chọn sau audit nội bộ, không phải vì là lựa chọn duy nhất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432238-2D52-449A-82BE-056289B9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95850"/>
            <a:ext cx="10782300" cy="504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5214FB-FADC-47D2-B348-545A0AAF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48250"/>
            <a:ext cx="10382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bộ trên là benchmark tham khảo. Nghiên cứu này chỉ chạy Amazon Reviews’23 Baby_Products.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F33F09-8336-43CE-B8A7-C1C96F152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779979-29A4-404F-8C35-7278F05E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Dữ liệu phải khớp câu hỏi và giới hạn đo lường, không chỉ cần nổi tiếng</a:t>
            </a:r>
          </a:p>
        </p:txBody>
      </p:sp>
    </p:spTree>
    <p:extLst>
      <p:ext uri="{BB962C8B-B14F-4D97-AF65-F5344CB8AC3E}">
        <p14:creationId xmlns:p14="http://schemas.microsoft.com/office/powerpoint/2010/main" val="766199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32B469-8253-4C66-8231-9F3954AAA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 / LỰA CHỌN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E0CB5-03B0-4254-AFF7-73D1EF842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Vì sao Baby_Products là bộ dữ liệu thực nghiệm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8CA416-668A-44E4-B15F-574F2676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59026-33FC-4471-9C8A-0E00750E6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DATASET_PORTFOLIO_AND_ANALYSIS_PROTOCOL_vn.md; audit artifacts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18591D-5D20-4E4F-A717-117982BCB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warm-start giữ user và item đã xuất hiện trong train; retention là tỷ lệ còn lại.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30E5A2-F71B-4DA4-9E63-7F627157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14350" y="1504950"/>
          <a:ext xmlns:a="http://schemas.openxmlformats.org/drawingml/2006/main" cx="4953000" cy="2905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40efee14404a12"/>
          </a:graphicData>
        </a:graphic>
      </p:graphicFrame>
      <p:graphicFrame>
        <p:nvGraphicFramePr>
          <p:cNvPr id="21" name=""/>
          <p:cNvGraphicFramePr/>
          <p:nvPr/>
        </p:nvGraphicFramePr>
        <p:xfrm>
          <a:off xmlns:a="http://schemas.openxmlformats.org/drawingml/2006/main" x="6000750" y="1428750"/>
          <a:ext xmlns:a="http://schemas.openxmlformats.org/drawingml/2006/main" cx="5334000" cy="2686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190625"/>
                <a:gridCol w="1190625"/>
                <a:gridCol w="1238250"/>
              </a:tblGrid>
              <a:tr h="671513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Tiêu chí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All_Beauty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Baby_Products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Home_and_Kitchen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Raw row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693.929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5.953.891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66.623.880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Vai trò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Schema/pipeline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Benchmark chính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Chỉ provenance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71513"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Đánh giá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Warm validation 3,98%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Warm validation 21,90%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7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Chưa full protocol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1B9A5D-A8AD-443D-BC9B-5BF5DFB1A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505325"/>
            <a:ext cx="190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LÝ DO CHỌN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EBD06-A34D-4669-8513-BD2AD8FD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781550"/>
            <a:ext cx="5143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Baby có nhiều interaction hơn All_Beauty, long tail rõ, đủ lớn để stress sampling, nhưng vẫn chạy được trong ngân sách Colab đã kiểm chứng.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8DCC94-87CE-4BA1-A13F-DE7DDDF1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14875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Home_and_Kitchen lớn hơn 11,19 lần Baby. Ta chỉ biết provenance và quy mô, chưa được quyền dùng nó để nói về performance.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F23372-DE89-4D6A-B5E0-B7EC5476A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7215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06821A-EA76-4EA5-877E-8AD87385C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483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Lựa chọn Baby dựa trên audit và khả năng thực nghiệm, không dựa trên score model</a:t>
            </a:r>
          </a:p>
        </p:txBody>
      </p:sp>
    </p:spTree>
    <p:extLst>
      <p:ext uri="{BB962C8B-B14F-4D97-AF65-F5344CB8AC3E}">
        <p14:creationId xmlns:p14="http://schemas.microsoft.com/office/powerpoint/2010/main" val="11332304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6F57B5-E572-4047-B29F-3248A3E7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01 / NGUỒN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AA732C-9E4A-449C-8FA0-33DC9C4C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Nguồn chính thức và tệp thực sự được dùng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96E63F-D5F1-4011-8375-35270A94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EE73E0-B75A-445B-9559-65011851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Amazon Reviews’23; Baby_Products_protocol_audit.json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2C840B-E26E-4434-ACE9-E28CDAEBB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0-core nghĩa là chưa lọc node ít tương tác; parent_asin là mã item.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C88E25-AEC8-4D42-AF2B-65DA01FD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C76B3-A9DE-45BD-A532-C998B531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5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McAuley Lab — Amazon Reviews’23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26AE58-6075-4B99-8A8A-AC7DC628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81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Category: Baby_Products, benchmark 0-core, rating_only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514350" y="2143125"/>
          <a:ext xmlns:a="http://schemas.openxmlformats.org/drawingml/2006/main" cx="64770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1238250"/>
                <a:gridCol w="3524250"/>
              </a:tblGrid>
              <a:tr h="4762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Trường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Kiểu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Ý nghĩa trong nghiên cứu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user_id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string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ID người đánh giá, dùng làm node user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parent_asin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string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ID cha sản phẩm, dùng làm node item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float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Điểm 1–5; dự án đổi thành positive khi ≥4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timestamp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int (ms)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Thứ tự thời gian để tách train/validation/test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140326-B5EA-4CEC-A017-6AB6765D9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362075"/>
            <a:ext cx="19050" cy="3676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425D46-0250-4D90-A2DA-64F748DE0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09700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TỆP TẢI CHÍNH XÁC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0C78EA-67E9-4545-9F64-64C6954FA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59067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148.609.233 bytes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A3805A-12FC-4428-B0E1-41FC0C3E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9812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Baby_Products.csv.gz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8674F7-841E-4609-92D8-207F47E33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476500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D5261C-8A60-4142-B872-4FA55FB0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65747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e2a8d049…c279e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4C68B5-6A4A-4D97-92EC-1A2B35DA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0480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Nhận diện đúng byte nguồn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919EF8-5313-42CA-BD43-DBE160E8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581400"/>
            <a:ext cx="304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URL artifact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BD4D91-900E-4A50-B71E-D30AD486A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00475"/>
            <a:ext cx="323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datarepo.eng.ucsd.edu/…/0core/</a:t>
            </a:r>
          </a:p>
          <a:p xmlns:a="http://schemas.openxmlformats.org/drawingml/2006/main">
            <a:pPr algn="l">
              <a:defRPr sz="120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rating_only/Baby_Products.csv.gz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899395-98F7-4E34-B91F-A99FB05B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552950"/>
            <a:ext cx="30956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16B64B-B6E4-4B5F-9D7C-FADE1178C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28098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Không dùng title/category/text/metadata</a:t>
            </a:r>
          </a:p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trong task chính.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B5A9D7-1795-4076-9A10-22EE04A0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53275E-4C2D-4C8A-BF77-E8FDACE43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Nguồn chính thức cung cấp schema; artifact audit cung cấp byte, checksum và quy tắc dự án</a:t>
            </a:r>
          </a:p>
        </p:txBody>
      </p:sp>
    </p:spTree>
    <p:extLst>
      <p:ext uri="{BB962C8B-B14F-4D97-AF65-F5344CB8AC3E}">
        <p14:creationId xmlns:p14="http://schemas.microsoft.com/office/powerpoint/2010/main" val="189233700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3FAB277-3026-438E-A03E-839FB9400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02 /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C8993B-33F8-4CC4-B8E5-7BCE9F72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Phân tích đi theo thời gian, không nhìn test để chọn phương pháp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9466D-4C71-4F7D-B163-EDCDB05A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C9068B-52CB-408A-BC28-F013ABE0E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baby_p4_g2c_manifest.json; audit cutoffs t1/t2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DCE878-BED7-4BD5-BA71-64DE92D64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temporal split tách theo thời gian; leakage là dùng thông tin tương lai khi train.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D05F5D-0066-4078-84F4-A7A5719A0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4CAC54-DA6B-43DE-8E83-D3E28460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RAW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795A6F-0C6D-4D8A-AEE5-A384964A3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5.953.891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35629C-AE2E-4520-A2FA-349D4A900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parsed row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D039EA1-310D-424E-8EE9-8076ED81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55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70827D-2A6A-421A-B8E2-FA4EA8299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FDBB1C-7039-43E9-B22B-CB8AE09F9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QUARANTINE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B103DB-D45C-4304-8249-F721E201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 rating = 0,0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A5A123-2D41-4EB2-A3A3-35406848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khỏi [1,5]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6F485E-07CB-4831-8E8F-746595BE8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24D3E-E9C4-4A88-91F2-9332C6AC8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F1F3EC-54F2-46A7-BC78-C529310B4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P4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DABF62-25B2-4BF5-BBFA-642F714C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4.655.843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C885FE-812A-4548-8C46-8BA02B5DA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rating 4–5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34A95A-38A2-49F0-8F9B-8671C4385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FBAB50-0B5C-43C7-BF34-98F1E8FC4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94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324547-2D54-4EF0-A010-EE47F484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TEMPORAL SPLIT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E8D375-66B0-49D6-9BB0-BAAD51E9B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t1 / t2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1DE0DC-531B-4DE4-930E-95ADDA01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11/08/2021 đến 16/07/2022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4BF6C1-9872-406F-A71E-B6A910D0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000250"/>
            <a:ext cx="3524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03798C-0154-4E6F-A210-DB73354C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000250"/>
            <a:ext cx="2095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6A5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8FCFE62-FA2F-4E0F-BC96-0DB141F9C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504950"/>
            <a:ext cx="17621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WARM FILTER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8600F5-7160-4C7B-A1D2-23EB7BAB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819275"/>
            <a:ext cx="1762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train-only map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3CCCBFA-E936-4D25-ADF4-A1693B5A9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200275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user &amp; item phải đã thấy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DC84D8E-3606-4701-AE25-6AB40EE43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14675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ARTIFACT SAU KHI KHÓA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80A3A45-5854-40B2-89DC-D5A8C3603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67100"/>
            <a:ext cx="3333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B60EDA5-F4CC-4F2A-8D18-946790E3F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2952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TRAIN GRAPH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571CFE-7964-4931-B6F5-62997264D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957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3.868.654 edge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E12D04-EEAD-432D-B2BC-F5E16D23B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Model chỉ nhìn quá khứ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F49C68D-36A5-40BA-97FB-63ACC00B9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67100"/>
            <a:ext cx="3333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D4CFCE9-B6FF-484B-9548-0F160E164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619500"/>
            <a:ext cx="2952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F82FF2B-AE7B-45BF-BF45-41DA14153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957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81.871 warm target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ACE5C93-8CF8-4D5A-93B2-C397D465D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86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Dùng development evidence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B14E863-C47D-4F0D-9D2A-E7179D0F8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67100"/>
            <a:ext cx="3333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3B7426-9E00-4BE0-B69B-7C7946882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619500"/>
            <a:ext cx="29527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0F21A5-0E4D-42A9-A3ED-D1CF2A2D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8957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40.587 warm target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9661DC-E518-4A88-A7DF-8999F8314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86250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Đã tạo artifact, chưa đọc target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3F21EB-1BE0-4FDF-82FA-0DCBEA76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43475"/>
            <a:ext cx="1076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FD55445-C8F6-4FD6-AD2B-3A41AB225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57775"/>
            <a:ext cx="10429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Không leakage: mapping/cohort học từ train; evaluator loại strict prior history; model selection chỉ dùng validation.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04F060-617F-4EA7-90ED-CE5C9952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2969F46-8D28-4EC5-9755-274BE6BDB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P4 là phép biến đổi của dự án, không phải nhãn có sẵn của nguồn</a:t>
            </a:r>
          </a:p>
        </p:txBody>
      </p:sp>
    </p:spTree>
    <p:extLst>
      <p:ext uri="{BB962C8B-B14F-4D97-AF65-F5344CB8AC3E}">
        <p14:creationId xmlns:p14="http://schemas.microsoft.com/office/powerpoint/2010/main" val="4327547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621C22-15D3-4494-A3BF-E84B92180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03 / CHẤT LƯỢNG DỮ LIỆU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2CA24D-C416-4EF7-8386-F4FE20856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Rating lệch mạnh về phía tích cực; P4 giữ 78,20%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38E986-538A-441E-A1CA-C0287BFA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D3DEAF-7CFE-434A-932C-89D52F85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 / source.rating_counts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FA48A2-69F8-465F-B105-770E29001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P4 xem rating 4 hoặc 5 là positive interaction cho implicit ranking.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900915-B159-490E-9EC9-99477D8E5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14350" y="1524000"/>
          <a:ext xmlns:a="http://schemas.openxmlformats.org/drawingml/2006/main" cx="6953250" cy="3476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05d60b20b58490b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BB419E-13CB-49CA-BFEC-5F293E121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571625"/>
            <a:ext cx="3000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RAW ROWS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E96B9E-39AF-4092-ACDA-677CEEF2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52600"/>
            <a:ext cx="3000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5.953.891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5E1ED-E685-436F-BA2D-0DB2DE46D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143125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0 missing / parse-invalid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679C64-2973-44B2-9476-D12030D6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28900"/>
            <a:ext cx="3000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DUPLICATE PAIR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9415F4-7A78-4BF8-863D-4F941BC61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809875"/>
            <a:ext cx="3000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B86D15-DBC4-46D5-93A9-1FFDAB6D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200400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user–item exact audit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430A03-FF4F-4F33-94F2-DDA5732B6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86175"/>
            <a:ext cx="300037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NGOÀI [1,5]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0DD4ED-4CB2-4E90-B129-6EDB3E692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67150"/>
            <a:ext cx="300037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90A01E-CD76-427B-ABA5-9CEEC9DB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257675"/>
            <a:ext cx="3000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rating 0,0 đã quarantine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822FEC-F09A-4E03-9B7F-39C25DA99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91075"/>
            <a:ext cx="300037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017B28-6B4B-4C62-A5ED-D0C4981D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3395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Positive edge = rating 4 hoặc 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35AC0D-302A-46F7-B04D-8EEB1AA52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9456936-634E-42E2-A33C-E544A387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5★ chiếm 66,74%: training signal vốn đã không cân bằng</a:t>
            </a:r>
          </a:p>
        </p:txBody>
      </p:sp>
    </p:spTree>
    <p:extLst>
      <p:ext uri="{BB962C8B-B14F-4D97-AF65-F5344CB8AC3E}">
        <p14:creationId xmlns:p14="http://schemas.microsoft.com/office/powerpoint/2010/main" val="11869835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0007E7-3C9C-4CA9-83AB-63147A3D3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04 / GRAPH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C8D58F-6174-4316-9520-8539BCB45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Graph lớn, nhưng lịch sử của phần lớn node rất mỏng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A064F8-B7F8-4316-9445-8491CE37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1077B6-6AF9-49C1-82D4-F6C53F3B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 / training_graph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34383D-2163-4E3E-AC08-90B69424F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degree là số cạnh của node; density là phần cạnh thật trên mọi cặp user-item có thể.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ECB77B-526B-460A-B071-04D4E9AE1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14350" y="1524000"/>
          <a:ext xmlns:a="http://schemas.openxmlformats.org/drawingml/2006/main" cx="66675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2ea3e0ec27141a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08FB6F-2515-4DD0-8292-E61A754B9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428750"/>
            <a:ext cx="342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TRAINING GRAPH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DFF8FE-C17A-402E-B684-3AC9DB50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609725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3.868.654 edge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16EB1-AE81-457C-B41A-1C4EADAD8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000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2.318.308 user, 162.125 item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EF0A9A-156A-47D3-8F47-FA907FACC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543175"/>
            <a:ext cx="342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DENSITY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F5D690-D952-4E89-B382-978AC5ED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724150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1,0293 × 10⁻⁵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FE6A7A-6DDE-4A00-B189-6CE5B34B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114675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Bipartite graph cực thưa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661FCB-5A54-4F2C-9E48-E14324D66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657600"/>
            <a:ext cx="3429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LARGEST COMPONENT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C25A6F-CDF2-4F89-8C03-1F58282B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838575"/>
            <a:ext cx="3429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96,50% node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AB4DD93-ABF8-40C3-B835-490B70C63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42291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2.393.587 / 2.480.433 node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631A3A-9599-4E7E-B9D7-B6B1AAD1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07632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C34609-AF65-4887-AF58-B7015E470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76825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Degree p50 / p90 / p99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13E9B5-F7CD-429A-9918-2BE86F9C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5048250"/>
            <a:ext cx="2762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User  1 / 3 / 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D96680-591F-46FD-A35D-F6134F070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48250"/>
            <a:ext cx="3143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Item  3 / 32 / 397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68B4524-5490-4C23-AFC1-9E9DA44D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0174BF-03A8-48F8-B8E2-F4930A9B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Mean metric không đủ: phải xem theo cohort user activity và item popularity</a:t>
            </a:r>
          </a:p>
        </p:txBody>
      </p:sp>
    </p:spTree>
    <p:extLst>
      <p:ext uri="{BB962C8B-B14F-4D97-AF65-F5344CB8AC3E}">
        <p14:creationId xmlns:p14="http://schemas.microsoft.com/office/powerpoint/2010/main" val="145817550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70709D-8104-48D1-B77A-F110CA62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05 / POPULARITY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CA7D01-2A9F-4563-810D-870FB1C0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1% item giữ 44,09% training interaction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AEE8DC-4B81-43CB-9E47-F21D5408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B51EF-4493-41B4-962C-68294ACCE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 story top-item shares + cohorts_v1.json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9D3CFD-CF56-4E6B-9E52-AE30490A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Gini cao nghĩa là interaction dồn vào ít item; head/body/tail dựa trên training degree.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802FE6-D8C1-4A59-8684-630C53E0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514350" y="1504950"/>
          <a:ext xmlns:a="http://schemas.openxmlformats.org/drawingml/2006/main" cx="528637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7a91d468504c73"/>
          </a:graphicData>
        </a:graphic>
      </p:graphicFrame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191250" y="1504950"/>
          <a:ext xmlns:a="http://schemas.openxmlformats.org/drawingml/2006/main" cx="5143500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0a2bd9fdc044d22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2DFB07-59F9-4C64-AAF5-B542B06F5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6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Gini item-degree = 0,8584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1ECBF5-A99D-428E-ADE7-FD69255E2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91100"/>
            <a:ext cx="752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44,09% = exact top-1% cumulative; 44,16% = cohort head tie-aware.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B80440-79D9-460D-9B98-671D3C69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BECD95-0EAB-416E-A455-7C14AA1E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Accuracy phải đi cùng coverage, exposure và hit theo head/body/tail</a:t>
            </a:r>
          </a:p>
        </p:txBody>
      </p:sp>
    </p:spTree>
    <p:extLst>
      <p:ext uri="{BB962C8B-B14F-4D97-AF65-F5344CB8AC3E}">
        <p14:creationId xmlns:p14="http://schemas.microsoft.com/office/powerpoint/2010/main" val="105611145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231935-2E1E-4802-8323-9795BA172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06 / PHẠM VI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9C2EF0-37B0-44B8-8BFE-E1060223E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Warm-start chỉ giữ 21,90% validation và 9,82% test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D55155-998D-4774-8C8E-02BEE30C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CAA7B2-A6FE-4B9C-B821-D35CEA660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 / temporal_population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031AF6-17FC-40AD-BD6B-46E08635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OOV là user hoặc item chưa có mapping train; exact catalog xếp trên toàn bộ item hợp lệ.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59F47A-CAE7-4ADC-92A3-9F94D3AC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graphicFrame>
        <p:nvGraphicFramePr>
          <p:cNvPr id="25" name="Chart"/>
          <p:cNvGraphicFramePr/>
          <p:nvPr/>
        </p:nvGraphicFramePr>
        <p:xfrm>
          <a:off xmlns:a="http://schemas.openxmlformats.org/drawingml/2006/main" x="514350" y="1571625"/>
          <a:ext xmlns:a="http://schemas.openxmlformats.org/drawingml/2006/main" cx="7239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7b083ef1fbc475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7D50D-4A1A-4D37-9305-0BEC445A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571625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VALIDATION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3A69E3-3E2F-4789-B493-80F54D025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52600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81.871 / 373.776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D8B4D0-2034-4F02-95BA-609C6C59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431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warm target / candidate row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AA891D-B67C-4DC3-97F3-70724EF8C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705100"/>
            <a:ext cx="3143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TEST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97E13C-7540-4F88-A708-E4E58C2B2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86075"/>
            <a:ext cx="31432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40.587 / 413.413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85437F-9D87-4849-94F7-4936B83CF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warm target / candidate row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EE6304-AB67-4AAB-B595-33515187B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971925"/>
            <a:ext cx="3143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31F9F2-FB61-4F1C-A2CE-9AF682736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114800"/>
            <a:ext cx="28384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RANH GIỚI CLAIM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31D184-43CA-4D6B-823E-B6CA216A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91025"/>
            <a:ext cx="2838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Chỉ temporal warm-start, pure-ID.</a:t>
            </a:r>
          </a:p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Không suy ra cold-start toàn dữ liệu.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54E491-77D5-4A45-B6CF-9E3E1A5EB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6BC343-250C-412D-B260-8D670C20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Test artifact tồn tại nhưng target chưa được đọc trong validation</a:t>
            </a:r>
          </a:p>
        </p:txBody>
      </p:sp>
    </p:spTree>
    <p:extLst>
      <p:ext uri="{BB962C8B-B14F-4D97-AF65-F5344CB8AC3E}">
        <p14:creationId xmlns:p14="http://schemas.microsoft.com/office/powerpoint/2010/main" val="106551339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A60E349-87C7-4EB6-8F7D-7DDD1A0A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07 / METRIC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A83015-58DA-49AF-BAAF-446154F83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NDCG@20 và Recall@20 đọc chất lượng ranking khác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70924-D616-4971-902F-4E6461E26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F183B7-5428-4E08-9DCA-3018F9F9E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 nền tảng: BPR (UAI 2009), LightGCN (SIGIR 2020)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5AE4AA-00E8-4015-8408-F1CC254D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NDCG thưởng target đứng sớm; Recall chỉ hỏi target có vào top-20 hay không.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2FBFB3-38E4-4DCC-8AD2-49619DA7D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0C0485-2265-486A-A507-455504C49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116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DD476D-43FF-4915-8B19-1E00C3AF8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10706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Mỗi dòng validation có một item mục tiêu. Hai metric đầu tiên trả lời: item đó có vào top 20 không, và nếu có thì đứng ở đâu?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C351A5-0AEB-4AB5-9489-ACE1705A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6697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NDCG@20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F0CC4E-5788-4ED0-99D5-E1B8C8E2C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90825"/>
            <a:ext cx="500062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marL="203200" indent="-101600" algn="l">
              <a:spcAft>
                <a:spcPts val="300"/>
              </a:spcAft>
              <a:buChar char="•"/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Hit ở rank 1 giá trị hơn hit ở rank 20, nên NDCG là metric chính.</a:t>
            </a:r>
          </a:p>
          <a:p xmlns:a="http://schemas.openxmlformats.org/drawingml/2006/main">
            <a:pPr marL="203200" indent="-101600" algn="l">
              <a:spcAft>
                <a:spcPts val="300"/>
              </a:spcAft>
              <a:buChar char="•"/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Với một target mỗi dòng, hit ở rank r nhận điểm 1/log₂(r+1).</a:t>
            </a:r>
          </a:p>
          <a:p xmlns:a="http://schemas.openxmlformats.org/drawingml/2006/main">
            <a:pPr marL="203200" indent="-101600" algn="l">
              <a:spcAft>
                <a:spcPts val="300"/>
              </a:spcAft>
              <a:buChar char="•"/>
              <a:defRPr sz="13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Miss hoặc rank ngoài 20 nhận điểm 0.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0B7DA5-51AD-431C-93D9-91335A501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19050" cy="2857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CCBFAB-870F-499E-BEC5-6BB7C5FA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66975"/>
            <a:ext cx="285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RECALL@20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482E5F-FF27-4361-A167-C1618DB5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098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Câu hỏi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73536C-1489-4046-A72D-3FBDA3460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908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Item mục tiêu có xuất hiện trong 20 item đầu không?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3B7771-5403-47EA-9DCD-E6DA5812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81350"/>
            <a:ext cx="5000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6E6E5E-E74F-43C8-87FC-6EBE1330D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813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Điểm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1E7EE6-AF61-41F7-99AB-32FDF1DE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623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Có hit là 1, không hit là 0. Không phân biệt rank 1 và 20.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EBEDE6-EBE5-4A42-BC17-4892296C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52850"/>
            <a:ext cx="5000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1F3FD1-B6D5-485E-9132-5EA1C45B9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528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Vai trò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E163FC-5A26-4FCE-A9AC-9BEC3A76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338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Dễ hiểu, nhưng phải đi cùng NDCG để không bỏ qua thứ tự.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94AC10-B902-4AE5-BAC9-5A4420DE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324350"/>
            <a:ext cx="50006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73C77-175B-453A-A2CA-CD01572A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243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Evaluator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357B32-EB05-460F-865A-91F62CFA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505325"/>
            <a:ext cx="3381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Xếp hạng exact trên toàn bộ training catalog hợp lệ, không sampled ranking.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B62C401-0021-4465-8BF5-9D2EF4A7A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9675"/>
            <a:ext cx="5000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0C728-C714-4F1E-AC64-F784DFBDD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124450"/>
            <a:ext cx="4714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 và Recall đo ranking target, chưa nói gì về đa dạng hay nghĩa của item.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C05ECE-E41A-4048-8F79-12FBD79B6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076566-0C7C-43A2-9AF1-A3270C79D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NDCG ưu tiên thứ hạng sớm; Recall trả lời trực tiếp tỷ lệ tìm được target</a:t>
            </a:r>
          </a:p>
        </p:txBody>
      </p:sp>
    </p:spTree>
    <p:extLst>
      <p:ext uri="{BB962C8B-B14F-4D97-AF65-F5344CB8AC3E}">
        <p14:creationId xmlns:p14="http://schemas.microsoft.com/office/powerpoint/2010/main" val="16922600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D17FF2-4999-420C-A5E3-EAE19906E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07 / METRIC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4E030-66C6-485E-AE51-6828DC0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Coverage, cohort và semantic diversity là ba khái niệm khác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D21162-693A-43CB-A39A-A5E89D2BC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C35239-D8A9-454A-BF13-0413D0562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data_story_summary.json; THESIS_REPORT_vn.md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9EDB01-FE24-45AF-AFBA-9C7882D7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coverage đo độ rộng catalog; exposure đo phân bổ slot; semantic diversity cần metadata.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223ABD-0E38-4103-9EDF-2223236EB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12B524-1F5D-4759-92FD-ACE76D11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287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Catalog Coverage@20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727CA0-EAF8-406A-8D9D-D9A56082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287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Bao nhiêu item khác nhau xuất hiện trong mọi top-20 list?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92851D-0CD7-41C6-B429-63487CC3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287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Phát hiện catalog collapse; không nói item có giống nhau về nghĩa hay không.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3E174F-EEF8-4DE1-AB00-75BC6085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526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B98273-B1F9-46A9-AFB6-321B8C018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812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Exposure và hit theo cohort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E23620-C59D-4D98-AC76-65CB40EE9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812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Các slot và hit thuộc head, body hay tail?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680EEE-86A1-4D7E-BEFD-AE10456F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3812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Kiểm tra phân bổ popularity và target relevance theo nhóm.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5065EF-881A-439C-A6A8-7D62D4C35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051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54FE05-3C4F-49E1-8310-3F72BA75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Semantic match/diversity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3451F3-B615-467A-8E31-5BF5236DC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337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Sản phẩm có giống nghĩa, khác category hay hợp sở thích không?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5C5519-141A-481A-A0C4-B0BFCAED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3337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Không đo được: file chính chỉ có ID, rating và thời gian; không có text/category/embedding.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80996B-7656-4657-AFA0-45C291A4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576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8BF81A-E861-4CFF-8B94-D18845091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0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Time và GPU memory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C91E67-FABA-4E8A-A61E-54C5A7047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286250"/>
            <a:ext cx="3524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Mất bao lâu, dùng bộ nhớ đỉnh bao nhiêu?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C8DB2D-7A28-442D-8C3C-01C6B17BA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86250"/>
            <a:ext cx="390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Đọc trade-off, vì sampler tốt hơn một chút nhưng quá chậm chưa chắc đáng dùng.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5364B2-BCBA-432D-92EB-5873CFE4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81625"/>
            <a:ext cx="107823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11EA4A-9326-4C5F-91C6-CE49C45D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825"/>
            <a:ext cx="1038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Vì vậy không dùng một chữ “đa dạng” chung chung: phải nói rõ đa dạng catalog, phân bổ popularity hay đa dạng ngữ nghĩa.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25D181-B9B0-41A9-982A-D7A667DB8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9120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C3FEF-6AB3-4A02-80F3-92A68FBD1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67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 có thể đổi phân bổ context, nhưng điều đó chỉ có giá trị nếu target ranking hoặc trade-off cải thiện</a:t>
            </a:r>
          </a:p>
        </p:txBody>
      </p:sp>
    </p:spTree>
    <p:extLst>
      <p:ext uri="{BB962C8B-B14F-4D97-AF65-F5344CB8AC3E}">
        <p14:creationId xmlns:p14="http://schemas.microsoft.com/office/powerpoint/2010/main" val="99112364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CA15CB-9E98-4299-B8AB-9FE41BE1A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08 / THIẾT KẾ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3D12B8-D87F-4A2A-95B5-8A590A85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Đi từ sanity gate đến matched sampler rồi paired validation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93EDC3-A1A4-42FF-BCD5-BA23745D3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0701B1-F259-488D-8D49-D90BACB9D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configs/*.json; PHASE2_RESEARCH_PLAN_vn.md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0BD556-7DDF-41C2-A4F8-947FC59A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sanity gate kiểm tra pipeline bằng baseline trước khi so sánh sampler.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E296F6-4F54-4CE1-9083-5AAD48EE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514350" y="1381125"/>
          <a:ext xmlns:a="http://schemas.openxmlformats.org/drawingml/2006/main" cx="111633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2381250"/>
                <a:gridCol w="3810000"/>
                <a:gridCol w="3448050"/>
              </a:tblGrid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Mã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Vai trò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Điều thay đổi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Mục đích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MostPop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Sanity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Không học embedding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Kiểm split / evaluator / popularity failure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BPR-MF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Sanity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Pairwise ranking, không message passing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Kiểm đường train và coverage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Full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Backbone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Full-graph LightGCN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Mốc feasibility cho message passing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M0</a:t>
                      </a:r>
                    </a:p>
                  </a:txBody>
                  <a:tcPr marL="76200" marR="76200" marT="57150" marB="57150"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Matched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Uniform không hoàn lại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Đối chứng sampling đơn giản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M1</a:t>
                      </a:r>
                    </a:p>
                  </a:txBody>
                  <a:tcPr marL="76200" marR="76200" marT="57150" marB="57150">
                    <a:solidFill>
                      <a:srgbClr val="E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Matched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Degree-aware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Static reference mạnh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48305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M2</a:t>
                      </a:r>
                    </a:p>
                  </a:txBody>
                  <a:tcPr marL="76200" marR="76200" marT="57150" marB="57150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Proposed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Frontier / √degree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Task-conditioned candidate đã khóa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2394AA-070A-4884-8046-3F4420F4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00625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MATCHED CONTRACT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F3B45F-EB61-41E5-9FC1-265FBC96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53000"/>
            <a:ext cx="9144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5 epoch • 300 optimizer step • batch 65.536 • kₗ = 65.536 × 3 lớp • 58.982.400 context slot • Tesla T4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A9DC6B-407D-4204-BE0B-9FC5A54FC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2127ED-0E82-4308-BF0D-58FDBCDAD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Trong từng paired seed, init embedding, pair order và negative draw khớp giữa M0–M1–M2</a:t>
            </a:r>
          </a:p>
        </p:txBody>
      </p:sp>
    </p:spTree>
    <p:extLst>
      <p:ext uri="{BB962C8B-B14F-4D97-AF65-F5344CB8AC3E}">
        <p14:creationId xmlns:p14="http://schemas.microsoft.com/office/powerpoint/2010/main" val="64226021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608962-0417-47E2-AA73-4F070C68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09 / BASELINES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EFF515-7194-4739-9575-9E13E6F6E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Baseline cho thấy accuracy, coverage và popularity không đi cùng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91226-8290-49D7-952D-1BB8B638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766AB1-413C-46F0-9402-E03ACCF3F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mostpop / bpr_mf / full_lightgcn validation summaries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531036-F406-4FA3-A666-249C15053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MostPop chọn item phổ biến; BPR-MF là matrix factorization; Full dùng LightGCN không sampling.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A0EE6D-69A8-4B6A-A417-D7FD87A6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14350" y="1476375"/>
          <a:ext xmlns:a="http://schemas.openxmlformats.org/drawingml/2006/main" cx="6000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8e310419f044105"/>
          </a:graphicData>
        </a:graphic>
      </p:graphicFrame>
      <p:graphicFrame>
        <p:nvGraphicFramePr>
          <p:cNvPr id="24" name="Chart"/>
          <p:cNvGraphicFramePr/>
          <p:nvPr/>
        </p:nvGraphicFramePr>
        <p:xfrm>
          <a:off xmlns:a="http://schemas.openxmlformats.org/drawingml/2006/main" x="6858000" y="1476375"/>
          <a:ext xmlns:a="http://schemas.openxmlformats.org/drawingml/2006/main" cx="4476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862a33bf854400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5B3C65-1EAD-49DF-B17F-DC70F17F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05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MostPop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519A96-F867-4ADB-A3E8-9C46E8752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867275"/>
            <a:ext cx="252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1.195 hit • 25 item • 100% head exposure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1B5AE-FE2F-47F3-AF07-8C161A0D2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05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BPR-MF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3C2D5D-9A92-48D2-9ABC-08F95460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867275"/>
            <a:ext cx="252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853 hit • 5.434 item • 23 body hit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EB860EE-FD45-42F0-8ED1-7EC1D59E0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905375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7157D9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7157D9"/>
                </a:solidFill>
                <a:latin typeface="Arial"/>
                <a:ea typeface="Arial"/>
                <a:cs typeface="Arial"/>
              </a:rPr>
              <a:t>Full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FA544B-8D7D-48A5-9F92-44C3A6E1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67275"/>
            <a:ext cx="2524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1.013 hit • 1.032 item • 1.012/1.013 hit thuộc head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673E1CC-E581-449F-BA21-6CC6B26E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9BF13C-5E7F-40EC-A546-40407A6F3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Không gọi baseline nào là ‘tối ưu’: đây là các sanity gate cố định, chưa tuning</a:t>
            </a:r>
          </a:p>
        </p:txBody>
      </p:sp>
    </p:spTree>
    <p:extLst>
      <p:ext uri="{BB962C8B-B14F-4D97-AF65-F5344CB8AC3E}">
        <p14:creationId xmlns:p14="http://schemas.microsoft.com/office/powerpoint/2010/main" val="154358504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264ABB-BE78-48B3-BC36-4B950C5B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10 / THIẾT KẾ SO SÁNH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80C02-FE67-4BA1-9BE8-230C0F6B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 không phải tên model: M0, M1, M2 là ba cách chọn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CD4DD3-42E2-47F7-B2BD-2F651C18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DA4F83-77C4-47FA-B77B-C6CAF1F7D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configs M0/M1/M2; protocol audit; THESIS_REPORT_vn.md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FC0F46-0ECA-4B49-94CD-6335FF6A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M là method label; BPR là loss xếp positive cao hơn negative; budget là số mẫu tối đa mỗi layer.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BDF060-DA92-453C-8EDC-9D2C107C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DFE4D6-4349-43EC-8EB6-4A628CA8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33500"/>
            <a:ext cx="111633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6F9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0B36A6-ACD8-494F-B1FB-D19810E61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07156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Cùng một LightGCN được huấn luyện trên cùng graph. M chỉ cho biết quy tắc sampler dùng để chọn các node và edge lân cận mà model nhìn thấy trong batch.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40EA5-9B3A-4673-8084-D979E005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GIỮ CỐ ĐỊNH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E76768-3072-4EB6-9A5C-3DA7BA17E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336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Baby P4 graph, LightGCN 3 layer, BPR, training pair, negative draw, 5 epoch / 300 step, budget [65.536, 65.536, 65.536], seed, evaluator và GPU.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8C9805-980D-47F1-AED7-9C448B4A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66950"/>
            <a:ext cx="2095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CHỈ THAY ĐỔI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8FCA9F-C1C4-4943-85B9-481C4F3E2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33650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Quy tắc chọn hàng xóm. Vì vậy so sánh M0–M2 trả lời: context nào đáng đưa vào propagation hơn?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9D821-778B-45D9-B63B-B20D9CD2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81375"/>
            <a:ext cx="3381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D97CE5-9E6E-46F2-B90E-54EF7B19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210CE2-5C31-4892-9282-DF333B60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099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Bốc thăm đều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D79451-3E32-4322-AE05-9A69A816C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5287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Mỗi hàng xóm có cơ hội như nhau. Đây là đối chứng trung tính: random context tự nó đạt mức nào?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CAE40A-21E4-4044-A451-ABC97F2AE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381375"/>
            <a:ext cx="3381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F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D02840-6964-41EA-A4D1-515DD6DF7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623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M1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E2E588-D62A-4263-824D-ECC2A072A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6825" y="36099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Ưu tiên degree cao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B9DC13-BCB9-4CE3-8A83-AB9787A3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5287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Node có nhiều tương tác trong training graph được ưu tiên. Câu hỏi: tín hiệu phổ biến, ổn định có giúp ranking không?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87BA747-091B-454B-BC5E-AE7E8074D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381375"/>
            <a:ext cx="3381375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6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DD14901-23A3-44C3-907B-833A09BF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17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M2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F6E95E-96D1-43EE-AAE5-8F68C8CED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6099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Ưu tiên frontier, phạt hub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E7A1655-B888-4D78-B915-74FFEA928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52875"/>
            <a:ext cx="30289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Ưu tiên node đang nối với frontier của layer trước, đồng thời giảm trọng số hub. Câu hỏi: context cục bộ có liên quan hơn không?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7E3417-300D-49BF-B8C1-F1FED2824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67300"/>
            <a:ext cx="1057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1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626C7A"/>
                </a:solidFill>
                <a:latin typeface="Arial"/>
                <a:ea typeface="Arial"/>
                <a:cs typeface="Arial"/>
              </a:rPr>
              <a:t>Frontier = các node ở layer trước đang cần hàng xóm để tiếp tục truyền thông tin. Đây là biến kỹ thuật của sampler, không phải một metric.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2B7ABD-ACC9-4ACC-B307-5B68EBC3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60ADD78-ECC5-49EF-8C47-F0340236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Đừng đọc M0, M1, M2 như ba kiến trúc khác nhau: đó là ba chính sách chọn context trong cùng một kiến trúc</a:t>
            </a:r>
          </a:p>
        </p:txBody>
      </p:sp>
    </p:spTree>
    <p:extLst>
      <p:ext uri="{BB962C8B-B14F-4D97-AF65-F5344CB8AC3E}">
        <p14:creationId xmlns:p14="http://schemas.microsoft.com/office/powerpoint/2010/main" val="200530312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55A69A-AA57-4FF6-9E9B-C7E1C688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11 / SAMPLERS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C886BA-B3AA-4CB1-8DE3-54979AB0D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Dấu vết context cho thấy mỗi chính sách thực sự chọn khác nhau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01078D-A7C0-47C5-8342-47DBD372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48AF23-0363-4E4A-A23E-BC9CF7EE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M0/M1/M2 configs và full validation traces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91D02A-ABAD-4649-A033-B90A2584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Gumbel tạo nhiễu ngẫu nhiên khi chọn; hub là node degree cao; frontier là node ở layer trước.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308525-1A50-4DE7-B245-02E8E58B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514350" y="1428750"/>
          <a:ext xmlns:a="http://schemas.openxmlformats.org/drawingml/2006/main" cx="111633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43000"/>
                <a:gridCol w="2857500"/>
                <a:gridCol w="3143250"/>
                <a:gridCol w="4019550"/>
              </a:tblGrid>
              <a:tr h="6667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Method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Priority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Ý định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Điều quan sát ở s0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3E8BFF"/>
                          </a:solidFill>
                          <a:latin typeface="Arial"/>
                          <a:ea typeface="Arial"/>
                          <a:cs typeface="Arial"/>
                        </a:rPr>
                        <a:t>M0</a:t>
                      </a:r>
                    </a:p>
                  </a:txBody>
                  <a:tcPr marL="76200" marR="76200" marT="57150" marB="57150"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Uniform + Gumbel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Chọn ngẫu nhiên không hoàn lại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60,52% item-context ở tail; coverage cao nhất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CA47B"/>
                          </a:solidFill>
                          <a:latin typeface="Arial"/>
                          <a:ea typeface="Arial"/>
                          <a:cs typeface="Arial"/>
                        </a:rPr>
                        <a:t>M1</a:t>
                      </a:r>
                    </a:p>
                  </a:txBody>
                  <a:tcPr marL="76200" marR="76200" marT="57150" marB="57150">
                    <a:solidFill>
                      <a:srgbClr val="E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log(degree) + Gumbel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Ưu tiên node có nhiều tương tác trong training graph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68,29% item-context ở body; mean quality cao nhất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4A24C"/>
                          </a:solidFill>
                          <a:latin typeface="Arial"/>
                          <a:ea typeface="Arial"/>
                          <a:cs typeface="Arial"/>
                        </a:rPr>
                        <a:t>M2</a:t>
                      </a:r>
                    </a:p>
                  </a:txBody>
                  <a:tcPr marL="76200" marR="76200" marT="57150" marB="57150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frontier support và penalty degree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Ưu tiên node nối với frontier hiện tại, đồng thời giảm ưu tiên hub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68,60% item-context ở tail; tail hit vẫn bằng 0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B6F9A-B1DF-4F66-9DD6-F7DF39FBB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44817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STRUCTURAL EFFECT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55E07B-8AC8-40FF-A815-C30DEA61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1487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dùng ít directed block entry hơn M1 11,97% nhưng sampler vẫn chậm hơn 45,14 s ở s0 vì phải tính frontier support.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3E1409-49B8-416A-8498-E6361E8F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71975"/>
            <a:ext cx="2571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D65555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D65555"/>
                </a:solidFill>
                <a:latin typeface="Arial"/>
                <a:ea typeface="Arial"/>
                <a:cs typeface="Arial"/>
              </a:rPr>
              <a:t>SAMPLER SHARE M0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37C98D-F40E-4EC5-94B4-D475350F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552950"/>
            <a:ext cx="2571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84,04%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620C9B-B3B0-4C7F-B04D-2DFBD5689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9434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592,79 / 705,32 giây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D64280-86D3-492D-B668-51CD3A4F5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95B6FD-440D-4C3B-88FA-6F8F5F45A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M2 thay đổi context theo chủ đích, nhưng thay đổi đó chưa biến thành ranking gain</a:t>
            </a:r>
          </a:p>
        </p:txBody>
      </p:sp>
    </p:spTree>
    <p:extLst>
      <p:ext uri="{BB962C8B-B14F-4D97-AF65-F5344CB8AC3E}">
        <p14:creationId xmlns:p14="http://schemas.microsoft.com/office/powerpoint/2010/main" val="149653168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A26FD0-69FC-4335-8B44-B7C365B3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11 / MATCHED S0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D894AA-6C8F-4DAC-85CB-A5FA56290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Ở seed đầu, M1 tốt hơn M2 về ranking và thời gian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CDCB86-9449-4BB2-BD45-F2EE70CCE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BCB5DC-93F2-4A17-ACE7-9642261B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uniform / degree-aware / frontier-normalized validation summaries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981EFE-E43C-4C7A-A1F3-0EE1CD3B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seed là trạng thái ngẫu nhiên ban đầu; paired giữ cùng seed và negative draw giữa các method.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18DBF-6D1D-4AE0-BD2E-8C572D7C8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14350" y="1476375"/>
          <a:ext xmlns:a="http://schemas.openxmlformats.org/drawingml/2006/main" cx="6096000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707042ab6b94bd5"/>
          </a:graphicData>
        </a:graphic>
      </p:graphicFrame>
      <p:graphicFrame>
        <p:nvGraphicFramePr>
          <p:cNvPr id="21" name="Chart"/>
          <p:cNvGraphicFramePr/>
          <p:nvPr/>
        </p:nvGraphicFramePr>
        <p:xfrm>
          <a:off xmlns:a="http://schemas.openxmlformats.org/drawingml/2006/main" x="7000875" y="1476375"/>
          <a:ext xmlns:a="http://schemas.openxmlformats.org/drawingml/2006/main" cx="433387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b689387916c431d"/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720B8B-2531-438A-930B-1CE0F4B6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05375"/>
            <a:ext cx="1190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M2 − M1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800F03-4133-4201-B227-DBED5C82D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196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NDCG giảm 3,78%. Recall giảm 4,20%. Training tăng 9,25%; chỉ thêm 13 item unique.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5E404E-6D64-4F19-865E-60A218172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905375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Peak GPU: M0 3.483 MB, M1 2.665 MB, M2 2.669 MB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0AC904-9E19-4679-BF3D-7AA75EB2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62D21F-F5E1-4234-B525-456ADEA5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Body hit 25/25/25; tail hit 0/0/0 — quality gain của M1 đến từ head</a:t>
            </a:r>
          </a:p>
        </p:txBody>
      </p:sp>
    </p:spTree>
    <p:extLst>
      <p:ext uri="{BB962C8B-B14F-4D97-AF65-F5344CB8AC3E}">
        <p14:creationId xmlns:p14="http://schemas.microsoft.com/office/powerpoint/2010/main" val="927392051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3F5AC21-4EE4-45AB-8FC8-E791200F4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12 / PAIRED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56FAAF-F53C-44AF-9EBF-26EC74D5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thấp hơn M1 về quality ở cả ba validation seed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02E5BB-7677-4DD6-8C24-D8F64A43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689B9-708C-46A1-97C0-7BAB095C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paired_sampling_validation_summary.json + six rank vectors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B34DEB-951B-4CC6-84FF-53F4790AC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mean là trung bình seed; SD là độ dao động mẫu; ba seed chưa đủ để kết luận significance.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083A95-A0AE-4D3B-B26A-64206F581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14350" y="1428750"/>
          <a:ext xmlns:a="http://schemas.openxmlformats.org/drawingml/2006/main" cx="695325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4883f11e65c4e6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90A529-7B88-4011-83B9-754849010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428750"/>
            <a:ext cx="3333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MEAN NDCG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8D383F-82D2-48A5-B922-FEB338EC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60972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M1 0,005866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5B076D-590A-4D32-8881-C777BA8A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M2 0,005721, thấp hơn 2,47%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7409FA-DEFB-49E2-82D3-2D24CBF6B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52700"/>
            <a:ext cx="3333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MEAN RECALL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59CE38-00A7-4DD2-97C1-847F14A0F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73367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M1 0,015296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F255B4-29B8-4607-92E7-1F65C4299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1242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M2 0,014873, thấp hơn 2,77%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345C7E-B1F5-4CD0-9BCA-F8378F91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676650"/>
            <a:ext cx="33337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F4A24C"/>
                </a:solidFill>
                <a:latin typeface="Arial"/>
                <a:ea typeface="Arial"/>
                <a:cs typeface="Arial"/>
              </a:defRPr>
            </a:pPr>
            <a:r>
              <a:rPr sz="825" b="1" i="0">
                <a:solidFill>
                  <a:srgbClr val="F4A24C"/>
                </a:solidFill>
                <a:latin typeface="Arial"/>
                <a:ea typeface="Arial"/>
                <a:cs typeface="Arial"/>
              </a:rPr>
              <a:t>HAI REPEAT MỚI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C72D2C-EBD6-48F2-BC2A-37C2D818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857625"/>
            <a:ext cx="33337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1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+14,36% time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EACFFA-4068-43A4-8171-C79E5A47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4815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M2 914,95 s vs M1 800,07 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751DDA-AD6F-4473-A90B-E52ABF0D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48250"/>
            <a:ext cx="10715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27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M2 thấp hơn M1 ở 3/3 seed. M1 không thắng M0 ở mọi seed nên không có claim significance hay superiority phổ quát.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CC9445-EC38-4709-925A-7B380656F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62625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C530AE-09EE-4B69-80C0-A227B458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38825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Kết luận hẹp: M2 không tạo đánh đổi ranking và chi phí tốt hơn M1 ở budget đã khóa</a:t>
            </a:r>
          </a:p>
        </p:txBody>
      </p:sp>
    </p:spTree>
    <p:extLst>
      <p:ext uri="{BB962C8B-B14F-4D97-AF65-F5344CB8AC3E}">
        <p14:creationId xmlns:p14="http://schemas.microsoft.com/office/powerpoint/2010/main" val="165331304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B2C7D-D1A9-4C47-BB79-8CE664E6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14 / KẾT LUẬN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918462-37CD-4A47-AA6D-DF71DA00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05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2325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Kết luận và bước tiếp theo có điều kiện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16D40A-209C-4018-BA7C-2F4118E5A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960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2E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660B6-3E98-43D9-8253-E3D4040C4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81750"/>
            <a:ext cx="1000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Nguồn: paired_sampling_validation_summary.json; THESIS_REPORT_vn.md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5E94E-3D3B-4C65-8466-73C76AF6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10668000" cy="11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1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675" b="0" i="1">
                <a:solidFill>
                  <a:srgbClr val="8C96A5"/>
                </a:solidFill>
                <a:latin typeface="Arial"/>
                <a:ea typeface="Arial"/>
                <a:cs typeface="Arial"/>
              </a:rPr>
              <a:t>Hiểu nhanh: validation dùng để chọn quyết định; test chưa đọc nên không dùng để kết luận.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1D073E-1844-4AE3-B32C-B1BEC498B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75" y="6372225"/>
            <a:ext cx="476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 i="0">
                <a:solidFill>
                  <a:srgbClr val="8C96A5"/>
                </a:solidFill>
                <a:latin typeface="Arial"/>
                <a:ea typeface="Arial"/>
                <a:cs typeface="Arial"/>
              </a:defRPr>
            </a:pPr>
            <a:r>
              <a:rPr sz="750" b="0" i="0">
                <a:solidFill>
                  <a:srgbClr val="8C96A5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514350" y="1381125"/>
          <a:ext xmlns:a="http://schemas.openxmlformats.org/drawingml/2006/main" cx="111633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09750"/>
                <a:gridCol w="4286250"/>
                <a:gridCol w="5067300"/>
              </a:tblGrid>
              <a:tr h="609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Trạng thái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Kết luận hoặc hành động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Lý do</a:t>
                      </a:r>
                    </a:p>
                  </a:txBody>
                  <a:tcPr marL="76200" marR="76200" marT="57150" marB="57150">
                    <a:solidFill>
                      <a:srgbClr val="111317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KẾT LUẬN</a:t>
                      </a:r>
                    </a:p>
                  </a:txBody>
                  <a:tcPr marL="76200" marR="76200" marT="57150" marB="57150">
                    <a:solidFill>
                      <a:srgbClr val="FFF3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Không chọn M2 thay M1 ở budget đã khóa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M2 thấp hơn M1 ở NDCG và Recall trong cả 3 validation seed, đồng thời chậm hơn ở hai repeat mới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KHÓA</a:t>
                      </a:r>
                    </a:p>
                  </a:txBody>
                  <a:tcPr marL="76200" marR="76200" marT="57150" marB="57150">
                    <a:solidFill>
                      <a:srgbClr val="EAF7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Không mở thêm sampler chỉ để đuổi validation score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Giữ được tính đối chứng sau khi đã quan sát kết quả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BÁO CÁO</a:t>
                      </a:r>
                    </a:p>
                  </a:txBody>
                  <a:tcPr marL="76200" marR="76200" marT="57150" marB="57150">
                    <a:solidFill>
                      <a:srgbClr val="EAF3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Trình bày kết quả validation và failure analysis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Test target chưa đọc, không có quyền gọi đó là final test result</a:t>
                      </a:r>
                    </a:p>
                  </a:txBody>
                  <a:tcPr marL="76200" marR="76200" marT="57150" marB="57150">
                    <a:solidFill>
                      <a:srgbClr val="FFFFFF"/>
                    </a:solidFill>
                  </a:tcPr>
                </a:tc>
              </a:tr>
              <a:tr h="60960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MỞ RỘNG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Nếu cần generalization, pre-register một benchmark ngoài Amazon trước khi chạy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11317"/>
                          </a:solidFill>
                          <a:latin typeface="Arial"/>
                          <a:ea typeface="Arial"/>
                          <a:cs typeface="Arial"/>
                        </a:rPr>
                        <a:t>Yelp2018 hoặc Gowalla phù hợp Graph-CF; không trộn chúng với kết luận hiện tại</a:t>
                      </a:r>
                    </a:p>
                  </a:txBody>
                  <a:tcPr marL="76200" marR="76200" marT="57150" marB="57150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9E37D7-B57F-4238-A3CA-EEF9FCE28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24400"/>
            <a:ext cx="2762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90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ĐÓNG GÓP CÓ THỂ BẢO VỆ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E1E6A-6261-4793-B466-2E94CECF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91100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11317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11317"/>
                </a:solidFill>
                <a:latin typeface="Arial"/>
                <a:ea typeface="Arial"/>
                <a:cs typeface="Arial"/>
              </a:rPr>
              <a:t>Audit có truy vết, protocol đối chứng, evaluator exact và failure analysis cho một kết quả âm được lặp lại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C2A6D4-264C-4E1F-A169-0E9C7C10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86300"/>
            <a:ext cx="1714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2250" b="1" i="0">
                <a:solidFill>
                  <a:srgbClr val="2CA47B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2CA47B"/>
                </a:solidFill>
                <a:latin typeface="Arial"/>
                <a:ea typeface="Arial"/>
                <a:cs typeface="Arial"/>
              </a:rPr>
              <a:t>85/85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922CE1-733A-4EF5-82B6-4BAE39C71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0673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artifact checks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15F4C8-697B-473A-968F-577FAEB84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276850"/>
            <a:ext cx="171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800" b="1" i="0">
                <a:solidFill>
                  <a:srgbClr val="3E8BFF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3E8BFF"/>
                </a:solidFill>
                <a:latin typeface="Arial"/>
                <a:ea typeface="Arial"/>
                <a:cs typeface="Arial"/>
              </a:rPr>
              <a:t>96/96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7EC62E-8F73-4046-98D6-02DD3E3CF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626C7A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626C7A"/>
                </a:solidFill>
                <a:latin typeface="Arial"/>
                <a:ea typeface="Arial"/>
                <a:cs typeface="Arial"/>
              </a:rPr>
              <a:t>project tests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4C6824-6671-4041-8BD2-FCF69FD4D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829300"/>
            <a:ext cx="11163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317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A7D253-D1B1-4814-BF5C-454E6090B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Sampler phức tạp hơn không tự động tạo recommendation tốt hơn</a:t>
            </a:r>
          </a:p>
        </p:txBody>
      </p:sp>
    </p:spTree>
    <p:extLst>
      <p:ext uri="{BB962C8B-B14F-4D97-AF65-F5344CB8AC3E}">
        <p14:creationId xmlns:p14="http://schemas.microsoft.com/office/powerpoint/2010/main" val="118808170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2026-09-16T16:05:47.7510000Z</dcterms:created>
  <dcterms:modified xsi:type="dcterms:W3CDTF">2026-09-16T16:05:47.7510000Z</dcterms:modified>
</coreProperties>
</file>