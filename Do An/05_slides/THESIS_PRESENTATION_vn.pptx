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6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1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e92ce205f24694" /><Relationship Type="http://schemas.openxmlformats.org/officeDocument/2006/relationships/extended-properties" Target="/docProps/app.xml" Id="R48597b48fc1841a8" /><Relationship Type="http://schemas.openxmlformats.org/officeDocument/2006/relationships/officeDocument" Target="/ppt/presentation.xml" Id="R3b062e201d864f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85a36fe1d544c0"/>
  </p:sldMasterIdLst>
  <p:notesMasterIdLst>
    <p:notesMasterId xmlns:r="http://schemas.openxmlformats.org/officeDocument/2006/relationships" r:id="R771b6f7de7b54fd9"/>
  </p:notesMasterIdLst>
  <p:sldIdLst>
    <p:sldId xmlns:r="http://schemas.openxmlformats.org/officeDocument/2006/relationships" id="256" r:id="Rdca5685c85e04819"/>
    <p:sldId xmlns:r="http://schemas.openxmlformats.org/officeDocument/2006/relationships" id="257" r:id="R6a98b227744b4ac1"/>
    <p:sldId xmlns:r="http://schemas.openxmlformats.org/officeDocument/2006/relationships" id="258" r:id="R76f38cbd418b4c27"/>
    <p:sldId xmlns:r="http://schemas.openxmlformats.org/officeDocument/2006/relationships" id="259" r:id="R16247fad6dc54fcd"/>
    <p:sldId xmlns:r="http://schemas.openxmlformats.org/officeDocument/2006/relationships" id="260" r:id="R950e264566c44c2b"/>
    <p:sldId xmlns:r="http://schemas.openxmlformats.org/officeDocument/2006/relationships" id="261" r:id="Ra29f8b83574b41b5"/>
    <p:sldId xmlns:r="http://schemas.openxmlformats.org/officeDocument/2006/relationships" id="262" r:id="Rbfc82d39d1be4e28"/>
    <p:sldId xmlns:r="http://schemas.openxmlformats.org/officeDocument/2006/relationships" id="263" r:id="R648bc74afc114106"/>
    <p:sldId xmlns:r="http://schemas.openxmlformats.org/officeDocument/2006/relationships" id="264" r:id="Rc342b20d866c4c56"/>
    <p:sldId xmlns:r="http://schemas.openxmlformats.org/officeDocument/2006/relationships" id="265" r:id="R67fb6578a73a4f0e"/>
    <p:sldId xmlns:r="http://schemas.openxmlformats.org/officeDocument/2006/relationships" id="266" r:id="R1994b09570f6453f"/>
    <p:sldId xmlns:r="http://schemas.openxmlformats.org/officeDocument/2006/relationships" id="267" r:id="Rf8b9574f074c4ab9"/>
    <p:sldId xmlns:r="http://schemas.openxmlformats.org/officeDocument/2006/relationships" id="268" r:id="R240533f3e2b048a6"/>
    <p:sldId xmlns:r="http://schemas.openxmlformats.org/officeDocument/2006/relationships" id="269" r:id="R4d3128bb9a854a58"/>
    <p:sldId xmlns:r="http://schemas.openxmlformats.org/officeDocument/2006/relationships" id="270" r:id="Ree2fcf2c4b4f46d4"/>
    <p:sldId xmlns:r="http://schemas.openxmlformats.org/officeDocument/2006/relationships" id="271" r:id="R31afd6b06c044da1"/>
    <p:sldId xmlns:r="http://schemas.openxmlformats.org/officeDocument/2006/relationships" id="272" r:id="R0929cb25a1474317"/>
    <p:sldId xmlns:r="http://schemas.openxmlformats.org/officeDocument/2006/relationships" id="273" r:id="Re7799a49d4e442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82fd02cc3b43fe" /><Relationship Type="http://schemas.openxmlformats.org/officeDocument/2006/relationships/slideMaster" Target="/ppt/slideMasters/slideMaster1.xml" Id="Rb885a36fe1d544c0" /><Relationship Type="http://schemas.openxmlformats.org/officeDocument/2006/relationships/notesMaster" Target="/ppt/notesMasters/notesMaster1.xml" Id="R771b6f7de7b54fd9" /><Relationship Type="http://schemas.openxmlformats.org/officeDocument/2006/relationships/presProps" Target="/ppt/presProps.xml" Id="R27cfb7e913164fb3" /><Relationship Type="http://schemas.openxmlformats.org/officeDocument/2006/relationships/tableStyles" Target="/ppt/tableStyles.xml" Id="R8ba7f8c2de044123" /><Relationship Type="http://schemas.openxmlformats.org/officeDocument/2006/relationships/slide" Target="/ppt/slides/slide1.xml" Id="Rdca5685c85e04819" /><Relationship Type="http://schemas.openxmlformats.org/officeDocument/2006/relationships/slide" Target="/ppt/slides/slide2.xml" Id="R6a98b227744b4ac1" /><Relationship Type="http://schemas.openxmlformats.org/officeDocument/2006/relationships/slide" Target="/ppt/slides/slide3.xml" Id="R76f38cbd418b4c27" /><Relationship Type="http://schemas.openxmlformats.org/officeDocument/2006/relationships/slide" Target="/ppt/slides/slide4.xml" Id="R16247fad6dc54fcd" /><Relationship Type="http://schemas.openxmlformats.org/officeDocument/2006/relationships/slide" Target="/ppt/slides/slide5.xml" Id="R950e264566c44c2b" /><Relationship Type="http://schemas.openxmlformats.org/officeDocument/2006/relationships/slide" Target="/ppt/slides/slide6.xml" Id="Ra29f8b83574b41b5" /><Relationship Type="http://schemas.openxmlformats.org/officeDocument/2006/relationships/slide" Target="/ppt/slides/slide7.xml" Id="Rbfc82d39d1be4e28" /><Relationship Type="http://schemas.openxmlformats.org/officeDocument/2006/relationships/slide" Target="/ppt/slides/slide8.xml" Id="R648bc74afc114106" /><Relationship Type="http://schemas.openxmlformats.org/officeDocument/2006/relationships/slide" Target="/ppt/slides/slide9.xml" Id="Rc342b20d866c4c56" /><Relationship Type="http://schemas.openxmlformats.org/officeDocument/2006/relationships/slide" Target="/ppt/slides/slide10.xml" Id="R67fb6578a73a4f0e" /><Relationship Type="http://schemas.openxmlformats.org/officeDocument/2006/relationships/slide" Target="/ppt/slides/slide11.xml" Id="R1994b09570f6453f" /><Relationship Type="http://schemas.openxmlformats.org/officeDocument/2006/relationships/slide" Target="/ppt/slides/slide12.xml" Id="Rf8b9574f074c4ab9" /><Relationship Type="http://schemas.openxmlformats.org/officeDocument/2006/relationships/slide" Target="/ppt/slides/slide13.xml" Id="R240533f3e2b048a6" /><Relationship Type="http://schemas.openxmlformats.org/officeDocument/2006/relationships/slide" Target="/ppt/slides/slide14.xml" Id="R4d3128bb9a854a58" /><Relationship Type="http://schemas.openxmlformats.org/officeDocument/2006/relationships/slide" Target="/ppt/slides/slide15.xml" Id="Ree2fcf2c4b4f46d4" /><Relationship Type="http://schemas.openxmlformats.org/officeDocument/2006/relationships/slide" Target="/ppt/slides/slide16.xml" Id="R31afd6b06c044da1" /><Relationship Type="http://schemas.openxmlformats.org/officeDocument/2006/relationships/slide" Target="/ppt/slides/slide17.xml" Id="R0929cb25a1474317" /><Relationship Type="http://schemas.openxmlformats.org/officeDocument/2006/relationships/slide" Target="/ppt/slides/slide18.xml" Id="Re7799a49d4e442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7358902f5e45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d556118f7f49b3" /><Relationship Type="http://schemas.openxmlformats.org/officeDocument/2006/relationships/notesMaster" Target="/ppt/notesMasters/notesMaster1.xml" Id="Rc08b81118b0246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c86d89a5404ccb" /><Relationship Type="http://schemas.openxmlformats.org/officeDocument/2006/relationships/notesMaster" Target="/ppt/notesMasters/notesMaster1.xml" Id="R82ca7b84e68443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7cd4621e144135" /><Relationship Type="http://schemas.openxmlformats.org/officeDocument/2006/relationships/notesMaster" Target="/ppt/notesMasters/notesMaster1.xml" Id="R638b681fa88746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044ae9c5da4d26" /><Relationship Type="http://schemas.openxmlformats.org/officeDocument/2006/relationships/notesMaster" Target="/ppt/notesMasters/notesMaster1.xml" Id="R0c999f74862c4b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ef373617d240ab" /><Relationship Type="http://schemas.openxmlformats.org/officeDocument/2006/relationships/notesMaster" Target="/ppt/notesMasters/notesMaster1.xml" Id="Rff05b48da7e14e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c61fe016554f12" /><Relationship Type="http://schemas.openxmlformats.org/officeDocument/2006/relationships/notesMaster" Target="/ppt/notesMasters/notesMaster1.xml" Id="Ra6d6ad97e1304d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277d4bb2b24e26" /><Relationship Type="http://schemas.openxmlformats.org/officeDocument/2006/relationships/notesMaster" Target="/ppt/notesMasters/notesMaster1.xml" Id="R8850c1dff8e648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6fd5aeb7ef45b2" /><Relationship Type="http://schemas.openxmlformats.org/officeDocument/2006/relationships/notesMaster" Target="/ppt/notesMasters/notesMaster1.xml" Id="Rc3cd308aa4b547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1b1542cdc142e4" /><Relationship Type="http://schemas.openxmlformats.org/officeDocument/2006/relationships/notesMaster" Target="/ppt/notesMasters/notesMaster1.xml" Id="R0f0f4d5415a14d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0a6a7a35d349c2" /><Relationship Type="http://schemas.openxmlformats.org/officeDocument/2006/relationships/notesMaster" Target="/ppt/notesMasters/notesMaster1.xml" Id="R99dfac04de8445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c84ec9462a46ed" /><Relationship Type="http://schemas.openxmlformats.org/officeDocument/2006/relationships/notesMaster" Target="/ppt/notesMasters/notesMaster1.xml" Id="R416773b7b4664a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e67a6f02cb4102" /><Relationship Type="http://schemas.openxmlformats.org/officeDocument/2006/relationships/notesMaster" Target="/ppt/notesMasters/notesMaster1.xml" Id="R020606308b0043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97fe4d8957482d" /><Relationship Type="http://schemas.openxmlformats.org/officeDocument/2006/relationships/notesMaster" Target="/ppt/notesMasters/notesMaster1.xml" Id="R6069809ceade46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1469fba1194032" /><Relationship Type="http://schemas.openxmlformats.org/officeDocument/2006/relationships/notesMaster" Target="/ppt/notesMasters/notesMaster1.xml" Id="R33a1b074ddfa4e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5f78c109104108" /><Relationship Type="http://schemas.openxmlformats.org/officeDocument/2006/relationships/notesMaster" Target="/ppt/notesMasters/notesMaster1.xml" Id="R3238511734f646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ed0d56165941e9" /><Relationship Type="http://schemas.openxmlformats.org/officeDocument/2006/relationships/notesMaster" Target="/ppt/notesMasters/notesMaster1.xml" Id="R733f719e9874428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884fb7e8037469d" /><Relationship Type="http://schemas.openxmlformats.org/officeDocument/2006/relationships/notesMaster" Target="/ppt/notesMasters/notesMaster1.xml" Id="R03a6fba65325463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93aecc4b234cf5" /><Relationship Type="http://schemas.openxmlformats.org/officeDocument/2006/relationships/notesMaster" Target="/ppt/notesMasters/notesMaster1.xml" Id="Rf94a8c93699647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Mục tiêu trình bày: tổng hợp toàn bộ chuỗi bằng chứng từ dữ liệu đến quyết định nghiên cứu.</a:t>
            </a:r>
          </a:p>
          <a:p xmlns:a="http://schemas.openxmlformats.org/drawingml/2006/main">
            <a:r>
              <a:t>Nguồn chính: https://amazon-reviews-2023.github.io/</a:t>
            </a:r>
          </a:p>
          <a:p xmlns:a="http://schemas.openxmlformats.org/drawingml/2006/main">
            <a:r>
              <a:t>Nguồn kết quả: Do An/06_code/results/data_story/data_story_summary.json</a:t>
            </a:r>
          </a:p>
          <a:p xmlns:a="http://schemas.openxmlformats.org/drawingml/2006/main">
            <a:r>
              <a:t>Nguồn paired: Do An/06_code/results/paired_sampling_validation/paired_sampling_validation_summary.json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BPR: https://arxiv.org/abs/1205.2618</a:t>
            </a:r>
          </a:p>
          <a:p xmlns:a="http://schemas.openxmlformats.org/drawingml/2006/main">
            <a:r>
              <a:t>LightGCN: https://hexiangnan.github.io/papers/sigir20-LightGCN.pdf</a:t>
            </a:r>
          </a:p>
          <a:p xmlns:a="http://schemas.openxmlformats.org/drawingml/2006/main">
            <a:r>
              <a:t>Phạm vi và protocol: Do An/00_project/PHASE2_RESEARCH_PLAN_vn.md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MovieLens 25M: https://grouplens.org/datasets/movielens/25m/</a:t>
            </a:r>
          </a:p>
          <a:p xmlns:a="http://schemas.openxmlformats.org/drawingml/2006/main">
            <a:r>
              <a:t>LightGCN benchmark context: https://hexiangnan.github.io/papers/sigir20-LightGCN.pdf</a:t>
            </a:r>
          </a:p>
          <a:p xmlns:a="http://schemas.openxmlformats.org/drawingml/2006/main">
            <a:r>
              <a:t>MIND: https://aclanthology.org/2020.acl-main.331/</a:t>
            </a:r>
          </a:p>
          <a:p xmlns:a="http://schemas.openxmlformats.org/drawingml/2006/main">
            <a:r>
              <a:t>KuaiRec: https://arxiv.org/abs/2202.10842</a:t>
            </a:r>
          </a:p>
          <a:p xmlns:a="http://schemas.openxmlformats.org/drawingml/2006/main">
            <a:r>
              <a:t>Không có run/project result nào trên MovieLens, Gowalla, Yelp2018, MIND, hoặc KuaiRec.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All_Beauty raw rows: 693,929. Baby_Products raw rows: 5,953,891. Home_and_Kitchen raw rows: 66,623,880.</a:t>
            </a:r>
          </a:p>
          <a:p xmlns:a="http://schemas.openxmlformats.org/drawingml/2006/main">
            <a:r>
              <a:t>All_Beauty P4 validation warm retention: 3.982%. Baby validation warm retention: 21.9038%.</a:t>
            </a:r>
          </a:p>
          <a:p xmlns:a="http://schemas.openxmlformats.org/drawingml/2006/main">
            <a:r>
              <a:t>Amazon Reviews’23: https://amazon-reviews-2023.github.io/main.html</a:t>
            </a:r>
          </a:p>
          <a:p xmlns:a="http://schemas.openxmlformats.org/drawingml/2006/main">
            <a:r>
              <a:t>Project evidence: Do An/06_code/results/data_story/data_story_summary.json and audit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con số dữ liệu lấy từ data_story_summary.json.</a:t>
            </a:r>
          </a:p>
          <a:p xmlns:a="http://schemas.openxmlformats.org/drawingml/2006/main">
            <a:r>
              <a:t>Các con số paired lấy từ paired_sampling_validation_summary.json; M2−M1 mean: NDCG −2.473%, Recall −2.768%.</a:t>
            </a:r>
          </a:p>
          <a:p xmlns:a="http://schemas.openxmlformats.org/drawingml/2006/main">
            <a:r>
              <a:t>Không diễn giải ba seed như kiểm định ý nghĩa thống kê hoặc chứng minh phổ quát.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chính thức Amazon Reviews’23: https://amazon-reviews-2023.github.io/</a:t>
            </a:r>
          </a:p>
          <a:p xmlns:a="http://schemas.openxmlformats.org/drawingml/2006/main">
            <a:r>
              <a:t>Ví dụ tải rating-only JSON/CSV và bốn trường: https://amazon-reviews-2023.github.io/data_loading/jsonl.html</a:t>
            </a:r>
          </a:p>
          <a:p xmlns:a="http://schemas.openxmlformats.org/drawingml/2006/main">
            <a:r>
              <a:t>Artifact URL: https://datarepo.eng.ucsd.edu/mcauley_group/data/amazon_2023/benchmark/0core/rating_only/Baby_Products.csv.gz</a:t>
            </a:r>
          </a:p>
          <a:p xmlns:a="http://schemas.openxmlformats.org/drawingml/2006/main">
            <a:r>
              <a:t>Audit cục bộ: Do An/06_code/results/Baby_Products_protocol_audit.json</a:t>
            </a:r>
          </a:p>
          <a:p xmlns:a="http://schemas.openxmlformats.org/drawingml/2006/main">
            <a:r>
              <a:t>SHA đầy đủ: e2a8d0498afed767ee2615db7fac549559d82490b1a73c7241b84b5e9e8c279e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Cutoff t1 = 1628643414042 ms = 2021-08-11 00:56:54 UTC.</a:t>
            </a:r>
          </a:p>
          <a:p xmlns:a="http://schemas.openxmlformats.org/drawingml/2006/main">
            <a:r>
              <a:t>Cutoff t2 = 1658002729837 ms = 2022-07-16 20:18:49 UTC.</a:t>
            </a:r>
          </a:p>
          <a:p xmlns:a="http://schemas.openxmlformats.org/drawingml/2006/main">
            <a:r>
              <a:t>Nguồn: Do An/06_code/results/baby_p4_g2c_manifest.json và Baby_Products_protocol_audit.json.</a:t>
            </a:r>
          </a:p>
          <a:p xmlns:a="http://schemas.openxmlformats.org/drawingml/2006/main">
            <a:r>
              <a:t>Test target đã được tạo trong pipeline nhưng test_targets_read=false trong mọi validation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Rating counts: 0★=1, 1★=555424, 2★=309591, 3★=433032, 4★=681977, 5★=3973866.</a:t>
            </a:r>
          </a:p>
          <a:p xmlns:a="http://schemas.openxmlformats.org/drawingml/2006/main">
            <a:r>
              <a:t>P4 rows = 4,655,843; retention = 0.7819832442.</a:t>
            </a:r>
          </a:p>
          <a:p xmlns:a="http://schemas.openxmlformats.org/drawingml/2006/main">
            <a:r>
              <a:t>Nguồn: Do An/06_code/results/data_story/data_story_summary.json.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Training graph: 3,868,654 edges; 2,318,308 users; 162,125 items; density 1.0292924e-05.</a:t>
            </a:r>
          </a:p>
          <a:p xmlns:a="http://schemas.openxmlformats.org/drawingml/2006/main">
            <a:r>
              <a:t>User singleton 71.7634%; item singleton 33.3496%.</a:t>
            </a:r>
          </a:p>
          <a:p xmlns:a="http://schemas.openxmlformats.org/drawingml/2006/main">
            <a:r>
              <a:t>Largest connected component: 96.4988% nodes.</a:t>
            </a:r>
          </a:p>
          <a:p xmlns:a="http://schemas.openxmlformats.org/drawingml/2006/main">
            <a:r>
              <a:t>Nguồn: data_story_summary.json.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Top-item cumulative interaction shares: 1%=44.0941%, 5%=71.1174%, 10%=81.3265%, 20%=89.6456%.</a:t>
            </a:r>
          </a:p>
          <a:p xmlns:a="http://schemas.openxmlformats.org/drawingml/2006/main">
            <a:r>
              <a:t>Frozen cohort shares: head 1.00% items / 44.16% edges; body 18.92% / 45.45%; tail 80.07% / 10.39%.</a:t>
            </a:r>
          </a:p>
          <a:p xmlns:a="http://schemas.openxmlformats.org/drawingml/2006/main">
            <a:r>
              <a:t>Hai số 44.09% và 44.16% dùng cách cắt khác nhau; slide ghi rõ để tránh coi chúng là cùng một statistic.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Validation: 81,871 warm / 373,776 candidate = 21.9038%.</a:t>
            </a:r>
          </a:p>
          <a:p xmlns:a="http://schemas.openxmlformats.org/drawingml/2006/main">
            <a:r>
              <a:t>Test: 40,587 warm / 413,413 candidate = 9.8175%.</a:t>
            </a:r>
          </a:p>
          <a:p xmlns:a="http://schemas.openxmlformats.org/drawingml/2006/main">
            <a:r>
              <a:t>Ranh giới này bắt buộc: kết quả không đại diện cho unseen user/item.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BPR: https://www.cs.mcgill.ca/~uai2009/papers/UAI2009_0139_48141db02b9f0b02bc7158819ebfa2c7.pdf</a:t>
            </a:r>
          </a:p>
          <a:p xmlns:a="http://schemas.openxmlformats.org/drawingml/2006/main">
            <a:r>
              <a:t>LightGCN: https://hexiangnan.github.io/papers/sigir20-LightGCN.pdf</a:t>
            </a:r>
          </a:p>
          <a:p xmlns:a="http://schemas.openxmlformats.org/drawingml/2006/main">
            <a:r>
              <a:t>Graph sampling context: GraphSAGE https://papers.nips.cc/paper_files/paper/2017/hash/5dd9db5e033da9c6fb5ba83c7a7ebea9-Abstract.html</a:t>
            </a:r>
          </a:p>
          <a:p xmlns:a="http://schemas.openxmlformats.org/drawingml/2006/main">
            <a:r>
              <a:t>FastGCN: https://openreview.net/pdf?id=rytstxWAW</a:t>
            </a:r>
          </a:p>
          <a:p xmlns:a="http://schemas.openxmlformats.org/drawingml/2006/main">
            <a:r>
              <a:t>LADIES: https://proceedings.neurips.cc/paper/2019/hash/91ba4a4478a66bee9812b0804b6f9d1b-Abstract.html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Thiết kế paired xác minh checksum khởi tạo, training-pair order và negative draw ở cả 5 epoch.</a:t>
            </a:r>
          </a:p>
          <a:p xmlns:a="http://schemas.openxmlformats.org/drawingml/2006/main">
            <a:r>
              <a:t>Full LightGCN và BPR-MF là sanity/feasibility references; optimizer-step budget của chúng không matched với sampled runs.</a:t>
            </a:r>
          </a:p>
          <a:p xmlns:a="http://schemas.openxmlformats.org/drawingml/2006/main">
            <a:r>
              <a:t>GRAPES là tài liệu tham khảo về adaptive sampling, không phải phương pháp được sao chép nguyên xi: https://arxiv.org/abs/2310.03399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MostPop: NDCG .00587255, Recall .01459613, coverage .00015420, 25 unique items, 1195 hits.</a:t>
            </a:r>
          </a:p>
          <a:p xmlns:a="http://schemas.openxmlformats.org/drawingml/2006/main">
            <a:r>
              <a:t>BPR-MF: NDCG .00405351, Recall .01041883, coverage .03351735, 5434 unique items, 853 hits.</a:t>
            </a:r>
          </a:p>
          <a:p xmlns:a="http://schemas.openxmlformats.org/drawingml/2006/main">
            <a:r>
              <a:t>Full LightGCN: NDCG .00493124, Recall .01237312, coverage .00636546, 1032 unique items, 1013 hits.</a:t>
            </a:r>
          </a:p>
          <a:p xmlns:a="http://schemas.openxmlformats.org/drawingml/2006/main">
            <a:r>
              <a:t>Nguồn file: Do An/06_code/results/{mostpop_validation,bpr_mf_validation,full_lightgcn_validation}/*.json.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M0 item-context: body 39.31%, tail 60.52% (head còn lại).</a:t>
            </a:r>
          </a:p>
          <a:p xmlns:a="http://schemas.openxmlformats.org/drawingml/2006/main">
            <a:r>
              <a:t>M1 item-context: body 68.29%, tail 31.48%.</a:t>
            </a:r>
          </a:p>
          <a:p xmlns:a="http://schemas.openxmlformats.org/drawingml/2006/main">
            <a:r>
              <a:t>M2 chỉ có 290,606 item-context slot; tail 68.60%.</a:t>
            </a:r>
          </a:p>
          <a:p xmlns:a="http://schemas.openxmlformats.org/drawingml/2006/main">
            <a:r>
              <a:t>Tất cả sampled methods chọn tổng 58,982,400 context slots theo layer budget.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s0: M0 NDCG .00572728 / Recall .01465720 / 705.32s / 3482.90MB.</a:t>
            </a:r>
          </a:p>
          <a:p xmlns:a="http://schemas.openxmlformats.org/drawingml/2006/main">
            <a:r>
              <a:t>s0: M1 .00615330 / .01598857 / 795.10s / 2665.10MB.</a:t>
            </a:r>
          </a:p>
          <a:p xmlns:a="http://schemas.openxmlformats.org/drawingml/2006/main">
            <a:r>
              <a:t>s0: M2 .00592070 / .01531678 / 868.63s / 2669.06MB.</a:t>
            </a:r>
          </a:p>
          <a:p xmlns:a="http://schemas.openxmlformats.org/drawingml/2006/main">
            <a:r>
              <a:t>M1 và M2 có peak GPU gần như nhau; M2 chậm hơn và quality thấp hơn.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Mean±SD NDCG: M0 .00570640±.00007324; M1 .00586598±.00024947; M2 .00572092±.00017933.</a:t>
            </a:r>
          </a:p>
          <a:p xmlns:a="http://schemas.openxmlformats.org/drawingml/2006/main">
            <a:r>
              <a:t>M2−M1 per seed NDCG: s0 −.00023260; s1 −.00013042; s2 −.00007218.</a:t>
            </a:r>
          </a:p>
          <a:p xmlns:a="http://schemas.openxmlformats.org/drawingml/2006/main">
            <a:r>
              <a:t>M2−M1 Recall cũng âm ở 3/3 seed.</a:t>
            </a:r>
          </a:p>
          <a:p xmlns:a="http://schemas.openxmlformats.org/drawingml/2006/main">
            <a:r>
              <a:t>Resource average +14.36% chỉ dùng hai repeat mới s1/s2 vì s0 có instrumentation boundary khác.</a:t>
            </a:r>
          </a:p>
          <a:p xmlns:a="http://schemas.openxmlformats.org/drawingml/2006/main">
            <a:r>
              <a:t>Paired bundle audit: 85/85 checks pass; test_targets_read=false.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Paired aggregate: Do An/06_code/results/paired_sampling_validation/paired_sampling_validation_summary.json</a:t>
            </a:r>
          </a:p>
          <a:p xmlns:a="http://schemas.openxmlformats.org/drawingml/2006/main">
            <a:r>
              <a:t>Paired artifact audit: 85/85 checks passed; test_targets_read=false.</a:t>
            </a:r>
          </a:p>
          <a:p xmlns:a="http://schemas.openxmlformats.org/drawingml/2006/main">
            <a:r>
              <a:t>Any cross-dataset extension must be registered before execution and reported separately from the present Baby_Products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2faaf12194f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95fb20422e4cf9" /><Relationship Type="http://schemas.openxmlformats.org/officeDocument/2006/relationships/slideLayout" Target="/ppt/slideLayouts/slideLayout1.xml" Id="R82e767c5e5c448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e767c5e5c448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9f1d02b434fc7" /><Relationship Type="http://schemas.openxmlformats.org/officeDocument/2006/relationships/notesSlide" Target="/ppt/notesSlides/notesSlide1.xml" Id="R299809e89fc546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36b04df104a9c" /><Relationship Type="http://schemas.openxmlformats.org/officeDocument/2006/relationships/notesSlide" Target="/ppt/notesSlides/notesSlide2.xml" Id="Rf73e163569594e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05fe474034f3d" /><Relationship Type="http://schemas.openxmlformats.org/officeDocument/2006/relationships/notesSlide" Target="/ppt/notesSlides/notesSlide3.xml" Id="Rd86029205a9c4d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d73ffc9924571" /><Relationship Type="http://schemas.openxmlformats.org/officeDocument/2006/relationships/chart" Target="/ppt/slides/charts/chart1.xml" Id="Raa394898fd7244e7" /><Relationship Type="http://schemas.openxmlformats.org/officeDocument/2006/relationships/notesSlide" Target="/ppt/notesSlides/notesSlide4.xml" Id="Rdba42d340dad4c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966b6515840d3" /><Relationship Type="http://schemas.openxmlformats.org/officeDocument/2006/relationships/notesSlide" Target="/ppt/notesSlides/notesSlide5.xml" Id="Rc00f3c1c3d454f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b7e0a12c64861" /><Relationship Type="http://schemas.openxmlformats.org/officeDocument/2006/relationships/notesSlide" Target="/ppt/notesSlides/notesSlide6.xml" Id="Rb0f644c143b549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2c0ebb0df4729" /><Relationship Type="http://schemas.openxmlformats.org/officeDocument/2006/relationships/notesSlide" Target="/ppt/notesSlides/notesSlide7.xml" Id="R198e2b892d1b46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498cd93f74fec" /><Relationship Type="http://schemas.openxmlformats.org/officeDocument/2006/relationships/chart" Target="/ppt/slides/charts/chart2.xml" Id="Rf331353feca542c5" /><Relationship Type="http://schemas.openxmlformats.org/officeDocument/2006/relationships/notesSlide" Target="/ppt/notesSlides/notesSlide8.xml" Id="R071b0b236e3e4d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e8124784045ea" /><Relationship Type="http://schemas.openxmlformats.org/officeDocument/2006/relationships/chart" Target="/ppt/slides/charts/chart3.xml" Id="R5706289d197e49ab" /><Relationship Type="http://schemas.openxmlformats.org/officeDocument/2006/relationships/notesSlide" Target="/ppt/notesSlides/notesSlide9.xml" Id="R581db27fe92747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f1051d53f441c" /><Relationship Type="http://schemas.openxmlformats.org/officeDocument/2006/relationships/chart" Target="/ppt/slides/charts/chart4.xml" Id="R4cf1591ea4bc4d34" /><Relationship Type="http://schemas.openxmlformats.org/officeDocument/2006/relationships/chart" Target="/ppt/slides/charts/chart5.xml" Id="Rf6ac1788ec154955" /><Relationship Type="http://schemas.openxmlformats.org/officeDocument/2006/relationships/notesSlide" Target="/ppt/notesSlides/notesSlide10.xml" Id="R324a65c3cfd542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2489efb6d4c03" /><Relationship Type="http://schemas.openxmlformats.org/officeDocument/2006/relationships/chart" Target="/ppt/slides/charts/chart6.xml" Id="Rf4cbd69334314d06" /><Relationship Type="http://schemas.openxmlformats.org/officeDocument/2006/relationships/notesSlide" Target="/ppt/notesSlides/notesSlide11.xml" Id="R7894ab9351dd48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08ab93fb847df" /><Relationship Type="http://schemas.openxmlformats.org/officeDocument/2006/relationships/notesSlide" Target="/ppt/notesSlides/notesSlide12.xml" Id="Re262e5a6970746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9745dcbae4672" /><Relationship Type="http://schemas.openxmlformats.org/officeDocument/2006/relationships/notesSlide" Target="/ppt/notesSlides/notesSlide13.xml" Id="Rb32e7d40d4ce4b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ad6329acf4301" /><Relationship Type="http://schemas.openxmlformats.org/officeDocument/2006/relationships/chart" Target="/ppt/slides/charts/chart7.xml" Id="R33809c1bb9bd4936" /><Relationship Type="http://schemas.openxmlformats.org/officeDocument/2006/relationships/chart" Target="/ppt/slides/charts/chart8.xml" Id="R158d504988a14476" /><Relationship Type="http://schemas.openxmlformats.org/officeDocument/2006/relationships/notesSlide" Target="/ppt/notesSlides/notesSlide14.xml" Id="R00af53ec655748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6b19582474a08" /><Relationship Type="http://schemas.openxmlformats.org/officeDocument/2006/relationships/notesSlide" Target="/ppt/notesSlides/notesSlide15.xml" Id="R2f1ed394ac2a4e8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56718c3004379" /><Relationship Type="http://schemas.openxmlformats.org/officeDocument/2006/relationships/chart" Target="/ppt/slides/charts/chart9.xml" Id="R4133b7e5678e4609" /><Relationship Type="http://schemas.openxmlformats.org/officeDocument/2006/relationships/chart" Target="/ppt/slides/charts/chart10.xml" Id="Rbd45907310834722" /><Relationship Type="http://schemas.openxmlformats.org/officeDocument/2006/relationships/notesSlide" Target="/ppt/notesSlides/notesSlide16.xml" Id="R9195d8a5f84f4d7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3be3cade74b7f" /><Relationship Type="http://schemas.openxmlformats.org/officeDocument/2006/relationships/chart" Target="/ppt/slides/charts/chart11.xml" Id="Rd3397c49b099431d" /><Relationship Type="http://schemas.openxmlformats.org/officeDocument/2006/relationships/notesSlide" Target="/ppt/notesSlides/notesSlide17.xml" Id="Rd87b3840646945b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5396c868e4574" /><Relationship Type="http://schemas.openxmlformats.org/officeDocument/2006/relationships/notesSlide" Target="/ppt/notesSlides/notesSlide18.xml" Id="R6399560262eb42d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 review (triệu)</c:v>
          </c:tx>
          <c:spPr>
            <a:solidFill xmlns:a="http://schemas.openxmlformats.org/drawingml/2006/main">
              <a:srgbClr val="3E8BFF"/>
            </a:solidFill>
          </c:spPr>
          <c:cat>
            <c:strRef>
              <c:f>'Chart Data'!$A$2:$A$3</c:f>
              <c:strCache>
                <c:ptCount val="2"/>
                <c:pt idx="0">
                  <c:v>All_Beauty</c:v>
                </c:pt>
                <c:pt idx="1">
                  <c:v>Baby_Products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0.693929</c:v>
                </c:pt>
                <c:pt idx="1">
                  <c:v>5.953891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31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Tỷ lệ raw row</c:v>
          </c:tx>
          <c:spPr>
            <a:solidFill xmlns:a="http://schemas.openxmlformats.org/drawingml/2006/main">
              <a:srgbClr val="626C7A"/>
            </a:solidFill>
          </c:spPr>
          <c:dPt>
            <c:idx val="3"/>
            <c:invertIfNegative val="0"/>
            <c:spPr>
              <a:solidFill xmlns:a="http://schemas.openxmlformats.org/drawingml/2006/main">
                <a:srgbClr val="2CA47B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CA47B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1★</c:v>
                </c:pt>
                <c:pt idx="1">
                  <c:v>2★</c:v>
                </c:pt>
                <c:pt idx="2">
                  <c:v>3★</c:v>
                </c:pt>
                <c:pt idx="3">
                  <c:v>4★</c:v>
                </c:pt>
                <c:pt idx="4">
                  <c:v>5★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0.0932875661</c:v>
                </c:pt>
                <c:pt idx="1">
                  <c:v>0.0519980967</c:v>
                </c:pt>
                <c:pt idx="2">
                  <c:v>0.072730925</c:v>
                </c:pt>
                <c:pt idx="3">
                  <c:v>0.1145430778</c:v>
                </c:pt>
                <c:pt idx="4">
                  <c:v>0.6674401664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31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7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Singleton</c:v>
          </c:tx>
          <c:spPr>
            <a:solidFill xmlns:a="http://schemas.openxmlformats.org/drawingml/2006/main">
              <a:srgbClr val="3E8BFF"/>
            </a:solidFill>
          </c:spPr>
          <c:cat>
            <c:strRef>
              <c:f>'Chart Data'!$A$2:$A$3</c:f>
              <c:strCache>
                <c:ptCount val="2"/>
                <c:pt idx="0">
                  <c:v>User</c:v>
                </c:pt>
                <c:pt idx="1">
                  <c:v>Item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0.7176341539</c:v>
                </c:pt>
                <c:pt idx="1">
                  <c:v>0.3334957594</c:v>
                </c:pt>
              </c:numCache>
            </c:numRef>
          </c:val>
        </c:ser>
        <c:ser>
          <c:idx val="1"/>
          <c:order val="1"/>
          <c:tx>
            <c:v>Degree &gt; 1</c:v>
          </c:tx>
          <c:spPr>
            <a:solidFill xmlns:a="http://schemas.openxmlformats.org/drawingml/2006/main">
              <a:srgbClr val="2CA47B"/>
            </a:solidFill>
          </c:spPr>
          <c:cat>
            <c:strRef>
              <c:f>'Chart Data'!$C$2:$C$3</c:f>
              <c:strCache>
                <c:ptCount val="2"/>
                <c:pt idx="0">
                  <c:v>User</c:v>
                </c:pt>
                <c:pt idx="1">
                  <c:v>Item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0.2823658461</c:v>
                </c:pt>
                <c:pt idx="1">
                  <c:v>0.6665042406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26C7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Tỷ lệ interaction tích lũy</c:v>
          </c:tx>
          <c:spPr>
            <a:solidFill xmlns:a="http://schemas.openxmlformats.org/drawingml/2006/main">
              <a:srgbClr val="F4A24C"/>
            </a:solidFill>
          </c:spPr>
          <c:cat>
            <c:strRef>
              <c:f>'Chart Data'!$A$2:$A$5</c:f>
              <c:strCache>
                <c:ptCount val="4"/>
                <c:pt idx="0">
                  <c:v>Top 1%</c:v>
                </c:pt>
                <c:pt idx="1">
                  <c:v>Top 5%</c:v>
                </c:pt>
                <c:pt idx="2">
                  <c:v>Top 10%</c:v>
                </c:pt>
                <c:pt idx="3">
                  <c:v>Top 20%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0.4409414747</c:v>
                </c:pt>
                <c:pt idx="1">
                  <c:v>0.7111744808</c:v>
                </c:pt>
                <c:pt idx="2">
                  <c:v>0.8132650271</c:v>
                </c:pt>
                <c:pt idx="3">
                  <c:v>0.8964559767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31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Head ≥397</c:v>
          </c:tx>
          <c:spPr>
            <a:solidFill xmlns:a="http://schemas.openxmlformats.org/drawingml/2006/main">
              <a:srgbClr val="3E8BFF"/>
            </a:solidFill>
          </c:spPr>
          <c:cat>
            <c:strRef>
              <c:f>'Chart Data'!$A$2:$A$3</c:f>
              <c:strCache>
                <c:ptCount val="2"/>
                <c:pt idx="0">
                  <c:v>Tỷ lệ item</c:v>
                </c:pt>
                <c:pt idx="1">
                  <c:v>Tỷ lệ interaction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0.01</c:v>
                </c:pt>
                <c:pt idx="1">
                  <c:v>0.4416</c:v>
                </c:pt>
              </c:numCache>
            </c:numRef>
          </c:val>
        </c:ser>
        <c:ser>
          <c:idx val="1"/>
          <c:order val="1"/>
          <c:tx>
            <c:v>Body 13–396</c:v>
          </c:tx>
          <c:spPr>
            <a:solidFill xmlns:a="http://schemas.openxmlformats.org/drawingml/2006/main">
              <a:srgbClr val="2CA47B"/>
            </a:solidFill>
          </c:spPr>
          <c:cat>
            <c:strRef>
              <c:f>'Chart Data'!$C$2:$C$3</c:f>
              <c:strCache>
                <c:ptCount val="2"/>
                <c:pt idx="0">
                  <c:v>Tỷ lệ item</c:v>
                </c:pt>
                <c:pt idx="1">
                  <c:v>Tỷ lệ interaction</c:v>
                </c:pt>
              </c:strCache>
            </c:strRef>
          </c:cat>
          <c:val>
            <c:numRef>
              <c:f>'Chart Data'!$D$2:$D$3</c:f>
              <c:numCache>
                <c:formatCode>0%</c:formatCode>
                <c:ptCount val="2"/>
                <c:pt idx="0">
                  <c:v>0.1892</c:v>
                </c:pt>
                <c:pt idx="1">
                  <c:v>0.4545</c:v>
                </c:pt>
              </c:numCache>
            </c:numRef>
          </c:val>
        </c:ser>
        <c:ser>
          <c:idx val="2"/>
          <c:order val="2"/>
          <c:tx>
            <c:v>Tail ≤12</c:v>
          </c:tx>
          <c:spPr>
            <a:solidFill xmlns:a="http://schemas.openxmlformats.org/drawingml/2006/main">
              <a:srgbClr val="F4A24C"/>
            </a:solidFill>
          </c:spPr>
          <c:cat>
            <c:strRef>
              <c:f>'Chart Data'!$E$2:$E$3</c:f>
              <c:strCache>
                <c:ptCount val="2"/>
                <c:pt idx="0">
                  <c:v>Tỷ lệ item</c:v>
                </c:pt>
                <c:pt idx="1">
                  <c:v>Tỷ lệ interaction</c:v>
                </c:pt>
              </c:strCache>
            </c:strRef>
          </c:cat>
          <c:val>
            <c:numRef>
              <c:f>'Chart Data'!$F$2:$F$3</c:f>
              <c:numCache>
                <c:formatCode>0%</c:formatCode>
                <c:ptCount val="2"/>
                <c:pt idx="0">
                  <c:v>0.8007</c:v>
                </c:pt>
                <c:pt idx="1">
                  <c:v>0.1039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626C7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percentStacked"/>
        <c:varyColors val="0"/>
        <c:ser>
          <c:idx val="0"/>
          <c:order val="0"/>
          <c:tx>
            <c:v>Warm retained</c:v>
          </c:tx>
          <c:spPr>
            <a:solidFill xmlns:a="http://schemas.openxmlformats.org/drawingml/2006/main">
              <a:srgbClr val="2CA47B"/>
            </a:solidFill>
          </c:spPr>
          <c:cat>
            <c:strRef>
              <c:f>'Chart Data'!$A$2:$A$3</c:f>
              <c:strCache>
                <c:ptCount val="2"/>
                <c:pt idx="0">
                  <c:v>Validation</c:v>
                </c:pt>
                <c:pt idx="1">
                  <c:v>Test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0.2190376054</c:v>
                </c:pt>
                <c:pt idx="1">
                  <c:v>0.0981754323</c:v>
                </c:pt>
              </c:numCache>
            </c:numRef>
          </c:val>
        </c:ser>
        <c:ser>
          <c:idx val="1"/>
          <c:order val="1"/>
          <c:tx>
            <c:v>Loại do user/item OOV</c:v>
          </c:tx>
          <c:spPr>
            <a:solidFill xmlns:a="http://schemas.openxmlformats.org/drawingml/2006/main">
              <a:srgbClr val="D7DEE8"/>
            </a:solidFill>
          </c:spPr>
          <c:cat>
            <c:strRef>
              <c:f>'Chart Data'!$C$2:$C$3</c:f>
              <c:strCache>
                <c:ptCount val="2"/>
                <c:pt idx="0">
                  <c:v>Validation</c:v>
                </c:pt>
                <c:pt idx="1">
                  <c:v>Test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0.7809623946</c:v>
                </c:pt>
                <c:pt idx="1">
                  <c:v>0.9018245677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31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26C7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NDCG@20</c:v>
          </c:tx>
          <c:spPr>
            <a:solidFill xmlns:a="http://schemas.openxmlformats.org/drawingml/2006/main">
              <a:srgbClr val="3E8BFF"/>
            </a:solidFill>
          </c:spPr>
          <c:cat>
            <c:strRef>
              <c:f>'Chart Data'!$A$2:$A$4</c:f>
              <c:strCache>
                <c:ptCount val="3"/>
                <c:pt idx="0">
                  <c:v>MostPop</c:v>
                </c:pt>
                <c:pt idx="1">
                  <c:v>BPR-MF</c:v>
                </c:pt>
                <c:pt idx="2">
                  <c:v>Full LightGCN</c:v>
                </c:pt>
              </c:strCache>
            </c:strRef>
          </c:cat>
          <c:val>
            <c:numRef>
              <c:f>'Chart Data'!$B$2:$B$4</c:f>
              <c:numCache>
                <c:formatCode>0.00%</c:formatCode>
                <c:ptCount val="3"/>
                <c:pt idx="0">
                  <c:v>0.0058725502</c:v>
                </c:pt>
                <c:pt idx="1">
                  <c:v>0.0040535124</c:v>
                </c:pt>
                <c:pt idx="2">
                  <c:v>0.0049312379</c:v>
                </c:pt>
              </c:numCache>
            </c:numRef>
          </c:val>
        </c:ser>
        <c:ser>
          <c:idx val="1"/>
          <c:order val="1"/>
          <c:tx>
            <c:v>Recall@20</c:v>
          </c:tx>
          <c:spPr>
            <a:solidFill xmlns:a="http://schemas.openxmlformats.org/drawingml/2006/main">
              <a:srgbClr val="2CA47B"/>
            </a:solidFill>
          </c:spPr>
          <c:cat>
            <c:strRef>
              <c:f>'Chart Data'!$C$2:$C$4</c:f>
              <c:strCache>
                <c:ptCount val="3"/>
                <c:pt idx="0">
                  <c:v>MostPop</c:v>
                </c:pt>
                <c:pt idx="1">
                  <c:v>BPR-MF</c:v>
                </c:pt>
                <c:pt idx="2">
                  <c:v>Full LightGCN</c:v>
                </c:pt>
              </c:strCache>
            </c:strRef>
          </c:cat>
          <c:val>
            <c:numRef>
              <c:f>'Chart Data'!$D$2:$D$4</c:f>
              <c:numCache>
                <c:formatCode>0.00%</c:formatCode>
                <c:ptCount val="3"/>
                <c:pt idx="0">
                  <c:v>0.0145961329</c:v>
                </c:pt>
                <c:pt idx="1">
                  <c:v>0.0104188296</c:v>
                </c:pt>
                <c:pt idx="2">
                  <c:v>0.0123731236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1131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01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0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26C7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Catalog coverage@20</c:v>
          </c:tx>
          <c:spPr>
            <a:solidFill xmlns:a="http://schemas.openxmlformats.org/drawingml/2006/main">
              <a:srgbClr val="F4A24C"/>
            </a:solidFill>
          </c:spPr>
          <c:cat>
            <c:strRef>
              <c:f>'Chart Data'!$A$2:$A$4</c:f>
              <c:strCache>
                <c:ptCount val="3"/>
                <c:pt idx="0">
                  <c:v>MostPop</c:v>
                </c:pt>
                <c:pt idx="1">
                  <c:v>BPR-MF</c:v>
                </c:pt>
                <c:pt idx="2">
                  <c:v>Full</c:v>
                </c:pt>
              </c:strCache>
            </c:strRef>
          </c:cat>
          <c:val>
            <c:numRef>
              <c:f>'Chart Data'!$B$2:$B$4</c:f>
              <c:numCache>
                <c:formatCode>0.00%</c:formatCode>
                <c:ptCount val="3"/>
                <c:pt idx="0">
                  <c:v>0.000154202</c:v>
                </c:pt>
                <c:pt idx="1">
                  <c:v>0.0335173477</c:v>
                </c:pt>
                <c:pt idx="2">
                  <c:v>0.0063654588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1131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NDCG@20</c:v>
          </c:tx>
          <c:spPr>
            <a:solidFill xmlns:a="http://schemas.openxmlformats.org/drawingml/2006/main">
              <a:srgbClr val="3E8BFF"/>
            </a:solidFill>
          </c:spPr>
          <c:cat>
            <c:strRef>
              <c:f>'Chart Data'!$A$2:$A$4</c:f>
              <c:strCache>
                <c:ptCount val="3"/>
                <c:pt idx="0">
                  <c:v>M0</c:v>
                </c:pt>
                <c:pt idx="1">
                  <c:v>M1</c:v>
                </c:pt>
                <c:pt idx="2">
                  <c:v>M2</c:v>
                </c:pt>
              </c:strCache>
            </c:strRef>
          </c:cat>
          <c:val>
            <c:numRef>
              <c:f>'Chart Data'!$B$2:$B$4</c:f>
              <c:numCache>
                <c:formatCode>0.00%</c:formatCode>
                <c:ptCount val="3"/>
                <c:pt idx="0">
                  <c:v>0.005727283</c:v>
                </c:pt>
                <c:pt idx="1">
                  <c:v>0.0061532962</c:v>
                </c:pt>
                <c:pt idx="2">
                  <c:v>0.0059206961</c:v>
                </c:pt>
              </c:numCache>
            </c:numRef>
          </c:val>
        </c:ser>
        <c:ser>
          <c:idx val="1"/>
          <c:order val="1"/>
          <c:tx>
            <c:v>Recall@20</c:v>
          </c:tx>
          <c:spPr>
            <a:solidFill xmlns:a="http://schemas.openxmlformats.org/drawingml/2006/main">
              <a:srgbClr val="2CA47B"/>
            </a:solidFill>
          </c:spPr>
          <c:cat>
            <c:strRef>
              <c:f>'Chart Data'!$C$2:$C$4</c:f>
              <c:strCache>
                <c:ptCount val="3"/>
                <c:pt idx="0">
                  <c:v>M0</c:v>
                </c:pt>
                <c:pt idx="1">
                  <c:v>M1</c:v>
                </c:pt>
                <c:pt idx="2">
                  <c:v>M2</c:v>
                </c:pt>
              </c:strCache>
            </c:strRef>
          </c:cat>
          <c:val>
            <c:numRef>
              <c:f>'Chart Data'!$D$2:$D$4</c:f>
              <c:numCache>
                <c:formatCode>0.00%</c:formatCode>
                <c:ptCount val="3"/>
                <c:pt idx="0">
                  <c:v>0.0146572046</c:v>
                </c:pt>
                <c:pt idx="1">
                  <c:v>0.0159885674</c:v>
                </c:pt>
                <c:pt idx="2">
                  <c:v>0.0153167788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1131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01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0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26C7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Training wall (s)</c:v>
          </c:tx>
          <c:spPr>
            <a:solidFill xmlns:a="http://schemas.openxmlformats.org/drawingml/2006/main">
              <a:srgbClr val="F4A24C"/>
            </a:solidFill>
          </c:spPr>
          <c:cat>
            <c:strRef>
              <c:f>'Chart Data'!$A$2:$A$4</c:f>
              <c:strCache>
                <c:ptCount val="3"/>
                <c:pt idx="0">
                  <c:v>M0</c:v>
                </c:pt>
                <c:pt idx="1">
                  <c:v>M1</c:v>
                </c:pt>
                <c:pt idx="2">
                  <c:v>M2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705.32</c:v>
                </c:pt>
                <c:pt idx="1">
                  <c:v>795.1</c:v>
                </c:pt>
                <c:pt idx="2">
                  <c:v>868.63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1131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M0</c:v>
          </c:tx>
          <c:spPr>
            <a:ln xmlns:a="http://schemas.openxmlformats.org/drawingml/2006/main" w="28575">
              <a:solidFill>
                <a:srgbClr val="3E8B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E8BFF"/>
              </a:solidFill>
            </c:spPr>
          </c:marker>
          <c:cat>
            <c:strRef>
              <c:f>'Chart Data'!$A$2:$A$4</c:f>
              <c:strCache>
                <c:ptCount val="3"/>
                <c:pt idx="0">
                  <c:v>s0</c:v>
                </c:pt>
                <c:pt idx="1">
                  <c:v>s1</c:v>
                </c:pt>
                <c:pt idx="2">
                  <c:v>s2</c:v>
                </c:pt>
              </c:strCache>
            </c:strRef>
          </c:cat>
          <c:val>
            <c:numRef>
              <c:f>'Chart Data'!$B$2:$B$4</c:f>
              <c:numCache>
                <c:formatCode>0.00%</c:formatCode>
                <c:ptCount val="3"/>
                <c:pt idx="0">
                  <c:v>0.005727283</c:v>
                </c:pt>
                <c:pt idx="1">
                  <c:v>0.00562498</c:v>
                </c:pt>
                <c:pt idx="2">
                  <c:v>0.0057669238</c:v>
                </c:pt>
              </c:numCache>
            </c:numRef>
          </c:val>
          <c:smooth val="0"/>
        </c:ser>
        <c:ser>
          <c:idx val="1"/>
          <c:order val="1"/>
          <c:tx>
            <c:v>M1</c:v>
          </c:tx>
          <c:spPr>
            <a:ln xmlns:a="http://schemas.openxmlformats.org/drawingml/2006/main" w="28575">
              <a:solidFill>
                <a:srgbClr val="2CA47B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2CA47B"/>
              </a:solidFill>
            </c:spPr>
          </c:marker>
          <c:cat>
            <c:strRef>
              <c:f>'Chart Data'!$C$2:$C$4</c:f>
              <c:strCache>
                <c:ptCount val="3"/>
                <c:pt idx="0">
                  <c:v>s0</c:v>
                </c:pt>
                <c:pt idx="1">
                  <c:v>s1</c:v>
                </c:pt>
                <c:pt idx="2">
                  <c:v>s2</c:v>
                </c:pt>
              </c:strCache>
            </c:strRef>
          </c:cat>
          <c:val>
            <c:numRef>
              <c:f>'Chart Data'!$D$2:$D$4</c:f>
              <c:numCache>
                <c:formatCode>0.00%</c:formatCode>
                <c:ptCount val="3"/>
                <c:pt idx="0">
                  <c:v>0.0061532962</c:v>
                </c:pt>
                <c:pt idx="1">
                  <c:v>0.0057042864</c:v>
                </c:pt>
                <c:pt idx="2">
                  <c:v>0.0057403666</c:v>
                </c:pt>
              </c:numCache>
            </c:numRef>
          </c:val>
          <c:smooth val="0"/>
        </c:ser>
        <c:ser>
          <c:idx val="2"/>
          <c:order val="2"/>
          <c:tx>
            <c:v>M2</c:v>
          </c:tx>
          <c:spPr>
            <a:ln xmlns:a="http://schemas.openxmlformats.org/drawingml/2006/main" w="28575">
              <a:solidFill>
                <a:srgbClr val="F4A24C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F4A24C"/>
              </a:solidFill>
            </c:spPr>
          </c:marker>
          <c:cat>
            <c:strRef>
              <c:f>'Chart Data'!$E$2:$E$4</c:f>
              <c:strCache>
                <c:ptCount val="3"/>
                <c:pt idx="0">
                  <c:v>s0</c:v>
                </c:pt>
                <c:pt idx="1">
                  <c:v>s1</c:v>
                </c:pt>
                <c:pt idx="2">
                  <c:v>s2</c:v>
                </c:pt>
              </c:strCache>
            </c:strRef>
          </c:cat>
          <c:val>
            <c:numRef>
              <c:f>'Chart Data'!$F$2:$F$4</c:f>
              <c:numCache>
                <c:formatCode>0.00%</c:formatCode>
                <c:ptCount val="3"/>
                <c:pt idx="0">
                  <c:v>0.0059206961</c:v>
                </c:pt>
                <c:pt idx="1">
                  <c:v>0.0055738678</c:v>
                </c:pt>
                <c:pt idx="2">
                  <c:v>0.005668182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0063"/>
          <c:min val="0.005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0.0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00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26C7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E63D1-8591-4EED-AFA0-8F6BA086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LUẬN VĂN THẠC SĨ | BẢN TỔNG HỢP BẰNG CHỨNG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0E802-D060-4D2D-9318-57BF4A9A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857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Lấy mẫu đồ thị cho hệ thống</a:t>
            </a:r>
          </a:p>
          <a:p xmlns:a="http://schemas.openxmlformats.org/drawingml/2006/main">
            <a:pPr algn="l">
              <a:defRPr sz="330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gợi ý quy mô lớn bằng GNN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0AD3D-572B-42FE-B56B-ED7362D3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Amazon Reviews’23 Baby_Products, temporal warm-start, pure-ID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129BF-2868-464C-BB0F-23381CAA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6810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619ED-3AB0-4719-911F-F69ACBA4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KẾT LUẬN HIỆN TẠI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C48F7-AEB1-43D6-99BD-1FB9A8E5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14700"/>
            <a:ext cx="461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M2 không tạo trade-off tốt hơn M1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03E81-E8F5-41D3-8B70-C37E2267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3/3 validation seed: M2 thấp hơn M1 về NDCG@20 và Recall@20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AE36B-A3EE-4697-98D3-9A3B4AD2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434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CA47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CA47B"/>
                </a:solidFill>
                <a:latin typeface="Arial"/>
                <a:ea typeface="Arial"/>
                <a:cs typeface="Arial"/>
              </a:rPr>
              <a:t>Negative result có kiểm soát — không phải thất bại cần che giấu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06DA7-7C6E-4BEA-BCBD-6DFA137D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16/09/2026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5E49F-015F-470F-BCE2-327179D3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A3843-1C1F-4C5A-8005-A33234E4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Nguồn: Amazon Reviews’23 + artifact dự án đã 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4CE52-92CB-432E-80C0-C8E769A6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79690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E57CA9-CBB8-47E2-B267-3A2098DF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00 / CÂU HỎI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5B574-F88E-437D-8F7E-E2E392E6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Câu hỏi nghiên cứu và phạm vi kết luận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66631-ABE0-4811-BC84-219F0898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870AC-FD9C-453F-9406-DEF7BF47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Nguồn: PHASE2_RESEARCH_PLAN_vn.md; BPR; LightGCN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84CCA-1C6C-4729-9179-993F03E8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951E9-C4E2-4D4B-92A7-92CB2675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CÂU HỎI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A3372-295A-4087-8644-5EF8EC3C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240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Khi giữ nguyên mô hình, dữ liệu, budget và evaluator, cách lấy context nào tạo ranking tốt hơn với chi phí chấp nhận được?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0D64C-7FA3-48EE-AD83-39A7CA5C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A76BD-3050-4D81-BAA3-C6CFC3C0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14675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ĐỐI TƯỢNG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A3B09-39B7-4F8C-A87A-D6CD698E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19475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Gợi ý top-20 trên graph user–item, temporal warm-start, pure-ID.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6D0C0-5D70-4F57-A0D2-03F44CF9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DCE6A-BFB5-45BE-BB58-A1BD2AF4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14675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CA47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CA47B"/>
                </a:solidFill>
                <a:latin typeface="Arial"/>
                <a:ea typeface="Arial"/>
                <a:cs typeface="Arial"/>
              </a:rPr>
              <a:t>CAN THIỆP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7E41F-F344-446F-A7A9-216B30C5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19475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Chỉ thay sampler M0, M1, M2. Context là các node và edge lân cận được dùng để truyền thông tin trong batch/layer.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FD96E-F239-46D2-9584-91DEB568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3A42F-5386-4716-A231-9B38F448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14675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A24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A24C"/>
                </a:solidFill>
                <a:latin typeface="Arial"/>
                <a:ea typeface="Arial"/>
                <a:cs typeface="Arial"/>
              </a:rPr>
              <a:t>RANH GIỚI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0D0E7-8C94-43A5-936C-03B1EEE4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19475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Kết luận chỉ dùng validation. Không suy ra semantic relevance, cold-start, ý nghĩa thống kê, hay kết quả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39E1D-6772-4872-B987-8C101E4C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10782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A1D8E-5FCF-4480-BB11-F347D12B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Mục tiêu là một so sánh có kiểm soát, không phải chứng minh sampler phức tạp luôn tốt hơn.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E4F18B-FCDF-427A-9F0D-9266CBFB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72150"/>
            <a:ext cx="1116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8B2423-F8D0-4181-BA72-66C5B4B6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đúng giúp kết quả âm vẫn có giá trị khoa học</a:t>
            </a:r>
          </a:p>
        </p:txBody>
      </p:sp>
    </p:spTree>
    <p:extLst>
      <p:ext uri="{BB962C8B-B14F-4D97-AF65-F5344CB8AC3E}">
        <p14:creationId xmlns:p14="http://schemas.microsoft.com/office/powerpoint/2010/main" val="11954296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5E496-4E89-499E-8C42-C0761C9A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01 / LỰA CHỌN 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4B2D4-C5AB-4C69-AB82-C0AE8A24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Các benchmark ngoài Amazon đã được xem xét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1ACC8-D2D9-4128-865F-405E3299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7EEA9-D4AE-458F-B2A7-69DDE50D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Nguồn: GroupLens; LightGCN; MIND; KuaiRec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7D340-74A7-4D93-99EA-EDA63982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14350" y="1381125"/>
          <a:ext xmlns:a="http://schemas.openxmlformats.org/drawingml/2006/main" cx="11163300" cy="3219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2476500"/>
                <a:gridCol w="3476625"/>
                <a:gridCol w="3305175"/>
              </a:tblGrid>
              <a:tr h="53657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Bộ dữ liệu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Được dùng phổ biến cho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Điểm phù hợp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Vì sao chưa chạy trong nghiên cứu này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MovieLens 25M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Collaborative filtering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25M rating, 162.541 user, 62.423 phim; có tag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Khác miền sản phẩm và khác cấu trúc long-tail Amazon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Gowalla / Yelp2018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Graph-CF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LightGCN dùng hai benchmark này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Phù hợp để mở rộng sau này, chưa phải thực nghiệm hiện tại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MIND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News recommendation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Có title, abstract, body; có thể đo semantic/content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Khác bài toán pure-ID và tin tức thay đổi nhanh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KuaiRec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Exposure-aware evaluation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Gần fully observed: 1.411 user và 3.327 item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Không đại diện graph thưa long-tail quy mô lớn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Amazon Reviews’23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E-commerce recommendation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Có category, review theo thời gian và volume lớn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Được chọn sau audit nội bộ, không phải vì là lựa chọn duy nhất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97454-ED54-4C06-BE57-8F64A0D8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95850"/>
            <a:ext cx="10782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A0F93-D30E-4A3B-AE6C-000DA063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Các bộ trên là benchmark tham khảo. Nghiên cứu này chỉ chạy Amazon Reviews’23 Baby_Products.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E419C-8AC7-4C24-B58F-116A6477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72150"/>
            <a:ext cx="1116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5B19D-ADC6-4CD2-9857-A248E9B2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Dữ liệu phải khớp câu hỏi và giới hạn đo lường, không chỉ cần nổi tiếng</a:t>
            </a:r>
          </a:p>
        </p:txBody>
      </p:sp>
    </p:spTree>
    <p:extLst>
      <p:ext uri="{BB962C8B-B14F-4D97-AF65-F5344CB8AC3E}">
        <p14:creationId xmlns:p14="http://schemas.microsoft.com/office/powerpoint/2010/main" val="11645113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5FB5AB-9D8B-4F91-A984-DA739456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01 / LỰA CHỌN 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8AC7C-FD89-442A-9FC7-FFE36697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Vì sao Baby_Products là bộ dữ liệu thực nghiệm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61587-4194-4F49-8C13-B87B8A02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81E49-2CF6-475F-AB58-DA162671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Nguồn: DATASET_PORTFOLIO_AND_ANALYSIS_PROTOCOL_vn.md; audit artifacts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37D1A-A1D4-4323-AF8D-0D8922B7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14350" y="1504950"/>
          <a:ext xmlns:a="http://schemas.openxmlformats.org/drawingml/2006/main" cx="4953000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394898fd7244e7"/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6000750" y="1428750"/>
          <a:ext xmlns:a="http://schemas.openxmlformats.org/drawingml/2006/main" cx="5334000" cy="2686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190625"/>
                <a:gridCol w="1190625"/>
                <a:gridCol w="1238250"/>
              </a:tblGrid>
              <a:tr h="67151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Tiêu chí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All_Beauty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Baby_Products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Home_and_Kitchen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</a:tr>
              <a:tr h="6715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Raw row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693.929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5.953.891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66.623.880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6715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Schema/pipeline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Benchmark chính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Chỉ provenance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</a:tr>
              <a:tr h="6715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Đánh giá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Warm validation 3,98%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Warm validation 21,90%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Chưa full protocol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FB973-8A6E-4182-A6F5-210818AD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053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CA47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CA47B"/>
                </a:solidFill>
                <a:latin typeface="Arial"/>
                <a:ea typeface="Arial"/>
                <a:cs typeface="Arial"/>
              </a:rPr>
              <a:t>LÝ DO CHỌN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ECD79-2999-4601-9449-FEBD5F6A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8155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Baby có nhiều interaction hơn All_Beauty, long tail rõ, đủ lớn để stress sampling, nhưng vẫn chạy được trong ngân sách Colab đã kiểm chứng.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28CDF-1353-4472-B122-2C50C3A7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1487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Home_and_Kitchen lớn hơn 11,19 lần Baby. Ta chỉ biết provenance và quy mô, chưa được quyền dùng nó để nói về performance.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2970D-A88F-4141-9BFB-CAB3B016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72150"/>
            <a:ext cx="1116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789D9-CA3A-4FB7-8A13-A0225489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Lựa chọn Baby dựa trên audit và khả năng thực nghiệm, không dựa trên score model</a:t>
            </a:r>
          </a:p>
        </p:txBody>
      </p:sp>
    </p:spTree>
    <p:extLst>
      <p:ext uri="{BB962C8B-B14F-4D97-AF65-F5344CB8AC3E}">
        <p14:creationId xmlns:p14="http://schemas.microsoft.com/office/powerpoint/2010/main" val="6744924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F28565-84F4-4D00-9C60-3F71C54B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00 / TỔNG HỢP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4D7B6-80B0-404E-94C3-8F4448FB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Câu chuyện nghiên cứu trong một phút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E5D62-3FE4-4221-A2B4-79F225BE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80AFD-9B1A-4683-BE02-0CCFC9F4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Nguồn: data story + baseline summaries + paired aggregate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704B4-6A6E-4681-9F4E-E1003B7B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FA684-8DB3-4B19-A927-C1FE3136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144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45657-1A1A-413F-9F1E-B87B44F0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14525"/>
            <a:ext cx="3143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5,95M raw review</a:t>
            </a:r>
          </a:p>
          <a:p xmlns:a="http://schemas.openxmlformats.org/drawingml/2006/main">
            <a:pPr algn="l">
              <a:defRPr sz="1650" b="0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4,66M positive P4</a:t>
            </a:r>
          </a:p>
          <a:p xmlns:a="http://schemas.openxmlformats.org/drawingml/2006/main">
            <a:pPr algn="l">
              <a:defRPr sz="1650" b="0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3,87M training edge</a:t>
            </a:r>
          </a:p>
          <a:p xmlns:a="http://schemas.openxmlformats.org/drawingml/2006/main">
            <a:pPr algn="l">
              <a:defRPr sz="1650" b="0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2,32M user / 162k item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7C07E-64B8-4119-A0E1-5CF80D8F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4287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FCA9C-D6A1-42E6-80C9-4D33149B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5144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CA47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CA47B"/>
                </a:solidFill>
                <a:latin typeface="Arial"/>
                <a:ea typeface="Arial"/>
                <a:cs typeface="Arial"/>
              </a:rPr>
              <a:t>CAN THIỆP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95016-1289-4C93-A714-6BBEA919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14525"/>
            <a:ext cx="3143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Giữ cố định graph, split,</a:t>
            </a:r>
          </a:p>
          <a:p xmlns:a="http://schemas.openxmlformats.org/drawingml/2006/main">
            <a:pPr algn="l">
              <a:defRPr sz="1650" b="0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LightGCN, BPR, budget,</a:t>
            </a:r>
          </a:p>
          <a:p xmlns:a="http://schemas.openxmlformats.org/drawingml/2006/main">
            <a:pPr algn="l">
              <a:defRPr sz="1650" b="0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seed, evaluator, hardware;</a:t>
            </a:r>
          </a:p>
          <a:p xmlns:a="http://schemas.openxmlformats.org/drawingml/2006/main">
            <a:pPr algn="l">
              <a:defRPr sz="1650" b="0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chỉ thay sampler M0–M2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B764A-F5E9-412D-B7EB-D8BB43E7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4287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8A58F-7D7A-44E0-A609-3026603B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14475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4A24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A24C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9DDE8-B8B7-4AAC-A1D2-9A667352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14525"/>
            <a:ext cx="36766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M2 &lt; M1 ở 3/3 seed</a:t>
            </a:r>
          </a:p>
          <a:p xmlns:a="http://schemas.openxmlformats.org/drawingml/2006/main">
            <a:pPr algn="l">
              <a:defRPr sz="165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NDCG −2,47% theo mean</a:t>
            </a:r>
          </a:p>
          <a:p xmlns:a="http://schemas.openxmlformats.org/drawingml/2006/main">
            <a:pPr algn="l">
              <a:defRPr sz="165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Recall −2,77% theo mean</a:t>
            </a:r>
          </a:p>
          <a:p xmlns:a="http://schemas.openxmlformats.org/drawingml/2006/main">
            <a:pPr algn="l">
              <a:defRPr sz="165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tail hit = 0 cho mọi method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E2312-B893-4FE6-8BC8-9C38CBC9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2450"/>
            <a:ext cx="111633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75F8A8-B11A-4804-BA75-6F65700E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CA47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CA47B"/>
                </a:solidFill>
                <a:latin typeface="Arial"/>
                <a:ea typeface="Arial"/>
                <a:cs typeface="Arial"/>
              </a:rPr>
              <a:t>QUYẾT ĐỊNH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65F23-1D57-4FD9-A5E5-E0523867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715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Giữ M2 như negative result. Chưa đọc test target và không mở thêm sampler sau khi đã thấy validation.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D637F-6EBC-48C8-8515-1AD7DB8F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759A7F-DFD6-4C80-8205-86E0A5EE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Đóng góp nằm ở chuỗi đối chứng và failure analysis — không nằm ở việc ‘phải thắng’</a:t>
            </a:r>
          </a:p>
        </p:txBody>
      </p:sp>
    </p:spTree>
    <p:extLst>
      <p:ext uri="{BB962C8B-B14F-4D97-AF65-F5344CB8AC3E}">
        <p14:creationId xmlns:p14="http://schemas.microsoft.com/office/powerpoint/2010/main" val="3482314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E25F9-388F-4031-8C67-5A1DCB05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01 / NGUỒN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A62D8-BFC6-434D-9ECC-7E552E5D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Nguồn chính thức và tệp thực sự được dùng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62D5C-CBCA-4488-ABF1-FAB6FC7E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0023F-7E3B-4370-BC40-1DFA8597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Nguồn: Amazon Reviews’23; Baby_Products_protocol_audit.json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99224-BAF4-45AE-A181-5A0B56EE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980FE-B13D-40FC-8E20-CA073097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McAuley Lab — Amazon Reviews’23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D76F7-5864-447C-991F-39E1188A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Category: Baby_Products, benchmark 0-core, rating_only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514350" y="2143125"/>
          <a:ext xmlns:a="http://schemas.openxmlformats.org/drawingml/2006/main" cx="64770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238250"/>
                <a:gridCol w="3524250"/>
              </a:tblGrid>
              <a:tr h="4762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Kiểu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Ý nghĩa trong nghiên cứu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user_id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ID người đánh giá, dùng làm node user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parent_asin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ID cha sản phẩm, dùng làm node item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rating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float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Điểm 1–5; dự án đổi thành positive khi ≥4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timestamp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int (ms)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Thứ tự thời gian để tách train/validation/test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D53F3-A319-4F97-8E01-435C9F4C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62075"/>
            <a:ext cx="190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383F8-D5FC-4174-B10F-F68ED5A2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09700"/>
            <a:ext cx="314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TỆP TẢI CHÍNH XÁC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57918-6925-42CE-BF59-5E2203D4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90675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148.609.233 bytes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87EE5-1817-4CAF-821B-C6EE284B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81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Baby_Products.csv.gz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D4AAA-9754-48AF-B23E-3EDA9DF9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314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CA47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CA47B"/>
                </a:solidFill>
                <a:latin typeface="Arial"/>
                <a:ea typeface="Arial"/>
                <a:cs typeface="Arial"/>
              </a:rPr>
              <a:t>SHA-256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364D6-BD6B-4CBA-904E-1C3ACBC3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57475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e2a8d049…c279e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43FD3-1A06-4E91-8215-1D87E075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48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Nhận diện đúng byte nguồn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B79C0-A38D-4B53-AE07-08E8E678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814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A24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A24C"/>
                </a:solidFill>
                <a:latin typeface="Arial"/>
                <a:ea typeface="Arial"/>
                <a:cs typeface="Arial"/>
              </a:rPr>
              <a:t>URL artifact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B7E8B7-1BBD-4F58-A8D9-2EF7BF42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004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datarepo.eng.ucsd.edu/…/0core/</a:t>
            </a:r>
          </a:p>
          <a:p xmlns:a="http://schemas.openxmlformats.org/drawingml/2006/main">
            <a:pPr algn="l">
              <a:defRPr sz="1200" b="0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rating_only/Baby_Products.csv.gz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F3488-7254-4D79-8CC5-AD7761D0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529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F8755-87E8-4761-AC28-BBCF0FBC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2809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Không dùng title/category/text/metadata</a:t>
            </a:r>
          </a:p>
          <a:p xmlns:a="http://schemas.openxmlformats.org/drawingml/2006/main">
            <a:pPr algn="l">
              <a:defRPr sz="112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trong task chính.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28081F-3851-40C7-A415-C9E09BA1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A92ED1-B884-494A-8AF0-D836A568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Nguồn chính thức cung cấp schema; artifact audit cung cấp byte, checksum và quy tắc dự án</a:t>
            </a:r>
          </a:p>
        </p:txBody>
      </p:sp>
    </p:spTree>
    <p:extLst>
      <p:ext uri="{BB962C8B-B14F-4D97-AF65-F5344CB8AC3E}">
        <p14:creationId xmlns:p14="http://schemas.microsoft.com/office/powerpoint/2010/main" val="1018970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E11C4E-641C-41CF-A787-B4A9E9C3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02 /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3F1D0-2DF9-4776-8047-1E2D46B7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Phân tích đi theo thời gian, không nhìn test để chọn phương pháp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0AB6E-0FF0-4202-A046-8D1BBE48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FD264-23F8-4C75-B63D-0FDD3A55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Nguồn: baby_p4_g2c_manifest.json; audit cutoffs t1/t2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C3DB2-3988-403E-BED9-AB4484FF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B641E-35DA-4280-98EA-E76B20E9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9A520-B20D-41D0-9617-03907D7C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1927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5.953.891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C6136-6AC9-4BAB-A8F0-C4F703A4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02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parsed 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86567-2268-4776-9A6E-18EA462D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00025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4AD5A-D5EA-44A1-9590-79F2C9AB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002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6A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0BF7B-CA88-4EBC-AD6E-1B88AB18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0495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A24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A24C"/>
                </a:solidFill>
                <a:latin typeface="Arial"/>
                <a:ea typeface="Arial"/>
                <a:cs typeface="Arial"/>
              </a:rPr>
              <a:t>QUARANTINE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F8019-38C8-4DD5-9D9C-A11DC1D3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1927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1 rating = 0,0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D907A-8F9A-44A7-997A-19E20BB6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002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khỏi [1,5]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AB295-9373-4683-BF51-8730D558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0025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4EC1F-72F1-4F08-AA69-B00062D6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6A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2EB2B-8DC5-43F7-99F8-77D8A37C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50495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P4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43F51-63FE-428C-ABFB-AA94611F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1927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4.655.843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11FA1-CBC5-45EC-B514-AA8205A9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02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rating 4–5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9D820-275E-41EC-BE56-1A2DEE1B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00025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70C2B5-24AB-4207-985E-71688596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0002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6A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9C6149-9D14-4EBE-A6C0-82CFA377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0495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TEMPORAL SPLIT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99A4C-BF27-4892-AF66-5B7733A8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1927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t1 / t2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52C3EF-9E85-4CA7-B9E5-41C60360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002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11/08/2021 đến 16/07/2022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C37203-341B-4F73-8BD9-722E9623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0025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084957-C68A-4102-8BE2-AC65461C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002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6A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D2F1F6-F369-4D75-8C9F-3787DF1B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0495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WARM FILTER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7E2551-5D7A-48B7-989D-D9584AC3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1927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train-only map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7D7CA1-DD3A-4FED-A567-D89B49C1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002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user &amp; item phải đã thấy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E2CDD9-8B13-4458-826E-FC8E54B3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146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CA47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CA47B"/>
                </a:solidFill>
                <a:latin typeface="Arial"/>
                <a:ea typeface="Arial"/>
                <a:cs typeface="Arial"/>
              </a:rPr>
              <a:t>ARTIFACT SAU KHI KHÓA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74B801-6E83-4614-BF95-08AAF961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7100"/>
            <a:ext cx="3333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E45B4D-9B6C-4BC1-8165-18EF3CEF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952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CA47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CA47B"/>
                </a:solidFill>
                <a:latin typeface="Arial"/>
                <a:ea typeface="Arial"/>
                <a:cs typeface="Arial"/>
              </a:rPr>
              <a:t>TRAIN GRAPH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BC6524-4C61-470E-AF1F-F862D666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3.868.654 edge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EAC082-E5BA-43A9-9FD7-92488720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Model chỉ nhìn quá khứ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307C1A-81B2-4BE4-A6A5-8319F0B3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67100"/>
            <a:ext cx="3333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AD6A7C-CAF8-4A18-A6D4-DA5E83C2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19500"/>
            <a:ext cx="2952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CA47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CA47B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8F8C0F-D842-4B83-8C03-FB77F1FD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957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81.871 warm target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E4CD98-649D-4D07-A68C-CF1F2700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86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Dùng development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57426B-62C6-4294-961E-C5E21D0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67100"/>
            <a:ext cx="3333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6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B4CB78-76D4-46CE-A24D-D11C6154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19500"/>
            <a:ext cx="2952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A24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A24C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03C16A-E64E-4F3E-827A-EA0FFC4A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957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40.587 warm target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491E28-801C-4E6B-9A76-7E473718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86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Đã tạo artifact, chưa đọc target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FBBA5A-F927-4136-B502-D02DDD66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43475"/>
            <a:ext cx="1076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20820C-D73B-46BF-81C4-517AFF2D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57775"/>
            <a:ext cx="10429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Không leakage: mapping/cohort học từ train; evaluator loại strict prior history; model selection chỉ dùng validation.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60558F-6BB6-4F28-AE8E-0B08B85E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7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F3C855-C799-4203-8208-25082715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P4 là phép biến đổi của dự án, không phải nhãn có sẵn của nguồn</a:t>
            </a:r>
          </a:p>
        </p:txBody>
      </p:sp>
    </p:spTree>
    <p:extLst>
      <p:ext uri="{BB962C8B-B14F-4D97-AF65-F5344CB8AC3E}">
        <p14:creationId xmlns:p14="http://schemas.microsoft.com/office/powerpoint/2010/main" val="2521574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56705-35E9-4502-AE74-27461E77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03 / CHẤT LƯỢNG 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2F194-363B-4AE2-B88D-02204A97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Rating lệch mạnh về phía tích cực; P4 giữ 78,20%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FA858-07AC-45D8-9511-26F49616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CDB5C-A09E-4DEF-81BD-BB004045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Nguồn: data_story_summary.json / source.rating_counts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440D9-AE02-4AE7-A8E3-D4E63CF4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14350" y="1524000"/>
          <a:ext xmlns:a="http://schemas.openxmlformats.org/drawingml/2006/main" cx="6953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31353feca542c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8A9BE-7BBE-4AC6-9416-326AEAF2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71625"/>
            <a:ext cx="3000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RAW 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63809-99F9-4BE3-B7A4-F9640C30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000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5.953.891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E633B-E317-4AF0-938E-72CF3870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43125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0 missing / parse-invalid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AE741-0565-4CD6-99A1-21951B93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28900"/>
            <a:ext cx="3000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CA47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CA47B"/>
                </a:solidFill>
                <a:latin typeface="Arial"/>
                <a:ea typeface="Arial"/>
                <a:cs typeface="Arial"/>
              </a:rPr>
              <a:t>DUPLICATE PAIR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0C278-2C65-4390-BD47-63257674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09875"/>
            <a:ext cx="3000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99B9C-9683-4CB1-BCAC-B1DBE0AB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004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user–item exact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626A4-2048-403B-9767-708D1B88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86175"/>
            <a:ext cx="3000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4A24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A24C"/>
                </a:solidFill>
                <a:latin typeface="Arial"/>
                <a:ea typeface="Arial"/>
                <a:cs typeface="Arial"/>
              </a:rPr>
              <a:t>NGOÀI [1,5]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173DE-F7F5-40E0-8415-0683D677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67150"/>
            <a:ext cx="3000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C2F149-1186-4FFA-A38C-A59DE039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57675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rating 0,0 đã quarantine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74D7E3-6A89-47D5-AABD-E5E62CF7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91075"/>
            <a:ext cx="3000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5D385-7B34-48EA-AAC1-1C9504A9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3395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Positive edge = rating 4 hoặc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D009D-B1E8-4423-BDF6-6B5BC96E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A1F949-2310-4298-B000-8D47E8C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5★ chiếm 66,74%: training signal vốn đã không cân bằng</a:t>
            </a:r>
          </a:p>
        </p:txBody>
      </p:sp>
    </p:spTree>
    <p:extLst>
      <p:ext uri="{BB962C8B-B14F-4D97-AF65-F5344CB8AC3E}">
        <p14:creationId xmlns:p14="http://schemas.microsoft.com/office/powerpoint/2010/main" val="14312045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44BFD2-47FD-4AF3-8465-7A8B59F8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04 / 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2FED2-C4B5-4A62-AB78-189D423A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Graph lớn, nhưng lịch sử của phần lớn node rất mỏng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031AA-847D-465E-AEFE-9E32ABB2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626A3-8E05-4D9A-B5DD-545FFB3E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Nguồn: data_story_summary.json / training_graph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85F80-776C-4FCE-9146-22F3056C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514350" y="1524000"/>
          <a:ext xmlns:a="http://schemas.openxmlformats.org/drawingml/2006/main" cx="6667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06289d197e49a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85643-04D3-4356-9552-CCF73B07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28750"/>
            <a:ext cx="342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TRAINING 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08691-F6EE-46C6-8176-88657B5B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09725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3.868.654 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A5192-30F5-4A1A-8BAF-3D00EC56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2.318.308 user, 162.125 item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5E924-4D42-4052-ABFD-12EBD4D4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43175"/>
            <a:ext cx="342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4A24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A24C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9F4A1-AB08-45BF-A521-8445CB9E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24150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1,0293 × 10⁻⁵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4AA25-49F4-41E7-BD8A-76A51E8A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146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Bipartite graph cực thưa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98678-DC09-4D80-AB15-0133DA89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57600"/>
            <a:ext cx="342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CA47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CA47B"/>
                </a:solidFill>
                <a:latin typeface="Arial"/>
                <a:ea typeface="Arial"/>
                <a:cs typeface="Arial"/>
              </a:rPr>
              <a:t>LARGEST COMPONENT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A5635-53E0-4D06-A841-BCAC886B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38575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96,50% node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90F99-A54A-4756-8CD7-F895D09B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29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2.393.587 / 2.480.433 node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68371-4871-402C-B3B7-0E979A1A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1076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30589-8819-4E08-A9CB-27799FB9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Degree p50 / p90 / p99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9A47E-F91F-41E3-81A3-A9C43BD6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4825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User  1 / 3 / 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2C3A8-B3AC-42C3-B54A-9271EEED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482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Item  3 / 32 / 397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523CFF-84C0-4777-BC12-F692019B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A6399E-E3CF-489A-9C3A-670C5F65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 metric không đủ: phải xem theo cohort user activity và item popularity</a:t>
            </a:r>
          </a:p>
        </p:txBody>
      </p:sp>
    </p:spTree>
    <p:extLst>
      <p:ext uri="{BB962C8B-B14F-4D97-AF65-F5344CB8AC3E}">
        <p14:creationId xmlns:p14="http://schemas.microsoft.com/office/powerpoint/2010/main" val="6777515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2BDB2-B577-4612-B554-904BBF3E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05 / POPULARITY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88276-4C77-4C92-BF06-BE728720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1% item giữ 44,09% training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EB28F-F3F0-4FBA-BCBC-8C571F27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58857-15DD-4AEC-9ED9-FCDEA8CB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Nguồn: data story top-item shares + cohorts_v1.json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1B85B-ABA7-459F-BB15-596FC180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14350" y="1504950"/>
          <a:ext xmlns:a="http://schemas.openxmlformats.org/drawingml/2006/main" cx="52863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f1591ea4bc4d34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191250" y="1504950"/>
          <a:ext xmlns:a="http://schemas.openxmlformats.org/drawingml/2006/main" cx="5143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ac1788ec15495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0224B-7B82-46E1-83C1-4C861291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A24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A24C"/>
                </a:solidFill>
                <a:latin typeface="Arial"/>
                <a:ea typeface="Arial"/>
                <a:cs typeface="Arial"/>
              </a:rPr>
              <a:t>Gini item-degree = 0,8584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F3489-226C-4A5D-BAD4-14CBA7AB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911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44,09% = exact top-1% cumulative; 44,16% = cohort head tie-aware.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EDBA7-BFD4-494B-A47B-63AF8AF4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0465F-8047-4914-B5F6-4C14A026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Accuracy phải đi cùng coverage, exposure và hit theo head/body/tail</a:t>
            </a:r>
          </a:p>
        </p:txBody>
      </p:sp>
    </p:spTree>
    <p:extLst>
      <p:ext uri="{BB962C8B-B14F-4D97-AF65-F5344CB8AC3E}">
        <p14:creationId xmlns:p14="http://schemas.microsoft.com/office/powerpoint/2010/main" val="11890000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7B69C-2F52-4A8E-83C3-38363C5B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06 / PHẠM VI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62F6B-3B9E-4CA4-B4B5-02E4C6F7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Warm-start chỉ giữ 21,90% validation và 9,82%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32BE6-27AD-49DE-86A5-C232B0E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1D6D8-4403-46B1-9ABF-8469BA9B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Nguồn: data_story_summary.json / temporal_population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E5086-2CAC-4DE7-B9D5-78F7C9CA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14350" y="1571625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cbd69334314d0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0FE03-D230-4D99-A3C1-D3B03A11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14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CA47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CA47B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EE4D4-A960-4726-B7F9-0F8CA6A6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81.871 / 373.776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442D8-ADB3-46F5-AF9D-61DD7229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warm target / candidate row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D43B5-F5EF-476B-BAD1-F4286C9C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05100"/>
            <a:ext cx="314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0148B-D70B-4175-A934-709C5751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40.587 / 413.413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F0E10-C7FF-4000-9450-6FB620F7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warm target / candidate row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0DDCB-74C4-4ABA-80C1-8BA29C37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71925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44B13-9EFB-4BF4-A568-D77F4AFD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A24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A24C"/>
                </a:solidFill>
                <a:latin typeface="Arial"/>
                <a:ea typeface="Arial"/>
                <a:cs typeface="Arial"/>
              </a:rPr>
              <a:t>RANH GIỚI CLAIM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565D0-45AC-4EC8-9FD0-6CA196C3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91025"/>
            <a:ext cx="283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Chỉ temporal warm-start, pure-ID.</a:t>
            </a:r>
          </a:p>
          <a:p xmlns:a="http://schemas.openxmlformats.org/drawingml/2006/main">
            <a:pPr algn="l">
              <a:defRPr sz="12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Không suy ra cold-start toàn dữ liệu.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F8135-379E-4FAB-BF83-3A4C5707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480996-0A5B-4F59-A4E9-482E7F8C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artifact tồn tại nhưng target chưa được đọc trong validation</a:t>
            </a:r>
          </a:p>
        </p:txBody>
      </p:sp>
    </p:spTree>
    <p:extLst>
      <p:ext uri="{BB962C8B-B14F-4D97-AF65-F5344CB8AC3E}">
        <p14:creationId xmlns:p14="http://schemas.microsoft.com/office/powerpoint/2010/main" val="8948412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EC0CEE-816B-4040-9409-80258AAD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07 / METRIC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72288-ADC4-4290-A742-743E0617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Vì sao dùng những metric này?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40CA8-B6DA-451C-97CA-BDBEB680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6A00D-274F-4C56-B511-DEAA6CF9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Nguồn nền tảng: BPR (UAI 2009), LightGCN (SIGIR 2020)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48288-4505-47F9-98AD-50B3BF6A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AFBAB-3053-4CCD-9CA9-7156BB1D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F08E5-7248-408F-A969-862DB324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0706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Đánh giá một recommender không chỉ hỏi có hit hay không. Ta cần biết hit nằm ở thứ hạng nào, catalog nào được chạm tới và phải trả bao nhiêu chi phí.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9D088-99F4-46E5-B120-ABD51FD4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669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CÁCH ĐỌC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1E49D-642A-42C7-99C3-06AAC2F6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90825"/>
            <a:ext cx="50006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03200" indent="-101600" algn="l">
              <a:spcAft>
                <a:spcPts val="300"/>
              </a:spcAft>
              <a:buChar char="•"/>
              <a:defRPr sz="1350" b="0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NDCG@20 đặt hit đúng top-20 cao hơn hit ở cuối top-20, nên là metric chính.</a:t>
            </a:r>
          </a:p>
          <a:p xmlns:a="http://schemas.openxmlformats.org/drawingml/2006/main">
            <a:pPr marL="203200" indent="-101600" algn="l">
              <a:spcAft>
                <a:spcPts val="300"/>
              </a:spcAft>
              <a:buChar char="•"/>
              <a:defRPr sz="1350" b="0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Recall@20 cho biết có tìm được target hay không. Mỗi dòng chỉ có một target hợp lệ.</a:t>
            </a:r>
          </a:p>
          <a:p xmlns:a="http://schemas.openxmlformats.org/drawingml/2006/main">
            <a:pPr marL="203200" indent="-101600" algn="l">
              <a:spcAft>
                <a:spcPts val="300"/>
              </a:spcAft>
              <a:buChar char="•"/>
              <a:defRPr sz="1350" b="0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Catalog Coverage@20 cho biết top-20 chạm bao nhiêu item khác nhau, không thay thế accuracy.</a:t>
            </a:r>
          </a:p>
          <a:p xmlns:a="http://schemas.openxmlformats.org/drawingml/2006/main">
            <a:pPr marL="203200" indent="-101600" algn="l">
              <a:spcAft>
                <a:spcPts val="300"/>
              </a:spcAft>
              <a:buChar char="•"/>
              <a:defRPr sz="1350" b="0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Head/body/tail exposure và hit chỉ ra ranking dồn về popularity hay không.</a:t>
            </a:r>
          </a:p>
          <a:p xmlns:a="http://schemas.openxmlformats.org/drawingml/2006/main">
            <a:pPr marL="203200" indent="-101600" algn="l">
              <a:spcAft>
                <a:spcPts val="300"/>
              </a:spcAft>
              <a:buChar char="•"/>
              <a:defRPr sz="1350" b="0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Wall time và peak GPU memory kiểm tra đánh đổi thực thi tại cùng budget.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6DAAF-E514-458E-A1F6-F753D5E9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8125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A9607-014B-4CB0-A1A8-6ED58891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669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CA47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CA47B"/>
                </a:solidFill>
                <a:latin typeface="Arial"/>
                <a:ea typeface="Arial"/>
                <a:cs typeface="Arial"/>
              </a:rPr>
              <a:t>GIỚI HẠN DIỄN GIẢI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5CCD7-E8A2-4130-871B-F5E30175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98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CA47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CA47B"/>
                </a:solidFill>
                <a:latin typeface="Arial"/>
                <a:ea typeface="Arial"/>
                <a:cs typeface="Arial"/>
              </a:rPr>
              <a:t>Không dùng sampled ranking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D32EA-0A67-4219-9C9E-8973A46A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Full-catalog exact ranking trên item hợp lệ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47BB5-46FC-4290-8640-C5F22C4B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AAD8A6-7E1A-48FB-9A01-480EC802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Diversity cấu trúc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EBE64A-D22A-4E72-A006-61947EAA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62325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Coverage và cohort distribution, không phải semantic diversity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5156C-D312-4988-AAE6-33CB3150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D38002-4B77-44E0-BB3B-C86704B5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4A24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A24C"/>
                </a:solidFill>
                <a:latin typeface="Arial"/>
                <a:ea typeface="Arial"/>
                <a:cs typeface="Arial"/>
              </a:rPr>
              <a:t>Semantic relevance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817AA-2604-4E2C-934D-453F0C03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33825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Không đo được vì tệp chính chỉ có ID và rating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2C156D-2856-4291-81C0-75CC237C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E5D6D6-F13D-41BB-8AB1-07C94E6C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6555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65555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9F6AE4-1D9E-4755-AA29-EFC632EA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05325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Artifact có sẵn nhưng chưa đọc target để chọn phương pháp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E7D2B4-D32A-4518-94C9-410D6AAD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9675"/>
            <a:ext cx="500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A7D8C5-A0AA-4B80-9BEB-2793F750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124450"/>
            <a:ext cx="471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Pure-ID không có taxonomy, text hay embedding để đo semantic diversity.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1E0318-CC35-4517-8B05-69C7E1D8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70E5C5-BDFD-41D9-9A5C-3AB8FE2A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 chẩn đoán làm rõ chất lượng ranking đi kèm sự tập trung và chi phí</a:t>
            </a:r>
          </a:p>
        </p:txBody>
      </p:sp>
    </p:spTree>
    <p:extLst>
      <p:ext uri="{BB962C8B-B14F-4D97-AF65-F5344CB8AC3E}">
        <p14:creationId xmlns:p14="http://schemas.microsoft.com/office/powerpoint/2010/main" val="6234904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B1F26-7347-4A23-AFE7-FD0529B2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08 / THIẾT KẾ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B4F25-23FA-42DB-A1F0-6825E78C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Đi từ sanity gate đến matched sampler rồi paired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99051-C1D8-4B5B-9C3A-6F760084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EDF3B-DDB9-423A-B60A-E7BD7F5A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Nguồn: configs/*.json; PHASE2_RESEARCH_PLAN_vn.md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1FC97-DEF0-4B64-9821-1C51916F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14350" y="1381125"/>
          <a:ext xmlns:a="http://schemas.openxmlformats.org/drawingml/2006/main" cx="111633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381250"/>
                <a:gridCol w="3810000"/>
                <a:gridCol w="3448050"/>
              </a:tblGrid>
              <a:tr h="4830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Mã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Điều thay đổi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Mục đích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MostPop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Sanity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Không học embedding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Kiểm split / evaluator / popularity failure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BPR-MF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Sanity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Pairwise ranking, không message passing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Kiểm đường train và coverage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Full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Backbone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Full-graph LightGCN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Mốc feasibility cho message passing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M0</a:t>
                      </a:r>
                    </a:p>
                  </a:txBody>
                  <a:tcPr marL="76200" marR="76200" marT="57150" marB="57150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Matched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Uniform không hoàn lại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Đối chứng sampling đơn giản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M1</a:t>
                      </a:r>
                    </a:p>
                  </a:txBody>
                  <a:tcPr marL="76200" marR="76200" marT="57150" marB="57150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Matched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Degree-aware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Static reference mạnh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M2</a:t>
                      </a:r>
                    </a:p>
                  </a:txBody>
                  <a:tcPr marL="76200" marR="76200" marT="57150" marB="57150"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Proposed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Frontier / √degree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Task-conditioned candidate đã khóa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882C3-4E48-4325-9EED-F7A6D8FB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CA47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CA47B"/>
                </a:solidFill>
                <a:latin typeface="Arial"/>
                <a:ea typeface="Arial"/>
                <a:cs typeface="Arial"/>
              </a:rPr>
              <a:t>MATCHED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B29D4-5858-44F0-A9F1-641D18F5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914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5 epoch • 300 optimizer step • batch 65.536 • kₗ = 65.536 × 3 lớp • 58.982.400 context slot • Tesla T4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E20B4-B91D-444D-B363-1BCCBC7F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11B26-0438-478E-B601-47C48F62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Trong từng paired seed, init embedding, pair order và negative draw khớp giữa M0–M1–M2</a:t>
            </a:r>
          </a:p>
        </p:txBody>
      </p:sp>
    </p:spTree>
    <p:extLst>
      <p:ext uri="{BB962C8B-B14F-4D97-AF65-F5344CB8AC3E}">
        <p14:creationId xmlns:p14="http://schemas.microsoft.com/office/powerpoint/2010/main" val="9428992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D1763-53C1-4326-B38F-52D05E65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09 / BASELINES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E7592-DDCF-481D-808B-6170E3B1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Baseline cho thấy accuracy, coverage và popularity không đi cùng nhau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FFFD4-E094-4DE2-998A-C83FD4B0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E48CC-4385-4B51-914F-2AA18077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Nguồn: mostpop / bpr_mf / full_lightgcn validation summaries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D1F9B-B16A-4B26-8ED6-AA0224DB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14350" y="1476375"/>
          <a:ext xmlns:a="http://schemas.openxmlformats.org/drawingml/2006/main" cx="600075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809c1bb9bd4936"/>
          </a:graphicData>
        </a:graphic>
      </p:graphicFrame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0" y="1476375"/>
          <a:ext xmlns:a="http://schemas.openxmlformats.org/drawingml/2006/main" cx="447675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8d504988a1447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DB2D5-5C2D-4457-B564-2A200A18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053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MostPop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1F47F-0B64-404A-9510-FE6B51EF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67275"/>
            <a:ext cx="252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1.195 hit • 25 item • 100% head exposure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3E0E1-D7CF-427E-90DA-202A38D8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053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CA47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CA47B"/>
                </a:solidFill>
                <a:latin typeface="Arial"/>
                <a:ea typeface="Arial"/>
                <a:cs typeface="Arial"/>
              </a:rPr>
              <a:t>BPR-MF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116A3-2A0B-4D3E-B5D3-258BBFD6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67275"/>
            <a:ext cx="252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853 hit • 5.434 item • 23 body hit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9A2F9-EE75-4D05-B367-CE2316A0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053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157D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157D9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5CFF8-E4A3-4261-A2E2-B397F004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67275"/>
            <a:ext cx="252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1.013 hit • 1.032 item • 1.012/1.013 hit thuộc head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5E305-5A2D-479B-9BEA-DBD338D6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73090-27CD-41CB-A0CF-7F9D7D22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Không gọi baseline nào là ‘tối ưu’: đây là các sanity gate cố định, chưa tuning</a:t>
            </a:r>
          </a:p>
        </p:txBody>
      </p:sp>
    </p:spTree>
    <p:extLst>
      <p:ext uri="{BB962C8B-B14F-4D97-AF65-F5344CB8AC3E}">
        <p14:creationId xmlns:p14="http://schemas.microsoft.com/office/powerpoint/2010/main" val="3086884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F0110-20A0-4546-B6F9-D9FAD84D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10 / SAMPLERS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6BC3B-EA30-40D1-AFA0-92B23459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M0, M1 và M2 khác nhau ở cách chọn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F9B30-0E0F-4C6E-8FA5-BA08FF36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C228F-2C41-4671-BA38-D78478E7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Nguồn: M0/M1/M2 configs và full validation traces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9B31E-5A06-4467-937F-9219A197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14350" y="1428750"/>
          <a:ext xmlns:a="http://schemas.openxmlformats.org/drawingml/2006/main" cx="111633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2857500"/>
                <a:gridCol w="3143250"/>
                <a:gridCol w="4019550"/>
              </a:tblGrid>
              <a:tr h="6667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Priority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Ý định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Điều quan sát ở s0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E8BFF"/>
                          </a:solidFill>
                          <a:latin typeface="Arial"/>
                          <a:ea typeface="Arial"/>
                          <a:cs typeface="Arial"/>
                        </a:rPr>
                        <a:t>M0</a:t>
                      </a:r>
                    </a:p>
                  </a:txBody>
                  <a:tcPr marL="76200" marR="76200" marT="57150" marB="57150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Uniform + Gumbel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Chọn ngẫu nhiên không hoàn lại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60,52% item-context ở tail; coverage cao nhất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A47B"/>
                          </a:solidFill>
                          <a:latin typeface="Arial"/>
                          <a:ea typeface="Arial"/>
                          <a:cs typeface="Arial"/>
                        </a:rPr>
                        <a:t>M1</a:t>
                      </a:r>
                    </a:p>
                  </a:txBody>
                  <a:tcPr marL="76200" marR="76200" marT="57150" marB="57150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log(degree) + Gumbel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Ưu tiên node có nhiều tương tác trong training graph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68,29% item-context ở body; mean quality cao nhất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A24C"/>
                          </a:solidFill>
                          <a:latin typeface="Arial"/>
                          <a:ea typeface="Arial"/>
                          <a:cs typeface="Arial"/>
                        </a:rPr>
                        <a:t>M2</a:t>
                      </a:r>
                    </a:p>
                  </a:txBody>
                  <a:tcPr marL="76200" marR="76200" marT="57150" marB="57150"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frontier support và penalty degree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Ưu tiên node nối với frontier hiện tại, đồng thời giảm ưu tiên hub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68,60% item-context ở tail; tail hit vẫn bằng 0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B117F-2A45-46BD-8709-5DEF742E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481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A24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A24C"/>
                </a:solidFill>
                <a:latin typeface="Arial"/>
                <a:ea typeface="Arial"/>
                <a:cs typeface="Arial"/>
              </a:rPr>
              <a:t>STRUCTURAL EFFECT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41EC4-E647-4844-9193-76BF2185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14875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M2 dùng ít directed block entry hơn M1 11,97% nhưng sampler vẫn chậm hơn 45,14 s ở s0 vì phải tính frontier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5FA5D-D8DE-4887-9946-91501000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71975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6555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65555"/>
                </a:solidFill>
                <a:latin typeface="Arial"/>
                <a:ea typeface="Arial"/>
                <a:cs typeface="Arial"/>
              </a:rPr>
              <a:t>SAMPLER SHARE M0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FB3FE-4C39-43F8-AED7-2BB3579E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52950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84,04%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D48CA-C0BA-4433-9B55-155414BB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434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592,79 / 705,32 giây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40F41-4A36-4F7F-AD2D-9BD2BC1B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294D6-8E4B-4412-8AAB-90EF31D1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M2 thay đổi context theo chủ đích, nhưng thay đổi đó chưa biến thành ranking gain</a:t>
            </a:r>
          </a:p>
        </p:txBody>
      </p:sp>
    </p:spTree>
    <p:extLst>
      <p:ext uri="{BB962C8B-B14F-4D97-AF65-F5344CB8AC3E}">
        <p14:creationId xmlns:p14="http://schemas.microsoft.com/office/powerpoint/2010/main" val="18951937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087104-4785-442C-B39B-41696D96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11 / MATCHED S0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16978-1A6C-43C5-B61A-881E3707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Ở seed đầu, M1 tốt hơn M2 về ranking và thời gian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9454B-F7CD-460A-8623-6BEE16E2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14BA0-8C72-48A0-8C53-7AFFC0E3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Nguồn: uniform / degree-aware / frontier-normalized validation summaries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10358-10D8-4C8C-A28C-37A7BD4A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14350" y="1476375"/>
          <a:ext xmlns:a="http://schemas.openxmlformats.org/drawingml/2006/main" cx="6096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33b7e5678e4609"/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000875" y="1476375"/>
          <a:ext xmlns:a="http://schemas.openxmlformats.org/drawingml/2006/main" cx="43338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4590731083472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CADD0-A418-44FD-A74F-D1D9EC19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053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A24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A24C"/>
                </a:solidFill>
                <a:latin typeface="Arial"/>
                <a:ea typeface="Arial"/>
                <a:cs typeface="Arial"/>
              </a:rPr>
              <a:t>M2 − M1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CE6C7-54F1-4DFE-93A1-AEA30E2D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NDCG giảm 3,78%. Recall giảm 4,20%. Training tăng 9,25%; chỉ thêm 13 item unique.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244A4-8044-4881-BCE6-1698865C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05375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Peak GPU: M0 3.483 MB, M1 2.665 MB, M2 2.669 MB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17586-8A82-40C3-91B4-C76422DA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2249D-B717-436B-AD7F-C4D77940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Body hit 25/25/25; tail hit 0/0/0 — quality gain của M1 đến từ head</a:t>
            </a:r>
          </a:p>
        </p:txBody>
      </p:sp>
    </p:spTree>
    <p:extLst>
      <p:ext uri="{BB962C8B-B14F-4D97-AF65-F5344CB8AC3E}">
        <p14:creationId xmlns:p14="http://schemas.microsoft.com/office/powerpoint/2010/main" val="16864862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057E9-C4D4-46B4-8195-C24E87BC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12 / PAIRED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6DCB3-9BA1-436B-9587-84338BBF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M2 thấp hơn M1 về quality ở cả ba validation seed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EBC29-DD54-4C59-93D5-5AA88750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BD910-1512-4258-8605-A5E89A5C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Nguồn: paired_sampling_validation_summary.json + six rank vectors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C329E-23EA-4DDB-85A1-B24A58B9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14350" y="1428750"/>
          <a:ext xmlns:a="http://schemas.openxmlformats.org/drawingml/2006/main" cx="6953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397c49b099431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26082-E4DB-4DDF-A0B7-E8C9C029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3333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CA47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CA47B"/>
                </a:solidFill>
                <a:latin typeface="Arial"/>
                <a:ea typeface="Arial"/>
                <a:cs typeface="Arial"/>
              </a:rPr>
              <a:t>MEAN NDCG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9422A-6EAD-4D0E-9540-994AB851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09725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M1 0,005866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EC5BA-4083-4013-9357-1F6C74D2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M2 0,005721, thấp hơn 2,47%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56652-DF27-45DD-B550-07C391C7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52700"/>
            <a:ext cx="3333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MEAN RECALL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5D6F7-27D3-4735-8F39-8E624BCF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33675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M1 0,015296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0DB52-65BE-44AD-87B9-783E4CE6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24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M2 0,014873, thấp hơn 2,77%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8A2E2-1421-4C71-B2BE-620F522F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76650"/>
            <a:ext cx="3333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4A24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A24C"/>
                </a:solidFill>
                <a:latin typeface="Arial"/>
                <a:ea typeface="Arial"/>
                <a:cs typeface="Arial"/>
              </a:rPr>
              <a:t>HAI REPEAT MỚI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3D526-5111-4D56-8AE9-A703AAD4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57625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+14,36%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9E539-9477-4A24-801A-BBC933EF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4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M2 914,95 s vs M1 800,07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EC786-C7A4-46FF-B7D0-0CEB9E56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1071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M2 thấp hơn M1 ở 3/3 seed. M1 không thắng M0 ở mọi seed nên không có claim significance hay superiority phổ quát.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58AAD-6CB5-4F35-879A-591FFE0D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81B58-AAF3-46A8-90D9-90A5CBCE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luận hẹp: M2 không tạo đánh đổi ranking và chi phí tốt hơn M1 ở budget đã khóa</a:t>
            </a:r>
          </a:p>
        </p:txBody>
      </p:sp>
    </p:spTree>
    <p:extLst>
      <p:ext uri="{BB962C8B-B14F-4D97-AF65-F5344CB8AC3E}">
        <p14:creationId xmlns:p14="http://schemas.microsoft.com/office/powerpoint/2010/main" val="10157133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60453-7E95-4B69-AD10-619E72C6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14 / KẾT LUẬN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0ABC7-BDBE-46FA-BB19-41104BF1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Kết luận và bước tiếp theo có điều kiện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76710-1AD4-42BF-8F63-CA0996A5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A07C7-E072-4D33-8E37-4C4C71A0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Nguồn: paired_sampling_validation_summary.json; THESIS_REPORT_vn.md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5D006-66ED-4DCA-9FDB-DC08D42E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C96A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C96A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14350" y="1381125"/>
          <a:ext xmlns:a="http://schemas.openxmlformats.org/drawingml/2006/main" cx="111633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286250"/>
                <a:gridCol w="5067300"/>
              </a:tblGrid>
              <a:tr h="609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Trạng thái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Kết luận hoặc hành động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Lý do</a:t>
                      </a:r>
                    </a:p>
                  </a:txBody>
                  <a:tcPr marL="76200" marR="76200" marT="57150" marB="57150">
                    <a:solidFill>
                      <a:srgbClr val="11131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KẾT LUẬN</a:t>
                      </a:r>
                    </a:p>
                  </a:txBody>
                  <a:tcPr marL="76200" marR="76200" marT="57150" marB="57150"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Không chọn M2 thay M1 ở budget đã khóa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M2 thấp hơn M1 ở NDCG và Recall trong cả 3 validation seed, đồng thời chậm hơn ở hai repeat mới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KHÓA</a:t>
                      </a:r>
                    </a:p>
                  </a:txBody>
                  <a:tcPr marL="76200" marR="76200" marT="57150" marB="57150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Không mở thêm sampler chỉ để đuổi validation score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Giữ được tính đối chứng sau khi đã quan sát kết quả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BÁO CÁO</a:t>
                      </a:r>
                    </a:p>
                  </a:txBody>
                  <a:tcPr marL="76200" marR="76200" marT="57150" marB="57150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Trình bày kết quả validation và failure analysis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Test target chưa đọc, không có quyền gọi đó là final test result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MỞ RỘNG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Nếu cần generalization, pre-register một benchmark ngoài Amazon trước khi chạy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317"/>
                          </a:solidFill>
                          <a:latin typeface="Arial"/>
                          <a:ea typeface="Arial"/>
                          <a:cs typeface="Arial"/>
                        </a:rPr>
                        <a:t>Yelp2018 hoặc Gowalla phù hợp Graph-CF; không trộn chúng với kết luận hiện tại</a:t>
                      </a:r>
                    </a:p>
                  </a:txBody>
                  <a:tcPr marL="76200" marR="76200" marT="57150" marB="5715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BF354-5A65-4E28-84EA-90AD685A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CA47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CA47B"/>
                </a:solidFill>
                <a:latin typeface="Arial"/>
                <a:ea typeface="Arial"/>
                <a:cs typeface="Arial"/>
              </a:rPr>
              <a:t>ĐÓNG GÓP CÓ THỂ BẢO VỆ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36F91-862B-41D1-BA95-337B210B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911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31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7"/>
                </a:solidFill>
                <a:latin typeface="Arial"/>
                <a:ea typeface="Arial"/>
                <a:cs typeface="Arial"/>
              </a:rPr>
              <a:t>Audit có truy vết, protocol đối chứng, evaluator exact và failure analysis cho một kết quả âm được lặp lại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26070-68D7-4458-97DF-84F1407B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86300"/>
            <a:ext cx="1714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1" i="0">
                <a:solidFill>
                  <a:srgbClr val="2CA47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CA47B"/>
                </a:solidFill>
                <a:latin typeface="Arial"/>
                <a:ea typeface="Arial"/>
                <a:cs typeface="Arial"/>
              </a:rPr>
              <a:t>85/85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A6BAD-47BE-418E-8EF2-EDF3AA20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673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artifact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7E9BB-5BAD-49C1-962F-80011020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7685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 i="0">
                <a:solidFill>
                  <a:srgbClr val="3E8B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E8BFF"/>
                </a:solidFill>
                <a:latin typeface="Arial"/>
                <a:ea typeface="Arial"/>
                <a:cs typeface="Arial"/>
              </a:rPr>
              <a:t>91/91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73B2B-2C22-4B87-8A6F-D3F525D3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626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6C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6C7A"/>
                </a:solidFill>
                <a:latin typeface="Arial"/>
                <a:ea typeface="Arial"/>
                <a:cs typeface="Arial"/>
              </a:rPr>
              <a:t>project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C6381-4769-4D86-830A-3DA10AE1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116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26516-08D8-4AD4-BC9C-ED50371A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Sampler phức tạp hơn không tự động tạo recommendation tốt hơn</a:t>
            </a:r>
          </a:p>
        </p:txBody>
      </p:sp>
    </p:spTree>
    <p:extLst>
      <p:ext uri="{BB962C8B-B14F-4D97-AF65-F5344CB8AC3E}">
        <p14:creationId xmlns:p14="http://schemas.microsoft.com/office/powerpoint/2010/main" val="955347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2026-09-16T15:20:57.1770000Z</dcterms:created>
  <dcterms:modified xsi:type="dcterms:W3CDTF">2026-09-16T15:20:57.1770000Z</dcterms:modified>
</coreProperties>
</file>